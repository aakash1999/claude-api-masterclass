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 so, quick pop quiz. Go open `tools.py` from this project. Scroll down to `publish_review`. There's a comment sitting right there, above the return statement, and it says — and I'm reading this exactly — "'Posting' is a formatted return value for this build-along -- swap this line for a real API call (e.g. GitHub) when this leaves the demo." We wrote that comment in Episode 4. That was five episodes ago. And every review since then — Episode 5's subagents, Episode 6's memory, Episode 7's structured output, Episode 8's Skills — has reviewed the exact same three fake pull requests. That was the right call at the time: fake, deterministic, offline data let us focus on hooks and subagents and schemas without a flaky network call breaking a recording take. But today, we actually do it. Not by rewriting that mock — we're leaving it alone, for reasons I'll get to — but by plugging this agent into the real internet for the first time in this whole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is all about MCP — the Model Context Protocol — and specifically the two things we haven't done yet with it. Quick recap so this doesn't land out of nowhere: back in Episode 3, we gave this agent custom tools using the `@tool` decorator. Turns out that was already MCP under the hood — we just never called it that. So today's two new moves are: first, connecting to somebody else's MCP server — a real one, built and maintained by GitHub — with basically one block of config and zero lines of Python. Second, building our own MCP server, but as a genuinely separate, standalone program this time, not something living inside our agent's process — the kind of thing a teammate on Cursor instead of Claude Code could still use. And along the way, we hit a real, currently-open bug in how one piece of this gets configured. Not manufactured drama — an actual GitHub issue, still open. Stick around for that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one project the whole way through — the Repo and PR Review Agent. Let's speed-run where we are. Episode 1, hand-rolled loop on the raw API. Episode 2, graduated to the Agent SDK. Episode 3 and 4, custom tools plus hooks and guardrails. Episode 5, subagents fanning out to a docstring reviewer and a security reviewer. Episode 6, memory and sessions that survive a restart. Episode 7, structured output you can actually trust. Episode 8, reusable Skills chained together. Every one of those episodes made the agent smarter, or safer, or more organized on the inside. Today's the first episode where the agent reaches outside itself — past this repo, past the mock data, into a real external service. That's a genuinely different kind of episode.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tree as it stands after today. Two things before we even look at it. One — `.mcp.json` is new, and it does not live inside `ep09/` the way every other new file has; it sits right alongside `agent.py`, in the same working directory we run the script from. I'll explain exactly why when we get there. Two — this is the legend for the whole series, so I'll only say it once: the orange pill means "part of the real project file," the dashed box means "exploratory, throwaway, don't paste this into anything real."
```
claude-api-masterclass/
├── ep01/ … ep07/ (dim, unchanged)
└── ep08/ (dim, unchanged)
 ├── agent.py, tools.py, hooks.py, subagents.py, schemas.py,
 │ session_index.py, context_check.py
 └── .claude/skills/{pr-digest,changelog-entry}/SKILL.md
└── ep09/ (today)
 ├── .mcp.json ← NEW — GitHub + our own server
 ├── agent.py ← UPDATED — opt-in GitHub path
 ├── repo_facts_server.py ← NEW — standalone MCP server
 ├── tools.py, hooks.py, subagents.py, schemas.py,
 │ session_index.py (carried forward, unchanged)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line up everything we've handed this agent so far, because today adds two more rows to this table, and the table's about to get a footnote that changes how you read the first two rows. Built-in tools, since Episode 2 — Read, Write, Bash, Grep, Glob, they ship with the SDK. In-process custom tools, since Episode 3 and 4 — the `@tool` decorator plus `create_sdk_mcp_server()`, our own Python, our own process. Now, the confession: that function name has the letters M, C, and P sitting right in it, because it is one. When we built `pr_tools` back in Episode 3, we were building an actual, honest MCP server — it just happens to be a special kind that runs in the same process as the agent, instead of as its own separate program. I didn't say this out loud back then because it wasn't the point yet. But today we need that fact, because the two new things we're adding are the other kinds of MCP server. So this episode isn't introducing something brand new — it's revealing the other three-quarters of something you already half-know.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patterns. Pattern three: connect to somebody else's MCP server. Somebody else wrote it, somebody else runs or maintains it — we just point our agent at it. Config, not code. Today's example is GitHub's own official MCP server. Pattern four: build our own MCP server, but genuinely standalone this time — a separate file, a separate process, speaking the MCP protocol over its own pipe, with no idea that `claude-agent-sdk` even exists. That's what makes it portable — Claude Code, Claude Desktop, Cursor, whatever, could all launch that exact same file. Both patterns end up living in the same place: a file called `.mcp.json`. Let's start with pattern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analogy I keep coming back to for MCP servers in general: think of it like a USB port. Not a specific cable, not a specific device — the port itself. Any device that speaks the right protocol just plugs in, and your laptop doesn't need custom drivers for every mouse and keyboard ever made. MCP is that, but for AI agents talking to external systems — GitHub, Slack, a database, whatever. What that buys you concretely: somebody else already wrote and hosts the integration. You don't reimplement "how do I authenticate to GitHub and paginate through pull requests" — dozens of edge cases somebody else already solved. You just plug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read this straight out of the installed SDK's source before scripting this episode, so this is the real, current shape, not a simplification. Every MCP server you'll ever configure is exactly one of these four. Stdio: needs a command, optional args and env — a separate program you launch that talks over stdin and stdout. HTTP: needs a URL, optional headers — a remote server somewhere on the internet. SSE: same idea, an older streaming style. And SDK: needs a name and a live instance — that's exactly what `create_sdk_mcp_server()` builds, which is Episode 3's `pr_tools`. Today we're using the two we haven't touched yet: HTTP, for GitHub's real server, and stdio, for the one we build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builds and maintains their own MCP server. It's real, it's official — the same one behind a lot of the "Claude, look at this pull request" workflows you've probably seen. It exposes GitHub's own platform — repos, issues, pull requests, actions, and more — as a set of MCP tools. It comes in two flavors: a remote, hosted version, where you just point at a URL with nothing to install, and a local version you run yourself, usually via Docker, that reads a token from your own environment. We're going with remote today, because "one config block, zero installs" is exactly the story this pattern is supposed to tell.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thing. Notice what's not here — no Python, no import, no function definition. This is pure configuration. Server name is `"github"`, that's the key we chose, and it's what shows up later as the `mcp__github__…` prefix. Type `"http"`, because it's a remote server. The URL from the last slide. And two headers: one for auth, one that's GitHub-specific — more on that in a second.
```json
{
 "mcpServers": {
 "github": {
 "type": "http",
 "url": "https://api.githubcopilot.com/mcp/",
 "headers": {
 "Authorization": "Bearer ${GITHUB_PAT}",
 "X-MCP-Toolsets": "pull_requests"
 }
 }
 }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that header again: `"Bearer ${GITHUB_PAT}"`. That's not a placeholder I forgot to fill in — that's the actual, final syntax. `.mcp.json` supports environment variable expansion, and it resolves from your shell's environment at connect time. Which means this exact file is safe to commit to git — there's no secret sitting in it, just a name. The real token lives in your shell, set once, never committed: `export GITHUB_PAT="[REDACTED:github_token]"`. And a recommendation before you record this yourself — use a fine-grained personal access token, read-only, scoped down to just pull requests, on one repo you don't mind an AI agent poking around in. Not a broad classic token. Least privilege, same as every hook we've written since Episode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I promised at the top. Anthropic's own current docs say plainly that `${VAR}` expansion works in headers for HTTP-type servers, same as it works in `env` for stdio servers. That's the documented behavior. But — and this is a real, filed, still-open GitHub issue as of a few months ago — multiple people have reported that on some setups, the substitution silently does not happen specifically for headers on HTTP-transport servers. The literal string gets sent to the server instead of the actual value. I'm not going to pretend I know which one you'll hit. So before you record this, actually test it — set the env var, connect, check whether the real header goes out. If it doesn't, don't assume you typo'd the variable name — check this known issue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genuinely nice surprise I found while fact-checking this episode. Remember Episode 6, when we added `setting_sources=["project"]` purely so CLAUDE.md would actually get loaded? Turns out that exact same switch is also what makes `.mcp.json` get picked up — confirmed straight from the official Agent SDK docs. The SDK does not load project-level filesystem settings by default, and `.mcp.json` is one of those settings. Which means we already flipped this switch on, three episodes ago, for a completely different reason. We're not adding anything new to `build_options()` to make `.mcp.json` work — it just works, the moment the file exists in our working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GitHub's server doesn't expose one or two tools — it exposes dozens, spread across toolsets like repos, issues, pull requests, actions, code security, and more. Remember Episode 6's exam fact: too many tools available to a model degrades its tool-selection reliability. Handing the coordinator all of GitHub's tools when it only ever needs to read a pull request would be exactly that mistake. So we scope twice, at two layers. Layer one — that `X-MCP-Toolsets: pull_requests` header tells GitHub's own server to only expose the pull-request toolset in the first place. Layer two — our own `allowed_tools` list narrows it down even further, to exactly one tool.
```python
if include_github:
 # Ep09 -- scoped to exactly one read-only tool. GitHub's server
 # exposes dozens of tools across toolsets; Ep06 already taught us
 # why we don't hand the model all of them just because they exist.
 allowed_tools.append("mcp__github__pull_request_read")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one, but it'll save you a confusing tutorial rabbit hole. Older blog posts, even some cached docs, show tools named things like `get_pull_request` or `get_pull_request_files`. Those used to be separate tools. GitHub consolidated a bunch of pull-request-related tools into one — `pull_request_read` — which now takes a `method` parameter to say what you want: get the PR, get its files, get its diff, and so on. This is the exact same shape as Episode 5's `Task`-became-`Agent` rename, or Episode 2's `ClaudeCodeOptions`-became-`ClaudeAgentOptions`. Same mechanism, new name. If a tutorial calls `get_pull_request` directly, it's describing the pre-consolidation shape — the tool was folded into something else, it didn't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before we move on. Try to answer this before revealing it. The coordinator needs to read a real pull request through GitHub's MCP server, and nothing else from GitHub. Our server is named `"github"` in `.mcp.json`, and the specific tool is `pull_request_read`. What exact string goes into `allowed_tools`? The answer is `"mcp__github__pull_request_read"` — same pattern every external and in-process tool in this whole series has used since Episode 3: `mcp____`. The server name comes straight from the key you chose in `.mcp.json`, not from anything GitHub calls itself internally.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decision I want to walk through out loud, because it's the kind of call you'll make on your own projects too. I could wire GitHub straight into `review_pr()`, so every review reaches for real GitHub data. I'm not doing that. `review_pr()` is our reliable, deterministic, offline demo path — it's what we re-run on camera, over and over, without worrying about network flakiness or an expired token. I don't want to put that at risk for a feature most reviews won't even need. So instead, GitHub access is opt-in, off by default, behind one keyword-only flag.
```python
def build_options(
 resume_id: str | None = None,
 fork: bool = False,
 *,
 include_github: bool = False,
) -&gt; ClaudeAgentOptions:
 """Everything Ep01-08 built, plus this episode's two MCP servers.
 include_github defaults to False on purpose. review_pr() below never
 passes True -- a normal PR review has no business depending on
 network access or a GitHub token being present. Only the ad-hoc,
 ask-a-real-question path in main() turns it on.
 """
```
`review_pr()` itself: not one line changed since Episode 8. That's the whole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entry point, separate from PR reviews entirely — no PR number, no session resume, doesn't touch our session index. Just: turn GitHub on, ask one real question.
```python
async def ask_about_live_repo(question: str) -&gt; None:
 """Ep09 -- a separate, one-off entry point that turns GitHub ON."""
 options = build_options(include_github=True)
 async for message in query(prompt=question, options=options):
 if isinstance(message, AssistantMessage):
 for block in message.content:
 if isinstance(block, TextBlock):
 print(block.text)
```
Run it: `python agent.py --live "What are the 3 most recently updated open pull requests on anthropics/claude-agent-sdk-python?"`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three was "somebody else already built it." Pattern four is "nobody's built this specific thing, so we will" — but built in a way that isn't locked to this one agent. If it doesn't exist as an MCP server yet, and you want it usable from Claude Code, Claude Desktop, Cursor, or anything else that speaks MCP — not just this Python script — this is the pattern. Small, deliberately simple build today: a server with exactly one tool that counts TODO and FIXME comments across a codebase. Not glamorous, but a real, working, separate program by the end of this section, and the mechanics scale to anything more ambitious you'd want to build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 precise about what actually changes, because on the surface both are "a custom tool we wrote." In-process, from Episode 3 and 4, is built with the `@tool` decorator and `create_sdk_mcp_server()`, lives inside our agent's own process, and is usable only by this agent, only by this codebase. Standalone, today, is built with the real `mcp` Python SDK's `FastMCP`, lives in its own separate process, and is usable by any MCP client, anywhere. Neither one is "the upgrade." `pr_tools` stays exactly as in-process as it's always been — tightly coupled to this review flow on purpose, and that's fine. Today's server is a different job: something general-purpose enough that it deserves to live outside any one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file has no idea `claude_agent_sdk` exists — check the imports. It only imports from `mcp`, the actual protocol-level Python SDK. `FastMCP` gives you the same ergonomics as our `@tool` decorator — define a function, decorate it, done — but the thing it builds is a real, standalone server, not something bolted onto our agent's process.
```python
import re
from pathlib import Path
from mcp.server.fastmcp import FastMCP
mcp = FastMCP("repo_facts")
@mcp.tool()
def count_todos(directory: str = ".") -&gt; str:
 """Count TODO and FIXME comments across every .py file under
 `directory`. Returns a plain-text report: how many were found, and
 each one's file, line number, and the line itself.
 """
 hits = []
 for path in sorted(Path(directory).rglob("*.py")):
 for lineno, line in enumerate(
 path.read_text(errors="ignore").splitlines(), start=1
 ):
 if re.search(r"#\s*(TODO|FIXME)\b", line):
 hits.append(f"{path}:{lineno} {line.strip()}")
 if not hits:
 return "No TODO or FIXME comments found."
 return f"{len(hits)} found:\n" + "\n".join(hits)
if __name__ == "__main__":
 mcp.run() # stdio by default -- matches "type": "stdio" in .mcp.json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demystify MCP for a second, because "protocol" can sound intimidating and it shouldn't. Underneath everything we've done today, an MCP server over stdio is just JSON, one line at a time, over standard input and output. No magic. Watch — I'll talk to `repo_facts_server.py` directly, with no agent, no Claude, nothing in between. Three raw JSON-RPC messages piped into its stdin: an `initialize` call, an `initialized` notification, and a `tools/list` call. And what comes back on stdout — this is the real, actual response, run while writing this episode, not a mockup — is the server introducing itself, then listing exactly one tool: `count_todos`, description pulled straight from our docstring, input schema inferred from our function signature. That's the whole protocol, at the bottom of the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`.mcp.json`, now with both servers side by side. Notice our own server needs way less ceremony than GitHub's did — no headers, no token, no toolset scoping. There's nothing secret about counting TODO comments, so there's nothing to expand and nothing to leak.
```json
{
 "mcpServers": {
 "github": {
 "type": "http",
 "url": "https://api.githubcopilot.com/mcp/",
 "headers": {
 "Authorization": "Bearer ${GITHUB_PAT}",
 "X-MCP-Toolsets": "pull_requests"
 }
 },
 "repo_facts": {
 "type": "stdio",
 "command": "python",
 "args": ["repo_facts_server.py"]
 }
 }
}
```
One production note on that command/args pair: keep `repo_facts_server.py` sitting right next to this file, in the same working directory you launch the agent from. That removes any ambiguity about where that relative path resolves.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rule of thumb to leave with, because it answers "wait, why is `pr_tools` in `agent.py` but `github` and `repo_facts` are in `.mcp.json`?" — and it's simpler than it looks. A `"sdk"`-type server config needs a live Python object sitting in its `instance` field. You cannot put a live Python object inside a JSON file — JSON has no syntax for "here's a running object." So that one has to go in code. Everything else — a URL, a command to run, a header — is just strings and numbers, exactly what JSON is good at. So it belongs in `.mcp.json`, where it's easy to read, easy to diff, easy to share with a teammate without them touching a single line of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thing worth knowing before you plug in real-world MCP servers, because real APIs sometimes return a lot of data. If any single tool result comes back larger than 25,000 tokens, the SDK doesn't cram all of it into the conversation — it saves the full output to a file, and hands the model back a short error message naming that file path instead, so the agent can read the output back in portions if it needs to. You can raise that ceiling with the `MAX_MCP_OUTPUT_TOKENS` environment variable if a particular integration legitimately needs bigger responses. Good thing to file away — if you ever see an agent get a cryptic "output saved to file" message instead of real data, this is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Copy-paste source of truth. This is the whole file, top to bottom.
```json
{
 "mcpServers": {
 "github": {
 "type": "http",
 "url": "https://api.githubcopilot.com/mcp/",
 "headers": {
 "Authorization": "Bearer ${GITHUB_PAT}",
 "X-MCP-Toolsets": "pull_requests"
 }
 },
 "repo_facts": {
 "type": "stdio",
 "command": "python",
 "args": ["repo_facts_server.py"]
 }
 }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import, every function, reassembled top to bottom. If anything on an earlier slide ever conflicts with this slide, this slide wins.
```python
"""PR &amp; Repo Review Agent — Episode 09: MCP in the real world.
Run this from inside `ep09/`. Same cwd rule as every episode since Ep06:
CLAUDE.md, Skills, and -- new this episode -- .mcp.json are all discovered
starting from the working directory, gated by the same setting_sources=
["project"] switch we flipped on back in Episode 06. We didn't know it
yet at the time, but that one line was already doing double duty.
What changed since Ep08: two new MCP servers exist on disk (see .mcp.json),
but NEITHER is wired into review_pr()'s subagent flow. The mock
fetch_pr_metadata from Ep04 is still exactly what docstring-reviewer and
security-reviewer call for PR #143 -- deterministic, offline, safe to
re-run on camera as many times as a retake needs. The two new servers are
a separate, opt-in capability that only the coordinator gets, and only
when asked for:
 - "github" -- GitHub's real, official remote MCP server, configured
 in .mcp.json (type "http"). Lets the coordinator
 answer questions against REAL GitHub data on request.
 - "repo_facts" -- our own standalone MCP server, also in .mcp.json
 (type "stdio"), living at ep09/repo_facts_server.py.
 Counts TODO/FIXME comments. A genuinely separate
 program -- Claude Code, Claude Desktop, and Cursor
 could all launch this exact same file too, no Agent
 SDK involved.
Both live in .mcp.json, not in build_options(). See that file for why:
they're pure config -- a URL, or a command to run -- nothing about them
needs a live Python object the way pr_tools does.
"""
import asyncio
import sys
from claude_agent_sdk import (
 AssistantMessage,
 ClaudeAgentOptions,
 HookMatcher,
 ResultMessage,
 TextBlock,
 create_sdk_mcp_server,
 query,
)
from hooks import (
 block_dangerous_bash,
 log_precompact,
 process_pr_fetch_result,
 require_evidence,
)
from session_index import get_session_id, remember_session
from subagents import REVIEW_AGENTS
from tools import (
 check_docstrings,
 fetch_pr_metadata,
 publish_review,
 reset_findings,
 submit_finding,
)
pr_tools = create_sdk_mcp_server(
 name="pr_tools",
 version="1.0.0",
 tools=[check_docstrings, fetch_pr_metadata, submit_finding, publish_review],
)
def build_options(
 resume_id: str | None = None,
 fork: bool = False,
 *,
 include_github: bool = False,
) -&gt; ClaudeAgentOptions:
 """Everything Ep01-08 built, plus this episode's two MCP servers.
 include_github defaults to False on purpose. review_pr() below never
 passes True -- a normal PR review has no business depending on
 network access or a GitHub token being present. Only the ad-hoc,
 ask-a-real-question path in main() turns it on.
 """
 allowed_tools = [
 "Agent",
 "Read",
 "Grep",
 "Glob",
 "mcp__pr_tools__check_docstrings",
 "mcp__pr_tools__fetch_pr_metadata",
 "mcp__pr_tools__submit_finding",
 "mcp__pr_tools__publish_review",
 # Ep09 -- our own standalone server, one tool. Naming it
 # explicitly (instead of "mcp__repo_facts__*") costs nothing here
 # and says exactly what's allowed at a glance.
 "mcp__repo_facts__count_todos",
 ]
 if include_github:
 # Ep09 -- scoped to exactly one read-only tool. GitHub's server
 # exposes dozens of tools across toolsets; Ep06 already taught us
 # why we don't hand the model all of them just because they exist.
 allowed_tools.append("mcp__github__pull_request_read")
 return ClaudeAgentOptions(
 # pr_tools carries a live Python object (McpSdkServerConfig's
 # `instance` field) -- that can ONLY be passed here, in code.
 # "github" and "repo_facts" are pure config -- a URL, or a command
 # to run -- so they live in .mcp.json instead, picked up
 # automatically because setting_sources includes "project".
 mcp_servers={"pr_tools": pr_tools},
 agents=REVIEW_AGENTS,
 allowed_tools=allowed_tools,
 skills=["pr-digest", "changelog-entry"],
 setting_sources=["project"],
 permission_mode="dontAsk",
 hooks={
 "PreToolUse": [
 HookMatcher(matcher="Bash", hooks=[block_dangerous_bash]),
 ],
 "PostToolUse": [
 HookMatcher(
 matcher="mcp__pr_tools__fetch_pr_metadata",
 hooks=[process_pr_fetch_result],
 ),
 ],
 "Stop": [HookMatcher(hooks=[require_evidence])],
 "PreCompact": [HookMatcher(hooks=[log_precompact])],
 },
 resume=resume_id,
 fork_session=fork,
 )
async def review_pr(
 pr_number: int,
 prompt: str,
 *,
 fresh: bool = False,
 fork: bool = False,
) -&gt; str | None:
 """Review a PR, resuming the previous session for that PR when we have one.
 Unchanged since Ep08 -- this is still the mock fetch_pr_metadata path,
 and include_github is never passed here. A PR review's reliability
 shouldn't depend on GitHub's servers being reachable.
 """
 prior = None if fresh else get_session_id(pr_number)
 if prior:
 print(f"-&gt; resuming session {prior[:8]} for PR #{pr_number}")
 else:
 print(f"-&gt; new session for PR #{pr_number}")
 reset_findings()
 session_id = None
 try:
 async for message in query(prompt=prompt, options=build_options(prior, fork)):
 if isinstance(message, AssistantMessage):
 for block in message.content:
 if isinstance(block, TextBlock):
 print(block.text)
 elif isinstance(message, ResultMessage):
 session_id = message.session_id
 except Exception as error:
 print(f"[error] {error}")
 if session_id is None:
 return None
 if fork:
 print(f"-&gt; forked into {session_id[:8]} (original left intact)")
 else:
 remember_session(pr_number, session_id)
 print(f"-&gt; remembered session {session_id[:8]} for PR #{pr_number}")
 return session_id
async def ask_about_live_repo(question: str) -&gt; None:
 """Ep09 -- a separate, one-off entry point that turns GitHub ON.
 No PR number, no resume, no findings -- this deliberately never
 touches review_pr()'s session index. It's a different job: one live
 question against real GitHub data, using the same coordinator setup
 with a single flag flipped.
 """
 options = build_options(include_github=True)
 async for message in query(prompt=question, options=options):
 if isinstance(message, AssistantMessage):
 for block in message.content:
 if isinstance(block, TextBlock):
 print(block.text)
async def main() -&gt; None:
 if len(sys.argv) &gt; 1 and sys.argv[1] == "--live":
 question = " ".join(sys.argv[2:]) or (
 "What are the 3 most recently updated open pull requests on "
 "anthropics/claude-agent-sdk-python?"
 )
 await ask_about_live_repo(question)
 return
 pr_number = int(sys.argv[1]) if len(sys.argv) &gt; 1 else 143
 prompt = (
 sys.argv[2]
 if len(sys.argv) &gt; 2
 else f"Review PR #{pr_number}. Fan out to both reviewers, then post one comment."
 )
 await review_pr(pr_number, prompt)
if __name__ == "__main__":
 asyncio.run(main())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standalone server. Notice, one more time: zero imports from `claude_agent_sdk`.
```python
"""Standalone MCP server for the Repo &amp; PR Review Agent project.
This is NOT built with claude_agent_sdk's @tool decorator -- that's the
in-process pattern from Ep03/04 (see tools.py). This is a real, separate
program that speaks MCP over stdio using the actual `mcp` Python SDK
(FastMCP). It has no idea claude-agent-sdk exists. Any MCP client can
talk to it -- Claude Code, Claude Desktop, Cursor, or this Agent SDK
app -- all the same way, all through .mcp.json.
Run standalone (for testing outside any agent):
 python repo_facts_server.py
It'll sit there speaking MCP over stdio -- that's expected, it's waiting
for a client. Ctrl+C to stop. It's meant to be launched BY a client (see
.mcp.json), not run interactively.
"""
import re
from pathlib import Path
from mcp.server.fastmcp import FastMCP
mcp = FastMCP("repo_facts")
@mcp.tool()
def count_todos(directory: str = ".") -&gt; str:
 """Count TODO and FIXME comments across every .py file under
 `directory`.
 Returns a plain-text report: how many were found, and each one's
 file, line number, and the line itself, so the caller doesn't have
 to go grepping for them by hand.
 """
 hits = []
 for path in sorted(Path(directory).rglob("*.py")):
 for lineno, line in enumerate(
 path.read_text(errors="ignore").splitlines(), start=1
 ):
 if re.search(r"#\s*(TODO|FIXME)\b", line):
 hits.append(f"{path}:{lineno} {line.strip()}")
 if not hits:
 return "No TODO or FIXME comments found."
 return f"{len(hits)} found:\n" + "\n".join(hits)
if __name__ == "__main__":
 mcp.run() # stdio by default -- matches "type": "stdio" in .mcp.json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to walk away with. One — MCP servers come in four shapes: stdio, http, sse, sdk. Episode 3's `@tool` decorator has been building "sdk"-type servers the whole time. Two — connecting to somebody else's server is config, not code: a URL and a header, or a command and args, in `.mcp.json`. Three — `${VAR}` expansion keeps secrets out of git, but verify it actually reaches HTTP headers on your own machine before you rely on it. Four — building your own external server means a real, separate MCP program via the `mcp` SDK's `FastMCP`, portable to any MCP client, not just this agent. Five — the rule of thumb: a live Python object goes in code, a URL or a command goes in `.mcp.json`.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that's the agent, plugged into the real world — GitHub on one side, a portable server of our own on the other. Every layer's code lives in the `claude-api-masterclass` repo, one folder per episode — today's is `ep09/`, link's in the description. If that headers-expansion gotcha saved you a debugging session, that's genuinely why I dig through open issues before scripting these — so, hit like if that was useful, and subscribe if you want the rest of this build-along as it lands. Drop a comment if you hit the bug, or if you didn't — I'm curious which way it goes for people. Next episode, we're doing something the exam blueprint made very clear we couldn't skip — Model Selection and Optimization is almost seventeen percent of the whole exam, and we haven't given it a single dedicated episode yet. Episode 10: Opus versus Sonnet versus Haiku, thinking modes, and effort levels — same agent, same repo, new decision to make. See you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257175" y="200025"/>
            <a:ext cx="2232705"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71717A"/>
                </a:solidFill>
                <a:latin typeface="Liberation Sans Narrow" pitchFamily="34" charset="0"/>
                <a:ea typeface="Liberation Sans Narrow" pitchFamily="34" charset="-122"/>
                <a:cs typeface="Liberation Sans Narrow" pitchFamily="34" charset="-120"/>
              </a:rPr>
              <a:t>EP09 </a:t>
            </a:r>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a:t>
            </a:r>
            <a:pPr algn="l" indent="0" marL="0">
              <a:lnSpc>
                <a:spcPts val="928"/>
              </a:lnSpc>
              <a:buNone/>
            </a:pPr>
            <a:r>
              <a:rPr lang="en-US" sz="800" spc="173" kern="0" dirty="0">
                <a:solidFill>
                  <a:srgbClr val="71717A"/>
                </a:solidFill>
                <a:latin typeface="Courier New" pitchFamily="34" charset="0"/>
                <a:ea typeface="Courier New" pitchFamily="34" charset="-122"/>
                <a:cs typeface="Courier New" pitchFamily="34" charset="-120"/>
              </a:rPr>
              <a:t> MCP IN THE REAL WORLD</a:t>
            </a:r>
            <a:endParaRPr lang="en-US" sz="800" dirty="0"/>
          </a:p>
        </p:txBody>
      </p:sp>
      <p:sp>
        <p:nvSpPr>
          <p:cNvPr id="3" name="Text 1"/>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01 / 30</a:t>
            </a:r>
            <a:endParaRPr lang="en-US" sz="800" dirty="0"/>
          </a:p>
        </p:txBody>
      </p:sp>
      <p:sp>
        <p:nvSpPr>
          <p:cNvPr id="4" name="Text 2"/>
          <p:cNvSpPr/>
          <p:nvPr/>
        </p:nvSpPr>
        <p:spPr>
          <a:xfrm>
            <a:off x="4480903" y="3143250"/>
            <a:ext cx="4663097" cy="2000250"/>
          </a:xfrm>
          <a:prstGeom prst="rect">
            <a:avLst/>
          </a:prstGeom>
          <a:noFill/>
          <a:ln/>
        </p:spPr>
        <p:txBody>
          <a:bodyPr wrap="square" lIns="0" tIns="0" rIns="0" bIns="0" rtlCol="0" anchor="t"/>
          <a:lstStyle/>
          <a:p>
            <a:pPr algn="l" indent="0" marL="0">
              <a:lnSpc>
                <a:spcPts val="20250"/>
              </a:lnSpc>
              <a:buNone/>
            </a:pPr>
            <a:r>
              <a:rPr lang="en-US" sz="20250" b="1" dirty="0">
                <a:solidFill>
                  <a:srgbClr val="FF7A1A">
                    <a:alpha val="4000"/>
                  </a:srgbClr>
                </a:solidFill>
                <a:latin typeface="Liberation Sans Narrow" pitchFamily="34" charset="0"/>
                <a:ea typeface="Liberation Sans Narrow" pitchFamily="34" charset="-122"/>
                <a:cs typeface="Liberation Sans Narrow" pitchFamily="34" charset="-120"/>
              </a:rPr>
              <a:t>01</a:t>
            </a:r>
            <a:endParaRPr lang="en-US" sz="20250" dirty="0"/>
          </a:p>
        </p:txBody>
      </p:sp>
      <p:sp>
        <p:nvSpPr>
          <p:cNvPr id="5" name="Text 3"/>
          <p:cNvSpPr/>
          <p:nvPr/>
        </p:nvSpPr>
        <p:spPr>
          <a:xfrm>
            <a:off x="514350" y="600075"/>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OPENING</a:t>
            </a:r>
            <a:endParaRPr lang="en-US" sz="800" dirty="0"/>
          </a:p>
        </p:txBody>
      </p:sp>
      <p:sp>
        <p:nvSpPr>
          <p:cNvPr id="6" name="Text 4"/>
          <p:cNvSpPr/>
          <p:nvPr/>
        </p:nvSpPr>
        <p:spPr>
          <a:xfrm>
            <a:off x="514350" y="817959"/>
            <a:ext cx="8629650" cy="898586"/>
          </a:xfrm>
          <a:prstGeom prst="rect">
            <a:avLst/>
          </a:prstGeom>
          <a:noFill/>
          <a:ln/>
        </p:spPr>
        <p:txBody>
          <a:bodyPr wrap="none" lIns="0" tIns="0" rIns="0" bIns="0" rtlCol="0" anchor="t"/>
          <a:lstStyle/>
          <a:p>
            <a:pPr algn="l" indent="0" marL="0">
              <a:lnSpc>
                <a:spcPts val="3276"/>
              </a:lnSpc>
              <a:buNone/>
            </a:pPr>
            <a:r>
              <a:rPr lang="en-US" sz="3150" b="1" spc="-79" kern="0" dirty="0">
                <a:solidFill>
                  <a:srgbClr val="F4F4F5"/>
                </a:solidFill>
                <a:latin typeface="Carlito" pitchFamily="34" charset="0"/>
                <a:ea typeface="Carlito" pitchFamily="34" charset="-122"/>
                <a:cs typeface="Carlito" pitchFamily="34" charset="-120"/>
              </a:rPr>
              <a:t>The Comment We've Been</a:t>
            </a:r>
            <a:endParaRPr lang="en-US" sz="3150" dirty="0"/>
          </a:p>
          <a:p>
            <a:pPr algn="l" indent="0" marL="0">
              <a:lnSpc>
                <a:spcPts val="3276"/>
              </a:lnSpc>
              <a:buNone/>
            </a:pPr>
            <a:r>
              <a:rPr lang="en-US" sz="3150" b="1" spc="-79" kern="0" dirty="0">
                <a:solidFill>
                  <a:srgbClr val="F4F4F5"/>
                </a:solidFill>
                <a:latin typeface="Carlito" pitchFamily="34" charset="0"/>
                <a:ea typeface="Carlito" pitchFamily="34" charset="-122"/>
                <a:cs typeface="Carlito" pitchFamily="34" charset="-120"/>
              </a:rPr>
              <a:t>Ignoring Since </a:t>
            </a:r>
            <a:pPr algn="l" indent="0" marL="0">
              <a:lnSpc>
                <a:spcPts val="3276"/>
              </a:lnSpc>
              <a:buNone/>
            </a:pPr>
            <a:r>
              <a:rPr lang="en-US" sz="3150" b="1" spc="-79" kern="0" dirty="0">
                <a:solidFill>
                  <a:srgbClr val="FF7A1A"/>
                </a:solidFill>
                <a:latin typeface="Liberation Sans Narrow" pitchFamily="34" charset="0"/>
                <a:ea typeface="Liberation Sans Narrow" pitchFamily="34" charset="-122"/>
                <a:cs typeface="Liberation Sans Narrow" pitchFamily="34" charset="-120"/>
              </a:rPr>
              <a:t>Episode 4</a:t>
            </a:r>
            <a:endParaRPr lang="en-US" sz="3150" dirty="0"/>
          </a:p>
        </p:txBody>
      </p:sp>
      <p:sp>
        <p:nvSpPr>
          <p:cNvPr id="7" name="Shape 5"/>
          <p:cNvSpPr/>
          <p:nvPr/>
        </p:nvSpPr>
        <p:spPr>
          <a:xfrm>
            <a:off x="514350" y="1789286"/>
            <a:ext cx="400050" cy="0"/>
          </a:xfrm>
          <a:prstGeom prst="line">
            <a:avLst/>
          </a:prstGeom>
          <a:noFill/>
          <a:ln w="7144">
            <a:solidFill>
              <a:srgbClr val="F4F4F5"/>
            </a:solidFill>
            <a:prstDash val="solid"/>
          </a:ln>
        </p:spPr>
      </p:sp>
      <p:sp>
        <p:nvSpPr>
          <p:cNvPr id="8" name="Text 6"/>
          <p:cNvSpPr/>
          <p:nvPr/>
        </p:nvSpPr>
        <p:spPr>
          <a:xfrm>
            <a:off x="514350" y="2751237"/>
            <a:ext cx="3951610" cy="1415476"/>
          </a:xfrm>
          <a:prstGeom prst="rect">
            <a:avLst/>
          </a:prstGeom>
          <a:noFill/>
          <a:ln/>
        </p:spPr>
        <p:txBody>
          <a:bodyPr wrap="square" lIns="0" tIns="0" rIns="0" bIns="0" rtlCol="0" anchor="t"/>
          <a:lstStyle/>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tools.py</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 →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publish_review</a:t>
            </a:r>
            <a:pPr algn="l" indent="0" marL="0">
              <a:lnSpc>
                <a:spcPts val="1482"/>
              </a:lnSpc>
              <a:spcAft>
                <a:spcPts val="788"/>
              </a:spcAft>
              <a:buNone/>
            </a:pPr>
            <a:r>
              <a:rPr lang="en-US" sz="956" dirty="0">
                <a:solidFill>
                  <a:srgbClr val="F4F4F5"/>
                </a:solidFill>
                <a:latin typeface="Liberation Sans Narrow" pitchFamily="34" charset="0"/>
                <a:ea typeface="Liberation Sans Narrow" pitchFamily="34" charset="-122"/>
                <a:cs typeface="Liberation Sans Narrow" pitchFamily="34" charset="-120"/>
              </a:rPr>
              <a:t> → one comment, since Episode 4</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i="1" dirty="0">
                <a:solidFill>
                  <a:srgbClr val="F4F4F5"/>
                </a:solidFill>
                <a:latin typeface="Carlito" pitchFamily="34" charset="0"/>
                <a:ea typeface="Carlito" pitchFamily="34" charset="-122"/>
                <a:cs typeface="Carlito" pitchFamily="34" charset="-120"/>
              </a:rPr>
              <a:t>"swap this line for a real API call (e.g. GitHub) when this leaves the demo"</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Every review since Ep04 has used the same 3 mock PRs</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Today: the agent touches the real internet for the first time</a:t>
            </a:r>
            <a:endParaRPr lang="en-US" sz="956" dirty="0"/>
          </a:p>
        </p:txBody>
      </p:sp>
      <p:sp>
        <p:nvSpPr>
          <p:cNvPr id="9" name="Text 7"/>
          <p:cNvSpPr/>
          <p:nvPr/>
        </p:nvSpPr>
        <p:spPr>
          <a:xfrm>
            <a:off x="4866010" y="2000027"/>
            <a:ext cx="3763640" cy="2743423"/>
          </a:xfrm>
          <a:prstGeom prst="roundRect">
            <a:avLst>
              <a:gd name="adj" fmla="val 3472"/>
            </a:avLst>
          </a:prstGeom>
          <a:solidFill>
            <a:srgbClr val="15151A"/>
          </a:solidFill>
          <a:ln/>
        </p:spPr>
        <p:txBody>
          <a:bodyPr wrap="square" rtlCol="0" anchor="ctr"/>
          <a:lstStyle/>
          <a:p>
            <a:pPr indent="0" marL="0">
              <a:buNone/>
            </a:pPr>
            <a:endParaRPr lang="en-US" dirty="0"/>
          </a:p>
        </p:txBody>
      </p:sp>
      <p:sp>
        <p:nvSpPr>
          <p:cNvPr id="10" name="Shape 8"/>
          <p:cNvSpPr/>
          <p:nvPr/>
        </p:nvSpPr>
        <p:spPr>
          <a:xfrm>
            <a:off x="4866010" y="2003599"/>
            <a:ext cx="3763640" cy="0"/>
          </a:xfrm>
          <a:prstGeom prst="line">
            <a:avLst/>
          </a:prstGeom>
          <a:noFill/>
          <a:ln w="7144">
            <a:solidFill>
              <a:srgbClr val="2A2A33"/>
            </a:solidFill>
            <a:prstDash val="solid"/>
          </a:ln>
        </p:spPr>
      </p:sp>
      <p:sp>
        <p:nvSpPr>
          <p:cNvPr id="11" name="Shape 9"/>
          <p:cNvSpPr/>
          <p:nvPr/>
        </p:nvSpPr>
        <p:spPr>
          <a:xfrm>
            <a:off x="8626078" y="2000027"/>
            <a:ext cx="0" cy="2743423"/>
          </a:xfrm>
          <a:prstGeom prst="line">
            <a:avLst/>
          </a:prstGeom>
          <a:noFill/>
          <a:ln w="7144">
            <a:solidFill>
              <a:srgbClr val="2A2A33"/>
            </a:solidFill>
            <a:prstDash val="solid"/>
          </a:ln>
        </p:spPr>
      </p:sp>
      <p:sp>
        <p:nvSpPr>
          <p:cNvPr id="12" name="Shape 10"/>
          <p:cNvSpPr/>
          <p:nvPr/>
        </p:nvSpPr>
        <p:spPr>
          <a:xfrm>
            <a:off x="4866010" y="4739878"/>
            <a:ext cx="3763640" cy="0"/>
          </a:xfrm>
          <a:prstGeom prst="line">
            <a:avLst/>
          </a:prstGeom>
          <a:noFill/>
          <a:ln w="7144">
            <a:solidFill>
              <a:srgbClr val="2A2A33"/>
            </a:solidFill>
            <a:prstDash val="solid"/>
          </a:ln>
        </p:spPr>
      </p:sp>
      <p:sp>
        <p:nvSpPr>
          <p:cNvPr id="13" name="Shape 11"/>
          <p:cNvSpPr/>
          <p:nvPr/>
        </p:nvSpPr>
        <p:spPr>
          <a:xfrm>
            <a:off x="4876726" y="2000027"/>
            <a:ext cx="0" cy="2743423"/>
          </a:xfrm>
          <a:prstGeom prst="line">
            <a:avLst/>
          </a:prstGeom>
          <a:noFill/>
          <a:ln w="21431">
            <a:solidFill>
              <a:srgbClr val="FF7A1A"/>
            </a:solidFill>
            <a:prstDash val="solid"/>
          </a:ln>
        </p:spPr>
      </p:sp>
      <p:sp>
        <p:nvSpPr>
          <p:cNvPr id="14" name="Text 12"/>
          <p:cNvSpPr/>
          <p:nvPr/>
        </p:nvSpPr>
        <p:spPr>
          <a:xfrm>
            <a:off x="5087466" y="2192908"/>
            <a:ext cx="1553297" cy="196739"/>
          </a:xfrm>
          <a:prstGeom prst="rect">
            <a:avLst/>
          </a:prstGeom>
          <a:noFill/>
          <a:ln/>
        </p:spPr>
        <p:txBody>
          <a:bodyPr wrap="square" lIns="0" tIns="0" rIns="0" bIns="0" rtlCol="0" anchor="t"/>
          <a:lstStyle/>
          <a:p>
            <a:pPr algn="l" indent="0" marL="0">
              <a:lnSpc>
                <a:spcPts val="1434"/>
              </a:lnSpc>
              <a:buNone/>
            </a:pPr>
            <a:r>
              <a:rPr lang="en-US" sz="956" dirty="0">
                <a:solidFill>
                  <a:srgbClr val="F4F4F5"/>
                </a:solidFill>
                <a:latin typeface="Carlito" pitchFamily="34" charset="0"/>
                <a:ea typeface="Carlito" pitchFamily="34" charset="-122"/>
                <a:cs typeface="Carlito" pitchFamily="34" charset="-120"/>
              </a:rPr>
              <a:t>tools.py · publish_review()</a:t>
            </a:r>
            <a:endParaRPr lang="en-US" sz="956" dirty="0"/>
          </a:p>
        </p:txBody>
      </p:sp>
      <p:sp>
        <p:nvSpPr>
          <p:cNvPr id="15" name="Text 13"/>
          <p:cNvSpPr/>
          <p:nvPr/>
        </p:nvSpPr>
        <p:spPr>
          <a:xfrm>
            <a:off x="5087466" y="2475086"/>
            <a:ext cx="3335015" cy="1298332"/>
          </a:xfrm>
          <a:prstGeom prst="rect">
            <a:avLst/>
          </a:prstGeom>
          <a:noFill/>
          <a:ln/>
        </p:spPr>
        <p:txBody>
          <a:bodyPr wrap="square" lIns="0" tIns="0" rIns="0" bIns="0" rtlCol="0" anchor="t"/>
          <a:lstStyle/>
          <a:p>
            <a:pPr algn="l" indent="0" marL="0">
              <a:lnSpc>
                <a:spcPts val="1578"/>
              </a:lnSpc>
              <a:buNone/>
            </a:pPr>
            <a:r>
              <a:rPr lang="en-US" sz="956" i="1" dirty="0">
                <a:solidFill>
                  <a:srgbClr val="71717A"/>
                </a:solidFill>
                <a:latin typeface="Courier New" pitchFamily="34" charset="0"/>
                <a:ea typeface="Courier New" pitchFamily="34" charset="-122"/>
                <a:cs typeface="Courier New" pitchFamily="34" charset="-120"/>
              </a:rPr>
              <a:t># 'Posting' is a formatted return value for this build-along --</a:t>
            </a:r>
            <a:endParaRPr lang="en-US" sz="956" dirty="0"/>
          </a:p>
          <a:p>
            <a:pPr algn="l" indent="0" marL="0">
              <a:lnSpc>
                <a:spcPts val="1578"/>
              </a:lnSpc>
              <a:buNone/>
            </a:pPr>
            <a:r>
              <a:rPr lang="en-US" sz="956" i="1" dirty="0">
                <a:solidFill>
                  <a:srgbClr val="71717A"/>
                </a:solidFill>
                <a:latin typeface="Courier New" pitchFamily="34" charset="0"/>
                <a:ea typeface="Courier New" pitchFamily="34" charset="-122"/>
                <a:cs typeface="Courier New" pitchFamily="34" charset="-120"/>
              </a:rPr>
              <a:t># swap this line for a real API call (e.g. GitHub) when this</a:t>
            </a:r>
            <a:endParaRPr lang="en-US" sz="956" dirty="0"/>
          </a:p>
          <a:p>
            <a:pPr algn="l" indent="0" marL="0">
              <a:lnSpc>
                <a:spcPts val="1578"/>
              </a:lnSpc>
              <a:buNone/>
            </a:pPr>
            <a:r>
              <a:rPr lang="en-US" sz="956" i="1" dirty="0">
                <a:solidFill>
                  <a:srgbClr val="71717A"/>
                </a:solidFill>
                <a:latin typeface="Courier New" pitchFamily="34" charset="0"/>
                <a:ea typeface="Courier New" pitchFamily="34" charset="-122"/>
                <a:cs typeface="Courier New" pitchFamily="34" charset="-120"/>
              </a:rPr>
              <a:t># leaves the demo.</a:t>
            </a:r>
            <a:endParaRPr lang="en-US" sz="956" dirty="0"/>
          </a:p>
          <a:p>
            <a:pPr algn="l" indent="0" marL="0">
              <a:lnSpc>
                <a:spcPts val="1578"/>
              </a:lnSpc>
              <a:buNone/>
            </a:pPr>
            <a:r>
              <a:rPr lang="en-US" sz="956" i="1" dirty="0">
                <a:solidFill>
                  <a:srgbClr val="FF7A1A"/>
                </a:solidFill>
                <a:latin typeface="Courier New" pitchFamily="34" charset="0"/>
                <a:ea typeface="Courier New" pitchFamily="34" charset="-122"/>
                <a:cs typeface="Courier New" pitchFamily="34" charset="-120"/>
              </a:rPr>
              <a:t>return</a:t>
            </a:r>
            <a:pPr algn="l" indent="0" marL="0">
              <a:lnSpc>
                <a:spcPts val="1578"/>
              </a:lnSpc>
              <a:buNone/>
            </a:pPr>
            <a:r>
              <a:rPr lang="en-US" sz="956" i="1" dirty="0">
                <a:solidFill>
                  <a:srgbClr val="E4E4E7"/>
                </a:solidFill>
                <a:latin typeface="Courier New" pitchFamily="34" charset="0"/>
                <a:ea typeface="Courier New" pitchFamily="34" charset="-122"/>
                <a:cs typeface="Courier New" pitchFamily="34" charset="-120"/>
              </a:rPr>
              <a:t> {</a:t>
            </a:r>
            <a:pPr algn="l" indent="0" marL="0">
              <a:lnSpc>
                <a:spcPts val="1578"/>
              </a:lnSpc>
              <a:buNone/>
            </a:pPr>
            <a:r>
              <a:rPr lang="en-US" sz="956" i="1" dirty="0">
                <a:solidFill>
                  <a:srgbClr val="B6E3A1"/>
                </a:solidFill>
                <a:latin typeface="Courier New" pitchFamily="34" charset="0"/>
                <a:ea typeface="Courier New" pitchFamily="34" charset="-122"/>
                <a:cs typeface="Courier New" pitchFamily="34" charset="-120"/>
              </a:rPr>
              <a:t>"status"</a:t>
            </a:r>
            <a:pPr algn="l" indent="0" marL="0">
              <a:lnSpc>
                <a:spcPts val="1578"/>
              </a:lnSpc>
              <a:buNone/>
            </a:pPr>
            <a:r>
              <a:rPr lang="en-US" sz="956" i="1" dirty="0">
                <a:solidFill>
                  <a:srgbClr val="E4E4E7"/>
                </a:solidFill>
                <a:latin typeface="Courier New" pitchFamily="34" charset="0"/>
                <a:ea typeface="Courier New" pitchFamily="34" charset="-122"/>
                <a:cs typeface="Courier New" pitchFamily="34" charset="-120"/>
              </a:rPr>
              <a:t>: </a:t>
            </a:r>
            <a:pPr algn="l" indent="0" marL="0">
              <a:lnSpc>
                <a:spcPts val="1578"/>
              </a:lnSpc>
              <a:buNone/>
            </a:pPr>
            <a:r>
              <a:rPr lang="en-US" sz="956" i="1" dirty="0">
                <a:solidFill>
                  <a:srgbClr val="B6E3A1"/>
                </a:solidFill>
                <a:latin typeface="Courier New" pitchFamily="34" charset="0"/>
                <a:ea typeface="Courier New" pitchFamily="34" charset="-122"/>
                <a:cs typeface="Courier New" pitchFamily="34" charset="-120"/>
              </a:rPr>
              <a:t>"posted (mock)"</a:t>
            </a:r>
            <a:pPr algn="l" indent="0" marL="0">
              <a:lnSpc>
                <a:spcPts val="1578"/>
              </a:lnSpc>
              <a:buNone/>
            </a:pPr>
            <a:r>
              <a:rPr lang="en-US" sz="956" i="1" dirty="0">
                <a:solidFill>
                  <a:srgbClr val="E4E4E7"/>
                </a:solidFill>
                <a:latin typeface="Courier New" pitchFamily="34" charset="0"/>
                <a:ea typeface="Courier New" pitchFamily="34" charset="-122"/>
                <a:cs typeface="Courier New" pitchFamily="34" charset="-120"/>
              </a:rPr>
              <a:t>, </a:t>
            </a:r>
            <a:pPr algn="l" indent="0" marL="0">
              <a:lnSpc>
                <a:spcPts val="1578"/>
              </a:lnSpc>
              <a:buNone/>
            </a:pPr>
            <a:r>
              <a:rPr lang="en-US" sz="956" i="1" dirty="0">
                <a:solidFill>
                  <a:srgbClr val="B6E3A1"/>
                </a:solidFill>
                <a:latin typeface="Courier New" pitchFamily="34" charset="0"/>
                <a:ea typeface="Courier New" pitchFamily="34" charset="-122"/>
                <a:cs typeface="Courier New" pitchFamily="34" charset="-120"/>
              </a:rPr>
              <a:t>"pr"</a:t>
            </a:r>
            <a:pPr algn="l" indent="0" marL="0">
              <a:lnSpc>
                <a:spcPts val="1578"/>
              </a:lnSpc>
              <a:buNone/>
            </a:pPr>
            <a:r>
              <a:rPr lang="en-US" sz="956" i="1" dirty="0">
                <a:solidFill>
                  <a:srgbClr val="E4E4E7"/>
                </a:solidFill>
                <a:latin typeface="Courier New" pitchFamily="34" charset="0"/>
                <a:ea typeface="Courier New" pitchFamily="34" charset="-122"/>
                <a:cs typeface="Courier New" pitchFamily="34" charset="-120"/>
              </a:rPr>
              <a:t>: pr_id}</a:t>
            </a:r>
            <a:endParaRPr lang="en-US" sz="956" dirty="0"/>
          </a:p>
        </p:txBody>
      </p:sp>
      <p:sp>
        <p:nvSpPr>
          <p:cNvPr id="16" name="Shape 14"/>
          <p:cNvSpPr/>
          <p:nvPr/>
        </p:nvSpPr>
        <p:spPr>
          <a:xfrm>
            <a:off x="5087466" y="4314825"/>
            <a:ext cx="3335015" cy="0"/>
          </a:xfrm>
          <a:prstGeom prst="line">
            <a:avLst/>
          </a:prstGeom>
          <a:noFill/>
          <a:ln w="7144">
            <a:solidFill>
              <a:srgbClr val="2A2A33"/>
            </a:solidFill>
            <a:prstDash val="dash"/>
          </a:ln>
        </p:spPr>
      </p:sp>
      <p:sp>
        <p:nvSpPr>
          <p:cNvPr id="17" name="Text 15"/>
          <p:cNvSpPr/>
          <p:nvPr/>
        </p:nvSpPr>
        <p:spPr>
          <a:xfrm>
            <a:off x="5087466" y="4311253"/>
            <a:ext cx="3335015" cy="225028"/>
          </a:xfrm>
          <a:prstGeom prst="rect">
            <a:avLst/>
          </a:prstGeom>
          <a:noFill/>
          <a:ln/>
        </p:spPr>
        <p:txBody>
          <a:bodyPr wrap="square" lIns="0" tIns="100013"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WRITTEN · EPISODE 04 · STILL HERE</a:t>
            </a:r>
            <a:endParaRPr lang="en-US" sz="800" dirty="0"/>
          </a:p>
        </p:txBody>
      </p:sp>
      <p:sp>
        <p:nvSpPr>
          <p:cNvPr id="18" name="Text 16"/>
          <p:cNvSpPr/>
          <p:nvPr/>
        </p:nvSpPr>
        <p:spPr>
          <a:xfrm>
            <a:off x="514350" y="4868466"/>
            <a:ext cx="5990816"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EP09 · MCP IN THE REAL WORLD</a:t>
            </a:r>
            <a:endParaRPr lang="en-US" sz="800" dirty="0"/>
          </a:p>
        </p:txBody>
      </p:sp>
      <p:sp>
        <p:nvSpPr>
          <p:cNvPr id="19" name="Text 17"/>
          <p:cNvSpPr/>
          <p:nvPr/>
        </p:nvSpPr>
        <p:spPr>
          <a:xfrm>
            <a:off x="6519453" y="4847034"/>
            <a:ext cx="1090426" cy="157163"/>
          </a:xfrm>
          <a:prstGeom prst="roundRect">
            <a:avLst>
              <a:gd name="adj" fmla="val 24242"/>
            </a:avLst>
          </a:prstGeom>
          <a:solidFill>
            <a:srgbClr val="FF7A1A">
              <a:alpha val="8000"/>
            </a:srgbClr>
          </a:solidFill>
          <a:ln/>
        </p:spPr>
        <p:txBody>
          <a:bodyPr wrap="square" rtlCol="0" anchor="ctr"/>
          <a:lstStyle/>
          <a:p>
            <a:pPr indent="0" marL="0">
              <a:buNone/>
            </a:pPr>
            <a:endParaRPr lang="en-US" dirty="0"/>
          </a:p>
        </p:txBody>
      </p:sp>
      <p:sp>
        <p:nvSpPr>
          <p:cNvPr id="20" name="Text 18"/>
          <p:cNvSpPr/>
          <p:nvPr/>
        </p:nvSpPr>
        <p:spPr>
          <a:xfrm>
            <a:off x="7765479" y="4847034"/>
            <a:ext cx="864171" cy="157163"/>
          </a:xfrm>
          <a:prstGeom prst="roundRect">
            <a:avLst>
              <a:gd name="adj" fmla="val 24242"/>
            </a:avLst>
          </a:prstGeom>
          <a:solidFill>
            <a:srgbClr val="FF7A1A">
              <a:alpha val="12000"/>
            </a:srgbClr>
          </a:solidFill>
          <a:ln/>
        </p:spPr>
        <p:txBody>
          <a:bodyPr wrap="square" rtlCol="0" anchor="ctr"/>
          <a:lstStyle/>
          <a:p>
            <a:pPr indent="0" marL="0">
              <a:buNone/>
            </a:pPr>
            <a:endParaRPr lang="en-US" dirty="0"/>
          </a:p>
        </p:txBody>
      </p:sp>
      <p:sp>
        <p:nvSpPr>
          <p:cNvPr id="21" name="Text 19"/>
          <p:cNvSpPr/>
          <p:nvPr/>
        </p:nvSpPr>
        <p:spPr>
          <a:xfrm>
            <a:off x="6519453" y="4868466"/>
            <a:ext cx="2403976" cy="164592"/>
          </a:xfrm>
          <a:prstGeom prst="rect">
            <a:avLst/>
          </a:prstGeom>
          <a:noFill/>
          <a:ln/>
        </p:spPr>
        <p:txBody>
          <a:bodyPr wrap="square" lIns="0" tIns="0" rIns="0" bIns="0" rtlCol="0" anchor="t"/>
          <a:lstStyle/>
          <a:p>
            <a:pPr algn="l" indent="0" marL="0">
              <a:lnSpc>
                <a:spcPts val="928"/>
              </a:lnSpc>
              <a:buNone/>
            </a:pPr>
            <a:r>
              <a:rPr lang="en-US" sz="800" spc="136" kern="0" dirty="0">
                <a:solidFill>
                  <a:srgbClr val="FF7A1A"/>
                </a:solidFill>
                <a:highlight>
                  <a:srgbClr val="FF7A1A"/>
                </a:highlight>
                <a:latin typeface="Liberation Sans Narrow" pitchFamily="34" charset="0"/>
                <a:ea typeface="Liberation Sans Narrow" pitchFamily="34" charset="-122"/>
                <a:cs typeface="Liberation Sans Narrow" pitchFamily="34" charset="-120"/>
              </a:rPr>
              <a:t>EP01–08 = OFFLINE</a:t>
            </a:r>
            <a:pPr algn="l" indent="0" marL="0">
              <a:lnSpc>
                <a:spcPts val="928"/>
              </a:lnSpc>
              <a:buNone/>
            </a:pPr>
            <a:r>
              <a:rPr lang="en-US" sz="800" spc="99" kern="0" dirty="0">
                <a:solidFill>
                  <a:srgbClr val="71717A"/>
                </a:solidFill>
                <a:latin typeface="Courier New" pitchFamily="34" charset="0"/>
                <a:ea typeface="Courier New" pitchFamily="34" charset="-122"/>
                <a:cs typeface="Courier New" pitchFamily="34" charset="-120"/>
              </a:rPr>
              <a:t> </a:t>
            </a:r>
            <a:pPr algn="l" indent="0" marL="0">
              <a:lnSpc>
                <a:spcPts val="928"/>
              </a:lnSpc>
              <a:buNone/>
            </a:pPr>
            <a:r>
              <a:rPr lang="en-US" sz="800" spc="136" kern="0" dirty="0">
                <a:solidFill>
                  <a:srgbClr val="FF7A1A"/>
                </a:solidFill>
                <a:highlight>
                  <a:srgbClr val="FF7A1A"/>
                </a:highlight>
                <a:latin typeface="Liberation Sans Narrow" pitchFamily="34" charset="0"/>
                <a:ea typeface="Liberation Sans Narrow" pitchFamily="34" charset="-122"/>
                <a:cs typeface="Liberation Sans Narrow" pitchFamily="34" charset="-120"/>
              </a:rPr>
              <a:t>EP09 = ONLINE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257175" y="200025"/>
            <a:ext cx="2232705"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71717A"/>
                </a:solidFill>
                <a:latin typeface="Liberation Sans Narrow" pitchFamily="34" charset="0"/>
                <a:ea typeface="Liberation Sans Narrow" pitchFamily="34" charset="-122"/>
                <a:cs typeface="Liberation Sans Narrow" pitchFamily="34" charset="-120"/>
              </a:rPr>
              <a:t>EP09 </a:t>
            </a:r>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a:t>
            </a:r>
            <a:pPr algn="l" indent="0" marL="0">
              <a:lnSpc>
                <a:spcPts val="928"/>
              </a:lnSpc>
              <a:buNone/>
            </a:pPr>
            <a:r>
              <a:rPr lang="en-US" sz="800" spc="173" kern="0" dirty="0">
                <a:solidFill>
                  <a:srgbClr val="71717A"/>
                </a:solidFill>
                <a:latin typeface="Courier New" pitchFamily="34" charset="0"/>
                <a:ea typeface="Courier New" pitchFamily="34" charset="-122"/>
                <a:cs typeface="Courier New" pitchFamily="34" charset="-120"/>
              </a:rPr>
              <a:t> MCP IN THE REAL WORLD</a:t>
            </a:r>
            <a:endParaRPr lang="en-US" sz="800" dirty="0"/>
          </a:p>
        </p:txBody>
      </p:sp>
      <p:sp>
        <p:nvSpPr>
          <p:cNvPr id="3" name="Text 1"/>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02 / 30</a:t>
            </a:r>
            <a:endParaRPr lang="en-US" sz="800" dirty="0"/>
          </a:p>
        </p:txBody>
      </p:sp>
      <p:sp>
        <p:nvSpPr>
          <p:cNvPr id="4" name="Text 2"/>
          <p:cNvSpPr/>
          <p:nvPr/>
        </p:nvSpPr>
        <p:spPr>
          <a:xfrm>
            <a:off x="4480903" y="3214688"/>
            <a:ext cx="4663097" cy="1928813"/>
          </a:xfrm>
          <a:prstGeom prst="rect">
            <a:avLst/>
          </a:prstGeom>
          <a:noFill/>
          <a:ln/>
        </p:spPr>
        <p:txBody>
          <a:bodyPr wrap="square" lIns="0" tIns="0" rIns="0" bIns="0" rtlCol="0" anchor="t"/>
          <a:lstStyle/>
          <a:p>
            <a:pPr algn="l" indent="0" marL="0">
              <a:lnSpc>
                <a:spcPts val="20250"/>
              </a:lnSpc>
              <a:buNone/>
            </a:pPr>
            <a:r>
              <a:rPr lang="en-US" sz="20250" b="1" dirty="0">
                <a:solidFill>
                  <a:srgbClr val="FF7A1A">
                    <a:alpha val="4000"/>
                  </a:srgbClr>
                </a:solidFill>
                <a:latin typeface="Liberation Sans Narrow" pitchFamily="34" charset="0"/>
                <a:ea typeface="Liberation Sans Narrow" pitchFamily="34" charset="-122"/>
                <a:cs typeface="Liberation Sans Narrow" pitchFamily="34" charset="-120"/>
              </a:rPr>
              <a:t>02</a:t>
            </a:r>
            <a:endParaRPr lang="en-US" sz="20250" dirty="0"/>
          </a:p>
        </p:txBody>
      </p:sp>
      <p:sp>
        <p:nvSpPr>
          <p:cNvPr id="5" name="Text 3"/>
          <p:cNvSpPr/>
          <p:nvPr/>
        </p:nvSpPr>
        <p:spPr>
          <a:xfrm>
            <a:off x="514350" y="600075"/>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AGENDA</a:t>
            </a:r>
            <a:endParaRPr lang="en-US" sz="800" dirty="0"/>
          </a:p>
        </p:txBody>
      </p:sp>
      <p:sp>
        <p:nvSpPr>
          <p:cNvPr id="6" name="Text 4"/>
          <p:cNvSpPr/>
          <p:nvPr/>
        </p:nvSpPr>
        <p:spPr>
          <a:xfrm>
            <a:off x="514350" y="817959"/>
            <a:ext cx="8521065" cy="373346"/>
          </a:xfrm>
          <a:prstGeom prst="rect">
            <a:avLst/>
          </a:prstGeom>
          <a:noFill/>
          <a:ln/>
        </p:spPr>
        <p:txBody>
          <a:bodyPr wrap="non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What We're Covering </a:t>
            </a:r>
            <a:pPr algn="l" indent="0" marL="0">
              <a:lnSpc>
                <a:spcPts val="2723"/>
              </a:lnSpc>
              <a:buNone/>
            </a:pPr>
            <a:r>
              <a:rPr lang="en-US" sz="2475" b="1" spc="-49" kern="0" dirty="0">
                <a:solidFill>
                  <a:srgbClr val="FF7A1A"/>
                </a:solidFill>
                <a:latin typeface="Carlito" pitchFamily="34" charset="0"/>
                <a:ea typeface="Carlito" pitchFamily="34" charset="-122"/>
                <a:cs typeface="Carlito" pitchFamily="34" charset="-120"/>
              </a:rPr>
              <a:t>Today</a:t>
            </a:r>
            <a:endParaRPr lang="en-US" sz="2475" dirty="0"/>
          </a:p>
        </p:txBody>
      </p:sp>
      <p:sp>
        <p:nvSpPr>
          <p:cNvPr id="7" name="Shape 5"/>
          <p:cNvSpPr/>
          <p:nvPr/>
        </p:nvSpPr>
        <p:spPr>
          <a:xfrm>
            <a:off x="514350" y="1345816"/>
            <a:ext cx="400050" cy="0"/>
          </a:xfrm>
          <a:prstGeom prst="line">
            <a:avLst/>
          </a:prstGeom>
          <a:noFill/>
          <a:ln w="7144">
            <a:solidFill>
              <a:srgbClr val="F4F4F5"/>
            </a:solidFill>
            <a:prstDash val="solid"/>
          </a:ln>
        </p:spPr>
      </p:sp>
      <p:sp>
        <p:nvSpPr>
          <p:cNvPr id="8" name="Shape 6"/>
          <p:cNvSpPr/>
          <p:nvPr/>
        </p:nvSpPr>
        <p:spPr>
          <a:xfrm>
            <a:off x="514350" y="1617278"/>
            <a:ext cx="3857625" cy="0"/>
          </a:xfrm>
          <a:prstGeom prst="line">
            <a:avLst/>
          </a:prstGeom>
          <a:noFill/>
          <a:ln w="7144">
            <a:solidFill>
              <a:srgbClr val="2A2A33"/>
            </a:solidFill>
            <a:prstDash val="solid"/>
          </a:ln>
        </p:spPr>
      </p:sp>
      <p:sp>
        <p:nvSpPr>
          <p:cNvPr id="9" name="Text 7"/>
          <p:cNvSpPr/>
          <p:nvPr/>
        </p:nvSpPr>
        <p:spPr>
          <a:xfrm>
            <a:off x="418889" y="1749437"/>
            <a:ext cx="1196761" cy="339471"/>
          </a:xfrm>
          <a:prstGeom prst="rect">
            <a:avLst/>
          </a:prstGeom>
          <a:noFill/>
          <a:ln/>
        </p:spPr>
        <p:txBody>
          <a:bodyPr wrap="square" lIns="0" tIns="0" rIns="0" bIns="0" rtlCol="0" anchor="t"/>
          <a:lstStyle/>
          <a:p>
            <a:pPr algn="l" indent="0" marL="0">
              <a:lnSpc>
                <a:spcPts val="2475"/>
              </a:lnSpc>
              <a:buNone/>
            </a:pPr>
            <a:r>
              <a:rPr lang="en-US" sz="2475" b="1" spc="-49" kern="0" dirty="0">
                <a:solidFill>
                  <a:srgbClr val="FF7A1A"/>
                </a:solidFill>
                <a:latin typeface="Liberation Sans Narrow" pitchFamily="34" charset="0"/>
                <a:ea typeface="Liberation Sans Narrow" pitchFamily="34" charset="-122"/>
                <a:cs typeface="Liberation Sans Narrow" pitchFamily="34" charset="-120"/>
              </a:rPr>
              <a:t>01</a:t>
            </a:r>
            <a:pPr algn="l" indent="0" marL="0">
              <a:lnSpc>
                <a:spcPts val="2475"/>
              </a:lnSpc>
              <a:buNone/>
            </a:pPr>
            <a:r>
              <a:rPr lang="en-US" sz="800" b="1" spc="157" kern="0" dirty="0">
                <a:solidFill>
                  <a:srgbClr val="71717A"/>
                </a:solidFill>
                <a:latin typeface="Liberation Sans Narrow" pitchFamily="34" charset="0"/>
                <a:ea typeface="Liberation Sans Narrow" pitchFamily="34" charset="-122"/>
                <a:cs typeface="Liberation Sans Narrow" pitchFamily="34" charset="-120"/>
              </a:rPr>
              <a:t>/05</a:t>
            </a:r>
            <a:endParaRPr lang="en-US" sz="2475" dirty="0"/>
          </a:p>
        </p:txBody>
      </p:sp>
      <p:sp>
        <p:nvSpPr>
          <p:cNvPr id="10" name="Text 8"/>
          <p:cNvSpPr/>
          <p:nvPr/>
        </p:nvSpPr>
        <p:spPr>
          <a:xfrm>
            <a:off x="1271588" y="1981609"/>
            <a:ext cx="1747263" cy="162020"/>
          </a:xfrm>
          <a:prstGeom prst="rect">
            <a:avLst/>
          </a:prstGeom>
          <a:noFill/>
          <a:ln/>
        </p:spPr>
        <p:txBody>
          <a:bodyPr wrap="square" lIns="0" tIns="57150" rIns="0" bIns="0" rtlCol="0" anchor="t"/>
          <a:lstStyle/>
          <a:p>
            <a:pPr algn="l" indent="0" marL="0">
              <a:lnSpc>
                <a:spcPts val="1434"/>
              </a:lnSpc>
              <a:buNone/>
            </a:pPr>
            <a:r>
              <a:rPr lang="en-US" sz="956" dirty="0">
                <a:solidFill>
                  <a:srgbClr val="F4F4F5"/>
                </a:solidFill>
                <a:latin typeface="Carlito" pitchFamily="34" charset="0"/>
                <a:ea typeface="Carlito" pitchFamily="34" charset="-122"/>
                <a:cs typeface="Carlito" pitchFamily="34" charset="-120"/>
              </a:rPr>
              <a:t>MCP = Model Context Protocol</a:t>
            </a:r>
            <a:endParaRPr lang="en-US" sz="956" dirty="0"/>
          </a:p>
        </p:txBody>
      </p:sp>
      <p:sp>
        <p:nvSpPr>
          <p:cNvPr id="11" name="Text 9"/>
          <p:cNvSpPr/>
          <p:nvPr/>
        </p:nvSpPr>
        <p:spPr>
          <a:xfrm>
            <a:off x="1271588" y="1806587"/>
            <a:ext cx="3071813" cy="164592"/>
          </a:xfrm>
          <a:prstGeom prst="rect">
            <a:avLst/>
          </a:prstGeom>
          <a:noFill/>
          <a:ln/>
        </p:spPr>
        <p:txBody>
          <a:bodyPr wrap="none" lIns="0" tIns="0" rIns="0" bIns="0" rtlCol="0" anchor="t"/>
          <a:lstStyle/>
          <a:p>
            <a:pPr algn="l" indent="0" marL="0">
              <a:lnSpc>
                <a:spcPts val="928"/>
              </a:lnSpc>
              <a:buNone/>
            </a:pPr>
            <a:r>
              <a:rPr lang="en-US" sz="800" spc="136" kern="0" dirty="0">
                <a:solidFill>
                  <a:srgbClr val="71717A"/>
                </a:solidFill>
                <a:latin typeface="Courier New" pitchFamily="34" charset="0"/>
                <a:ea typeface="Courier New" pitchFamily="34" charset="-122"/>
                <a:cs typeface="Courier New" pitchFamily="34" charset="-120"/>
              </a:rPr>
              <a:t>DEFINITION</a:t>
            </a:r>
            <a:endParaRPr lang="en-US" sz="800" dirty="0"/>
          </a:p>
        </p:txBody>
      </p:sp>
      <p:sp>
        <p:nvSpPr>
          <p:cNvPr id="12" name="Shape 10"/>
          <p:cNvSpPr/>
          <p:nvPr/>
        </p:nvSpPr>
        <p:spPr>
          <a:xfrm>
            <a:off x="4772025" y="1617278"/>
            <a:ext cx="3857625" cy="0"/>
          </a:xfrm>
          <a:prstGeom prst="line">
            <a:avLst/>
          </a:prstGeom>
          <a:noFill/>
          <a:ln w="7144">
            <a:solidFill>
              <a:srgbClr val="2A2A33"/>
            </a:solidFill>
            <a:prstDash val="solid"/>
          </a:ln>
        </p:spPr>
      </p:sp>
      <p:sp>
        <p:nvSpPr>
          <p:cNvPr id="13" name="Text 11"/>
          <p:cNvSpPr/>
          <p:nvPr/>
        </p:nvSpPr>
        <p:spPr>
          <a:xfrm>
            <a:off x="4676564" y="1749437"/>
            <a:ext cx="1196761" cy="339471"/>
          </a:xfrm>
          <a:prstGeom prst="rect">
            <a:avLst/>
          </a:prstGeom>
          <a:noFill/>
          <a:ln/>
        </p:spPr>
        <p:txBody>
          <a:bodyPr wrap="square" lIns="0" tIns="0" rIns="0" bIns="0" rtlCol="0" anchor="t"/>
          <a:lstStyle/>
          <a:p>
            <a:pPr algn="l" indent="0" marL="0">
              <a:lnSpc>
                <a:spcPts val="2475"/>
              </a:lnSpc>
              <a:buNone/>
            </a:pPr>
            <a:r>
              <a:rPr lang="en-US" sz="2475" b="1" spc="-49" kern="0" dirty="0">
                <a:solidFill>
                  <a:srgbClr val="FF7A1A"/>
                </a:solidFill>
                <a:latin typeface="Liberation Sans Narrow" pitchFamily="34" charset="0"/>
                <a:ea typeface="Liberation Sans Narrow" pitchFamily="34" charset="-122"/>
                <a:cs typeface="Liberation Sans Narrow" pitchFamily="34" charset="-120"/>
              </a:rPr>
              <a:t>02</a:t>
            </a:r>
            <a:pPr algn="l" indent="0" marL="0">
              <a:lnSpc>
                <a:spcPts val="2475"/>
              </a:lnSpc>
              <a:buNone/>
            </a:pPr>
            <a:r>
              <a:rPr lang="en-US" sz="800" b="1" spc="157" kern="0" dirty="0">
                <a:solidFill>
                  <a:srgbClr val="71717A"/>
                </a:solidFill>
                <a:latin typeface="Liberation Sans Narrow" pitchFamily="34" charset="0"/>
                <a:ea typeface="Liberation Sans Narrow" pitchFamily="34" charset="-122"/>
                <a:cs typeface="Liberation Sans Narrow" pitchFamily="34" charset="-120"/>
              </a:rPr>
              <a:t>/05</a:t>
            </a:r>
            <a:endParaRPr lang="en-US" sz="2475" dirty="0"/>
          </a:p>
        </p:txBody>
      </p:sp>
      <p:sp>
        <p:nvSpPr>
          <p:cNvPr id="14" name="Text 12"/>
          <p:cNvSpPr/>
          <p:nvPr/>
        </p:nvSpPr>
        <p:spPr>
          <a:xfrm>
            <a:off x="6196422" y="1974466"/>
            <a:ext cx="379065" cy="171450"/>
          </a:xfrm>
          <a:prstGeom prst="roundRect">
            <a:avLst>
              <a:gd name="adj" fmla="val 22222"/>
            </a:avLst>
          </a:prstGeom>
          <a:solidFill>
            <a:srgbClr val="1D1D24"/>
          </a:solidFill>
          <a:ln/>
        </p:spPr>
        <p:txBody>
          <a:bodyPr wrap="square" rtlCol="0" anchor="ctr"/>
          <a:lstStyle/>
          <a:p>
            <a:pPr indent="0" marL="0">
              <a:buNone/>
            </a:pPr>
            <a:endParaRPr lang="en-US" dirty="0"/>
          </a:p>
        </p:txBody>
      </p:sp>
      <p:sp>
        <p:nvSpPr>
          <p:cNvPr id="15" name="Text 13"/>
          <p:cNvSpPr/>
          <p:nvPr/>
        </p:nvSpPr>
        <p:spPr>
          <a:xfrm>
            <a:off x="5529263" y="1981609"/>
            <a:ext cx="2727823" cy="162020"/>
          </a:xfrm>
          <a:prstGeom prst="rect">
            <a:avLst/>
          </a:prstGeom>
          <a:noFill/>
          <a:ln/>
        </p:spPr>
        <p:txBody>
          <a:bodyPr wrap="square" lIns="0" tIns="57150" rIns="0" bIns="0" rtlCol="0" anchor="t"/>
          <a:lstStyle/>
          <a:p>
            <a:pPr algn="l" indent="0" marL="0">
              <a:lnSpc>
                <a:spcPts val="1434"/>
              </a:lnSpc>
              <a:buNone/>
            </a:pPr>
            <a:r>
              <a:rPr lang="en-US" sz="956" dirty="0">
                <a:solidFill>
                  <a:srgbClr val="F4F4F5"/>
                </a:solidFill>
                <a:latin typeface="Carlito" pitchFamily="34" charset="0"/>
                <a:ea typeface="Carlito" pitchFamily="34" charset="-122"/>
                <a:cs typeface="Carlito" pitchFamily="34" charset="-120"/>
              </a:rPr>
              <a:t>Episode 3's decorator was already MCP</a:t>
            </a:r>
            <a:endParaRPr lang="en-US" sz="956" dirty="0"/>
          </a:p>
        </p:txBody>
      </p:sp>
      <p:sp>
        <p:nvSpPr>
          <p:cNvPr id="16" name="Text 14"/>
          <p:cNvSpPr/>
          <p:nvPr/>
        </p:nvSpPr>
        <p:spPr>
          <a:xfrm>
            <a:off x="5529263" y="1806587"/>
            <a:ext cx="3071813" cy="140446"/>
          </a:xfrm>
          <a:prstGeom prst="rect">
            <a:avLst/>
          </a:prstGeom>
          <a:noFill/>
          <a:ln/>
        </p:spPr>
        <p:txBody>
          <a:bodyPr wrap="none" lIns="0" tIns="0" rIns="0" bIns="0" rtlCol="0" anchor="t">
            <a:normAutofit/>
          </a:bodyPr>
          <a:lstStyle/>
          <a:p>
            <a:pPr algn="l" indent="0" marL="0">
              <a:lnSpc>
                <a:spcPts val="928"/>
              </a:lnSpc>
              <a:buNone/>
            </a:pPr>
            <a:r>
              <a:rPr lang="en-US" sz="800" spc="136" kern="0" dirty="0">
                <a:solidFill>
                  <a:srgbClr val="71717A"/>
                </a:solidFill>
                <a:latin typeface="Courier New" pitchFamily="34" charset="0"/>
                <a:ea typeface="Courier New" pitchFamily="34" charset="-122"/>
                <a:cs typeface="Courier New" pitchFamily="34" charset="-120"/>
              </a:rPr>
              <a:t>RECAP &amp; REVEAL</a:t>
            </a:r>
            <a:endParaRPr lang="en-US" sz="800" dirty="0"/>
          </a:p>
        </p:txBody>
      </p:sp>
      <p:sp>
        <p:nvSpPr>
          <p:cNvPr id="17" name="Text 15"/>
          <p:cNvSpPr/>
          <p:nvPr/>
        </p:nvSpPr>
        <p:spPr>
          <a:xfrm>
            <a:off x="6181259" y="1964179"/>
            <a:ext cx="409390" cy="192024"/>
          </a:xfrm>
          <a:prstGeom prst="roundRect">
            <a:avLst>
              <a:gd name="adj" fmla="val 19841"/>
            </a:avLst>
          </a:prstGeom>
          <a:solidFill>
            <a:srgbClr val="1D1D24"/>
          </a:solidFill>
          <a:ln w="7144">
            <a:solidFill>
              <a:srgbClr val="2A2A33"/>
            </a:solidFill>
            <a:prstDash val="solid"/>
          </a:ln>
        </p:spPr>
        <p:txBody>
          <a:bodyPr wrap="square" rtlCol="0" anchor="ctr"/>
          <a:lstStyle/>
          <a:p>
            <a:pPr indent="0" marL="0">
              <a:buNone/>
            </a:pPr>
            <a:endParaRPr lang="en-US" dirty="0"/>
          </a:p>
        </p:txBody>
      </p:sp>
      <p:sp>
        <p:nvSpPr>
          <p:cNvPr id="18" name="Text 16"/>
          <p:cNvSpPr/>
          <p:nvPr/>
        </p:nvSpPr>
        <p:spPr>
          <a:xfrm>
            <a:off x="6196422" y="1974466"/>
            <a:ext cx="379065" cy="171450"/>
          </a:xfrm>
          <a:prstGeom prst="rect">
            <a:avLst/>
          </a:prstGeom>
          <a:noFill/>
          <a:ln/>
        </p:spPr>
        <p:txBody>
          <a:bodyPr wrap="none" lIns="0" tIns="0" rIns="0" bIns="0" rtlCol="0" anchor="ctr"/>
          <a:lstStyle/>
          <a:p>
            <a:pPr algn="ctr" indent="0" marL="0">
              <a:lnSpc>
                <a:spcPts val="1320"/>
              </a:lnSpc>
              <a:buNone/>
            </a:pPr>
            <a:r>
              <a:rPr lang="en-US" sz="880" dirty="0">
                <a:solidFill>
                  <a:srgbClr val="FF7A1A"/>
                </a:solidFill>
                <a:latin typeface="Courier New" pitchFamily="34" charset="0"/>
                <a:ea typeface="Courier New" pitchFamily="34" charset="-122"/>
                <a:cs typeface="Courier New" pitchFamily="34" charset="-120"/>
              </a:rPr>
              <a:t>@tool</a:t>
            </a:r>
            <a:endParaRPr lang="en-US" sz="880" dirty="0"/>
          </a:p>
        </p:txBody>
      </p:sp>
      <p:sp>
        <p:nvSpPr>
          <p:cNvPr id="19" name="Shape 17"/>
          <p:cNvSpPr/>
          <p:nvPr/>
        </p:nvSpPr>
        <p:spPr>
          <a:xfrm>
            <a:off x="514350" y="2438809"/>
            <a:ext cx="3857625" cy="0"/>
          </a:xfrm>
          <a:prstGeom prst="line">
            <a:avLst/>
          </a:prstGeom>
          <a:noFill/>
          <a:ln w="7144">
            <a:solidFill>
              <a:srgbClr val="2A2A33"/>
            </a:solidFill>
            <a:prstDash val="solid"/>
          </a:ln>
        </p:spPr>
      </p:sp>
      <p:sp>
        <p:nvSpPr>
          <p:cNvPr id="20" name="Text 18"/>
          <p:cNvSpPr/>
          <p:nvPr/>
        </p:nvSpPr>
        <p:spPr>
          <a:xfrm>
            <a:off x="418889" y="2570969"/>
            <a:ext cx="1196761" cy="339471"/>
          </a:xfrm>
          <a:prstGeom prst="rect">
            <a:avLst/>
          </a:prstGeom>
          <a:noFill/>
          <a:ln/>
        </p:spPr>
        <p:txBody>
          <a:bodyPr wrap="square" lIns="0" tIns="0" rIns="0" bIns="0" rtlCol="0" anchor="t"/>
          <a:lstStyle/>
          <a:p>
            <a:pPr algn="l" indent="0" marL="0">
              <a:lnSpc>
                <a:spcPts val="2475"/>
              </a:lnSpc>
              <a:buNone/>
            </a:pPr>
            <a:r>
              <a:rPr lang="en-US" sz="2475" b="1" spc="-49" kern="0" dirty="0">
                <a:solidFill>
                  <a:srgbClr val="FF7A1A"/>
                </a:solidFill>
                <a:latin typeface="Liberation Sans Narrow" pitchFamily="34" charset="0"/>
                <a:ea typeface="Liberation Sans Narrow" pitchFamily="34" charset="-122"/>
                <a:cs typeface="Liberation Sans Narrow" pitchFamily="34" charset="-120"/>
              </a:rPr>
              <a:t>03</a:t>
            </a:r>
            <a:pPr algn="l" indent="0" marL="0">
              <a:lnSpc>
                <a:spcPts val="2475"/>
              </a:lnSpc>
              <a:buNone/>
            </a:pPr>
            <a:r>
              <a:rPr lang="en-US" sz="800" b="1" spc="157" kern="0" dirty="0">
                <a:solidFill>
                  <a:srgbClr val="71717A"/>
                </a:solidFill>
                <a:latin typeface="Liberation Sans Narrow" pitchFamily="34" charset="0"/>
                <a:ea typeface="Liberation Sans Narrow" pitchFamily="34" charset="-122"/>
                <a:cs typeface="Liberation Sans Narrow" pitchFamily="34" charset="-120"/>
              </a:rPr>
              <a:t>/05</a:t>
            </a:r>
            <a:endParaRPr lang="en-US" sz="2475" dirty="0"/>
          </a:p>
        </p:txBody>
      </p:sp>
      <p:sp>
        <p:nvSpPr>
          <p:cNvPr id="21" name="Text 19"/>
          <p:cNvSpPr/>
          <p:nvPr/>
        </p:nvSpPr>
        <p:spPr>
          <a:xfrm>
            <a:off x="1271588" y="2803141"/>
            <a:ext cx="2774115" cy="162020"/>
          </a:xfrm>
          <a:prstGeom prst="rect">
            <a:avLst/>
          </a:prstGeom>
          <a:noFill/>
          <a:ln/>
        </p:spPr>
        <p:txBody>
          <a:bodyPr wrap="square" lIns="0" tIns="57150" rIns="0" bIns="0" rtlCol="0" anchor="t"/>
          <a:lstStyle/>
          <a:p>
            <a:pPr algn="l" indent="0" marL="0">
              <a:lnSpc>
                <a:spcPts val="1434"/>
              </a:lnSpc>
              <a:buNone/>
            </a:pPr>
            <a:r>
              <a:rPr lang="en-US" sz="956" dirty="0">
                <a:solidFill>
                  <a:srgbClr val="F4F4F5"/>
                </a:solidFill>
                <a:latin typeface="Carlito" pitchFamily="34" charset="0"/>
                <a:ea typeface="Carlito" pitchFamily="34" charset="-122"/>
                <a:cs typeface="Carlito" pitchFamily="34" charset="-120"/>
              </a:rPr>
              <a:t>Connect to someone else's MCP server (GitHub)</a:t>
            </a:r>
            <a:endParaRPr lang="en-US" sz="956" dirty="0"/>
          </a:p>
        </p:txBody>
      </p:sp>
      <p:sp>
        <p:nvSpPr>
          <p:cNvPr id="22" name="Text 20"/>
          <p:cNvSpPr/>
          <p:nvPr/>
        </p:nvSpPr>
        <p:spPr>
          <a:xfrm>
            <a:off x="1271588" y="2628119"/>
            <a:ext cx="3071813" cy="164592"/>
          </a:xfrm>
          <a:prstGeom prst="rect">
            <a:avLst/>
          </a:prstGeom>
          <a:noFill/>
          <a:ln/>
        </p:spPr>
        <p:txBody>
          <a:bodyPr wrap="none" lIns="0" tIns="0" rIns="0" bIns="0" rtlCol="0" anchor="t"/>
          <a:lstStyle/>
          <a:p>
            <a:pPr algn="l" indent="0" marL="0">
              <a:lnSpc>
                <a:spcPts val="928"/>
              </a:lnSpc>
              <a:buNone/>
            </a:pPr>
            <a:r>
              <a:rPr lang="en-US" sz="800" spc="136" kern="0" dirty="0">
                <a:solidFill>
                  <a:srgbClr val="71717A"/>
                </a:solidFill>
                <a:latin typeface="Courier New" pitchFamily="34" charset="0"/>
                <a:ea typeface="Courier New" pitchFamily="34" charset="-122"/>
                <a:cs typeface="Courier New" pitchFamily="34" charset="-120"/>
              </a:rPr>
              <a:t>NEW TODAY · CONNECT</a:t>
            </a:r>
            <a:endParaRPr lang="en-US" sz="800" dirty="0"/>
          </a:p>
        </p:txBody>
      </p:sp>
      <p:sp>
        <p:nvSpPr>
          <p:cNvPr id="23" name="Shape 21"/>
          <p:cNvSpPr/>
          <p:nvPr/>
        </p:nvSpPr>
        <p:spPr>
          <a:xfrm>
            <a:off x="4772025" y="2438809"/>
            <a:ext cx="3857625" cy="0"/>
          </a:xfrm>
          <a:prstGeom prst="line">
            <a:avLst/>
          </a:prstGeom>
          <a:noFill/>
          <a:ln w="7144">
            <a:solidFill>
              <a:srgbClr val="2A2A33"/>
            </a:solidFill>
            <a:prstDash val="solid"/>
          </a:ln>
        </p:spPr>
      </p:sp>
      <p:sp>
        <p:nvSpPr>
          <p:cNvPr id="24" name="Text 22"/>
          <p:cNvSpPr/>
          <p:nvPr/>
        </p:nvSpPr>
        <p:spPr>
          <a:xfrm>
            <a:off x="4676564" y="2570969"/>
            <a:ext cx="1196761" cy="339471"/>
          </a:xfrm>
          <a:prstGeom prst="rect">
            <a:avLst/>
          </a:prstGeom>
          <a:noFill/>
          <a:ln/>
        </p:spPr>
        <p:txBody>
          <a:bodyPr wrap="square" lIns="0" tIns="0" rIns="0" bIns="0" rtlCol="0" anchor="t"/>
          <a:lstStyle/>
          <a:p>
            <a:pPr algn="l" indent="0" marL="0">
              <a:lnSpc>
                <a:spcPts val="2475"/>
              </a:lnSpc>
              <a:buNone/>
            </a:pPr>
            <a:r>
              <a:rPr lang="en-US" sz="2475" b="1" spc="-49" kern="0" dirty="0">
                <a:solidFill>
                  <a:srgbClr val="FF7A1A"/>
                </a:solidFill>
                <a:latin typeface="Liberation Sans Narrow" pitchFamily="34" charset="0"/>
                <a:ea typeface="Liberation Sans Narrow" pitchFamily="34" charset="-122"/>
                <a:cs typeface="Liberation Sans Narrow" pitchFamily="34" charset="-120"/>
              </a:rPr>
              <a:t>04</a:t>
            </a:r>
            <a:pPr algn="l" indent="0" marL="0">
              <a:lnSpc>
                <a:spcPts val="2475"/>
              </a:lnSpc>
              <a:buNone/>
            </a:pPr>
            <a:r>
              <a:rPr lang="en-US" sz="800" b="1" spc="157" kern="0" dirty="0">
                <a:solidFill>
                  <a:srgbClr val="71717A"/>
                </a:solidFill>
                <a:latin typeface="Liberation Sans Narrow" pitchFamily="34" charset="0"/>
                <a:ea typeface="Liberation Sans Narrow" pitchFamily="34" charset="-122"/>
                <a:cs typeface="Liberation Sans Narrow" pitchFamily="34" charset="-120"/>
              </a:rPr>
              <a:t>/05</a:t>
            </a:r>
            <a:endParaRPr lang="en-US" sz="2475" dirty="0"/>
          </a:p>
        </p:txBody>
      </p:sp>
      <p:sp>
        <p:nvSpPr>
          <p:cNvPr id="25" name="Text 23"/>
          <p:cNvSpPr/>
          <p:nvPr/>
        </p:nvSpPr>
        <p:spPr>
          <a:xfrm>
            <a:off x="5529263" y="2803141"/>
            <a:ext cx="2462129" cy="162020"/>
          </a:xfrm>
          <a:prstGeom prst="rect">
            <a:avLst/>
          </a:prstGeom>
          <a:noFill/>
          <a:ln/>
        </p:spPr>
        <p:txBody>
          <a:bodyPr wrap="square" lIns="0" tIns="57150" rIns="0" bIns="0" rtlCol="0" anchor="t"/>
          <a:lstStyle/>
          <a:p>
            <a:pPr algn="l" indent="0" marL="0">
              <a:lnSpc>
                <a:spcPts val="1434"/>
              </a:lnSpc>
              <a:buNone/>
            </a:pPr>
            <a:r>
              <a:rPr lang="en-US" sz="956" dirty="0">
                <a:solidFill>
                  <a:srgbClr val="F4F4F5"/>
                </a:solidFill>
                <a:latin typeface="Carlito" pitchFamily="34" charset="0"/>
                <a:ea typeface="Carlito" pitchFamily="34" charset="-122"/>
                <a:cs typeface="Carlito" pitchFamily="34" charset="-120"/>
              </a:rPr>
              <a:t>Build our own, truly standalone MCP server</a:t>
            </a:r>
            <a:endParaRPr lang="en-US" sz="956" dirty="0"/>
          </a:p>
        </p:txBody>
      </p:sp>
      <p:sp>
        <p:nvSpPr>
          <p:cNvPr id="26" name="Text 24"/>
          <p:cNvSpPr/>
          <p:nvPr/>
        </p:nvSpPr>
        <p:spPr>
          <a:xfrm>
            <a:off x="5529263" y="2628119"/>
            <a:ext cx="3071813" cy="164592"/>
          </a:xfrm>
          <a:prstGeom prst="rect">
            <a:avLst/>
          </a:prstGeom>
          <a:noFill/>
          <a:ln/>
        </p:spPr>
        <p:txBody>
          <a:bodyPr wrap="none" lIns="0" tIns="0" rIns="0" bIns="0" rtlCol="0" anchor="t"/>
          <a:lstStyle/>
          <a:p>
            <a:pPr algn="l" indent="0" marL="0">
              <a:lnSpc>
                <a:spcPts val="928"/>
              </a:lnSpc>
              <a:buNone/>
            </a:pPr>
            <a:r>
              <a:rPr lang="en-US" sz="800" spc="136" kern="0" dirty="0">
                <a:solidFill>
                  <a:srgbClr val="71717A"/>
                </a:solidFill>
                <a:latin typeface="Courier New" pitchFamily="34" charset="0"/>
                <a:ea typeface="Courier New" pitchFamily="34" charset="-122"/>
                <a:cs typeface="Courier New" pitchFamily="34" charset="-120"/>
              </a:rPr>
              <a:t>NEW TODAY · BUILD</a:t>
            </a:r>
            <a:endParaRPr lang="en-US" sz="800" dirty="0"/>
          </a:p>
        </p:txBody>
      </p:sp>
      <p:sp>
        <p:nvSpPr>
          <p:cNvPr id="27" name="Shape 25"/>
          <p:cNvSpPr/>
          <p:nvPr/>
        </p:nvSpPr>
        <p:spPr>
          <a:xfrm>
            <a:off x="514350" y="3260341"/>
            <a:ext cx="8115300" cy="0"/>
          </a:xfrm>
          <a:prstGeom prst="line">
            <a:avLst/>
          </a:prstGeom>
          <a:noFill/>
          <a:ln w="7144">
            <a:solidFill>
              <a:srgbClr val="2A2A33"/>
            </a:solidFill>
            <a:prstDash val="solid"/>
          </a:ln>
        </p:spPr>
      </p:sp>
      <p:sp>
        <p:nvSpPr>
          <p:cNvPr id="28" name="Text 26"/>
          <p:cNvSpPr/>
          <p:nvPr/>
        </p:nvSpPr>
        <p:spPr>
          <a:xfrm>
            <a:off x="418889" y="3392500"/>
            <a:ext cx="1196761" cy="339471"/>
          </a:xfrm>
          <a:prstGeom prst="rect">
            <a:avLst/>
          </a:prstGeom>
          <a:noFill/>
          <a:ln/>
        </p:spPr>
        <p:txBody>
          <a:bodyPr wrap="square" lIns="0" tIns="0" rIns="0" bIns="0" rtlCol="0" anchor="t"/>
          <a:lstStyle/>
          <a:p>
            <a:pPr algn="l" indent="0" marL="0">
              <a:lnSpc>
                <a:spcPts val="2475"/>
              </a:lnSpc>
              <a:buNone/>
            </a:pPr>
            <a:r>
              <a:rPr lang="en-US" sz="2475" b="1" spc="-49" kern="0" dirty="0">
                <a:solidFill>
                  <a:srgbClr val="FF7A1A"/>
                </a:solidFill>
                <a:latin typeface="Liberation Sans Narrow" pitchFamily="34" charset="0"/>
                <a:ea typeface="Liberation Sans Narrow" pitchFamily="34" charset="-122"/>
                <a:cs typeface="Liberation Sans Narrow" pitchFamily="34" charset="-120"/>
              </a:rPr>
              <a:t>05</a:t>
            </a:r>
            <a:pPr algn="l" indent="0" marL="0">
              <a:lnSpc>
                <a:spcPts val="2475"/>
              </a:lnSpc>
              <a:buNone/>
            </a:pPr>
            <a:r>
              <a:rPr lang="en-US" sz="800" b="1" spc="157" kern="0" dirty="0">
                <a:solidFill>
                  <a:srgbClr val="71717A"/>
                </a:solidFill>
                <a:latin typeface="Liberation Sans Narrow" pitchFamily="34" charset="0"/>
                <a:ea typeface="Liberation Sans Narrow" pitchFamily="34" charset="-122"/>
                <a:cs typeface="Liberation Sans Narrow" pitchFamily="34" charset="-120"/>
              </a:rPr>
              <a:t>/05</a:t>
            </a:r>
            <a:endParaRPr lang="en-US" sz="2475" dirty="0"/>
          </a:p>
        </p:txBody>
      </p:sp>
      <p:sp>
        <p:nvSpPr>
          <p:cNvPr id="29" name="Text 27"/>
          <p:cNvSpPr/>
          <p:nvPr/>
        </p:nvSpPr>
        <p:spPr>
          <a:xfrm>
            <a:off x="1271588" y="3624672"/>
            <a:ext cx="3169927" cy="162020"/>
          </a:xfrm>
          <a:prstGeom prst="rect">
            <a:avLst/>
          </a:prstGeom>
          <a:noFill/>
          <a:ln/>
        </p:spPr>
        <p:txBody>
          <a:bodyPr wrap="square" lIns="0" tIns="57150" rIns="0" bIns="0" rtlCol="0" anchor="t"/>
          <a:lstStyle/>
          <a:p>
            <a:pPr algn="l" indent="0" marL="0">
              <a:lnSpc>
                <a:spcPts val="1434"/>
              </a:lnSpc>
              <a:buNone/>
            </a:pPr>
            <a:r>
              <a:rPr lang="en-US" sz="956" dirty="0">
                <a:solidFill>
                  <a:srgbClr val="F4F4F5"/>
                </a:solidFill>
                <a:latin typeface="Carlito" pitchFamily="34" charset="0"/>
                <a:ea typeface="Carlito" pitchFamily="34" charset="-122"/>
                <a:cs typeface="Carlito" pitchFamily="34" charset="-120"/>
              </a:rPr>
              <a:t>A real, currently-open bug we'll walk straight into on camera</a:t>
            </a:r>
            <a:endParaRPr lang="en-US" sz="956" dirty="0"/>
          </a:p>
        </p:txBody>
      </p:sp>
      <p:sp>
        <p:nvSpPr>
          <p:cNvPr id="30" name="Text 28"/>
          <p:cNvSpPr/>
          <p:nvPr/>
        </p:nvSpPr>
        <p:spPr>
          <a:xfrm>
            <a:off x="1271588" y="3449650"/>
            <a:ext cx="7329488" cy="164592"/>
          </a:xfrm>
          <a:prstGeom prst="rect">
            <a:avLst/>
          </a:prstGeom>
          <a:noFill/>
          <a:ln/>
        </p:spPr>
        <p:txBody>
          <a:bodyPr wrap="none" lIns="0" tIns="0" rIns="0" bIns="0" rtlCol="0" anchor="t"/>
          <a:lstStyle/>
          <a:p>
            <a:pPr algn="l" indent="0" marL="0">
              <a:lnSpc>
                <a:spcPts val="928"/>
              </a:lnSpc>
              <a:buNone/>
            </a:pPr>
            <a:r>
              <a:rPr lang="en-US" sz="800" spc="136" kern="0" dirty="0">
                <a:solidFill>
                  <a:srgbClr val="71717A"/>
                </a:solidFill>
                <a:latin typeface="Courier New" pitchFamily="34" charset="0"/>
                <a:ea typeface="Courier New" pitchFamily="34" charset="-122"/>
                <a:cs typeface="Courier New" pitchFamily="34" charset="-120"/>
              </a:rPr>
              <a:t>LIVE DEMO · UNSCRIPTED</a:t>
            </a:r>
            <a:endParaRPr lang="en-US" sz="800" dirty="0"/>
          </a:p>
        </p:txBody>
      </p:sp>
      <p:sp>
        <p:nvSpPr>
          <p:cNvPr id="31" name="Text 29"/>
          <p:cNvSpPr/>
          <p:nvPr/>
        </p:nvSpPr>
        <p:spPr>
          <a:xfrm>
            <a:off x="514350" y="4868466"/>
            <a:ext cx="6585979"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EP09 · MCP IN THE REAL WORLD</a:t>
            </a:r>
            <a:endParaRPr lang="en-US" sz="800" dirty="0"/>
          </a:p>
        </p:txBody>
      </p:sp>
      <p:sp>
        <p:nvSpPr>
          <p:cNvPr id="32" name="Text 30"/>
          <p:cNvSpPr/>
          <p:nvPr/>
        </p:nvSpPr>
        <p:spPr>
          <a:xfrm>
            <a:off x="7114617" y="4868466"/>
            <a:ext cx="1854022"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5 ITEMS · ~30 MIN · AGENDA</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257175" y="200025"/>
            <a:ext cx="2232705"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71717A"/>
                </a:solidFill>
                <a:latin typeface="Liberation Sans Narrow" pitchFamily="34" charset="0"/>
                <a:ea typeface="Liberation Sans Narrow" pitchFamily="34" charset="-122"/>
                <a:cs typeface="Liberation Sans Narrow" pitchFamily="34" charset="-120"/>
              </a:rPr>
              <a:t>EP09 </a:t>
            </a:r>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a:t>
            </a:r>
            <a:pPr algn="l" indent="0" marL="0">
              <a:lnSpc>
                <a:spcPts val="928"/>
              </a:lnSpc>
              <a:buNone/>
            </a:pPr>
            <a:r>
              <a:rPr lang="en-US" sz="800" spc="173" kern="0" dirty="0">
                <a:solidFill>
                  <a:srgbClr val="71717A"/>
                </a:solidFill>
                <a:latin typeface="Courier New" pitchFamily="34" charset="0"/>
                <a:ea typeface="Courier New" pitchFamily="34" charset="-122"/>
                <a:cs typeface="Courier New" pitchFamily="34" charset="-120"/>
              </a:rPr>
              <a:t> MCP IN THE REAL WORLD</a:t>
            </a:r>
            <a:endParaRPr lang="en-US" sz="800" dirty="0"/>
          </a:p>
        </p:txBody>
      </p:sp>
      <p:sp>
        <p:nvSpPr>
          <p:cNvPr id="3" name="Text 1"/>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03 / 30</a:t>
            </a:r>
            <a:endParaRPr lang="en-US" sz="800" dirty="0"/>
          </a:p>
        </p:txBody>
      </p:sp>
      <p:sp>
        <p:nvSpPr>
          <p:cNvPr id="4" name="Text 2"/>
          <p:cNvSpPr/>
          <p:nvPr/>
        </p:nvSpPr>
        <p:spPr>
          <a:xfrm>
            <a:off x="4480903" y="3214688"/>
            <a:ext cx="4663097" cy="1928813"/>
          </a:xfrm>
          <a:prstGeom prst="rect">
            <a:avLst/>
          </a:prstGeom>
          <a:noFill/>
          <a:ln/>
        </p:spPr>
        <p:txBody>
          <a:bodyPr wrap="square" lIns="0" tIns="0" rIns="0" bIns="0" rtlCol="0" anchor="t"/>
          <a:lstStyle/>
          <a:p>
            <a:pPr algn="l" indent="0" marL="0">
              <a:lnSpc>
                <a:spcPts val="20250"/>
              </a:lnSpc>
              <a:buNone/>
            </a:pPr>
            <a:r>
              <a:rPr lang="en-US" sz="20250" b="1" dirty="0">
                <a:solidFill>
                  <a:srgbClr val="FF7A1A">
                    <a:alpha val="4000"/>
                  </a:srgbClr>
                </a:solidFill>
                <a:latin typeface="Liberation Sans Narrow" pitchFamily="34" charset="0"/>
                <a:ea typeface="Liberation Sans Narrow" pitchFamily="34" charset="-122"/>
                <a:cs typeface="Liberation Sans Narrow" pitchFamily="34" charset="-120"/>
              </a:rPr>
              <a:t>03</a:t>
            </a:r>
            <a:endParaRPr lang="en-US" sz="20250" dirty="0"/>
          </a:p>
        </p:txBody>
      </p:sp>
      <p:sp>
        <p:nvSpPr>
          <p:cNvPr id="5" name="Text 3"/>
          <p:cNvSpPr/>
          <p:nvPr/>
        </p:nvSpPr>
        <p:spPr>
          <a:xfrm>
            <a:off x="514350" y="600075"/>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CONTEXT</a:t>
            </a:r>
            <a:endParaRPr lang="en-US" sz="800" dirty="0"/>
          </a:p>
        </p:txBody>
      </p:sp>
      <p:sp>
        <p:nvSpPr>
          <p:cNvPr id="6" name="Text 4"/>
          <p:cNvSpPr/>
          <p:nvPr/>
        </p:nvSpPr>
        <p:spPr>
          <a:xfrm>
            <a:off x="514350" y="817959"/>
            <a:ext cx="8629650" cy="373346"/>
          </a:xfrm>
          <a:prstGeom prst="rect">
            <a:avLst/>
          </a:prstGeom>
          <a:noFill/>
          <a:ln/>
        </p:spPr>
        <p:txBody>
          <a:bodyPr wrap="squar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Where This Fits In The </a:t>
            </a:r>
            <a:pPr algn="l" indent="0" marL="0">
              <a:lnSpc>
                <a:spcPts val="2723"/>
              </a:lnSpc>
              <a:buNone/>
            </a:pPr>
            <a:r>
              <a:rPr lang="en-US" sz="2475" b="1" spc="-49" kern="0" dirty="0">
                <a:solidFill>
                  <a:srgbClr val="FF7A1A"/>
                </a:solidFill>
                <a:latin typeface="Carlito" pitchFamily="34" charset="0"/>
                <a:ea typeface="Carlito" pitchFamily="34" charset="-122"/>
                <a:cs typeface="Carlito" pitchFamily="34" charset="-120"/>
              </a:rPr>
              <a:t>Build-Along</a:t>
            </a:r>
            <a:endParaRPr lang="en-US" sz="2475" dirty="0"/>
          </a:p>
        </p:txBody>
      </p:sp>
      <p:sp>
        <p:nvSpPr>
          <p:cNvPr id="7" name="Shape 5"/>
          <p:cNvSpPr/>
          <p:nvPr/>
        </p:nvSpPr>
        <p:spPr>
          <a:xfrm>
            <a:off x="514350" y="1345816"/>
            <a:ext cx="400050" cy="0"/>
          </a:xfrm>
          <a:prstGeom prst="line">
            <a:avLst/>
          </a:prstGeom>
          <a:noFill/>
          <a:ln w="7144">
            <a:solidFill>
              <a:srgbClr val="F4F4F5"/>
            </a:solidFill>
            <a:prstDash val="solid"/>
          </a:ln>
        </p:spPr>
      </p:sp>
      <p:sp>
        <p:nvSpPr>
          <p:cNvPr id="8" name="Text 6"/>
          <p:cNvSpPr/>
          <p:nvPr/>
        </p:nvSpPr>
        <p:spPr>
          <a:xfrm>
            <a:off x="514350" y="1556556"/>
            <a:ext cx="4157328" cy="1475198"/>
          </a:xfrm>
          <a:prstGeom prst="rect">
            <a:avLst/>
          </a:prstGeom>
          <a:noFill/>
          <a:ln/>
        </p:spPr>
        <p:txBody>
          <a:bodyPr wrap="square" lIns="0" tIns="0" rIns="0" bIns="0" rtlCol="0" anchor="t"/>
          <a:lstStyle/>
          <a:p>
            <a:pPr algn="l" indent="0" marL="0">
              <a:lnSpc>
                <a:spcPts val="1482"/>
              </a:lnSpc>
              <a:spcAft>
                <a:spcPts val="900"/>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900"/>
              </a:spcAft>
              <a:buNone/>
            </a:pPr>
            <a:r>
              <a:rPr lang="en-US" sz="956" dirty="0">
                <a:solidFill>
                  <a:srgbClr val="F4F4F5"/>
                </a:solidFill>
                <a:latin typeface="Carlito" pitchFamily="34" charset="0"/>
                <a:ea typeface="Carlito" pitchFamily="34" charset="-122"/>
                <a:cs typeface="Carlito" pitchFamily="34" charset="-120"/>
              </a:rPr>
              <a:t>Same one project throughout: the Repo &amp; PR Review Agent</a:t>
            </a:r>
            <a:endParaRPr lang="en-US" sz="956" dirty="0"/>
          </a:p>
          <a:p>
            <a:pPr algn="l" indent="0" marL="0">
              <a:lnSpc>
                <a:spcPts val="1482"/>
              </a:lnSpc>
              <a:spcAft>
                <a:spcPts val="900"/>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900"/>
              </a:spcAft>
              <a:buNone/>
            </a:pPr>
            <a:r>
              <a:rPr lang="en-US" sz="956" dirty="0">
                <a:solidFill>
                  <a:srgbClr val="F4F4F5"/>
                </a:solidFill>
                <a:latin typeface="Carlito" pitchFamily="34" charset="0"/>
                <a:ea typeface="Carlito" pitchFamily="34" charset="-122"/>
                <a:cs typeface="Carlito" pitchFamily="34" charset="-120"/>
              </a:rPr>
              <a:t>Ep01–08 recap: raw API → Agent SDK → tools/hooks → subagents → memory → structured output → Skills</a:t>
            </a:r>
            <a:endParaRPr lang="en-US" sz="956" dirty="0"/>
          </a:p>
          <a:p>
            <a:pPr algn="l" indent="0" marL="0">
              <a:lnSpc>
                <a:spcPts val="1482"/>
              </a:lnSpc>
              <a:spcAft>
                <a:spcPts val="900"/>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900"/>
              </a:spcAft>
              <a:buNone/>
            </a:pPr>
            <a:r>
              <a:rPr lang="en-US" sz="956" dirty="0">
                <a:solidFill>
                  <a:srgbClr val="F4F4F5"/>
                </a:solidFill>
                <a:latin typeface="Carlito" pitchFamily="34" charset="0"/>
                <a:ea typeface="Carlito" pitchFamily="34" charset="-122"/>
                <a:cs typeface="Carlito" pitchFamily="34" charset="-120"/>
              </a:rPr>
              <a:t>Every prior episode improved the agent </a:t>
            </a:r>
            <a:pPr algn="l" indent="0" marL="0">
              <a:lnSpc>
                <a:spcPts val="1482"/>
              </a:lnSpc>
              <a:spcAft>
                <a:spcPts val="900"/>
              </a:spcAft>
              <a:buNone/>
            </a:pPr>
            <a:r>
              <a:rPr lang="en-US" sz="956" i="1" dirty="0">
                <a:solidFill>
                  <a:srgbClr val="F4F4F5"/>
                </a:solidFill>
                <a:latin typeface="Carlito" pitchFamily="34" charset="0"/>
                <a:ea typeface="Carlito" pitchFamily="34" charset="-122"/>
                <a:cs typeface="Carlito" pitchFamily="34" charset="-120"/>
              </a:rPr>
              <a:t>internally</a:t>
            </a:r>
            <a:endParaRPr lang="en-US" sz="956" dirty="0"/>
          </a:p>
          <a:p>
            <a:pPr algn="l" indent="0" marL="0">
              <a:lnSpc>
                <a:spcPts val="1482"/>
              </a:lnSpc>
              <a:spcAft>
                <a:spcPts val="900"/>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900"/>
              </a:spcAft>
              <a:buNone/>
            </a:pPr>
            <a:r>
              <a:rPr lang="en-US" sz="956" dirty="0">
                <a:solidFill>
                  <a:srgbClr val="F4F4F5"/>
                </a:solidFill>
                <a:latin typeface="Carlito" pitchFamily="34" charset="0"/>
                <a:ea typeface="Carlito" pitchFamily="34" charset="-122"/>
                <a:cs typeface="Carlito" pitchFamily="34" charset="-120"/>
              </a:rPr>
              <a:t>Today is the first episode the agent reaches </a:t>
            </a:r>
            <a:pPr algn="l" indent="0" marL="0">
              <a:lnSpc>
                <a:spcPts val="1482"/>
              </a:lnSpc>
              <a:spcAft>
                <a:spcPts val="900"/>
              </a:spcAft>
              <a:buNone/>
            </a:pPr>
            <a:r>
              <a:rPr lang="en-US" sz="956" dirty="0">
                <a:solidFill>
                  <a:srgbClr val="FF7A1A"/>
                </a:solidFill>
                <a:latin typeface="Carlito" pitchFamily="34" charset="0"/>
                <a:ea typeface="Carlito" pitchFamily="34" charset="-122"/>
                <a:cs typeface="Carlito" pitchFamily="34" charset="-120"/>
              </a:rPr>
              <a:t>OUTSIDE</a:t>
            </a:r>
            <a:pPr algn="l" indent="0" marL="0">
              <a:lnSpc>
                <a:spcPts val="1482"/>
              </a:lnSpc>
              <a:spcAft>
                <a:spcPts val="900"/>
              </a:spcAft>
              <a:buNone/>
            </a:pPr>
            <a:r>
              <a:rPr lang="en-US" sz="956" dirty="0">
                <a:solidFill>
                  <a:srgbClr val="F4F4F5"/>
                </a:solidFill>
                <a:latin typeface="Carlito" pitchFamily="34" charset="0"/>
                <a:ea typeface="Carlito" pitchFamily="34" charset="-122"/>
                <a:cs typeface="Carlito" pitchFamily="34" charset="-120"/>
              </a:rPr>
              <a:t> itself</a:t>
            </a:r>
            <a:endParaRPr lang="en-US" sz="956" dirty="0"/>
          </a:p>
        </p:txBody>
      </p:sp>
      <p:sp>
        <p:nvSpPr>
          <p:cNvPr id="9" name="Text 7"/>
          <p:cNvSpPr/>
          <p:nvPr/>
        </p:nvSpPr>
        <p:spPr>
          <a:xfrm>
            <a:off x="514350" y="2986226"/>
            <a:ext cx="350379" cy="212027"/>
          </a:xfrm>
          <a:prstGeom prst="roundRect">
            <a:avLst>
              <a:gd name="adj" fmla="val 17969"/>
            </a:avLst>
          </a:prstGeom>
          <a:noFill/>
          <a:ln w="7144">
            <a:solidFill>
              <a:srgbClr val="2A2A33"/>
            </a:solidFill>
            <a:prstDash val="solid"/>
          </a:ln>
        </p:spPr>
        <p:txBody>
          <a:bodyPr wrap="square" rtlCol="0" anchor="ctr"/>
          <a:lstStyle/>
          <a:p>
            <a:pPr indent="0" marL="0">
              <a:buNone/>
            </a:pPr>
            <a:endParaRPr lang="en-US" dirty="0"/>
          </a:p>
        </p:txBody>
      </p:sp>
      <p:sp>
        <p:nvSpPr>
          <p:cNvPr id="10" name="Text 8"/>
          <p:cNvSpPr/>
          <p:nvPr/>
        </p:nvSpPr>
        <p:spPr>
          <a:xfrm>
            <a:off x="514350" y="2997584"/>
            <a:ext cx="350379" cy="189309"/>
          </a:xfrm>
          <a:prstGeom prst="rect">
            <a:avLst/>
          </a:prstGeom>
          <a:noFill/>
          <a:ln/>
        </p:spPr>
        <p:txBody>
          <a:bodyPr wrap="none" lIns="0" tIns="0" rIns="0" bIns="0" rtlCol="0" anchor="ctr"/>
          <a:lstStyle/>
          <a:p>
            <a:pPr algn="ctr"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EP01</a:t>
            </a:r>
            <a:endParaRPr lang="en-US" sz="800" dirty="0"/>
          </a:p>
        </p:txBody>
      </p:sp>
      <p:sp>
        <p:nvSpPr>
          <p:cNvPr id="11" name="Text 9"/>
          <p:cNvSpPr/>
          <p:nvPr/>
        </p:nvSpPr>
        <p:spPr>
          <a:xfrm>
            <a:off x="907591" y="3033303"/>
            <a:ext cx="91440" cy="117872"/>
          </a:xfrm>
          <a:prstGeom prst="rect">
            <a:avLst/>
          </a:prstGeom>
          <a:noFill/>
          <a:ln/>
        </p:spPr>
        <p:txBody>
          <a:bodyPr wrap="none" lIns="0" tIns="0" rIns="0" bIns="0" rtlCol="0" anchor="ctr"/>
          <a:lstStyle/>
          <a:p>
            <a:pPr algn="ctr" indent="0" marL="0">
              <a:buNone/>
            </a:pPr>
            <a:r>
              <a:rPr lang="en-US" sz="800" spc="99" kern="0" dirty="0">
                <a:solidFill>
                  <a:srgbClr val="71717A"/>
                </a:solidFill>
                <a:latin typeface="Segoe UI Symbol" pitchFamily="34" charset="0"/>
                <a:ea typeface="Segoe UI Symbol" pitchFamily="34" charset="-122"/>
                <a:cs typeface="Segoe UI Symbol" pitchFamily="34" charset="-120"/>
              </a:rPr>
              <a:t>→</a:t>
            </a:r>
            <a:endParaRPr lang="en-US" sz="800" dirty="0"/>
          </a:p>
        </p:txBody>
      </p:sp>
      <p:sp>
        <p:nvSpPr>
          <p:cNvPr id="12" name="Text 10"/>
          <p:cNvSpPr/>
          <p:nvPr/>
        </p:nvSpPr>
        <p:spPr>
          <a:xfrm>
            <a:off x="1041648" y="2986226"/>
            <a:ext cx="350379" cy="212027"/>
          </a:xfrm>
          <a:prstGeom prst="roundRect">
            <a:avLst>
              <a:gd name="adj" fmla="val 17969"/>
            </a:avLst>
          </a:prstGeom>
          <a:noFill/>
          <a:ln w="7144">
            <a:solidFill>
              <a:srgbClr val="2A2A33"/>
            </a:solidFill>
            <a:prstDash val="solid"/>
          </a:ln>
        </p:spPr>
        <p:txBody>
          <a:bodyPr wrap="square" rtlCol="0" anchor="ctr"/>
          <a:lstStyle/>
          <a:p>
            <a:pPr indent="0" marL="0">
              <a:buNone/>
            </a:pPr>
            <a:endParaRPr lang="en-US" dirty="0"/>
          </a:p>
        </p:txBody>
      </p:sp>
      <p:sp>
        <p:nvSpPr>
          <p:cNvPr id="13" name="Text 11"/>
          <p:cNvSpPr/>
          <p:nvPr/>
        </p:nvSpPr>
        <p:spPr>
          <a:xfrm>
            <a:off x="1041648" y="2997584"/>
            <a:ext cx="350379" cy="189309"/>
          </a:xfrm>
          <a:prstGeom prst="rect">
            <a:avLst/>
          </a:prstGeom>
          <a:noFill/>
          <a:ln/>
        </p:spPr>
        <p:txBody>
          <a:bodyPr wrap="none" lIns="0" tIns="0" rIns="0" bIns="0" rtlCol="0" anchor="ctr"/>
          <a:lstStyle/>
          <a:p>
            <a:pPr algn="ctr"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EP02</a:t>
            </a:r>
            <a:endParaRPr lang="en-US" sz="800" dirty="0"/>
          </a:p>
        </p:txBody>
      </p:sp>
      <p:sp>
        <p:nvSpPr>
          <p:cNvPr id="14" name="Text 12"/>
          <p:cNvSpPr/>
          <p:nvPr/>
        </p:nvSpPr>
        <p:spPr>
          <a:xfrm>
            <a:off x="1434889" y="3033303"/>
            <a:ext cx="91440" cy="117872"/>
          </a:xfrm>
          <a:prstGeom prst="rect">
            <a:avLst/>
          </a:prstGeom>
          <a:noFill/>
          <a:ln/>
        </p:spPr>
        <p:txBody>
          <a:bodyPr wrap="none" lIns="0" tIns="0" rIns="0" bIns="0" rtlCol="0" anchor="ctr"/>
          <a:lstStyle/>
          <a:p>
            <a:pPr algn="ctr" indent="0" marL="0">
              <a:buNone/>
            </a:pPr>
            <a:r>
              <a:rPr lang="en-US" sz="800" spc="99" kern="0" dirty="0">
                <a:solidFill>
                  <a:srgbClr val="71717A"/>
                </a:solidFill>
                <a:latin typeface="Segoe UI Symbol" pitchFamily="34" charset="0"/>
                <a:ea typeface="Segoe UI Symbol" pitchFamily="34" charset="-122"/>
                <a:cs typeface="Segoe UI Symbol" pitchFamily="34" charset="-120"/>
              </a:rPr>
              <a:t>→</a:t>
            </a:r>
            <a:endParaRPr lang="en-US" sz="800" dirty="0"/>
          </a:p>
        </p:txBody>
      </p:sp>
      <p:sp>
        <p:nvSpPr>
          <p:cNvPr id="15" name="Text 13"/>
          <p:cNvSpPr/>
          <p:nvPr/>
        </p:nvSpPr>
        <p:spPr>
          <a:xfrm>
            <a:off x="1568946" y="2986226"/>
            <a:ext cx="505978" cy="212027"/>
          </a:xfrm>
          <a:prstGeom prst="roundRect">
            <a:avLst>
              <a:gd name="adj" fmla="val 17969"/>
            </a:avLst>
          </a:prstGeom>
          <a:noFill/>
          <a:ln w="7144">
            <a:solidFill>
              <a:srgbClr val="2A2A33"/>
            </a:solidFill>
            <a:prstDash val="solid"/>
          </a:ln>
        </p:spPr>
        <p:txBody>
          <a:bodyPr wrap="square" rtlCol="0" anchor="ctr"/>
          <a:lstStyle/>
          <a:p>
            <a:pPr indent="0" marL="0">
              <a:buNone/>
            </a:pPr>
            <a:endParaRPr lang="en-US" dirty="0"/>
          </a:p>
        </p:txBody>
      </p:sp>
      <p:sp>
        <p:nvSpPr>
          <p:cNvPr id="16" name="Text 14"/>
          <p:cNvSpPr/>
          <p:nvPr/>
        </p:nvSpPr>
        <p:spPr>
          <a:xfrm>
            <a:off x="1554189" y="2997584"/>
            <a:ext cx="535493" cy="189309"/>
          </a:xfrm>
          <a:prstGeom prst="rect">
            <a:avLst/>
          </a:prstGeom>
          <a:noFill/>
          <a:ln/>
        </p:spPr>
        <p:txBody>
          <a:bodyPr wrap="none" lIns="0" tIns="0" rIns="0" bIns="0" rtlCol="0" anchor="ctr"/>
          <a:lstStyle/>
          <a:p>
            <a:pPr algn="ctr"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EP03/04</a:t>
            </a:r>
            <a:endParaRPr lang="en-US" sz="800" dirty="0"/>
          </a:p>
        </p:txBody>
      </p:sp>
      <p:sp>
        <p:nvSpPr>
          <p:cNvPr id="17" name="Text 15"/>
          <p:cNvSpPr/>
          <p:nvPr/>
        </p:nvSpPr>
        <p:spPr>
          <a:xfrm>
            <a:off x="2117787" y="3033303"/>
            <a:ext cx="91440" cy="117872"/>
          </a:xfrm>
          <a:prstGeom prst="rect">
            <a:avLst/>
          </a:prstGeom>
          <a:noFill/>
          <a:ln/>
        </p:spPr>
        <p:txBody>
          <a:bodyPr wrap="none" lIns="0" tIns="0" rIns="0" bIns="0" rtlCol="0" anchor="ctr"/>
          <a:lstStyle/>
          <a:p>
            <a:pPr algn="ctr" indent="0" marL="0">
              <a:buNone/>
            </a:pPr>
            <a:r>
              <a:rPr lang="en-US" sz="800" spc="99" kern="0" dirty="0">
                <a:solidFill>
                  <a:srgbClr val="71717A"/>
                </a:solidFill>
                <a:latin typeface="Segoe UI Symbol" pitchFamily="34" charset="0"/>
                <a:ea typeface="Segoe UI Symbol" pitchFamily="34" charset="-122"/>
                <a:cs typeface="Segoe UI Symbol" pitchFamily="34" charset="-120"/>
              </a:rPr>
              <a:t>→</a:t>
            </a:r>
            <a:endParaRPr lang="en-US" sz="800" dirty="0"/>
          </a:p>
        </p:txBody>
      </p:sp>
      <p:sp>
        <p:nvSpPr>
          <p:cNvPr id="18" name="Text 16"/>
          <p:cNvSpPr/>
          <p:nvPr/>
        </p:nvSpPr>
        <p:spPr>
          <a:xfrm>
            <a:off x="2251844" y="2986226"/>
            <a:ext cx="350379" cy="212027"/>
          </a:xfrm>
          <a:prstGeom prst="roundRect">
            <a:avLst>
              <a:gd name="adj" fmla="val 17969"/>
            </a:avLst>
          </a:prstGeom>
          <a:noFill/>
          <a:ln w="7144">
            <a:solidFill>
              <a:srgbClr val="2A2A33"/>
            </a:solidFill>
            <a:prstDash val="solid"/>
          </a:ln>
        </p:spPr>
        <p:txBody>
          <a:bodyPr wrap="square" rtlCol="0" anchor="ctr"/>
          <a:lstStyle/>
          <a:p>
            <a:pPr indent="0" marL="0">
              <a:buNone/>
            </a:pPr>
            <a:endParaRPr lang="en-US" dirty="0"/>
          </a:p>
        </p:txBody>
      </p:sp>
      <p:sp>
        <p:nvSpPr>
          <p:cNvPr id="19" name="Text 17"/>
          <p:cNvSpPr/>
          <p:nvPr/>
        </p:nvSpPr>
        <p:spPr>
          <a:xfrm>
            <a:off x="2251844" y="2997584"/>
            <a:ext cx="350379" cy="189309"/>
          </a:xfrm>
          <a:prstGeom prst="rect">
            <a:avLst/>
          </a:prstGeom>
          <a:noFill/>
          <a:ln/>
        </p:spPr>
        <p:txBody>
          <a:bodyPr wrap="none" lIns="0" tIns="0" rIns="0" bIns="0" rtlCol="0" anchor="ctr"/>
          <a:lstStyle/>
          <a:p>
            <a:pPr algn="ctr"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EP05</a:t>
            </a:r>
            <a:endParaRPr lang="en-US" sz="800" dirty="0"/>
          </a:p>
        </p:txBody>
      </p:sp>
      <p:sp>
        <p:nvSpPr>
          <p:cNvPr id="20" name="Text 18"/>
          <p:cNvSpPr/>
          <p:nvPr/>
        </p:nvSpPr>
        <p:spPr>
          <a:xfrm>
            <a:off x="2645085" y="3033303"/>
            <a:ext cx="91440" cy="117872"/>
          </a:xfrm>
          <a:prstGeom prst="rect">
            <a:avLst/>
          </a:prstGeom>
          <a:noFill/>
          <a:ln/>
        </p:spPr>
        <p:txBody>
          <a:bodyPr wrap="none" lIns="0" tIns="0" rIns="0" bIns="0" rtlCol="0" anchor="ctr"/>
          <a:lstStyle/>
          <a:p>
            <a:pPr algn="ctr" indent="0" marL="0">
              <a:buNone/>
            </a:pPr>
            <a:r>
              <a:rPr lang="en-US" sz="800" spc="99" kern="0" dirty="0">
                <a:solidFill>
                  <a:srgbClr val="71717A"/>
                </a:solidFill>
                <a:latin typeface="Segoe UI Symbol" pitchFamily="34" charset="0"/>
                <a:ea typeface="Segoe UI Symbol" pitchFamily="34" charset="-122"/>
                <a:cs typeface="Segoe UI Symbol" pitchFamily="34" charset="-120"/>
              </a:rPr>
              <a:t>→</a:t>
            </a:r>
            <a:endParaRPr lang="en-US" sz="800" dirty="0"/>
          </a:p>
        </p:txBody>
      </p:sp>
      <p:sp>
        <p:nvSpPr>
          <p:cNvPr id="21" name="Text 19"/>
          <p:cNvSpPr/>
          <p:nvPr/>
        </p:nvSpPr>
        <p:spPr>
          <a:xfrm>
            <a:off x="2779142" y="2986226"/>
            <a:ext cx="350379" cy="212027"/>
          </a:xfrm>
          <a:prstGeom prst="roundRect">
            <a:avLst>
              <a:gd name="adj" fmla="val 17969"/>
            </a:avLst>
          </a:prstGeom>
          <a:noFill/>
          <a:ln w="7144">
            <a:solidFill>
              <a:srgbClr val="2A2A33"/>
            </a:solidFill>
            <a:prstDash val="solid"/>
          </a:ln>
        </p:spPr>
        <p:txBody>
          <a:bodyPr wrap="square" rtlCol="0" anchor="ctr"/>
          <a:lstStyle/>
          <a:p>
            <a:pPr indent="0" marL="0">
              <a:buNone/>
            </a:pPr>
            <a:endParaRPr lang="en-US" dirty="0"/>
          </a:p>
        </p:txBody>
      </p:sp>
      <p:sp>
        <p:nvSpPr>
          <p:cNvPr id="22" name="Text 20"/>
          <p:cNvSpPr/>
          <p:nvPr/>
        </p:nvSpPr>
        <p:spPr>
          <a:xfrm>
            <a:off x="2779142" y="2997584"/>
            <a:ext cx="350379" cy="189309"/>
          </a:xfrm>
          <a:prstGeom prst="rect">
            <a:avLst/>
          </a:prstGeom>
          <a:noFill/>
          <a:ln/>
        </p:spPr>
        <p:txBody>
          <a:bodyPr wrap="none" lIns="0" tIns="0" rIns="0" bIns="0" rtlCol="0" anchor="ctr"/>
          <a:lstStyle/>
          <a:p>
            <a:pPr algn="ctr"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EP06</a:t>
            </a:r>
            <a:endParaRPr lang="en-US" sz="800" dirty="0"/>
          </a:p>
        </p:txBody>
      </p:sp>
      <p:sp>
        <p:nvSpPr>
          <p:cNvPr id="23" name="Text 21"/>
          <p:cNvSpPr/>
          <p:nvPr/>
        </p:nvSpPr>
        <p:spPr>
          <a:xfrm>
            <a:off x="3172383" y="3033303"/>
            <a:ext cx="91440" cy="117872"/>
          </a:xfrm>
          <a:prstGeom prst="rect">
            <a:avLst/>
          </a:prstGeom>
          <a:noFill/>
          <a:ln/>
        </p:spPr>
        <p:txBody>
          <a:bodyPr wrap="none" lIns="0" tIns="0" rIns="0" bIns="0" rtlCol="0" anchor="ctr"/>
          <a:lstStyle/>
          <a:p>
            <a:pPr algn="ctr" indent="0" marL="0">
              <a:buNone/>
            </a:pPr>
            <a:r>
              <a:rPr lang="en-US" sz="800" spc="99" kern="0" dirty="0">
                <a:solidFill>
                  <a:srgbClr val="71717A"/>
                </a:solidFill>
                <a:latin typeface="Segoe UI Symbol" pitchFamily="34" charset="0"/>
                <a:ea typeface="Segoe UI Symbol" pitchFamily="34" charset="-122"/>
                <a:cs typeface="Segoe UI Symbol" pitchFamily="34" charset="-120"/>
              </a:rPr>
              <a:t>→</a:t>
            </a:r>
            <a:endParaRPr lang="en-US" sz="800" dirty="0"/>
          </a:p>
        </p:txBody>
      </p:sp>
      <p:sp>
        <p:nvSpPr>
          <p:cNvPr id="24" name="Text 22"/>
          <p:cNvSpPr/>
          <p:nvPr/>
        </p:nvSpPr>
        <p:spPr>
          <a:xfrm>
            <a:off x="3306440" y="2986226"/>
            <a:ext cx="350379" cy="212027"/>
          </a:xfrm>
          <a:prstGeom prst="roundRect">
            <a:avLst>
              <a:gd name="adj" fmla="val 17969"/>
            </a:avLst>
          </a:prstGeom>
          <a:noFill/>
          <a:ln w="7144">
            <a:solidFill>
              <a:srgbClr val="2A2A33"/>
            </a:solidFill>
            <a:prstDash val="solid"/>
          </a:ln>
        </p:spPr>
        <p:txBody>
          <a:bodyPr wrap="square" rtlCol="0" anchor="ctr"/>
          <a:lstStyle/>
          <a:p>
            <a:pPr indent="0" marL="0">
              <a:buNone/>
            </a:pPr>
            <a:endParaRPr lang="en-US" dirty="0"/>
          </a:p>
        </p:txBody>
      </p:sp>
      <p:sp>
        <p:nvSpPr>
          <p:cNvPr id="25" name="Text 23"/>
          <p:cNvSpPr/>
          <p:nvPr/>
        </p:nvSpPr>
        <p:spPr>
          <a:xfrm>
            <a:off x="3306440" y="2997584"/>
            <a:ext cx="350379" cy="189309"/>
          </a:xfrm>
          <a:prstGeom prst="rect">
            <a:avLst/>
          </a:prstGeom>
          <a:noFill/>
          <a:ln/>
        </p:spPr>
        <p:txBody>
          <a:bodyPr wrap="none" lIns="0" tIns="0" rIns="0" bIns="0" rtlCol="0" anchor="ctr"/>
          <a:lstStyle/>
          <a:p>
            <a:pPr algn="ctr"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EP07</a:t>
            </a:r>
            <a:endParaRPr lang="en-US" sz="800" dirty="0"/>
          </a:p>
        </p:txBody>
      </p:sp>
      <p:sp>
        <p:nvSpPr>
          <p:cNvPr id="26" name="Text 24"/>
          <p:cNvSpPr/>
          <p:nvPr/>
        </p:nvSpPr>
        <p:spPr>
          <a:xfrm>
            <a:off x="3699681" y="3033303"/>
            <a:ext cx="91440" cy="117872"/>
          </a:xfrm>
          <a:prstGeom prst="rect">
            <a:avLst/>
          </a:prstGeom>
          <a:noFill/>
          <a:ln/>
        </p:spPr>
        <p:txBody>
          <a:bodyPr wrap="none" lIns="0" tIns="0" rIns="0" bIns="0" rtlCol="0" anchor="ctr"/>
          <a:lstStyle/>
          <a:p>
            <a:pPr algn="ctr" indent="0" marL="0">
              <a:buNone/>
            </a:pPr>
            <a:r>
              <a:rPr lang="en-US" sz="800" spc="99" kern="0" dirty="0">
                <a:solidFill>
                  <a:srgbClr val="71717A"/>
                </a:solidFill>
                <a:latin typeface="Segoe UI Symbol" pitchFamily="34" charset="0"/>
                <a:ea typeface="Segoe UI Symbol" pitchFamily="34" charset="-122"/>
                <a:cs typeface="Segoe UI Symbol" pitchFamily="34" charset="-120"/>
              </a:rPr>
              <a:t>→</a:t>
            </a:r>
            <a:endParaRPr lang="en-US" sz="800" dirty="0"/>
          </a:p>
        </p:txBody>
      </p:sp>
      <p:sp>
        <p:nvSpPr>
          <p:cNvPr id="27" name="Text 25"/>
          <p:cNvSpPr/>
          <p:nvPr/>
        </p:nvSpPr>
        <p:spPr>
          <a:xfrm>
            <a:off x="3833738" y="2986226"/>
            <a:ext cx="350379" cy="212027"/>
          </a:xfrm>
          <a:prstGeom prst="roundRect">
            <a:avLst>
              <a:gd name="adj" fmla="val 17969"/>
            </a:avLst>
          </a:prstGeom>
          <a:noFill/>
          <a:ln w="7144">
            <a:solidFill>
              <a:srgbClr val="2A2A33"/>
            </a:solidFill>
            <a:prstDash val="solid"/>
          </a:ln>
        </p:spPr>
        <p:txBody>
          <a:bodyPr wrap="square" rtlCol="0" anchor="ctr"/>
          <a:lstStyle/>
          <a:p>
            <a:pPr indent="0" marL="0">
              <a:buNone/>
            </a:pPr>
            <a:endParaRPr lang="en-US" dirty="0"/>
          </a:p>
        </p:txBody>
      </p:sp>
      <p:sp>
        <p:nvSpPr>
          <p:cNvPr id="28" name="Text 26"/>
          <p:cNvSpPr/>
          <p:nvPr/>
        </p:nvSpPr>
        <p:spPr>
          <a:xfrm>
            <a:off x="3833738" y="2997584"/>
            <a:ext cx="350379" cy="189309"/>
          </a:xfrm>
          <a:prstGeom prst="rect">
            <a:avLst/>
          </a:prstGeom>
          <a:noFill/>
          <a:ln/>
        </p:spPr>
        <p:txBody>
          <a:bodyPr wrap="none" lIns="0" tIns="0" rIns="0" bIns="0" rtlCol="0" anchor="ctr"/>
          <a:lstStyle/>
          <a:p>
            <a:pPr algn="ctr"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EP08</a:t>
            </a:r>
            <a:endParaRPr lang="en-US" sz="800" dirty="0"/>
          </a:p>
        </p:txBody>
      </p:sp>
      <p:sp>
        <p:nvSpPr>
          <p:cNvPr id="29" name="Text 27"/>
          <p:cNvSpPr/>
          <p:nvPr/>
        </p:nvSpPr>
        <p:spPr>
          <a:xfrm>
            <a:off x="4226979" y="3033303"/>
            <a:ext cx="91440" cy="117872"/>
          </a:xfrm>
          <a:prstGeom prst="rect">
            <a:avLst/>
          </a:prstGeom>
          <a:noFill/>
          <a:ln/>
        </p:spPr>
        <p:txBody>
          <a:bodyPr wrap="none" lIns="0" tIns="0" rIns="0" bIns="0" rtlCol="0" anchor="ctr"/>
          <a:lstStyle/>
          <a:p>
            <a:pPr algn="ctr" indent="0" marL="0">
              <a:buNone/>
            </a:pPr>
            <a:r>
              <a:rPr lang="en-US" sz="800" spc="99" kern="0" dirty="0">
                <a:solidFill>
                  <a:srgbClr val="71717A"/>
                </a:solidFill>
                <a:latin typeface="Segoe UI Symbol" pitchFamily="34" charset="0"/>
                <a:ea typeface="Segoe UI Symbol" pitchFamily="34" charset="-122"/>
                <a:cs typeface="Segoe UI Symbol" pitchFamily="34" charset="-120"/>
              </a:rPr>
              <a:t>→</a:t>
            </a:r>
            <a:endParaRPr lang="en-US" sz="800" dirty="0"/>
          </a:p>
        </p:txBody>
      </p:sp>
      <p:sp>
        <p:nvSpPr>
          <p:cNvPr id="30" name="Text 28"/>
          <p:cNvSpPr/>
          <p:nvPr/>
        </p:nvSpPr>
        <p:spPr>
          <a:xfrm>
            <a:off x="491490" y="3218398"/>
            <a:ext cx="790568" cy="212027"/>
          </a:xfrm>
          <a:prstGeom prst="roundRect">
            <a:avLst>
              <a:gd name="adj" fmla="val 17969"/>
            </a:avLst>
          </a:prstGeom>
          <a:solidFill>
            <a:srgbClr val="FF7A1A">
              <a:alpha val="8000"/>
            </a:srgbClr>
          </a:solidFill>
          <a:ln w="7144">
            <a:solidFill>
              <a:srgbClr val="FF7A1A"/>
            </a:solidFill>
            <a:prstDash val="solid"/>
          </a:ln>
        </p:spPr>
        <p:txBody>
          <a:bodyPr wrap="square" rtlCol="0" anchor="ctr"/>
          <a:lstStyle/>
          <a:p>
            <a:pPr indent="0" marL="0">
              <a:buNone/>
            </a:pPr>
            <a:endParaRPr lang="en-US" dirty="0"/>
          </a:p>
        </p:txBody>
      </p:sp>
      <p:sp>
        <p:nvSpPr>
          <p:cNvPr id="31" name="Text 29"/>
          <p:cNvSpPr/>
          <p:nvPr/>
        </p:nvSpPr>
        <p:spPr>
          <a:xfrm>
            <a:off x="503935" y="3229756"/>
            <a:ext cx="765678" cy="189309"/>
          </a:xfrm>
          <a:prstGeom prst="rect">
            <a:avLst/>
          </a:prstGeom>
          <a:noFill/>
          <a:ln/>
        </p:spPr>
        <p:txBody>
          <a:bodyPr wrap="none" lIns="0" tIns="0" rIns="0" bIns="0" rtlCol="0" anchor="ctr"/>
          <a:lstStyle/>
          <a:p>
            <a:pPr algn="ctr" indent="0" marL="0">
              <a:lnSpc>
                <a:spcPts val="928"/>
              </a:lnSpc>
              <a:buNone/>
            </a:pPr>
            <a:r>
              <a:rPr lang="en-US" sz="800" spc="99" kern="0" dirty="0">
                <a:solidFill>
                  <a:srgbClr val="FF7A1A"/>
                </a:solidFill>
                <a:latin typeface="Liberation Sans Narrow" pitchFamily="34" charset="0"/>
                <a:ea typeface="Liberation Sans Narrow" pitchFamily="34" charset="-122"/>
                <a:cs typeface="Liberation Sans Narrow" pitchFamily="34" charset="-120"/>
              </a:rPr>
              <a:t>EP09 · today</a:t>
            </a:r>
            <a:endParaRPr lang="en-US" sz="800" dirty="0"/>
          </a:p>
        </p:txBody>
      </p:sp>
      <p:sp>
        <p:nvSpPr>
          <p:cNvPr id="32" name="Text 30"/>
          <p:cNvSpPr/>
          <p:nvPr/>
        </p:nvSpPr>
        <p:spPr>
          <a:xfrm>
            <a:off x="5014578" y="1556556"/>
            <a:ext cx="3614961" cy="3186894"/>
          </a:xfrm>
          <a:prstGeom prst="rect">
            <a:avLst/>
          </a:prstGeom>
          <a:solidFill>
            <a:srgbClr val="15151A"/>
          </a:solidFill>
          <a:ln/>
        </p:spPr>
        <p:txBody>
          <a:bodyPr wrap="square" rtlCol="0" anchor="ctr"/>
          <a:lstStyle/>
          <a:p>
            <a:pPr indent="0" marL="0">
              <a:buNone/>
            </a:pPr>
            <a:endParaRPr lang="en-US" dirty="0"/>
          </a:p>
        </p:txBody>
      </p:sp>
      <p:sp>
        <p:nvSpPr>
          <p:cNvPr id="33" name="Shape 31"/>
          <p:cNvSpPr/>
          <p:nvPr/>
        </p:nvSpPr>
        <p:spPr>
          <a:xfrm>
            <a:off x="5014578" y="1560128"/>
            <a:ext cx="3614961" cy="0"/>
          </a:xfrm>
          <a:prstGeom prst="line">
            <a:avLst/>
          </a:prstGeom>
          <a:noFill/>
          <a:ln w="7144">
            <a:solidFill>
              <a:srgbClr val="2A2A33"/>
            </a:solidFill>
            <a:prstDash val="solid"/>
          </a:ln>
        </p:spPr>
      </p:sp>
      <p:sp>
        <p:nvSpPr>
          <p:cNvPr id="34" name="Shape 32"/>
          <p:cNvSpPr/>
          <p:nvPr/>
        </p:nvSpPr>
        <p:spPr>
          <a:xfrm>
            <a:off x="8625967" y="1556556"/>
            <a:ext cx="0" cy="3186894"/>
          </a:xfrm>
          <a:prstGeom prst="line">
            <a:avLst/>
          </a:prstGeom>
          <a:noFill/>
          <a:ln w="7144">
            <a:solidFill>
              <a:srgbClr val="2A2A33"/>
            </a:solidFill>
            <a:prstDash val="solid"/>
          </a:ln>
        </p:spPr>
      </p:sp>
      <p:sp>
        <p:nvSpPr>
          <p:cNvPr id="35" name="Shape 33"/>
          <p:cNvSpPr/>
          <p:nvPr/>
        </p:nvSpPr>
        <p:spPr>
          <a:xfrm>
            <a:off x="5014578" y="4739878"/>
            <a:ext cx="3614961" cy="0"/>
          </a:xfrm>
          <a:prstGeom prst="line">
            <a:avLst/>
          </a:prstGeom>
          <a:noFill/>
          <a:ln w="7144">
            <a:solidFill>
              <a:srgbClr val="2A2A33"/>
            </a:solidFill>
            <a:prstDash val="solid"/>
          </a:ln>
        </p:spPr>
      </p:sp>
      <p:sp>
        <p:nvSpPr>
          <p:cNvPr id="36" name="Shape 34"/>
          <p:cNvSpPr/>
          <p:nvPr/>
        </p:nvSpPr>
        <p:spPr>
          <a:xfrm>
            <a:off x="5025293" y="1556556"/>
            <a:ext cx="0" cy="3186894"/>
          </a:xfrm>
          <a:prstGeom prst="line">
            <a:avLst/>
          </a:prstGeom>
          <a:noFill/>
          <a:ln w="21431">
            <a:solidFill>
              <a:srgbClr val="8AB4FF"/>
            </a:solidFill>
            <a:prstDash val="solid"/>
          </a:ln>
        </p:spPr>
      </p:sp>
      <p:sp>
        <p:nvSpPr>
          <p:cNvPr id="37" name="Text 35"/>
          <p:cNvSpPr/>
          <p:nvPr/>
        </p:nvSpPr>
        <p:spPr>
          <a:xfrm>
            <a:off x="5236034" y="1749437"/>
            <a:ext cx="3186336" cy="164592"/>
          </a:xfrm>
          <a:prstGeom prst="rect">
            <a:avLst/>
          </a:prstGeom>
          <a:noFill/>
          <a:ln/>
        </p:spPr>
        <p:txBody>
          <a:bodyPr wrap="none" lIns="0" tIns="0" rIns="0" bIns="0" rtlCol="0" anchor="t"/>
          <a:lstStyle/>
          <a:p>
            <a:pPr algn="l" indent="0" marL="0">
              <a:lnSpc>
                <a:spcPts val="928"/>
              </a:lnSpc>
              <a:buNone/>
            </a:pPr>
            <a:r>
              <a:rPr lang="en-US" sz="800" spc="149" kern="0" dirty="0">
                <a:solidFill>
                  <a:srgbClr val="8AB4FF"/>
                </a:solidFill>
                <a:latin typeface="Courier New" pitchFamily="34" charset="0"/>
                <a:ea typeface="Courier New" pitchFamily="34" charset="-122"/>
                <a:cs typeface="Courier New" pitchFamily="34" charset="-120"/>
              </a:rPr>
              <a:t>MENTAL MODEL</a:t>
            </a:r>
            <a:endParaRPr lang="en-US" sz="800" dirty="0"/>
          </a:p>
        </p:txBody>
      </p:sp>
      <p:sp>
        <p:nvSpPr>
          <p:cNvPr id="38" name="Text 36"/>
          <p:cNvSpPr/>
          <p:nvPr/>
        </p:nvSpPr>
        <p:spPr>
          <a:xfrm>
            <a:off x="5239606" y="1999469"/>
            <a:ext cx="1528874" cy="1751000"/>
          </a:xfrm>
          <a:prstGeom prst="roundRect">
            <a:avLst>
              <a:gd name="adj" fmla="val 4984"/>
            </a:avLst>
          </a:prstGeom>
          <a:solidFill>
            <a:srgbClr val="0B0B0D"/>
          </a:solidFill>
          <a:ln w="7144">
            <a:solidFill>
              <a:srgbClr val="2A2A33"/>
            </a:solidFill>
            <a:prstDash val="solid"/>
          </a:ln>
        </p:spPr>
        <p:txBody>
          <a:bodyPr wrap="square" rtlCol="0" anchor="ctr"/>
          <a:lstStyle/>
          <a:p>
            <a:pPr indent="0" marL="0">
              <a:buNone/>
            </a:pPr>
            <a:endParaRPr lang="en-US" dirty="0"/>
          </a:p>
        </p:txBody>
      </p:sp>
      <p:sp>
        <p:nvSpPr>
          <p:cNvPr id="39" name="Text 37"/>
          <p:cNvSpPr/>
          <p:nvPr/>
        </p:nvSpPr>
        <p:spPr>
          <a:xfrm>
            <a:off x="5343190" y="2117341"/>
            <a:ext cx="1321705" cy="136874"/>
          </a:xfrm>
          <a:prstGeom prst="rect">
            <a:avLst/>
          </a:prstGeom>
          <a:noFill/>
          <a:ln/>
        </p:spPr>
        <p:txBody>
          <a:bodyPr wrap="none" lIns="0" tIns="0" rIns="0" bIns="0" rtlCol="0" anchor="t">
            <a:normAutofit/>
          </a:bodyPr>
          <a:lstStyle/>
          <a:p>
            <a:pPr algn="l" indent="0" marL="0">
              <a:lnSpc>
                <a:spcPts val="844"/>
              </a:lnSpc>
              <a:buNone/>
            </a:pPr>
            <a:r>
              <a:rPr lang="en-US" sz="800" spc="124" kern="0" dirty="0">
                <a:solidFill>
                  <a:srgbClr val="71717A"/>
                </a:solidFill>
                <a:latin typeface="Liberation Sans Narrow" pitchFamily="34" charset="0"/>
                <a:ea typeface="Liberation Sans Narrow" pitchFamily="34" charset="-122"/>
                <a:cs typeface="Liberation Sans Narrow" pitchFamily="34" charset="-120"/>
              </a:rPr>
              <a:t>EP01 — EP08</a:t>
            </a:r>
            <a:endParaRPr lang="en-US" sz="800" dirty="0"/>
          </a:p>
        </p:txBody>
      </p:sp>
      <p:sp>
        <p:nvSpPr>
          <p:cNvPr id="40" name="Text 38"/>
          <p:cNvSpPr/>
          <p:nvPr/>
        </p:nvSpPr>
        <p:spPr>
          <a:xfrm>
            <a:off x="5343190" y="2281647"/>
            <a:ext cx="185738" cy="185738"/>
          </a:xfrm>
          <a:prstGeom prst="rect">
            <a:avLst/>
          </a:prstGeom>
          <a:noFill/>
          <a:ln/>
        </p:spPr>
        <p:txBody>
          <a:bodyPr wrap="none" lIns="0" tIns="0" rIns="0" bIns="0" rtlCol="0" anchor="ctr"/>
          <a:lstStyle/>
          <a:p>
            <a:pPr algn="ctr" indent="0" marL="0">
              <a:buNone/>
            </a:pPr>
            <a:r>
              <a:rPr lang="en-US" sz="1828" dirty="0">
                <a:solidFill>
                  <a:srgbClr val="A1A1AA"/>
                </a:solidFill>
                <a:latin typeface="Segoe UI Symbol" pitchFamily="34" charset="0"/>
                <a:ea typeface="Segoe UI Symbol" pitchFamily="34" charset="-122"/>
                <a:cs typeface="Segoe UI Symbol" pitchFamily="34" charset="-120"/>
              </a:rPr>
              <a:t>✦</a:t>
            </a:r>
            <a:endParaRPr lang="en-US" sz="1828" dirty="0"/>
          </a:p>
        </p:txBody>
      </p:sp>
      <p:sp>
        <p:nvSpPr>
          <p:cNvPr id="41" name="Text 39"/>
          <p:cNvSpPr/>
          <p:nvPr/>
        </p:nvSpPr>
        <p:spPr>
          <a:xfrm>
            <a:off x="5343190" y="2524534"/>
            <a:ext cx="1401008" cy="477243"/>
          </a:xfrm>
          <a:prstGeom prst="rect">
            <a:avLst/>
          </a:prstGeom>
          <a:noFill/>
          <a:ln/>
        </p:spPr>
        <p:txBody>
          <a:bodyPr wrap="square" lIns="0" tIns="0" rIns="0" bIns="0" rtlCol="0" anchor="t"/>
          <a:lstStyle/>
          <a:p>
            <a:pPr algn="l" indent="0" marL="0">
              <a:lnSpc>
                <a:spcPts val="1142"/>
              </a:lnSpc>
              <a:buNone/>
            </a:pPr>
            <a:r>
              <a:rPr lang="en-US" sz="800" dirty="0">
                <a:solidFill>
                  <a:srgbClr val="F4F4F5"/>
                </a:solidFill>
                <a:latin typeface="Carlito" pitchFamily="34" charset="0"/>
                <a:ea typeface="Carlito" pitchFamily="34" charset="-122"/>
                <a:cs typeface="Carlito" pitchFamily="34" charset="-120"/>
              </a:rPr>
              <a:t>A better employee — smarter, safer, more organized on the inside.</a:t>
            </a:r>
            <a:endParaRPr lang="en-US" sz="800" dirty="0"/>
          </a:p>
        </p:txBody>
      </p:sp>
      <p:sp>
        <p:nvSpPr>
          <p:cNvPr id="42" name="Text 40"/>
          <p:cNvSpPr/>
          <p:nvPr/>
        </p:nvSpPr>
        <p:spPr>
          <a:xfrm>
            <a:off x="6889924" y="1999469"/>
            <a:ext cx="1528874" cy="1751000"/>
          </a:xfrm>
          <a:prstGeom prst="roundRect">
            <a:avLst>
              <a:gd name="adj" fmla="val 4984"/>
            </a:avLst>
          </a:prstGeom>
          <a:solidFill>
            <a:srgbClr val="FF7A1A">
              <a:alpha val="5000"/>
            </a:srgbClr>
          </a:solidFill>
          <a:ln w="7144">
            <a:solidFill>
              <a:srgbClr val="FF7A1A"/>
            </a:solidFill>
            <a:prstDash val="solid"/>
          </a:ln>
        </p:spPr>
        <p:txBody>
          <a:bodyPr wrap="square" rtlCol="0" anchor="ctr"/>
          <a:lstStyle/>
          <a:p>
            <a:pPr indent="0" marL="0">
              <a:buNone/>
            </a:pPr>
            <a:endParaRPr lang="en-US" dirty="0"/>
          </a:p>
        </p:txBody>
      </p:sp>
      <p:sp>
        <p:nvSpPr>
          <p:cNvPr id="43" name="Text 41"/>
          <p:cNvSpPr/>
          <p:nvPr/>
        </p:nvSpPr>
        <p:spPr>
          <a:xfrm>
            <a:off x="6993508" y="2117341"/>
            <a:ext cx="1321705" cy="136874"/>
          </a:xfrm>
          <a:prstGeom prst="rect">
            <a:avLst/>
          </a:prstGeom>
          <a:noFill/>
          <a:ln/>
        </p:spPr>
        <p:txBody>
          <a:bodyPr wrap="none" lIns="0" tIns="0" rIns="0" bIns="0" rtlCol="0" anchor="t">
            <a:normAutofit/>
          </a:bodyPr>
          <a:lstStyle/>
          <a:p>
            <a:pPr algn="l" indent="0" marL="0">
              <a:lnSpc>
                <a:spcPts val="844"/>
              </a:lnSpc>
              <a:buNone/>
            </a:pPr>
            <a:r>
              <a:rPr lang="en-US" sz="800" spc="124" kern="0" dirty="0">
                <a:solidFill>
                  <a:srgbClr val="FF7A1A"/>
                </a:solidFill>
                <a:latin typeface="Liberation Sans Narrow" pitchFamily="34" charset="0"/>
                <a:ea typeface="Liberation Sans Narrow" pitchFamily="34" charset="-122"/>
                <a:cs typeface="Liberation Sans Narrow" pitchFamily="34" charset="-120"/>
              </a:rPr>
              <a:t>EP09 · TODAY</a:t>
            </a:r>
            <a:endParaRPr lang="en-US" sz="800" dirty="0"/>
          </a:p>
        </p:txBody>
      </p:sp>
      <p:sp>
        <p:nvSpPr>
          <p:cNvPr id="44" name="Text 42"/>
          <p:cNvSpPr/>
          <p:nvPr/>
        </p:nvSpPr>
        <p:spPr>
          <a:xfrm>
            <a:off x="6993508" y="2281647"/>
            <a:ext cx="185738" cy="185738"/>
          </a:xfrm>
          <a:prstGeom prst="rect">
            <a:avLst/>
          </a:prstGeom>
          <a:noFill/>
          <a:ln/>
        </p:spPr>
        <p:txBody>
          <a:bodyPr wrap="none" lIns="0" tIns="0" rIns="0" bIns="0" rtlCol="0" anchor="ctr"/>
          <a:lstStyle/>
          <a:p>
            <a:pPr algn="ctr" indent="0" marL="0">
              <a:buNone/>
            </a:pPr>
            <a:r>
              <a:rPr lang="en-US" sz="1828" dirty="0">
                <a:solidFill>
                  <a:srgbClr val="FF7A1A"/>
                </a:solidFill>
                <a:latin typeface="Segoe UI Symbol" pitchFamily="34" charset="0"/>
                <a:ea typeface="Segoe UI Symbol" pitchFamily="34" charset="-122"/>
                <a:cs typeface="Segoe UI Symbol" pitchFamily="34" charset="-120"/>
              </a:rPr>
              <a:t>◌</a:t>
            </a:r>
            <a:endParaRPr lang="en-US" sz="1828" dirty="0"/>
          </a:p>
        </p:txBody>
      </p:sp>
      <p:sp>
        <p:nvSpPr>
          <p:cNvPr id="45" name="Text 43"/>
          <p:cNvSpPr/>
          <p:nvPr/>
        </p:nvSpPr>
        <p:spPr>
          <a:xfrm>
            <a:off x="6993508" y="2524534"/>
            <a:ext cx="1401008" cy="477243"/>
          </a:xfrm>
          <a:prstGeom prst="rect">
            <a:avLst/>
          </a:prstGeom>
          <a:noFill/>
          <a:ln/>
        </p:spPr>
        <p:txBody>
          <a:bodyPr wrap="square" lIns="0" tIns="0" rIns="0" bIns="0" rtlCol="0" anchor="t"/>
          <a:lstStyle/>
          <a:p>
            <a:pPr algn="l" indent="0" marL="0">
              <a:lnSpc>
                <a:spcPts val="1142"/>
              </a:lnSpc>
              <a:buNone/>
            </a:pPr>
            <a:r>
              <a:rPr lang="en-US" sz="800" dirty="0">
                <a:solidFill>
                  <a:srgbClr val="F4F4F5"/>
                </a:solidFill>
                <a:latin typeface="Carlito" pitchFamily="34" charset="0"/>
                <a:ea typeface="Carlito" pitchFamily="34" charset="-122"/>
                <a:cs typeface="Carlito" pitchFamily="34" charset="-120"/>
              </a:rPr>
              <a:t>That employee gets a company laptop with actual internet access.</a:t>
            </a:r>
            <a:endParaRPr lang="en-US" sz="800" dirty="0"/>
          </a:p>
        </p:txBody>
      </p:sp>
      <p:sp>
        <p:nvSpPr>
          <p:cNvPr id="46" name="Shape 44"/>
          <p:cNvSpPr/>
          <p:nvPr/>
        </p:nvSpPr>
        <p:spPr>
          <a:xfrm>
            <a:off x="5236034" y="3886200"/>
            <a:ext cx="3186336" cy="0"/>
          </a:xfrm>
          <a:prstGeom prst="line">
            <a:avLst/>
          </a:prstGeom>
          <a:noFill/>
          <a:ln w="7144">
            <a:solidFill>
              <a:srgbClr val="2A2A33"/>
            </a:solidFill>
            <a:prstDash val="dash"/>
          </a:ln>
        </p:spPr>
      </p:sp>
      <p:sp>
        <p:nvSpPr>
          <p:cNvPr id="47" name="Text 45"/>
          <p:cNvSpPr/>
          <p:nvPr/>
        </p:nvSpPr>
        <p:spPr>
          <a:xfrm>
            <a:off x="5236034" y="3882628"/>
            <a:ext cx="3186336" cy="667941"/>
          </a:xfrm>
          <a:prstGeom prst="rect">
            <a:avLst/>
          </a:prstGeom>
          <a:noFill/>
          <a:ln/>
        </p:spPr>
        <p:txBody>
          <a:bodyPr wrap="square" lIns="0" tIns="114300" rIns="0" bIns="0" rtlCol="0" anchor="t"/>
          <a:lstStyle/>
          <a:p>
            <a:pPr algn="l" indent="0" marL="0">
              <a:lnSpc>
                <a:spcPts val="1434"/>
              </a:lnSpc>
              <a:buNone/>
            </a:pPr>
            <a:r>
              <a:rPr lang="en-US" sz="956" dirty="0">
                <a:solidFill>
                  <a:srgbClr val="F4F4F5"/>
                </a:solidFill>
                <a:latin typeface="Carlito" pitchFamily="34" charset="0"/>
                <a:ea typeface="Carlito" pitchFamily="34" charset="-122"/>
                <a:cs typeface="Carlito" pitchFamily="34" charset="-120"/>
              </a:rPr>
              <a:t>Think of everything through Episode 8 as making the agent a </a:t>
            </a:r>
            <a:pPr algn="l" indent="0" marL="0">
              <a:lnSpc>
                <a:spcPts val="1434"/>
              </a:lnSpc>
              <a:buNone/>
            </a:pPr>
            <a:r>
              <a:rPr lang="en-US" sz="956" dirty="0">
                <a:solidFill>
                  <a:srgbClr val="8AB4FF"/>
                </a:solidFill>
                <a:latin typeface="Carlito" pitchFamily="34" charset="0"/>
                <a:ea typeface="Carlito" pitchFamily="34" charset="-122"/>
                <a:cs typeface="Carlito" pitchFamily="34" charset="-120"/>
              </a:rPr>
              <a:t>better employee</a:t>
            </a:r>
            <a:pPr algn="l" indent="0" marL="0">
              <a:lnSpc>
                <a:spcPts val="1434"/>
              </a:lnSpc>
              <a:buNone/>
            </a:pPr>
            <a:r>
              <a:rPr lang="en-US" sz="956" dirty="0">
                <a:solidFill>
                  <a:srgbClr val="F4F4F5"/>
                </a:solidFill>
                <a:latin typeface="Carlito" pitchFamily="34" charset="0"/>
                <a:ea typeface="Carlito" pitchFamily="34" charset="-122"/>
                <a:cs typeface="Carlito" pitchFamily="34" charset="-120"/>
              </a:rPr>
              <a:t>. Today is giving that employee a </a:t>
            </a:r>
            <a:pPr algn="l" indent="0" marL="0">
              <a:lnSpc>
                <a:spcPts val="1434"/>
              </a:lnSpc>
              <a:buNone/>
            </a:pPr>
            <a:r>
              <a:rPr lang="en-US" sz="956" dirty="0">
                <a:solidFill>
                  <a:srgbClr val="8AB4FF"/>
                </a:solidFill>
                <a:latin typeface="Carlito" pitchFamily="34" charset="0"/>
                <a:ea typeface="Carlito" pitchFamily="34" charset="-122"/>
                <a:cs typeface="Carlito" pitchFamily="34" charset="-120"/>
              </a:rPr>
              <a:t>company laptop</a:t>
            </a:r>
            <a:pPr algn="l" indent="0" marL="0">
              <a:lnSpc>
                <a:spcPts val="1434"/>
              </a:lnSpc>
              <a:buNone/>
            </a:pPr>
            <a:r>
              <a:rPr lang="en-US" sz="956" dirty="0">
                <a:solidFill>
                  <a:srgbClr val="F4F4F5"/>
                </a:solidFill>
                <a:latin typeface="Carlito" pitchFamily="34" charset="0"/>
                <a:ea typeface="Carlito" pitchFamily="34" charset="-122"/>
                <a:cs typeface="Carlito" pitchFamily="34" charset="-120"/>
              </a:rPr>
              <a:t> with actual internet access.</a:t>
            </a:r>
            <a:endParaRPr lang="en-US" sz="956" dirty="0"/>
          </a:p>
        </p:txBody>
      </p:sp>
      <p:sp>
        <p:nvSpPr>
          <p:cNvPr id="48" name="Text 46"/>
          <p:cNvSpPr/>
          <p:nvPr/>
        </p:nvSpPr>
        <p:spPr>
          <a:xfrm>
            <a:off x="514350" y="4868466"/>
            <a:ext cx="6845387"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EP09 · MCP IN THE REAL WORLD</a:t>
            </a:r>
            <a:endParaRPr lang="en-US" sz="800" dirty="0"/>
          </a:p>
        </p:txBody>
      </p:sp>
      <p:sp>
        <p:nvSpPr>
          <p:cNvPr id="49" name="Text 47"/>
          <p:cNvSpPr/>
          <p:nvPr/>
        </p:nvSpPr>
        <p:spPr>
          <a:xfrm>
            <a:off x="7374024" y="4868466"/>
            <a:ext cx="1536572" cy="164592"/>
          </a:xfrm>
          <a:prstGeom prst="rect">
            <a:avLst/>
          </a:prstGeom>
          <a:noFill/>
          <a:ln/>
        </p:spPr>
        <p:txBody>
          <a:bodyPr wrap="none" lIns="0" tIns="0" rIns="0" bIns="0" rtlCol="0" anchor="t"/>
          <a:lstStyle/>
          <a:p>
            <a:pPr algn="l" indent="0" marL="0">
              <a:lnSpc>
                <a:spcPts val="928"/>
              </a:lnSpc>
              <a:buNone/>
            </a:pPr>
            <a:r>
              <a:rPr lang="en-US" sz="619" spc="99" kern="0" dirty="0">
                <a:solidFill>
                  <a:srgbClr val="71717A"/>
                </a:solidFill>
                <a:latin typeface="Liberation Sans Narrow" pitchFamily="34" charset="0"/>
                <a:ea typeface="Liberation Sans Narrow" pitchFamily="34" charset="-122"/>
                <a:cs typeface="Liberation Sans Narrow" pitchFamily="34" charset="-120"/>
              </a:rPr>
              <a:t>CONTEXT · RECAP · EP01–09</a:t>
            </a:r>
            <a:endParaRPr lang="en-US" sz="619"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257175" y="200025"/>
            <a:ext cx="2232705"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71717A"/>
                </a:solidFill>
                <a:latin typeface="Liberation Sans Narrow" pitchFamily="34" charset="0"/>
                <a:ea typeface="Liberation Sans Narrow" pitchFamily="34" charset="-122"/>
                <a:cs typeface="Liberation Sans Narrow" pitchFamily="34" charset="-120"/>
              </a:rPr>
              <a:t>EP09 </a:t>
            </a:r>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a:t>
            </a:r>
            <a:pPr algn="l" indent="0" marL="0">
              <a:lnSpc>
                <a:spcPts val="928"/>
              </a:lnSpc>
              <a:buNone/>
            </a:pPr>
            <a:r>
              <a:rPr lang="en-US" sz="800" spc="173" kern="0" dirty="0">
                <a:solidFill>
                  <a:srgbClr val="71717A"/>
                </a:solidFill>
                <a:latin typeface="Courier New" pitchFamily="34" charset="0"/>
                <a:ea typeface="Courier New" pitchFamily="34" charset="-122"/>
                <a:cs typeface="Courier New" pitchFamily="34" charset="-120"/>
              </a:rPr>
              <a:t> MCP IN THE REAL WORLD</a:t>
            </a:r>
            <a:endParaRPr lang="en-US" sz="800" dirty="0"/>
          </a:p>
        </p:txBody>
      </p:sp>
      <p:sp>
        <p:nvSpPr>
          <p:cNvPr id="3" name="Text 1"/>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04 / 30</a:t>
            </a:r>
            <a:endParaRPr lang="en-US" sz="800" dirty="0"/>
          </a:p>
        </p:txBody>
      </p:sp>
      <p:sp>
        <p:nvSpPr>
          <p:cNvPr id="4" name="Text 2"/>
          <p:cNvSpPr/>
          <p:nvPr/>
        </p:nvSpPr>
        <p:spPr>
          <a:xfrm>
            <a:off x="514350" y="600075"/>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FILE TREE</a:t>
            </a:r>
            <a:endParaRPr lang="en-US" sz="800" dirty="0"/>
          </a:p>
        </p:txBody>
      </p:sp>
      <p:sp>
        <p:nvSpPr>
          <p:cNvPr id="5" name="Text 3"/>
          <p:cNvSpPr/>
          <p:nvPr/>
        </p:nvSpPr>
        <p:spPr>
          <a:xfrm>
            <a:off x="514350" y="817959"/>
            <a:ext cx="8521065" cy="373346"/>
          </a:xfrm>
          <a:prstGeom prst="rect">
            <a:avLst/>
          </a:prstGeom>
          <a:noFill/>
          <a:ln/>
        </p:spPr>
        <p:txBody>
          <a:bodyPr wrap="non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Project </a:t>
            </a:r>
            <a:pPr algn="l" indent="0" marL="0">
              <a:lnSpc>
                <a:spcPts val="2723"/>
              </a:lnSpc>
              <a:buNone/>
            </a:pPr>
            <a:r>
              <a:rPr lang="en-US" sz="2475" b="1" spc="-49" kern="0" dirty="0">
                <a:solidFill>
                  <a:srgbClr val="FF7A1A"/>
                </a:solidFill>
                <a:latin typeface="Carlito" pitchFamily="34" charset="0"/>
                <a:ea typeface="Carlito" pitchFamily="34" charset="-122"/>
                <a:cs typeface="Carlito" pitchFamily="34" charset="-120"/>
              </a:rPr>
              <a:t>Structure</a:t>
            </a:r>
            <a:endParaRPr lang="en-US" sz="2475" dirty="0"/>
          </a:p>
        </p:txBody>
      </p:sp>
      <p:sp>
        <p:nvSpPr>
          <p:cNvPr id="6" name="Shape 4"/>
          <p:cNvSpPr/>
          <p:nvPr/>
        </p:nvSpPr>
        <p:spPr>
          <a:xfrm>
            <a:off x="514350" y="1345816"/>
            <a:ext cx="400050" cy="0"/>
          </a:xfrm>
          <a:prstGeom prst="line">
            <a:avLst/>
          </a:prstGeom>
          <a:noFill/>
          <a:ln w="7144">
            <a:solidFill>
              <a:srgbClr val="F4F4F5"/>
            </a:solidFill>
            <a:prstDash val="solid"/>
          </a:ln>
        </p:spPr>
      </p:sp>
      <p:sp>
        <p:nvSpPr>
          <p:cNvPr id="7" name="Text 5"/>
          <p:cNvSpPr/>
          <p:nvPr/>
        </p:nvSpPr>
        <p:spPr>
          <a:xfrm>
            <a:off x="514350" y="1556556"/>
            <a:ext cx="3339703" cy="1977962"/>
          </a:xfrm>
          <a:prstGeom prst="rect">
            <a:avLst/>
          </a:prstGeom>
          <a:noFill/>
          <a:ln/>
        </p:spPr>
        <p:txBody>
          <a:bodyPr wrap="square" lIns="0" tIns="0" rIns="0" bIns="0" rtlCol="0" anchor="t"/>
          <a:lstStyle/>
          <a:p>
            <a:pPr algn="l" indent="0" marL="0">
              <a:lnSpc>
                <a:spcPts val="1350"/>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50"/>
              </a:lnSpc>
              <a:spcAft>
                <a:spcPts val="788"/>
              </a:spcAft>
              <a:buNone/>
            </a:pPr>
            <a:r>
              <a:rPr lang="en-US" sz="828" dirty="0">
                <a:solidFill>
                  <a:srgbClr val="FF7A1A"/>
                </a:solidFill>
                <a:highlight>
                  <a:srgbClr val="1D1D24"/>
                </a:highlight>
                <a:latin typeface="Courier New" pitchFamily="34" charset="0"/>
                <a:ea typeface="Courier New" pitchFamily="34" charset="-122"/>
                <a:cs typeface="Courier New" pitchFamily="34" charset="-120"/>
              </a:rPr>
              <a:t>.mcp.json</a:t>
            </a:r>
            <a:pPr algn="l" indent="0" marL="0">
              <a:lnSpc>
                <a:spcPts val="1350"/>
              </a:lnSpc>
              <a:spcAft>
                <a:spcPts val="788"/>
              </a:spcAft>
              <a:buNone/>
            </a:pPr>
            <a:r>
              <a:rPr lang="en-US" sz="900" dirty="0">
                <a:solidFill>
                  <a:srgbClr val="F4F4F5"/>
                </a:solidFill>
                <a:latin typeface="Carlito" pitchFamily="34" charset="0"/>
                <a:ea typeface="Carlito" pitchFamily="34" charset="-122"/>
                <a:cs typeface="Carlito" pitchFamily="34" charset="-120"/>
              </a:rPr>
              <a:t> — </a:t>
            </a:r>
            <a:pPr algn="l" indent="0" marL="0">
              <a:lnSpc>
                <a:spcPts val="1350"/>
              </a:lnSpc>
              <a:spcAft>
                <a:spcPts val="788"/>
              </a:spcAft>
              <a:buNone/>
            </a:pPr>
            <a:r>
              <a:rPr lang="en-US" sz="900" dirty="0">
                <a:solidFill>
                  <a:srgbClr val="FF7A1A"/>
                </a:solidFill>
                <a:latin typeface="Carlito" pitchFamily="34" charset="0"/>
                <a:ea typeface="Carlito" pitchFamily="34" charset="-122"/>
                <a:cs typeface="Carlito" pitchFamily="34" charset="-120"/>
              </a:rPr>
              <a:t>NEW</a:t>
            </a:r>
            <a:pPr algn="l" indent="0" marL="0">
              <a:lnSpc>
                <a:spcPts val="1350"/>
              </a:lnSpc>
              <a:spcAft>
                <a:spcPts val="788"/>
              </a:spcAft>
              <a:buNone/>
            </a:pPr>
            <a:r>
              <a:rPr lang="en-US" sz="900" dirty="0">
                <a:solidFill>
                  <a:srgbClr val="F4F4F5"/>
                </a:solidFill>
                <a:latin typeface="Carlito" pitchFamily="34" charset="0"/>
                <a:ea typeface="Carlito" pitchFamily="34" charset="-122"/>
                <a:cs typeface="Carlito" pitchFamily="34" charset="-120"/>
              </a:rPr>
              <a:t> — lives beside </a:t>
            </a:r>
            <a:pPr algn="l" indent="0" marL="0">
              <a:lnSpc>
                <a:spcPts val="1350"/>
              </a:lnSpc>
              <a:spcAft>
                <a:spcPts val="788"/>
              </a:spcAft>
              <a:buNone/>
            </a:pPr>
            <a:r>
              <a:rPr lang="en-US" sz="828" dirty="0">
                <a:solidFill>
                  <a:srgbClr val="FF7A1A"/>
                </a:solidFill>
                <a:highlight>
                  <a:srgbClr val="1D1D24"/>
                </a:highlight>
                <a:latin typeface="Courier New" pitchFamily="34" charset="0"/>
                <a:ea typeface="Courier New" pitchFamily="34" charset="-122"/>
                <a:cs typeface="Courier New" pitchFamily="34" charset="-120"/>
              </a:rPr>
              <a:t>agent.py</a:t>
            </a:r>
            <a:pPr algn="l" indent="0" marL="0">
              <a:lnSpc>
                <a:spcPts val="1350"/>
              </a:lnSpc>
              <a:spcAft>
                <a:spcPts val="788"/>
              </a:spcAft>
              <a:buNone/>
            </a:pPr>
            <a:r>
              <a:rPr lang="en-US" sz="900" dirty="0">
                <a:solidFill>
                  <a:srgbClr val="F4F4F5"/>
                </a:solidFill>
                <a:latin typeface="Carlito" pitchFamily="34" charset="0"/>
                <a:ea typeface="Carlito" pitchFamily="34" charset="-122"/>
                <a:cs typeface="Carlito" pitchFamily="34" charset="-120"/>
              </a:rPr>
              <a:t>, not inside a deeper folder</a:t>
            </a:r>
            <a:endParaRPr lang="en-US" sz="900" dirty="0"/>
          </a:p>
          <a:p>
            <a:pPr algn="l" indent="0" marL="0">
              <a:lnSpc>
                <a:spcPts val="1350"/>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50"/>
              </a:lnSpc>
              <a:spcAft>
                <a:spcPts val="788"/>
              </a:spcAft>
              <a:buNone/>
            </a:pPr>
            <a:r>
              <a:rPr lang="en-US" sz="828" dirty="0">
                <a:solidFill>
                  <a:srgbClr val="FF7A1A"/>
                </a:solidFill>
                <a:highlight>
                  <a:srgbClr val="1D1D24"/>
                </a:highlight>
                <a:latin typeface="Courier New" pitchFamily="34" charset="0"/>
                <a:ea typeface="Courier New" pitchFamily="34" charset="-122"/>
                <a:cs typeface="Courier New" pitchFamily="34" charset="-120"/>
              </a:rPr>
              <a:t>agent.py</a:t>
            </a:r>
            <a:pPr algn="l" indent="0" marL="0">
              <a:lnSpc>
                <a:spcPts val="1350"/>
              </a:lnSpc>
              <a:spcAft>
                <a:spcPts val="788"/>
              </a:spcAft>
              <a:buNone/>
            </a:pPr>
            <a:r>
              <a:rPr lang="en-US" sz="900" dirty="0">
                <a:solidFill>
                  <a:srgbClr val="F4F4F5"/>
                </a:solidFill>
                <a:latin typeface="Carlito" pitchFamily="34" charset="0"/>
                <a:ea typeface="Carlito" pitchFamily="34" charset="-122"/>
                <a:cs typeface="Carlito" pitchFamily="34" charset="-120"/>
              </a:rPr>
              <a:t> — </a:t>
            </a:r>
            <a:pPr algn="l" indent="0" marL="0">
              <a:lnSpc>
                <a:spcPts val="1350"/>
              </a:lnSpc>
              <a:spcAft>
                <a:spcPts val="788"/>
              </a:spcAft>
              <a:buNone/>
            </a:pPr>
            <a:r>
              <a:rPr lang="en-US" sz="900" dirty="0">
                <a:solidFill>
                  <a:srgbClr val="FFD29E"/>
                </a:solidFill>
                <a:latin typeface="Carlito" pitchFamily="34" charset="0"/>
                <a:ea typeface="Carlito" pitchFamily="34" charset="-122"/>
                <a:cs typeface="Carlito" pitchFamily="34" charset="-120"/>
              </a:rPr>
              <a:t>UPDATED</a:t>
            </a:r>
            <a:pPr algn="l" indent="0" marL="0">
              <a:lnSpc>
                <a:spcPts val="1350"/>
              </a:lnSpc>
              <a:spcAft>
                <a:spcPts val="788"/>
              </a:spcAft>
              <a:buNone/>
            </a:pPr>
            <a:r>
              <a:rPr lang="en-US" sz="900" dirty="0">
                <a:solidFill>
                  <a:srgbClr val="F4F4F5"/>
                </a:solidFill>
                <a:latin typeface="Carlito" pitchFamily="34" charset="0"/>
                <a:ea typeface="Carlito" pitchFamily="34" charset="-122"/>
                <a:cs typeface="Carlito" pitchFamily="34" charset="-120"/>
              </a:rPr>
              <a:t> — opt-in GitHub path added</a:t>
            </a:r>
            <a:endParaRPr lang="en-US" sz="900" dirty="0"/>
          </a:p>
          <a:p>
            <a:pPr algn="l" indent="0" marL="0">
              <a:lnSpc>
                <a:spcPts val="1350"/>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50"/>
              </a:lnSpc>
              <a:spcAft>
                <a:spcPts val="788"/>
              </a:spcAft>
              <a:buNone/>
            </a:pPr>
            <a:r>
              <a:rPr lang="en-US" sz="828" dirty="0">
                <a:solidFill>
                  <a:srgbClr val="FF7A1A"/>
                </a:solidFill>
                <a:highlight>
                  <a:srgbClr val="1D1D24"/>
                </a:highlight>
                <a:latin typeface="Courier New" pitchFamily="34" charset="0"/>
                <a:ea typeface="Courier New" pitchFamily="34" charset="-122"/>
                <a:cs typeface="Courier New" pitchFamily="34" charset="-120"/>
              </a:rPr>
              <a:t>repo_facts_server.py</a:t>
            </a:r>
            <a:pPr algn="l" indent="0" marL="0">
              <a:lnSpc>
                <a:spcPts val="1350"/>
              </a:lnSpc>
              <a:spcAft>
                <a:spcPts val="788"/>
              </a:spcAft>
              <a:buNone/>
            </a:pPr>
            <a:r>
              <a:rPr lang="en-US" sz="900" dirty="0">
                <a:solidFill>
                  <a:srgbClr val="F4F4F5"/>
                </a:solidFill>
                <a:latin typeface="Carlito" pitchFamily="34" charset="0"/>
                <a:ea typeface="Carlito" pitchFamily="34" charset="-122"/>
                <a:cs typeface="Carlito" pitchFamily="34" charset="-120"/>
              </a:rPr>
              <a:t> — </a:t>
            </a:r>
            <a:pPr algn="l" indent="0" marL="0">
              <a:lnSpc>
                <a:spcPts val="1350"/>
              </a:lnSpc>
              <a:spcAft>
                <a:spcPts val="788"/>
              </a:spcAft>
              <a:buNone/>
            </a:pPr>
            <a:r>
              <a:rPr lang="en-US" sz="900" dirty="0">
                <a:solidFill>
                  <a:srgbClr val="FF7A1A"/>
                </a:solidFill>
                <a:latin typeface="Carlito" pitchFamily="34" charset="0"/>
                <a:ea typeface="Carlito" pitchFamily="34" charset="-122"/>
                <a:cs typeface="Carlito" pitchFamily="34" charset="-120"/>
              </a:rPr>
              <a:t>NEW</a:t>
            </a:r>
            <a:pPr algn="l" indent="0" marL="0">
              <a:lnSpc>
                <a:spcPts val="1350"/>
              </a:lnSpc>
              <a:spcAft>
                <a:spcPts val="788"/>
              </a:spcAft>
              <a:buNone/>
            </a:pPr>
            <a:r>
              <a:rPr lang="en-US" sz="900" dirty="0">
                <a:solidFill>
                  <a:srgbClr val="F4F4F5"/>
                </a:solidFill>
                <a:latin typeface="Carlito" pitchFamily="34" charset="0"/>
                <a:ea typeface="Carlito" pitchFamily="34" charset="-122"/>
                <a:cs typeface="Carlito" pitchFamily="34" charset="-120"/>
              </a:rPr>
              <a:t> — standalone MCP server</a:t>
            </a:r>
            <a:endParaRPr lang="en-US" sz="900" dirty="0"/>
          </a:p>
          <a:p>
            <a:pPr algn="l" indent="0" marL="0">
              <a:lnSpc>
                <a:spcPts val="1350"/>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50"/>
              </a:lnSpc>
              <a:spcAft>
                <a:spcPts val="788"/>
              </a:spcAft>
              <a:buNone/>
            </a:pPr>
            <a:r>
              <a:rPr lang="en-US" sz="828" dirty="0">
                <a:solidFill>
                  <a:srgbClr val="FF7A1A"/>
                </a:solidFill>
                <a:highlight>
                  <a:srgbClr val="1D1D24"/>
                </a:highlight>
                <a:latin typeface="Courier New" pitchFamily="34" charset="0"/>
                <a:ea typeface="Courier New" pitchFamily="34" charset="-122"/>
                <a:cs typeface="Courier New" pitchFamily="34" charset="-120"/>
              </a:rPr>
              <a:t>tools.py</a:t>
            </a:r>
            <a:pPr algn="l" indent="0" marL="0">
              <a:lnSpc>
                <a:spcPts val="1350"/>
              </a:lnSpc>
              <a:spcAft>
                <a:spcPts val="788"/>
              </a:spcAft>
              <a:buNone/>
            </a:pPr>
            <a:r>
              <a:rPr lang="en-US" sz="900" dirty="0">
                <a:solidFill>
                  <a:srgbClr val="F4F4F5"/>
                </a:solidFill>
                <a:latin typeface="Carlito" pitchFamily="34" charset="0"/>
                <a:ea typeface="Carlito" pitchFamily="34" charset="-122"/>
                <a:cs typeface="Carlito" pitchFamily="34" charset="-120"/>
              </a:rPr>
              <a:t>, </a:t>
            </a:r>
            <a:pPr algn="l" indent="0" marL="0">
              <a:lnSpc>
                <a:spcPts val="1350"/>
              </a:lnSpc>
              <a:spcAft>
                <a:spcPts val="788"/>
              </a:spcAft>
              <a:buNone/>
            </a:pPr>
            <a:r>
              <a:rPr lang="en-US" sz="828" dirty="0">
                <a:solidFill>
                  <a:srgbClr val="FF7A1A"/>
                </a:solidFill>
                <a:highlight>
                  <a:srgbClr val="1D1D24"/>
                </a:highlight>
                <a:latin typeface="Courier New" pitchFamily="34" charset="0"/>
                <a:ea typeface="Courier New" pitchFamily="34" charset="-122"/>
                <a:cs typeface="Courier New" pitchFamily="34" charset="-120"/>
              </a:rPr>
              <a:t>hooks.py</a:t>
            </a:r>
            <a:pPr algn="l" indent="0" marL="0">
              <a:lnSpc>
                <a:spcPts val="1350"/>
              </a:lnSpc>
              <a:spcAft>
                <a:spcPts val="788"/>
              </a:spcAft>
              <a:buNone/>
            </a:pPr>
            <a:r>
              <a:rPr lang="en-US" sz="900" dirty="0">
                <a:solidFill>
                  <a:srgbClr val="F4F4F5"/>
                </a:solidFill>
                <a:latin typeface="Carlito" pitchFamily="34" charset="0"/>
                <a:ea typeface="Carlito" pitchFamily="34" charset="-122"/>
                <a:cs typeface="Carlito" pitchFamily="34" charset="-120"/>
              </a:rPr>
              <a:t>, </a:t>
            </a:r>
            <a:pPr algn="l" indent="0" marL="0">
              <a:lnSpc>
                <a:spcPts val="1350"/>
              </a:lnSpc>
              <a:spcAft>
                <a:spcPts val="788"/>
              </a:spcAft>
              <a:buNone/>
            </a:pPr>
            <a:r>
              <a:rPr lang="en-US" sz="828" dirty="0">
                <a:solidFill>
                  <a:srgbClr val="FF7A1A"/>
                </a:solidFill>
                <a:highlight>
                  <a:srgbClr val="1D1D24"/>
                </a:highlight>
                <a:latin typeface="Courier New" pitchFamily="34" charset="0"/>
                <a:ea typeface="Courier New" pitchFamily="34" charset="-122"/>
                <a:cs typeface="Courier New" pitchFamily="34" charset="-120"/>
              </a:rPr>
              <a:t>subagents.py</a:t>
            </a:r>
            <a:pPr algn="l" indent="0" marL="0">
              <a:lnSpc>
                <a:spcPts val="1350"/>
              </a:lnSpc>
              <a:spcAft>
                <a:spcPts val="788"/>
              </a:spcAft>
              <a:buNone/>
            </a:pPr>
            <a:r>
              <a:rPr lang="en-US" sz="900" dirty="0">
                <a:solidFill>
                  <a:srgbClr val="F4F4F5"/>
                </a:solidFill>
                <a:latin typeface="Carlito" pitchFamily="34" charset="0"/>
                <a:ea typeface="Carlito" pitchFamily="34" charset="-122"/>
                <a:cs typeface="Carlito" pitchFamily="34" charset="-120"/>
              </a:rPr>
              <a:t>, </a:t>
            </a:r>
            <a:pPr algn="l" indent="0" marL="0">
              <a:lnSpc>
                <a:spcPts val="1350"/>
              </a:lnSpc>
              <a:spcAft>
                <a:spcPts val="788"/>
              </a:spcAft>
              <a:buNone/>
            </a:pPr>
            <a:r>
              <a:rPr lang="en-US" sz="828" dirty="0">
                <a:solidFill>
                  <a:srgbClr val="FF7A1A"/>
                </a:solidFill>
                <a:highlight>
                  <a:srgbClr val="1D1D24"/>
                </a:highlight>
                <a:latin typeface="Courier New" pitchFamily="34" charset="0"/>
                <a:ea typeface="Courier New" pitchFamily="34" charset="-122"/>
                <a:cs typeface="Courier New" pitchFamily="34" charset="-120"/>
              </a:rPr>
              <a:t>schemas.py</a:t>
            </a:r>
            <a:pPr algn="l" indent="0" marL="0">
              <a:lnSpc>
                <a:spcPts val="1350"/>
              </a:lnSpc>
              <a:spcAft>
                <a:spcPts val="788"/>
              </a:spcAft>
              <a:buNone/>
            </a:pPr>
            <a:r>
              <a:rPr lang="en-US" sz="900" dirty="0">
                <a:solidFill>
                  <a:srgbClr val="F4F4F5"/>
                </a:solidFill>
                <a:latin typeface="Carlito" pitchFamily="34" charset="0"/>
                <a:ea typeface="Carlito" pitchFamily="34" charset="-122"/>
                <a:cs typeface="Carlito" pitchFamily="34" charset="-120"/>
              </a:rPr>
              <a:t>, </a:t>
            </a:r>
            <a:pPr algn="l" indent="0" marL="0">
              <a:lnSpc>
                <a:spcPts val="1350"/>
              </a:lnSpc>
              <a:spcAft>
                <a:spcPts val="788"/>
              </a:spcAft>
              <a:buNone/>
            </a:pPr>
            <a:r>
              <a:rPr lang="en-US" sz="828" dirty="0">
                <a:solidFill>
                  <a:srgbClr val="FF7A1A"/>
                </a:solidFill>
                <a:highlight>
                  <a:srgbClr val="1D1D24"/>
                </a:highlight>
                <a:latin typeface="Courier New" pitchFamily="34" charset="0"/>
                <a:ea typeface="Courier New" pitchFamily="34" charset="-122"/>
                <a:cs typeface="Courier New" pitchFamily="34" charset="-120"/>
              </a:rPr>
              <a:t>session_index.py</a:t>
            </a:r>
            <a:pPr algn="l" indent="0" marL="0">
              <a:lnSpc>
                <a:spcPts val="1350"/>
              </a:lnSpc>
              <a:spcAft>
                <a:spcPts val="788"/>
              </a:spcAft>
              <a:buNone/>
            </a:pPr>
            <a:r>
              <a:rPr lang="en-US" sz="900" dirty="0">
                <a:solidFill>
                  <a:srgbClr val="F4F4F5"/>
                </a:solidFill>
                <a:latin typeface="Carlito" pitchFamily="34" charset="0"/>
                <a:ea typeface="Carlito" pitchFamily="34" charset="-122"/>
                <a:cs typeface="Carlito" pitchFamily="34" charset="-120"/>
              </a:rPr>
              <a:t> — carried forward, unchanged</a:t>
            </a:r>
            <a:endParaRPr lang="en-US" sz="900" dirty="0"/>
          </a:p>
          <a:p>
            <a:pPr algn="l" indent="0" marL="0">
              <a:lnSpc>
                <a:spcPts val="1350"/>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50"/>
              </a:lnSpc>
              <a:spcAft>
                <a:spcPts val="788"/>
              </a:spcAft>
              <a:buNone/>
            </a:pPr>
            <a:r>
              <a:rPr lang="en-US" sz="900" dirty="0">
                <a:solidFill>
                  <a:srgbClr val="F4F4F5"/>
                </a:solidFill>
                <a:latin typeface="Carlito" pitchFamily="34" charset="0"/>
                <a:ea typeface="Carlito" pitchFamily="34" charset="-122"/>
                <a:cs typeface="Carlito" pitchFamily="34" charset="-120"/>
              </a:rPr>
              <a:t>Legend (stated once for the series): </a:t>
            </a:r>
            <a:pPr algn="l" indent="0" marL="0">
              <a:lnSpc>
                <a:spcPts val="1350"/>
              </a:lnSpc>
              <a:spcAft>
                <a:spcPts val="788"/>
              </a:spcAft>
              <a:buNone/>
            </a:pPr>
            <a:r>
              <a:rPr lang="en-US" sz="900" dirty="0">
                <a:solidFill>
                  <a:srgbClr val="FF7A1A"/>
                </a:solidFill>
                <a:latin typeface="Segoe UI Symbol" pitchFamily="34" charset="0"/>
                <a:ea typeface="Segoe UI Symbol" pitchFamily="34" charset="-122"/>
                <a:cs typeface="Segoe UI Symbol" pitchFamily="34" charset="-120"/>
              </a:rPr>
              <a:t>📄</a:t>
            </a:r>
            <a:pPr algn="l" indent="0" marL="0">
              <a:lnSpc>
                <a:spcPts val="1350"/>
              </a:lnSpc>
              <a:spcAft>
                <a:spcPts val="788"/>
              </a:spcAft>
              <a:buNone/>
            </a:pPr>
            <a:r>
              <a:rPr lang="en-US" sz="900" dirty="0">
                <a:solidFill>
                  <a:srgbClr val="FF7A1A"/>
                </a:solidFill>
                <a:latin typeface="Carlito" pitchFamily="34" charset="0"/>
                <a:ea typeface="Carlito" pitchFamily="34" charset="-122"/>
                <a:cs typeface="Carlito" pitchFamily="34" charset="-120"/>
              </a:rPr>
              <a:t> orange = real project file</a:t>
            </a:r>
            <a:pPr algn="l" indent="0" marL="0">
              <a:lnSpc>
                <a:spcPts val="1350"/>
              </a:lnSpc>
              <a:spcAft>
                <a:spcPts val="788"/>
              </a:spcAft>
              <a:buNone/>
            </a:pPr>
            <a:r>
              <a:rPr lang="en-US" sz="900" dirty="0">
                <a:solidFill>
                  <a:srgbClr val="F4F4F5"/>
                </a:solidFill>
                <a:latin typeface="Carlito" pitchFamily="34" charset="0"/>
                <a:ea typeface="Carlito" pitchFamily="34" charset="-122"/>
                <a:cs typeface="Carlito" pitchFamily="34" charset="-120"/>
              </a:rPr>
              <a:t> · </a:t>
            </a:r>
            <a:pPr algn="l" indent="0" marL="0">
              <a:lnSpc>
                <a:spcPts val="1350"/>
              </a:lnSpc>
              <a:spcAft>
                <a:spcPts val="788"/>
              </a:spcAft>
              <a:buNone/>
            </a:pPr>
            <a:r>
              <a:rPr lang="en-US" sz="900" dirty="0">
                <a:solidFill>
                  <a:srgbClr val="A1A1AA"/>
                </a:solidFill>
                <a:latin typeface="Segoe UI Symbol" pitchFamily="34" charset="0"/>
                <a:ea typeface="Segoe UI Symbol" pitchFamily="34" charset="-122"/>
                <a:cs typeface="Segoe UI Symbol" pitchFamily="34" charset="-120"/>
              </a:rPr>
              <a:t>🧪</a:t>
            </a:r>
            <a:pPr algn="l" indent="0" marL="0">
              <a:lnSpc>
                <a:spcPts val="1350"/>
              </a:lnSpc>
              <a:spcAft>
                <a:spcPts val="788"/>
              </a:spcAft>
              <a:buNone/>
            </a:pPr>
            <a:r>
              <a:rPr lang="en-US" sz="900" dirty="0">
                <a:solidFill>
                  <a:srgbClr val="A1A1AA"/>
                </a:solidFill>
                <a:latin typeface="Carlito" pitchFamily="34" charset="0"/>
                <a:ea typeface="Carlito" pitchFamily="34" charset="-122"/>
                <a:cs typeface="Carlito" pitchFamily="34" charset="-120"/>
              </a:rPr>
              <a:t> dashed = exploratory, not saved</a:t>
            </a:r>
            <a:endParaRPr lang="en-US" sz="900" dirty="0"/>
          </a:p>
        </p:txBody>
      </p:sp>
      <p:sp>
        <p:nvSpPr>
          <p:cNvPr id="8" name="Text 6"/>
          <p:cNvSpPr/>
          <p:nvPr/>
        </p:nvSpPr>
        <p:spPr>
          <a:xfrm>
            <a:off x="517922" y="3460366"/>
            <a:ext cx="3332559" cy="707231"/>
          </a:xfrm>
          <a:prstGeom prst="roundRect">
            <a:avLst>
              <a:gd name="adj" fmla="val 10774"/>
            </a:avLst>
          </a:prstGeom>
          <a:solidFill>
            <a:srgbClr val="15151A"/>
          </a:solidFill>
          <a:ln w="7144">
            <a:solidFill>
              <a:srgbClr val="2A2A33"/>
            </a:solidFill>
            <a:prstDash val="solid"/>
          </a:ln>
        </p:spPr>
        <p:txBody>
          <a:bodyPr wrap="square" rtlCol="0" anchor="ctr"/>
          <a:lstStyle/>
          <a:p>
            <a:pPr indent="0" marL="0">
              <a:buNone/>
            </a:pPr>
            <a:endParaRPr lang="en-US" dirty="0"/>
          </a:p>
        </p:txBody>
      </p:sp>
      <p:sp>
        <p:nvSpPr>
          <p:cNvPr id="9" name="Text 7"/>
          <p:cNvSpPr/>
          <p:nvPr/>
        </p:nvSpPr>
        <p:spPr>
          <a:xfrm>
            <a:off x="635794" y="3563950"/>
            <a:ext cx="3096816" cy="136874"/>
          </a:xfrm>
          <a:prstGeom prst="rect">
            <a:avLst/>
          </a:prstGeom>
          <a:noFill/>
          <a:ln/>
        </p:spPr>
        <p:txBody>
          <a:bodyPr wrap="none" lIns="0" tIns="0" rIns="0" bIns="0" rtlCol="0" anchor="t">
            <a:normAutofit/>
          </a:bodyPr>
          <a:lstStyle/>
          <a:p>
            <a:pPr algn="l" indent="0" marL="0">
              <a:lnSpc>
                <a:spcPts val="844"/>
              </a:lnSpc>
              <a:buNone/>
            </a:pPr>
            <a:r>
              <a:rPr lang="en-US" sz="800" spc="124" kern="0" dirty="0">
                <a:solidFill>
                  <a:srgbClr val="71717A"/>
                </a:solidFill>
                <a:latin typeface="Courier New" pitchFamily="34" charset="0"/>
                <a:ea typeface="Courier New" pitchFamily="34" charset="-122"/>
                <a:cs typeface="Courier New" pitchFamily="34" charset="-120"/>
              </a:rPr>
              <a:t>LEGEND · SERIES-WIDE</a:t>
            </a:r>
            <a:endParaRPr lang="en-US" sz="800" dirty="0"/>
          </a:p>
        </p:txBody>
      </p:sp>
      <p:sp>
        <p:nvSpPr>
          <p:cNvPr id="10" name="Text 8"/>
          <p:cNvSpPr/>
          <p:nvPr/>
        </p:nvSpPr>
        <p:spPr>
          <a:xfrm>
            <a:off x="635794" y="3755045"/>
            <a:ext cx="85725" cy="85725"/>
          </a:xfrm>
          <a:prstGeom prst="roundRect">
            <a:avLst>
              <a:gd name="adj" fmla="val 22222"/>
            </a:avLst>
          </a:prstGeom>
          <a:solidFill>
            <a:srgbClr val="FF7A1A"/>
          </a:solidFill>
          <a:ln/>
        </p:spPr>
        <p:txBody>
          <a:bodyPr wrap="square" rtlCol="0" anchor="ctr"/>
          <a:lstStyle/>
          <a:p>
            <a:pPr indent="0" marL="0">
              <a:buNone/>
            </a:pPr>
            <a:endParaRPr lang="en-US" dirty="0"/>
          </a:p>
        </p:txBody>
      </p:sp>
      <p:sp>
        <p:nvSpPr>
          <p:cNvPr id="11" name="Text 9"/>
          <p:cNvSpPr/>
          <p:nvPr/>
        </p:nvSpPr>
        <p:spPr>
          <a:xfrm>
            <a:off x="792956" y="3728256"/>
            <a:ext cx="2939653" cy="164592"/>
          </a:xfrm>
          <a:prstGeom prst="rect">
            <a:avLst/>
          </a:prstGeom>
          <a:noFill/>
          <a:ln/>
        </p:spPr>
        <p:txBody>
          <a:bodyPr wrap="square" lIns="0" tIns="0" rIns="0" bIns="0" rtlCol="0" anchor="t"/>
          <a:lstStyle/>
          <a:p>
            <a:pPr algn="l" indent="0" marL="0">
              <a:lnSpc>
                <a:spcPts val="1097"/>
              </a:lnSpc>
              <a:buNone/>
            </a:pPr>
            <a:r>
              <a:rPr lang="en-US" sz="800" dirty="0">
                <a:solidFill>
                  <a:srgbClr val="A1A1AA"/>
                </a:solidFill>
                <a:latin typeface="Carlito" pitchFamily="34" charset="0"/>
                <a:ea typeface="Carlito" pitchFamily="34" charset="-122"/>
                <a:cs typeface="Carlito" pitchFamily="34" charset="-120"/>
              </a:rPr>
              <a:t>real project file · saved, versioned</a:t>
            </a:r>
            <a:endParaRPr lang="en-US" sz="800" dirty="0"/>
          </a:p>
        </p:txBody>
      </p:sp>
      <p:sp>
        <p:nvSpPr>
          <p:cNvPr id="12" name="Text 10"/>
          <p:cNvSpPr/>
          <p:nvPr/>
        </p:nvSpPr>
        <p:spPr>
          <a:xfrm>
            <a:off x="639366" y="3955070"/>
            <a:ext cx="92869" cy="78581"/>
          </a:xfrm>
          <a:prstGeom prst="roundRect">
            <a:avLst>
              <a:gd name="adj" fmla="val 24243"/>
            </a:avLst>
          </a:prstGeom>
          <a:noFill/>
          <a:ln w="7144">
            <a:solidFill>
              <a:srgbClr val="A1A1AA"/>
            </a:solidFill>
            <a:prstDash val="dash"/>
          </a:ln>
        </p:spPr>
        <p:txBody>
          <a:bodyPr wrap="square" rtlCol="0" anchor="ctr"/>
          <a:lstStyle/>
          <a:p>
            <a:pPr indent="0" marL="0">
              <a:buNone/>
            </a:pPr>
            <a:endParaRPr lang="en-US" dirty="0"/>
          </a:p>
        </p:txBody>
      </p:sp>
      <p:sp>
        <p:nvSpPr>
          <p:cNvPr id="13" name="Text 11"/>
          <p:cNvSpPr/>
          <p:nvPr/>
        </p:nvSpPr>
        <p:spPr>
          <a:xfrm>
            <a:off x="807244" y="3924709"/>
            <a:ext cx="2925366" cy="139303"/>
          </a:xfrm>
          <a:prstGeom prst="rect">
            <a:avLst/>
          </a:prstGeom>
          <a:noFill/>
          <a:ln/>
        </p:spPr>
        <p:txBody>
          <a:bodyPr wrap="square" lIns="0" tIns="0" rIns="0" bIns="0" rtlCol="0" anchor="t"/>
          <a:lstStyle/>
          <a:p>
            <a:pPr algn="l" indent="0" marL="0">
              <a:lnSpc>
                <a:spcPts val="1097"/>
              </a:lnSpc>
              <a:buNone/>
            </a:pPr>
            <a:r>
              <a:rPr lang="en-US" sz="731" dirty="0">
                <a:solidFill>
                  <a:srgbClr val="A1A1AA"/>
                </a:solidFill>
                <a:latin typeface="Carlito" pitchFamily="34" charset="0"/>
                <a:ea typeface="Carlito" pitchFamily="34" charset="-122"/>
                <a:cs typeface="Carlito" pitchFamily="34" charset="-120"/>
              </a:rPr>
              <a:t>exploratory · throwaway · don't paste into anything real</a:t>
            </a:r>
            <a:endParaRPr lang="en-US" sz="731" dirty="0"/>
          </a:p>
        </p:txBody>
      </p:sp>
      <p:sp>
        <p:nvSpPr>
          <p:cNvPr id="14" name="Text 12"/>
          <p:cNvSpPr/>
          <p:nvPr/>
        </p:nvSpPr>
        <p:spPr>
          <a:xfrm>
            <a:off x="4114800" y="1560128"/>
            <a:ext cx="4511278" cy="3179750"/>
          </a:xfrm>
          <a:prstGeom prst="roundRect">
            <a:avLst>
              <a:gd name="adj" fmla="val 2996"/>
            </a:avLst>
          </a:prstGeom>
          <a:solidFill>
            <a:srgbClr val="15151A"/>
          </a:solidFill>
          <a:ln w="7144">
            <a:solidFill>
              <a:srgbClr val="2A2A33"/>
            </a:solidFill>
            <a:prstDash val="solid"/>
          </a:ln>
        </p:spPr>
        <p:txBody>
          <a:bodyPr wrap="square" rtlCol="0" anchor="ctr"/>
          <a:lstStyle/>
          <a:p>
            <a:pPr indent="0" marL="0">
              <a:buNone/>
            </a:pPr>
            <a:endParaRPr lang="en-US" dirty="0"/>
          </a:p>
        </p:txBody>
      </p:sp>
      <p:sp>
        <p:nvSpPr>
          <p:cNvPr id="15" name="Text 13"/>
          <p:cNvSpPr/>
          <p:nvPr/>
        </p:nvSpPr>
        <p:spPr>
          <a:xfrm>
            <a:off x="4275534" y="1692287"/>
            <a:ext cx="1812602" cy="196739"/>
          </a:xfrm>
          <a:prstGeom prst="rect">
            <a:avLst/>
          </a:prstGeom>
          <a:noFill/>
          <a:ln/>
        </p:spPr>
        <p:txBody>
          <a:bodyPr wrap="square" lIns="0" tIns="0" rIns="0" bIns="0" rtlCol="0" anchor="t"/>
          <a:lstStyle/>
          <a:p>
            <a:pPr algn="l" indent="0" marL="0">
              <a:lnSpc>
                <a:spcPts val="1434"/>
              </a:lnSpc>
              <a:buNone/>
            </a:pPr>
            <a:r>
              <a:rPr lang="en-US" sz="956" dirty="0">
                <a:solidFill>
                  <a:srgbClr val="F4F4F5"/>
                </a:solidFill>
                <a:latin typeface="Carlito" pitchFamily="34" charset="0"/>
                <a:ea typeface="Carlito" pitchFamily="34" charset="-122"/>
                <a:cs typeface="Carlito" pitchFamily="34" charset="-120"/>
              </a:rPr>
              <a:t>tree · claude-api-masterclass/</a:t>
            </a:r>
            <a:endParaRPr lang="en-US" sz="956" dirty="0"/>
          </a:p>
        </p:txBody>
      </p:sp>
      <p:sp>
        <p:nvSpPr>
          <p:cNvPr id="16" name="Text 14"/>
          <p:cNvSpPr/>
          <p:nvPr/>
        </p:nvSpPr>
        <p:spPr>
          <a:xfrm>
            <a:off x="4275534" y="1974466"/>
            <a:ext cx="4189809" cy="2618966"/>
          </a:xfrm>
          <a:prstGeom prst="rect">
            <a:avLst/>
          </a:prstGeom>
          <a:noFill/>
          <a:ln/>
        </p:spPr>
        <p:txBody>
          <a:bodyPr wrap="none" lIns="0" tIns="0" rIns="0" bIns="0" rtlCol="0" anchor="t"/>
          <a:lstStyle/>
          <a:p>
            <a:pPr algn="l" indent="0" marL="0">
              <a:lnSpc>
                <a:spcPts val="1207"/>
              </a:lnSpc>
              <a:buNone/>
            </a:pPr>
            <a:r>
              <a:rPr lang="en-US" sz="800" dirty="0">
                <a:solidFill>
                  <a:srgbClr val="F4F4F5"/>
                </a:solidFill>
                <a:latin typeface="Courier New" pitchFamily="34" charset="0"/>
                <a:ea typeface="Courier New" pitchFamily="34" charset="-122"/>
                <a:cs typeface="Courier New" pitchFamily="34" charset="-120"/>
              </a:rPr>
              <a:t>claude-api-masterclass/</a:t>
            </a:r>
            <a:endParaRPr lang="en-US" sz="800" dirty="0"/>
          </a:p>
          <a:p>
            <a:pPr algn="l" indent="0" marL="0">
              <a:lnSpc>
                <a:spcPts val="1207"/>
              </a:lnSpc>
              <a:buNone/>
            </a:pPr>
            <a:r>
              <a:rPr lang="en-US" sz="800" dirty="0">
                <a:solidFill>
                  <a:srgbClr val="E4E4E7"/>
                </a:solidFill>
                <a:latin typeface="Courier New" pitchFamily="34" charset="0"/>
                <a:ea typeface="Courier New" pitchFamily="34" charset="-122"/>
                <a:cs typeface="Courier New" pitchFamily="34" charset="-120"/>
              </a:rPr>
              <a:t>├── </a:t>
            </a:r>
            <a:pPr algn="l" indent="0" marL="0">
              <a:lnSpc>
                <a:spcPts val="1207"/>
              </a:lnSpc>
              <a:buNone/>
            </a:pPr>
            <a:r>
              <a:rPr lang="en-US" sz="800" dirty="0">
                <a:solidFill>
                  <a:srgbClr val="71717A"/>
                </a:solidFill>
                <a:latin typeface="Liberation Sans Narrow" pitchFamily="34" charset="0"/>
                <a:ea typeface="Liberation Sans Narrow" pitchFamily="34" charset="-122"/>
                <a:cs typeface="Liberation Sans Narrow" pitchFamily="34" charset="-120"/>
              </a:rPr>
              <a:t>ep01/ … ep07/   (dim, unchanged)</a:t>
            </a:r>
            <a:endParaRPr lang="en-US" sz="800" dirty="0"/>
          </a:p>
          <a:p>
            <a:pPr algn="l" indent="0" marL="0">
              <a:lnSpc>
                <a:spcPts val="1207"/>
              </a:lnSpc>
              <a:buNone/>
            </a:pPr>
            <a:r>
              <a:rPr lang="en-US" sz="800" dirty="0">
                <a:solidFill>
                  <a:srgbClr val="E4E4E7"/>
                </a:solidFill>
                <a:latin typeface="Courier New" pitchFamily="34" charset="0"/>
                <a:ea typeface="Courier New" pitchFamily="34" charset="-122"/>
                <a:cs typeface="Courier New" pitchFamily="34" charset="-120"/>
              </a:rPr>
              <a:t>└── </a:t>
            </a:r>
            <a:pPr algn="l" indent="0" marL="0">
              <a:lnSpc>
                <a:spcPts val="1207"/>
              </a:lnSpc>
              <a:buNone/>
            </a:pPr>
            <a:r>
              <a:rPr lang="en-US" sz="800" dirty="0">
                <a:solidFill>
                  <a:srgbClr val="71717A"/>
                </a:solidFill>
                <a:latin typeface="Liberation Sans Narrow" pitchFamily="34" charset="0"/>
                <a:ea typeface="Liberation Sans Narrow" pitchFamily="34" charset="-122"/>
                <a:cs typeface="Liberation Sans Narrow" pitchFamily="34" charset="-120"/>
              </a:rPr>
              <a:t>ep08/            (dim, unchanged)</a:t>
            </a:r>
            <a:endParaRPr lang="en-US" sz="800" dirty="0"/>
          </a:p>
          <a:p>
            <a:pPr algn="l" indent="0" marL="0">
              <a:lnSpc>
                <a:spcPts val="1207"/>
              </a:lnSpc>
              <a:buNone/>
            </a:pPr>
            <a:r>
              <a:rPr lang="en-US" sz="800" dirty="0">
                <a:solidFill>
                  <a:srgbClr val="E4E4E7"/>
                </a:solidFill>
                <a:latin typeface="Courier New" pitchFamily="34" charset="0"/>
                <a:ea typeface="Courier New" pitchFamily="34" charset="-122"/>
                <a:cs typeface="Courier New" pitchFamily="34" charset="-120"/>
              </a:rPr>
              <a:t>├── </a:t>
            </a:r>
            <a:pPr algn="l" indent="0" marL="0">
              <a:lnSpc>
                <a:spcPts val="1207"/>
              </a:lnSpc>
              <a:buNone/>
            </a:pPr>
            <a:r>
              <a:rPr lang="en-US" sz="800" dirty="0">
                <a:solidFill>
                  <a:srgbClr val="71717A"/>
                </a:solidFill>
                <a:latin typeface="Courier New" pitchFamily="34" charset="0"/>
                <a:ea typeface="Courier New" pitchFamily="34" charset="-122"/>
                <a:cs typeface="Courier New" pitchFamily="34" charset="-120"/>
              </a:rPr>
              <a:t>agent.py, tools.py, hooks.py, subagents.py, schemas.py,</a:t>
            </a:r>
            <a:endParaRPr lang="en-US" sz="800" dirty="0"/>
          </a:p>
          <a:p>
            <a:pPr algn="l" indent="0" marL="0">
              <a:lnSpc>
                <a:spcPts val="1207"/>
              </a:lnSpc>
              <a:buNone/>
            </a:pPr>
            <a:r>
              <a:rPr lang="en-US" sz="800" dirty="0">
                <a:solidFill>
                  <a:srgbClr val="E4E4E7"/>
                </a:solidFill>
                <a:latin typeface="Courier New" pitchFamily="34" charset="0"/>
                <a:ea typeface="Courier New" pitchFamily="34" charset="-122"/>
                <a:cs typeface="Courier New" pitchFamily="34" charset="-120"/>
              </a:rPr>
              <a:t>│   </a:t>
            </a:r>
            <a:pPr algn="l" indent="0" marL="0">
              <a:lnSpc>
                <a:spcPts val="1207"/>
              </a:lnSpc>
              <a:buNone/>
            </a:pPr>
            <a:r>
              <a:rPr lang="en-US" sz="800" dirty="0">
                <a:solidFill>
                  <a:srgbClr val="71717A"/>
                </a:solidFill>
                <a:latin typeface="Courier New" pitchFamily="34" charset="0"/>
                <a:ea typeface="Courier New" pitchFamily="34" charset="-122"/>
                <a:cs typeface="Courier New" pitchFamily="34" charset="-120"/>
              </a:rPr>
              <a:t>session_index.py, context_check.py</a:t>
            </a:r>
            <a:endParaRPr lang="en-US" sz="800" dirty="0"/>
          </a:p>
          <a:p>
            <a:pPr algn="l" indent="0" marL="0">
              <a:lnSpc>
                <a:spcPts val="1207"/>
              </a:lnSpc>
              <a:buNone/>
            </a:pPr>
            <a:r>
              <a:rPr lang="en-US" sz="800" dirty="0">
                <a:solidFill>
                  <a:srgbClr val="E4E4E7"/>
                </a:solidFill>
                <a:latin typeface="Courier New" pitchFamily="34" charset="0"/>
                <a:ea typeface="Courier New" pitchFamily="34" charset="-122"/>
                <a:cs typeface="Courier New" pitchFamily="34" charset="-120"/>
              </a:rPr>
              <a:t>└── </a:t>
            </a:r>
            <a:pPr algn="l" indent="0" marL="0">
              <a:lnSpc>
                <a:spcPts val="1207"/>
              </a:lnSpc>
              <a:buNone/>
            </a:pPr>
            <a:r>
              <a:rPr lang="en-US" sz="800" dirty="0">
                <a:solidFill>
                  <a:srgbClr val="71717A"/>
                </a:solidFill>
                <a:latin typeface="Courier New" pitchFamily="34" charset="0"/>
                <a:ea typeface="Courier New" pitchFamily="34" charset="-122"/>
                <a:cs typeface="Courier New" pitchFamily="34" charset="-120"/>
              </a:rPr>
              <a:t>.claude/skills/{pr-digest,changelog-entry}/SKILL.md</a:t>
            </a:r>
            <a:endParaRPr lang="en-US" sz="800" dirty="0"/>
          </a:p>
          <a:p>
            <a:pPr algn="l" indent="0" marL="0">
              <a:lnSpc>
                <a:spcPts val="1207"/>
              </a:lnSpc>
              <a:buNone/>
            </a:pPr>
            <a:r>
              <a:rPr lang="en-US" sz="800" dirty="0">
                <a:solidFill>
                  <a:srgbClr val="E4E4E7"/>
                </a:solidFill>
                <a:latin typeface="Courier New" pitchFamily="34" charset="0"/>
                <a:ea typeface="Courier New" pitchFamily="34" charset="-122"/>
                <a:cs typeface="Courier New" pitchFamily="34" charset="-120"/>
              </a:rPr>
              <a:t>└── ep09/            </a:t>
            </a:r>
            <a:pPr algn="l" indent="0" marL="0">
              <a:lnSpc>
                <a:spcPts val="1207"/>
              </a:lnSpc>
              <a:buNone/>
            </a:pPr>
            <a:r>
              <a:rPr lang="en-US" sz="800" i="1" dirty="0">
                <a:solidFill>
                  <a:srgbClr val="71717A"/>
                </a:solidFill>
                <a:latin typeface="Courier New" pitchFamily="34" charset="0"/>
                <a:ea typeface="Courier New" pitchFamily="34" charset="-122"/>
                <a:cs typeface="Courier New" pitchFamily="34" charset="-120"/>
              </a:rPr>
              <a:t>(today)</a:t>
            </a:r>
            <a:endParaRPr lang="en-US" sz="800" dirty="0"/>
          </a:p>
          <a:p>
            <a:pPr algn="l" indent="0" marL="0">
              <a:lnSpc>
                <a:spcPts val="1207"/>
              </a:lnSpc>
              <a:buNone/>
            </a:pPr>
            <a:r>
              <a:rPr lang="en-US" sz="800" dirty="0">
                <a:solidFill>
                  <a:srgbClr val="E4E4E7"/>
                </a:solidFill>
                <a:latin typeface="Courier New" pitchFamily="34" charset="0"/>
                <a:ea typeface="Courier New" pitchFamily="34" charset="-122"/>
                <a:cs typeface="Courier New" pitchFamily="34" charset="-120"/>
              </a:rPr>
              <a:t>├── </a:t>
            </a:r>
            <a:pPr algn="l" indent="0" marL="0">
              <a:lnSpc>
                <a:spcPts val="1207"/>
              </a:lnSpc>
              <a:buNone/>
            </a:pPr>
            <a:r>
              <a:rPr lang="en-US" sz="800" dirty="0">
                <a:solidFill>
                  <a:srgbClr val="FF7A1A"/>
                </a:solidFill>
                <a:latin typeface="Courier New" pitchFamily="34" charset="0"/>
                <a:ea typeface="Courier New" pitchFamily="34" charset="-122"/>
                <a:cs typeface="Courier New" pitchFamily="34" charset="-120"/>
              </a:rPr>
              <a:t>.mcp.json</a:t>
            </a:r>
            <a:pPr algn="l" indent="0" marL="0">
              <a:lnSpc>
                <a:spcPts val="1207"/>
              </a:lnSpc>
              <a:buNone/>
            </a:pPr>
            <a:r>
              <a:rPr lang="en-US" sz="800" dirty="0">
                <a:solidFill>
                  <a:srgbClr val="E4E4E7"/>
                </a:solidFill>
                <a:latin typeface="Courier New" pitchFamily="34" charset="0"/>
                <a:ea typeface="Courier New" pitchFamily="34" charset="-122"/>
                <a:cs typeface="Courier New" pitchFamily="34" charset="-120"/>
              </a:rPr>
              <a:t>             </a:t>
            </a:r>
            <a:pPr algn="l" indent="0" marL="0">
              <a:lnSpc>
                <a:spcPts val="1207"/>
              </a:lnSpc>
              <a:buNone/>
            </a:pPr>
            <a:r>
              <a:rPr lang="en-US" sz="800" dirty="0">
                <a:solidFill>
                  <a:srgbClr val="FF7A1A"/>
                </a:solidFill>
                <a:latin typeface="Courier New" pitchFamily="34" charset="0"/>
                <a:ea typeface="Courier New" pitchFamily="34" charset="-122"/>
                <a:cs typeface="Courier New" pitchFamily="34" charset="-120"/>
              </a:rPr>
              <a:t>←</a:t>
            </a:r>
            <a:pPr algn="l" indent="0" marL="0">
              <a:lnSpc>
                <a:spcPts val="1207"/>
              </a:lnSpc>
              <a:buNone/>
            </a:pPr>
            <a:r>
              <a:rPr lang="en-US" sz="800" dirty="0">
                <a:solidFill>
                  <a:srgbClr val="E4E4E7"/>
                </a:solidFill>
                <a:latin typeface="Courier New" pitchFamily="34" charset="0"/>
                <a:ea typeface="Courier New" pitchFamily="34" charset="-122"/>
                <a:cs typeface="Courier New" pitchFamily="34" charset="-120"/>
              </a:rPr>
              <a:t> </a:t>
            </a:r>
            <a:pPr algn="l" indent="0" marL="0">
              <a:lnSpc>
                <a:spcPts val="1207"/>
              </a:lnSpc>
              <a:buNone/>
            </a:pPr>
            <a:r>
              <a:rPr lang="en-US" sz="800" dirty="0">
                <a:solidFill>
                  <a:srgbClr val="FF7A1A"/>
                </a:solidFill>
                <a:latin typeface="Courier New" pitchFamily="34" charset="0"/>
                <a:ea typeface="Courier New" pitchFamily="34" charset="-122"/>
                <a:cs typeface="Courier New" pitchFamily="34" charset="-120"/>
              </a:rPr>
              <a:t>NEW</a:t>
            </a:r>
            <a:pPr algn="l" indent="0" marL="0">
              <a:lnSpc>
                <a:spcPts val="1207"/>
              </a:lnSpc>
              <a:buNone/>
            </a:pPr>
            <a:r>
              <a:rPr lang="en-US" sz="800" dirty="0">
                <a:solidFill>
                  <a:srgbClr val="E4E4E7"/>
                </a:solidFill>
                <a:latin typeface="Courier New" pitchFamily="34" charset="0"/>
                <a:ea typeface="Courier New" pitchFamily="34" charset="-122"/>
                <a:cs typeface="Courier New" pitchFamily="34" charset="-120"/>
              </a:rPr>
              <a:t> </a:t>
            </a:r>
            <a:pPr algn="l" indent="0" marL="0">
              <a:lnSpc>
                <a:spcPts val="1207"/>
              </a:lnSpc>
              <a:buNone/>
            </a:pPr>
            <a:r>
              <a:rPr lang="en-US" sz="800" i="1" dirty="0">
                <a:solidFill>
                  <a:srgbClr val="71717A"/>
                </a:solidFill>
                <a:latin typeface="Courier New" pitchFamily="34" charset="0"/>
                <a:ea typeface="Courier New" pitchFamily="34" charset="-122"/>
                <a:cs typeface="Courier New" pitchFamily="34" charset="-120"/>
              </a:rPr>
              <a:t>— GitHub + our own server</a:t>
            </a:r>
            <a:endParaRPr lang="en-US" sz="800" dirty="0"/>
          </a:p>
          <a:p>
            <a:pPr algn="l" indent="0" marL="0">
              <a:lnSpc>
                <a:spcPts val="1207"/>
              </a:lnSpc>
              <a:buNone/>
            </a:pPr>
            <a:r>
              <a:rPr lang="en-US" sz="800" dirty="0">
                <a:solidFill>
                  <a:srgbClr val="E4E4E7"/>
                </a:solidFill>
                <a:latin typeface="Courier New" pitchFamily="34" charset="0"/>
                <a:ea typeface="Courier New" pitchFamily="34" charset="-122"/>
                <a:cs typeface="Courier New" pitchFamily="34" charset="-120"/>
              </a:rPr>
              <a:t>├── </a:t>
            </a:r>
            <a:pPr algn="l" indent="0" marL="0">
              <a:lnSpc>
                <a:spcPts val="1207"/>
              </a:lnSpc>
              <a:buNone/>
            </a:pPr>
            <a:r>
              <a:rPr lang="en-US" sz="800" dirty="0">
                <a:solidFill>
                  <a:srgbClr val="FFD29E"/>
                </a:solidFill>
                <a:latin typeface="Courier New" pitchFamily="34" charset="0"/>
                <a:ea typeface="Courier New" pitchFamily="34" charset="-122"/>
                <a:cs typeface="Courier New" pitchFamily="34" charset="-120"/>
              </a:rPr>
              <a:t>agent.py</a:t>
            </a:r>
            <a:pPr algn="l" indent="0" marL="0">
              <a:lnSpc>
                <a:spcPts val="1207"/>
              </a:lnSpc>
              <a:buNone/>
            </a:pPr>
            <a:r>
              <a:rPr lang="en-US" sz="800" dirty="0">
                <a:solidFill>
                  <a:srgbClr val="E4E4E7"/>
                </a:solidFill>
                <a:latin typeface="Courier New" pitchFamily="34" charset="0"/>
                <a:ea typeface="Courier New" pitchFamily="34" charset="-122"/>
                <a:cs typeface="Courier New" pitchFamily="34" charset="-120"/>
              </a:rPr>
              <a:t>              </a:t>
            </a:r>
            <a:pPr algn="l" indent="0" marL="0">
              <a:lnSpc>
                <a:spcPts val="1207"/>
              </a:lnSpc>
              <a:buNone/>
            </a:pPr>
            <a:r>
              <a:rPr lang="en-US" sz="800" dirty="0">
                <a:solidFill>
                  <a:srgbClr val="FF7A1A"/>
                </a:solidFill>
                <a:latin typeface="Courier New" pitchFamily="34" charset="0"/>
                <a:ea typeface="Courier New" pitchFamily="34" charset="-122"/>
                <a:cs typeface="Courier New" pitchFamily="34" charset="-120"/>
              </a:rPr>
              <a:t>←</a:t>
            </a:r>
            <a:pPr algn="l" indent="0" marL="0">
              <a:lnSpc>
                <a:spcPts val="1207"/>
              </a:lnSpc>
              <a:buNone/>
            </a:pPr>
            <a:r>
              <a:rPr lang="en-US" sz="800" dirty="0">
                <a:solidFill>
                  <a:srgbClr val="E4E4E7"/>
                </a:solidFill>
                <a:latin typeface="Courier New" pitchFamily="34" charset="0"/>
                <a:ea typeface="Courier New" pitchFamily="34" charset="-122"/>
                <a:cs typeface="Courier New" pitchFamily="34" charset="-120"/>
              </a:rPr>
              <a:t> </a:t>
            </a:r>
            <a:pPr algn="l" indent="0" marL="0">
              <a:lnSpc>
                <a:spcPts val="1207"/>
              </a:lnSpc>
              <a:buNone/>
            </a:pPr>
            <a:r>
              <a:rPr lang="en-US" sz="800" dirty="0">
                <a:solidFill>
                  <a:srgbClr val="FFD29E"/>
                </a:solidFill>
                <a:latin typeface="Courier New" pitchFamily="34" charset="0"/>
                <a:ea typeface="Courier New" pitchFamily="34" charset="-122"/>
                <a:cs typeface="Courier New" pitchFamily="34" charset="-120"/>
              </a:rPr>
              <a:t>UPDATED</a:t>
            </a:r>
            <a:pPr algn="l" indent="0" marL="0">
              <a:lnSpc>
                <a:spcPts val="1207"/>
              </a:lnSpc>
              <a:buNone/>
            </a:pPr>
            <a:r>
              <a:rPr lang="en-US" sz="800" dirty="0">
                <a:solidFill>
                  <a:srgbClr val="E4E4E7"/>
                </a:solidFill>
                <a:latin typeface="Courier New" pitchFamily="34" charset="0"/>
                <a:ea typeface="Courier New" pitchFamily="34" charset="-122"/>
                <a:cs typeface="Courier New" pitchFamily="34" charset="-120"/>
              </a:rPr>
              <a:t> </a:t>
            </a:r>
            <a:pPr algn="l" indent="0" marL="0">
              <a:lnSpc>
                <a:spcPts val="1207"/>
              </a:lnSpc>
              <a:buNone/>
            </a:pPr>
            <a:r>
              <a:rPr lang="en-US" sz="800" i="1" dirty="0">
                <a:solidFill>
                  <a:srgbClr val="71717A"/>
                </a:solidFill>
                <a:latin typeface="Courier New" pitchFamily="34" charset="0"/>
                <a:ea typeface="Courier New" pitchFamily="34" charset="-122"/>
                <a:cs typeface="Courier New" pitchFamily="34" charset="-120"/>
              </a:rPr>
              <a:t>— opt-in GitHub path</a:t>
            </a:r>
            <a:endParaRPr lang="en-US" sz="800" dirty="0"/>
          </a:p>
          <a:p>
            <a:pPr algn="l" indent="0" marL="0">
              <a:lnSpc>
                <a:spcPts val="1207"/>
              </a:lnSpc>
              <a:buNone/>
            </a:pPr>
            <a:r>
              <a:rPr lang="en-US" sz="800" dirty="0">
                <a:solidFill>
                  <a:srgbClr val="E4E4E7"/>
                </a:solidFill>
                <a:latin typeface="Courier New" pitchFamily="34" charset="0"/>
                <a:ea typeface="Courier New" pitchFamily="34" charset="-122"/>
                <a:cs typeface="Courier New" pitchFamily="34" charset="-120"/>
              </a:rPr>
              <a:t>├── </a:t>
            </a:r>
            <a:pPr algn="l" indent="0" marL="0">
              <a:lnSpc>
                <a:spcPts val="1207"/>
              </a:lnSpc>
              <a:buNone/>
            </a:pPr>
            <a:r>
              <a:rPr lang="en-US" sz="800" dirty="0">
                <a:solidFill>
                  <a:srgbClr val="FF7A1A"/>
                </a:solidFill>
                <a:latin typeface="Courier New" pitchFamily="34" charset="0"/>
                <a:ea typeface="Courier New" pitchFamily="34" charset="-122"/>
                <a:cs typeface="Courier New" pitchFamily="34" charset="-120"/>
              </a:rPr>
              <a:t>repo_facts_server.py</a:t>
            </a:r>
            <a:pPr algn="l" indent="0" marL="0">
              <a:lnSpc>
                <a:spcPts val="1207"/>
              </a:lnSpc>
              <a:buNone/>
            </a:pPr>
            <a:r>
              <a:rPr lang="en-US" sz="800" dirty="0">
                <a:solidFill>
                  <a:srgbClr val="E4E4E7"/>
                </a:solidFill>
                <a:latin typeface="Courier New" pitchFamily="34" charset="0"/>
                <a:ea typeface="Courier New" pitchFamily="34" charset="-122"/>
                <a:cs typeface="Courier New" pitchFamily="34" charset="-120"/>
              </a:rPr>
              <a:t>  </a:t>
            </a:r>
            <a:pPr algn="l" indent="0" marL="0">
              <a:lnSpc>
                <a:spcPts val="1207"/>
              </a:lnSpc>
              <a:buNone/>
            </a:pPr>
            <a:r>
              <a:rPr lang="en-US" sz="800" dirty="0">
                <a:solidFill>
                  <a:srgbClr val="FF7A1A"/>
                </a:solidFill>
                <a:latin typeface="Courier New" pitchFamily="34" charset="0"/>
                <a:ea typeface="Courier New" pitchFamily="34" charset="-122"/>
                <a:cs typeface="Courier New" pitchFamily="34" charset="-120"/>
              </a:rPr>
              <a:t>←</a:t>
            </a:r>
            <a:pPr algn="l" indent="0" marL="0">
              <a:lnSpc>
                <a:spcPts val="1207"/>
              </a:lnSpc>
              <a:buNone/>
            </a:pPr>
            <a:r>
              <a:rPr lang="en-US" sz="800" dirty="0">
                <a:solidFill>
                  <a:srgbClr val="E4E4E7"/>
                </a:solidFill>
                <a:latin typeface="Courier New" pitchFamily="34" charset="0"/>
                <a:ea typeface="Courier New" pitchFamily="34" charset="-122"/>
                <a:cs typeface="Courier New" pitchFamily="34" charset="-120"/>
              </a:rPr>
              <a:t> </a:t>
            </a:r>
            <a:pPr algn="l" indent="0" marL="0">
              <a:lnSpc>
                <a:spcPts val="1207"/>
              </a:lnSpc>
              <a:buNone/>
            </a:pPr>
            <a:r>
              <a:rPr lang="en-US" sz="800" dirty="0">
                <a:solidFill>
                  <a:srgbClr val="FF7A1A"/>
                </a:solidFill>
                <a:latin typeface="Courier New" pitchFamily="34" charset="0"/>
                <a:ea typeface="Courier New" pitchFamily="34" charset="-122"/>
                <a:cs typeface="Courier New" pitchFamily="34" charset="-120"/>
              </a:rPr>
              <a:t>NEW</a:t>
            </a:r>
            <a:pPr algn="l" indent="0" marL="0">
              <a:lnSpc>
                <a:spcPts val="1207"/>
              </a:lnSpc>
              <a:buNone/>
            </a:pPr>
            <a:r>
              <a:rPr lang="en-US" sz="800" dirty="0">
                <a:solidFill>
                  <a:srgbClr val="E4E4E7"/>
                </a:solidFill>
                <a:latin typeface="Courier New" pitchFamily="34" charset="0"/>
                <a:ea typeface="Courier New" pitchFamily="34" charset="-122"/>
                <a:cs typeface="Courier New" pitchFamily="34" charset="-120"/>
              </a:rPr>
              <a:t> </a:t>
            </a:r>
            <a:pPr algn="l" indent="0" marL="0">
              <a:lnSpc>
                <a:spcPts val="1207"/>
              </a:lnSpc>
              <a:buNone/>
            </a:pPr>
            <a:r>
              <a:rPr lang="en-US" sz="800" i="1" dirty="0">
                <a:solidFill>
                  <a:srgbClr val="71717A"/>
                </a:solidFill>
                <a:latin typeface="Courier New" pitchFamily="34" charset="0"/>
                <a:ea typeface="Courier New" pitchFamily="34" charset="-122"/>
                <a:cs typeface="Courier New" pitchFamily="34" charset="-120"/>
              </a:rPr>
              <a:t>— standalone MCP server</a:t>
            </a:r>
            <a:endParaRPr lang="en-US" sz="800" dirty="0"/>
          </a:p>
          <a:p>
            <a:pPr algn="l" indent="0" marL="0">
              <a:lnSpc>
                <a:spcPts val="1207"/>
              </a:lnSpc>
              <a:buNone/>
            </a:pPr>
            <a:r>
              <a:rPr lang="en-US" sz="800" dirty="0">
                <a:solidFill>
                  <a:srgbClr val="E4E4E7"/>
                </a:solidFill>
                <a:latin typeface="Courier New" pitchFamily="34" charset="0"/>
                <a:ea typeface="Courier New" pitchFamily="34" charset="-122"/>
                <a:cs typeface="Courier New" pitchFamily="34" charset="-120"/>
              </a:rPr>
              <a:t>├── </a:t>
            </a:r>
            <a:pPr algn="l" indent="0" marL="0">
              <a:lnSpc>
                <a:spcPts val="1207"/>
              </a:lnSpc>
              <a:buNone/>
            </a:pPr>
            <a:r>
              <a:rPr lang="en-US" sz="800" dirty="0">
                <a:solidFill>
                  <a:srgbClr val="71717A"/>
                </a:solidFill>
                <a:latin typeface="Courier New" pitchFamily="34" charset="0"/>
                <a:ea typeface="Courier New" pitchFamily="34" charset="-122"/>
                <a:cs typeface="Courier New" pitchFamily="34" charset="-120"/>
              </a:rPr>
              <a:t>tools.py, hooks.py, subagents.py, schemas.py,</a:t>
            </a:r>
            <a:endParaRPr lang="en-US" sz="800" dirty="0"/>
          </a:p>
          <a:p>
            <a:pPr algn="l" indent="0" marL="0">
              <a:lnSpc>
                <a:spcPts val="1207"/>
              </a:lnSpc>
              <a:buNone/>
            </a:pPr>
            <a:r>
              <a:rPr lang="en-US" sz="800" dirty="0">
                <a:solidFill>
                  <a:srgbClr val="E4E4E7"/>
                </a:solidFill>
                <a:latin typeface="Courier New" pitchFamily="34" charset="0"/>
                <a:ea typeface="Courier New" pitchFamily="34" charset="-122"/>
                <a:cs typeface="Courier New" pitchFamily="34" charset="-120"/>
              </a:rPr>
              <a:t>│   </a:t>
            </a:r>
            <a:pPr algn="l" indent="0" marL="0">
              <a:lnSpc>
                <a:spcPts val="1207"/>
              </a:lnSpc>
              <a:buNone/>
            </a:pPr>
            <a:r>
              <a:rPr lang="en-US" sz="800" dirty="0">
                <a:solidFill>
                  <a:srgbClr val="71717A"/>
                </a:solidFill>
                <a:latin typeface="Courier New" pitchFamily="34" charset="0"/>
                <a:ea typeface="Courier New" pitchFamily="34" charset="-122"/>
                <a:cs typeface="Courier New" pitchFamily="34" charset="-120"/>
              </a:rPr>
              <a:t>session_index.py      (carried forward, unchanged)</a:t>
            </a:r>
            <a:endParaRPr lang="en-US" sz="800" dirty="0"/>
          </a:p>
        </p:txBody>
      </p:sp>
      <p:sp>
        <p:nvSpPr>
          <p:cNvPr id="17" name="Text 15"/>
          <p:cNvSpPr/>
          <p:nvPr/>
        </p:nvSpPr>
        <p:spPr>
          <a:xfrm>
            <a:off x="514350" y="4868466"/>
            <a:ext cx="6222988"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EP09 · MCP IN THE REAL WORLD</a:t>
            </a:r>
            <a:endParaRPr lang="en-US" sz="800" dirty="0"/>
          </a:p>
        </p:txBody>
      </p:sp>
      <p:sp>
        <p:nvSpPr>
          <p:cNvPr id="18" name="Text 16"/>
          <p:cNvSpPr/>
          <p:nvPr/>
        </p:nvSpPr>
        <p:spPr>
          <a:xfrm>
            <a:off x="6751625" y="4868466"/>
            <a:ext cx="2155169" cy="164592"/>
          </a:xfrm>
          <a:prstGeom prst="rect">
            <a:avLst/>
          </a:prstGeom>
          <a:noFill/>
          <a:ln/>
        </p:spPr>
        <p:txBody>
          <a:bodyPr wrap="square" lIns="0" tIns="0" rIns="0" bIns="0" rtlCol="0" anchor="t"/>
          <a:lstStyle/>
          <a:p>
            <a:pPr algn="l" indent="0" marL="0">
              <a:lnSpc>
                <a:spcPts val="928"/>
              </a:lnSpc>
              <a:buNone/>
            </a:pPr>
            <a:r>
              <a:rPr lang="en-US" sz="619" spc="99" kern="0" dirty="0">
                <a:solidFill>
                  <a:srgbClr val="71717A"/>
                </a:solidFill>
                <a:latin typeface="Courier New" pitchFamily="34" charset="0"/>
                <a:ea typeface="Courier New" pitchFamily="34" charset="-122"/>
                <a:cs typeface="Courier New" pitchFamily="34" charset="-120"/>
              </a:rPr>
              <a:t>2 NEW FILES · 1 UPDATED · 5 UNCHANGED</a:t>
            </a:r>
            <a:endParaRPr lang="en-US" sz="619"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257175" y="200025"/>
            <a:ext cx="2232705"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71717A"/>
                </a:solidFill>
                <a:latin typeface="Liberation Sans Narrow" pitchFamily="34" charset="0"/>
                <a:ea typeface="Liberation Sans Narrow" pitchFamily="34" charset="-122"/>
                <a:cs typeface="Liberation Sans Narrow" pitchFamily="34" charset="-120"/>
              </a:rPr>
              <a:t>EP09 </a:t>
            </a:r>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a:t>
            </a:r>
            <a:pPr algn="l" indent="0" marL="0">
              <a:lnSpc>
                <a:spcPts val="928"/>
              </a:lnSpc>
              <a:buNone/>
            </a:pPr>
            <a:r>
              <a:rPr lang="en-US" sz="800" spc="173" kern="0" dirty="0">
                <a:solidFill>
                  <a:srgbClr val="71717A"/>
                </a:solidFill>
                <a:latin typeface="Courier New" pitchFamily="34" charset="0"/>
                <a:ea typeface="Courier New" pitchFamily="34" charset="-122"/>
                <a:cs typeface="Courier New" pitchFamily="34" charset="-120"/>
              </a:rPr>
              <a:t> MCP IN THE REAL WORLD</a:t>
            </a:r>
            <a:endParaRPr lang="en-US" sz="800" dirty="0"/>
          </a:p>
        </p:txBody>
      </p:sp>
      <p:sp>
        <p:nvSpPr>
          <p:cNvPr id="3" name="Text 1"/>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05 / 30</a:t>
            </a:r>
            <a:endParaRPr lang="en-US" sz="800" dirty="0"/>
          </a:p>
        </p:txBody>
      </p:sp>
      <p:sp>
        <p:nvSpPr>
          <p:cNvPr id="4" name="Text 2"/>
          <p:cNvSpPr/>
          <p:nvPr/>
        </p:nvSpPr>
        <p:spPr>
          <a:xfrm>
            <a:off x="514350" y="600075"/>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RECAP</a:t>
            </a:r>
            <a:endParaRPr lang="en-US" sz="800" dirty="0"/>
          </a:p>
        </p:txBody>
      </p:sp>
      <p:sp>
        <p:nvSpPr>
          <p:cNvPr id="5" name="Text 3"/>
          <p:cNvSpPr/>
          <p:nvPr/>
        </p:nvSpPr>
        <p:spPr>
          <a:xfrm>
            <a:off x="514350" y="817959"/>
            <a:ext cx="8629650" cy="305476"/>
          </a:xfrm>
          <a:prstGeom prst="rect">
            <a:avLst/>
          </a:prstGeom>
          <a:noFill/>
          <a:ln/>
        </p:spPr>
        <p:txBody>
          <a:bodyPr wrap="square" lIns="0" tIns="0" rIns="0" bIns="0" rtlCol="0" anchor="t"/>
          <a:lstStyle/>
          <a:p>
            <a:pPr algn="l" indent="0" marL="0">
              <a:lnSpc>
                <a:spcPts val="2228"/>
              </a:lnSpc>
              <a:buNone/>
            </a:pPr>
            <a:r>
              <a:rPr lang="en-US" sz="2025" b="1" spc="-40" kern="0" dirty="0">
                <a:solidFill>
                  <a:srgbClr val="F4F4F5"/>
                </a:solidFill>
                <a:latin typeface="Carlito" pitchFamily="34" charset="0"/>
                <a:ea typeface="Carlito" pitchFamily="34" charset="-122"/>
                <a:cs typeface="Carlito" pitchFamily="34" charset="-120"/>
              </a:rPr>
              <a:t>Three Ways We've Given Claude Capabilities </a:t>
            </a:r>
            <a:pPr algn="l" indent="0" marL="0">
              <a:lnSpc>
                <a:spcPts val="2228"/>
              </a:lnSpc>
              <a:buNone/>
            </a:pPr>
            <a:r>
              <a:rPr lang="en-US" sz="2025" b="1" spc="-40" kern="0" dirty="0">
                <a:solidFill>
                  <a:srgbClr val="FF7A1A"/>
                </a:solidFill>
                <a:latin typeface="Carlito" pitchFamily="34" charset="0"/>
                <a:ea typeface="Carlito" pitchFamily="34" charset="-122"/>
                <a:cs typeface="Carlito" pitchFamily="34" charset="-120"/>
              </a:rPr>
              <a:t>(And A Confession)</a:t>
            </a:r>
            <a:endParaRPr lang="en-US" sz="2025" dirty="0"/>
          </a:p>
        </p:txBody>
      </p:sp>
      <p:sp>
        <p:nvSpPr>
          <p:cNvPr id="6" name="Shape 4"/>
          <p:cNvSpPr/>
          <p:nvPr/>
        </p:nvSpPr>
        <p:spPr>
          <a:xfrm>
            <a:off x="514350" y="1254398"/>
            <a:ext cx="400050" cy="0"/>
          </a:xfrm>
          <a:prstGeom prst="line">
            <a:avLst/>
          </a:prstGeom>
          <a:noFill/>
          <a:ln w="7144">
            <a:solidFill>
              <a:srgbClr val="F4F4F5"/>
            </a:solidFill>
            <a:prstDash val="solid"/>
          </a:ln>
        </p:spPr>
      </p:sp>
      <p:sp>
        <p:nvSpPr>
          <p:cNvPr id="7" name="Text 5"/>
          <p:cNvSpPr/>
          <p:nvPr/>
        </p:nvSpPr>
        <p:spPr>
          <a:xfrm>
            <a:off x="517922" y="1454423"/>
            <a:ext cx="2593181" cy="2753246"/>
          </a:xfrm>
          <a:prstGeom prst="roundRect">
            <a:avLst>
              <a:gd name="adj" fmla="val 3673"/>
            </a:avLst>
          </a:prstGeom>
          <a:solidFill>
            <a:srgbClr val="15151A"/>
          </a:solidFill>
          <a:ln w="7144">
            <a:solidFill>
              <a:srgbClr val="2A2A33"/>
            </a:solidFill>
            <a:prstDash val="solid"/>
          </a:ln>
        </p:spPr>
        <p:txBody>
          <a:bodyPr wrap="square" rtlCol="0" anchor="ctr"/>
          <a:lstStyle/>
          <a:p>
            <a:pPr indent="0" marL="0">
              <a:buNone/>
            </a:pPr>
            <a:endParaRPr lang="en-US" dirty="0"/>
          </a:p>
        </p:txBody>
      </p:sp>
      <p:sp>
        <p:nvSpPr>
          <p:cNvPr id="8" name="Text 6"/>
          <p:cNvSpPr/>
          <p:nvPr/>
        </p:nvSpPr>
        <p:spPr>
          <a:xfrm>
            <a:off x="678656" y="1634803"/>
            <a:ext cx="2100263" cy="164592"/>
          </a:xfrm>
          <a:prstGeom prst="rect">
            <a:avLst/>
          </a:prstGeom>
          <a:noFill/>
          <a:ln/>
        </p:spPr>
        <p:txBody>
          <a:bodyPr wrap="none" lIns="0" tIns="0" rIns="0" bIns="0" rtlCol="0" anchor="t"/>
          <a:lstStyle/>
          <a:p>
            <a:pPr algn="l" indent="0" marL="0">
              <a:lnSpc>
                <a:spcPts val="928"/>
              </a:lnSpc>
              <a:buNone/>
            </a:pPr>
            <a:r>
              <a:rPr lang="en-US" sz="800" spc="136" kern="0" dirty="0">
                <a:solidFill>
                  <a:srgbClr val="71717A"/>
                </a:solidFill>
                <a:latin typeface="Liberation Sans Narrow" pitchFamily="34" charset="0"/>
                <a:ea typeface="Liberation Sans Narrow" pitchFamily="34" charset="-122"/>
                <a:cs typeface="Liberation Sans Narrow" pitchFamily="34" charset="-120"/>
              </a:rPr>
              <a:t>PATTERN 01</a:t>
            </a:r>
            <a:endParaRPr lang="en-US" sz="800" dirty="0"/>
          </a:p>
        </p:txBody>
      </p:sp>
      <p:sp>
        <p:nvSpPr>
          <p:cNvPr id="9" name="Text 7"/>
          <p:cNvSpPr/>
          <p:nvPr/>
        </p:nvSpPr>
        <p:spPr>
          <a:xfrm>
            <a:off x="2793206" y="1615157"/>
            <a:ext cx="157163" cy="157163"/>
          </a:xfrm>
          <a:prstGeom prst="rect">
            <a:avLst/>
          </a:prstGeom>
          <a:noFill/>
          <a:ln/>
        </p:spPr>
        <p:txBody>
          <a:bodyPr wrap="none" lIns="0" tIns="0" rIns="0" bIns="0" rtlCol="0" anchor="ctr"/>
          <a:lstStyle/>
          <a:p>
            <a:pPr algn="ctr" indent="0" marL="0">
              <a:buNone/>
            </a:pPr>
            <a:r>
              <a:rPr lang="en-US" sz="1547" dirty="0">
                <a:solidFill>
                  <a:srgbClr val="71717A"/>
                </a:solidFill>
                <a:latin typeface="Segoe UI Symbol" pitchFamily="34" charset="0"/>
                <a:ea typeface="Segoe UI Symbol" pitchFamily="34" charset="-122"/>
                <a:cs typeface="Segoe UI Symbol" pitchFamily="34" charset="-120"/>
              </a:rPr>
              <a:t>⚒</a:t>
            </a:r>
            <a:endParaRPr lang="en-US" sz="1547" dirty="0"/>
          </a:p>
        </p:txBody>
      </p:sp>
      <p:sp>
        <p:nvSpPr>
          <p:cNvPr id="10" name="Text 8"/>
          <p:cNvSpPr/>
          <p:nvPr/>
        </p:nvSpPr>
        <p:spPr>
          <a:xfrm>
            <a:off x="678656" y="1872332"/>
            <a:ext cx="2271713"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FF7A1A"/>
                </a:solidFill>
                <a:latin typeface="Liberation Sans Narrow" pitchFamily="34" charset="0"/>
                <a:ea typeface="Liberation Sans Narrow" pitchFamily="34" charset="-122"/>
                <a:cs typeface="Liberation Sans Narrow" pitchFamily="34" charset="-120"/>
              </a:rPr>
              <a:t>EP02 · SDK default</a:t>
            </a:r>
            <a:endParaRPr lang="en-US" sz="800" dirty="0"/>
          </a:p>
        </p:txBody>
      </p:sp>
      <p:sp>
        <p:nvSpPr>
          <p:cNvPr id="11" name="Text 9"/>
          <p:cNvSpPr/>
          <p:nvPr/>
        </p:nvSpPr>
        <p:spPr>
          <a:xfrm>
            <a:off x="678656" y="2100932"/>
            <a:ext cx="2271713" cy="186251"/>
          </a:xfrm>
          <a:prstGeom prst="rect">
            <a:avLst/>
          </a:prstGeom>
          <a:noFill/>
          <a:ln/>
        </p:spPr>
        <p:txBody>
          <a:bodyPr wrap="none" lIns="0" tIns="0" rIns="0" bIns="0" rtlCol="0" anchor="t"/>
          <a:lstStyle/>
          <a:p>
            <a:pPr algn="l" indent="0" marL="0">
              <a:lnSpc>
                <a:spcPts val="1358"/>
              </a:lnSpc>
              <a:buNone/>
            </a:pPr>
            <a:r>
              <a:rPr lang="en-US" sz="1181" b="1" spc="-12" kern="0" dirty="0">
                <a:solidFill>
                  <a:srgbClr val="F4F4F5"/>
                </a:solidFill>
                <a:latin typeface="Carlito" pitchFamily="34" charset="0"/>
                <a:ea typeface="Carlito" pitchFamily="34" charset="-122"/>
                <a:cs typeface="Carlito" pitchFamily="34" charset="-120"/>
              </a:rPr>
              <a:t>Built-in tools</a:t>
            </a:r>
            <a:endParaRPr lang="en-US" sz="1181" dirty="0"/>
          </a:p>
        </p:txBody>
      </p:sp>
      <p:sp>
        <p:nvSpPr>
          <p:cNvPr id="12" name="Text 10"/>
          <p:cNvSpPr/>
          <p:nvPr/>
        </p:nvSpPr>
        <p:spPr>
          <a:xfrm>
            <a:off x="678656" y="2373399"/>
            <a:ext cx="2271713" cy="339961"/>
          </a:xfrm>
          <a:prstGeom prst="rect">
            <a:avLst/>
          </a:prstGeom>
          <a:noFill/>
          <a:ln/>
        </p:spPr>
        <p:txBody>
          <a:bodyPr wrap="square" lIns="0" tIns="0" rIns="0" bIns="0" rtlCol="0" anchor="t"/>
          <a:lstStyle/>
          <a:p>
            <a:pPr algn="l" indent="0" marL="0">
              <a:lnSpc>
                <a:spcPts val="1221"/>
              </a:lnSpc>
              <a:buNone/>
            </a:pPr>
            <a:r>
              <a:rPr lang="en-US" sz="800" dirty="0">
                <a:solidFill>
                  <a:srgbClr val="A1A1AA"/>
                </a:solidFill>
                <a:latin typeface="Carlito" pitchFamily="34" charset="0"/>
                <a:ea typeface="Carlito" pitchFamily="34" charset="-122"/>
                <a:cs typeface="Carlito" pitchFamily="34" charset="-120"/>
              </a:rPr>
              <a:t>Read, Write, Bash, Grep, Glob — ships with the SDK, available the moment the agent starts.</a:t>
            </a:r>
            <a:endParaRPr lang="en-US" sz="800" dirty="0"/>
          </a:p>
        </p:txBody>
      </p:sp>
      <p:sp>
        <p:nvSpPr>
          <p:cNvPr id="13" name="Text 11"/>
          <p:cNvSpPr/>
          <p:nvPr/>
        </p:nvSpPr>
        <p:spPr>
          <a:xfrm>
            <a:off x="655796" y="2771913"/>
            <a:ext cx="738664" cy="212027"/>
          </a:xfrm>
          <a:prstGeom prst="roundRect">
            <a:avLst>
              <a:gd name="adj" fmla="val 17969"/>
            </a:avLst>
          </a:prstGeom>
          <a:solidFill>
            <a:srgbClr val="0B0B0D"/>
          </a:solidFill>
          <a:ln w="7144">
            <a:solidFill>
              <a:srgbClr val="2A2A33"/>
            </a:solidFill>
            <a:prstDash val="solid"/>
          </a:ln>
        </p:spPr>
        <p:txBody>
          <a:bodyPr wrap="square" rtlCol="0" anchor="ctr"/>
          <a:lstStyle/>
          <a:p>
            <a:pPr indent="0" marL="0">
              <a:buNone/>
            </a:pPr>
            <a:endParaRPr lang="en-US" dirty="0"/>
          </a:p>
        </p:txBody>
      </p:sp>
      <p:sp>
        <p:nvSpPr>
          <p:cNvPr id="14" name="Text 12"/>
          <p:cNvSpPr/>
          <p:nvPr/>
        </p:nvSpPr>
        <p:spPr>
          <a:xfrm>
            <a:off x="581746" y="2783272"/>
            <a:ext cx="886765" cy="189309"/>
          </a:xfrm>
          <a:prstGeom prst="rect">
            <a:avLst/>
          </a:prstGeom>
          <a:noFill/>
          <a:ln/>
        </p:spPr>
        <p:txBody>
          <a:bodyPr wrap="none" lIns="0" tIns="0" rIns="0" bIns="0" rtlCol="0" anchor="ctr"/>
          <a:lstStyle/>
          <a:p>
            <a:pPr algn="ctr" indent="0" marL="0">
              <a:lnSpc>
                <a:spcPts val="928"/>
              </a:lnSpc>
              <a:buNone/>
            </a:pPr>
            <a:r>
              <a:rPr lang="en-US" sz="800" dirty="0">
                <a:solidFill>
                  <a:srgbClr val="A1A1AA"/>
                </a:solidFill>
                <a:latin typeface="Courier New" pitchFamily="34" charset="0"/>
                <a:ea typeface="Courier New" pitchFamily="34" charset="-122"/>
                <a:cs typeface="Courier New" pitchFamily="34" charset="-120"/>
              </a:rPr>
              <a:t>ships with SDK</a:t>
            </a:r>
            <a:endParaRPr lang="en-US" sz="800" dirty="0"/>
          </a:p>
        </p:txBody>
      </p:sp>
      <p:sp>
        <p:nvSpPr>
          <p:cNvPr id="15" name="Text 13"/>
          <p:cNvSpPr/>
          <p:nvPr/>
        </p:nvSpPr>
        <p:spPr>
          <a:xfrm>
            <a:off x="3275409" y="1454423"/>
            <a:ext cx="2593181" cy="2753246"/>
          </a:xfrm>
          <a:prstGeom prst="roundRect">
            <a:avLst>
              <a:gd name="adj" fmla="val 3673"/>
            </a:avLst>
          </a:prstGeom>
          <a:solidFill>
            <a:srgbClr val="15151A"/>
          </a:solidFill>
          <a:ln w="7144">
            <a:solidFill>
              <a:srgbClr val="2A2A33"/>
            </a:solidFill>
            <a:prstDash val="solid"/>
          </a:ln>
        </p:spPr>
        <p:txBody>
          <a:bodyPr wrap="square" rtlCol="0" anchor="ctr"/>
          <a:lstStyle/>
          <a:p>
            <a:pPr indent="0" marL="0">
              <a:buNone/>
            </a:pPr>
            <a:endParaRPr lang="en-US" dirty="0"/>
          </a:p>
        </p:txBody>
      </p:sp>
      <p:sp>
        <p:nvSpPr>
          <p:cNvPr id="16" name="Text 14"/>
          <p:cNvSpPr/>
          <p:nvPr/>
        </p:nvSpPr>
        <p:spPr>
          <a:xfrm>
            <a:off x="3436144" y="1634803"/>
            <a:ext cx="2100263" cy="164592"/>
          </a:xfrm>
          <a:prstGeom prst="rect">
            <a:avLst/>
          </a:prstGeom>
          <a:noFill/>
          <a:ln/>
        </p:spPr>
        <p:txBody>
          <a:bodyPr wrap="none" lIns="0" tIns="0" rIns="0" bIns="0" rtlCol="0" anchor="t"/>
          <a:lstStyle/>
          <a:p>
            <a:pPr algn="l" indent="0" marL="0">
              <a:lnSpc>
                <a:spcPts val="928"/>
              </a:lnSpc>
              <a:buNone/>
            </a:pPr>
            <a:r>
              <a:rPr lang="en-US" sz="800" spc="136" kern="0" dirty="0">
                <a:solidFill>
                  <a:srgbClr val="71717A"/>
                </a:solidFill>
                <a:latin typeface="Liberation Sans Narrow" pitchFamily="34" charset="0"/>
                <a:ea typeface="Liberation Sans Narrow" pitchFamily="34" charset="-122"/>
                <a:cs typeface="Liberation Sans Narrow" pitchFamily="34" charset="-120"/>
              </a:rPr>
              <a:t>PATTERN 02</a:t>
            </a:r>
            <a:endParaRPr lang="en-US" sz="800" dirty="0"/>
          </a:p>
        </p:txBody>
      </p:sp>
      <p:sp>
        <p:nvSpPr>
          <p:cNvPr id="17" name="Text 15"/>
          <p:cNvSpPr/>
          <p:nvPr/>
        </p:nvSpPr>
        <p:spPr>
          <a:xfrm>
            <a:off x="5550694" y="1615157"/>
            <a:ext cx="157163" cy="157163"/>
          </a:xfrm>
          <a:prstGeom prst="rect">
            <a:avLst/>
          </a:prstGeom>
          <a:noFill/>
          <a:ln/>
        </p:spPr>
        <p:txBody>
          <a:bodyPr wrap="none" lIns="0" tIns="0" rIns="0" bIns="0" rtlCol="0" anchor="ctr"/>
          <a:lstStyle/>
          <a:p>
            <a:pPr algn="ctr" indent="0" marL="0">
              <a:buNone/>
            </a:pPr>
            <a:r>
              <a:rPr lang="en-US" sz="1547" dirty="0">
                <a:solidFill>
                  <a:srgbClr val="71717A"/>
                </a:solidFill>
                <a:latin typeface="Segoe UI Symbol" pitchFamily="34" charset="0"/>
                <a:ea typeface="Segoe UI Symbol" pitchFamily="34" charset="-122"/>
                <a:cs typeface="Segoe UI Symbol" pitchFamily="34" charset="-120"/>
              </a:rPr>
              <a:t>✦</a:t>
            </a:r>
            <a:endParaRPr lang="en-US" sz="1547" dirty="0"/>
          </a:p>
        </p:txBody>
      </p:sp>
      <p:sp>
        <p:nvSpPr>
          <p:cNvPr id="18" name="Text 16"/>
          <p:cNvSpPr/>
          <p:nvPr/>
        </p:nvSpPr>
        <p:spPr>
          <a:xfrm>
            <a:off x="3436144" y="1872332"/>
            <a:ext cx="2271713"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FF7A1A"/>
                </a:solidFill>
                <a:latin typeface="Liberation Sans Narrow" pitchFamily="34" charset="0"/>
                <a:ea typeface="Liberation Sans Narrow" pitchFamily="34" charset="-122"/>
                <a:cs typeface="Liberation Sans Narrow" pitchFamily="34" charset="-120"/>
              </a:rPr>
              <a:t>EP03 / EP04 · in-process</a:t>
            </a:r>
            <a:endParaRPr lang="en-US" sz="800" dirty="0"/>
          </a:p>
        </p:txBody>
      </p:sp>
      <p:sp>
        <p:nvSpPr>
          <p:cNvPr id="19" name="Text 17"/>
          <p:cNvSpPr/>
          <p:nvPr/>
        </p:nvSpPr>
        <p:spPr>
          <a:xfrm>
            <a:off x="3436144" y="2100932"/>
            <a:ext cx="2271713" cy="186251"/>
          </a:xfrm>
          <a:prstGeom prst="rect">
            <a:avLst/>
          </a:prstGeom>
          <a:noFill/>
          <a:ln/>
        </p:spPr>
        <p:txBody>
          <a:bodyPr wrap="none" lIns="0" tIns="0" rIns="0" bIns="0" rtlCol="0" anchor="t"/>
          <a:lstStyle/>
          <a:p>
            <a:pPr algn="l" indent="0" marL="0">
              <a:lnSpc>
                <a:spcPts val="1358"/>
              </a:lnSpc>
              <a:buNone/>
            </a:pPr>
            <a:r>
              <a:rPr lang="en-US" sz="1181" b="1" spc="-12" kern="0" dirty="0">
                <a:solidFill>
                  <a:srgbClr val="F4F4F5"/>
                </a:solidFill>
                <a:latin typeface="Carlito" pitchFamily="34" charset="0"/>
                <a:ea typeface="Carlito" pitchFamily="34" charset="-122"/>
                <a:cs typeface="Carlito" pitchFamily="34" charset="-120"/>
              </a:rPr>
              <a:t>In-process custom tools</a:t>
            </a:r>
            <a:endParaRPr lang="en-US" sz="1181" dirty="0"/>
          </a:p>
        </p:txBody>
      </p:sp>
      <p:sp>
        <p:nvSpPr>
          <p:cNvPr id="20" name="Text 18"/>
          <p:cNvSpPr/>
          <p:nvPr/>
        </p:nvSpPr>
        <p:spPr>
          <a:xfrm>
            <a:off x="3436144" y="2380543"/>
            <a:ext cx="323255" cy="142875"/>
          </a:xfrm>
          <a:prstGeom prst="roundRect">
            <a:avLst>
              <a:gd name="adj" fmla="val 26667"/>
            </a:avLst>
          </a:prstGeom>
          <a:solidFill>
            <a:srgbClr val="1D1D24"/>
          </a:solidFill>
          <a:ln/>
        </p:spPr>
        <p:txBody>
          <a:bodyPr wrap="square" rtlCol="0" anchor="ctr"/>
          <a:lstStyle/>
          <a:p>
            <a:pPr indent="0" marL="0">
              <a:buNone/>
            </a:pPr>
            <a:endParaRPr lang="en-US" dirty="0"/>
          </a:p>
        </p:txBody>
      </p:sp>
      <p:sp>
        <p:nvSpPr>
          <p:cNvPr id="21" name="Text 19"/>
          <p:cNvSpPr/>
          <p:nvPr/>
        </p:nvSpPr>
        <p:spPr>
          <a:xfrm>
            <a:off x="4322750" y="2380543"/>
            <a:ext cx="1126927" cy="142875"/>
          </a:xfrm>
          <a:prstGeom prst="roundRect">
            <a:avLst>
              <a:gd name="adj" fmla="val 26667"/>
            </a:avLst>
          </a:prstGeom>
          <a:solidFill>
            <a:srgbClr val="1D1D24"/>
          </a:solidFill>
          <a:ln/>
        </p:spPr>
        <p:txBody>
          <a:bodyPr wrap="square" rtlCol="0" anchor="ctr"/>
          <a:lstStyle/>
          <a:p>
            <a:pPr indent="0" marL="0">
              <a:buNone/>
            </a:pPr>
            <a:endParaRPr lang="en-US" dirty="0"/>
          </a:p>
        </p:txBody>
      </p:sp>
      <p:sp>
        <p:nvSpPr>
          <p:cNvPr id="22" name="Text 20"/>
          <p:cNvSpPr/>
          <p:nvPr/>
        </p:nvSpPr>
        <p:spPr>
          <a:xfrm>
            <a:off x="3436144" y="2373399"/>
            <a:ext cx="2271713" cy="339961"/>
          </a:xfrm>
          <a:prstGeom prst="rect">
            <a:avLst/>
          </a:prstGeom>
          <a:noFill/>
          <a:ln/>
        </p:spPr>
        <p:txBody>
          <a:bodyPr wrap="square" lIns="0" tIns="0" rIns="0" bIns="0" rtlCol="0" anchor="t"/>
          <a:lstStyle/>
          <a:p>
            <a:pPr algn="l" indent="0" marL="0">
              <a:lnSpc>
                <a:spcPts val="1221"/>
              </a:lnSpc>
              <a:buNone/>
            </a:pPr>
            <a:r>
              <a:rPr lang="en-US" sz="800" dirty="0">
                <a:solidFill>
                  <a:srgbClr val="FF7A1A"/>
                </a:solidFill>
                <a:highlight>
                  <a:srgbClr val="1D1D24"/>
                </a:highlight>
                <a:latin typeface="Courier New" pitchFamily="34" charset="0"/>
                <a:ea typeface="Courier New" pitchFamily="34" charset="-122"/>
                <a:cs typeface="Courier New" pitchFamily="34" charset="-120"/>
              </a:rPr>
              <a:t>@tool</a:t>
            </a:r>
            <a:pPr algn="l" indent="0" marL="0">
              <a:lnSpc>
                <a:spcPts val="1221"/>
              </a:lnSpc>
              <a:buNone/>
            </a:pPr>
            <a:r>
              <a:rPr lang="en-US" sz="800" dirty="0">
                <a:solidFill>
                  <a:srgbClr val="A1A1AA"/>
                </a:solidFill>
                <a:latin typeface="Carlito" pitchFamily="34" charset="0"/>
                <a:ea typeface="Carlito" pitchFamily="34" charset="-122"/>
                <a:cs typeface="Carlito" pitchFamily="34" charset="-120"/>
              </a:rPr>
              <a:t> decorator + </a:t>
            </a:r>
            <a:pPr algn="l" indent="0" marL="0">
              <a:lnSpc>
                <a:spcPts val="1221"/>
              </a:lnSpc>
              <a:buNone/>
            </a:pPr>
            <a:r>
              <a:rPr lang="en-US" sz="800" dirty="0">
                <a:solidFill>
                  <a:srgbClr val="FF7A1A"/>
                </a:solidFill>
                <a:highlight>
                  <a:srgbClr val="1D1D24"/>
                </a:highlight>
                <a:latin typeface="Courier New" pitchFamily="34" charset="0"/>
                <a:ea typeface="Courier New" pitchFamily="34" charset="-122"/>
                <a:cs typeface="Courier New" pitchFamily="34" charset="-120"/>
              </a:rPr>
              <a:t>create_sdk_mcp_server()</a:t>
            </a:r>
            <a:pPr algn="l" indent="0" marL="0">
              <a:lnSpc>
                <a:spcPts val="1221"/>
              </a:lnSpc>
              <a:buNone/>
            </a:pPr>
            <a:r>
              <a:rPr lang="en-US" sz="800" dirty="0">
                <a:solidFill>
                  <a:srgbClr val="A1A1AA"/>
                </a:solidFill>
                <a:latin typeface="Carlito" pitchFamily="34" charset="0"/>
                <a:ea typeface="Carlito" pitchFamily="34" charset="-122"/>
                <a:cs typeface="Carlito" pitchFamily="34" charset="-120"/>
              </a:rPr>
              <a:t> — your own Python, in the agent's own process.</a:t>
            </a:r>
            <a:endParaRPr lang="en-US" sz="800" dirty="0"/>
          </a:p>
        </p:txBody>
      </p:sp>
      <p:sp>
        <p:nvSpPr>
          <p:cNvPr id="23" name="Text 21"/>
          <p:cNvSpPr/>
          <p:nvPr/>
        </p:nvSpPr>
        <p:spPr>
          <a:xfrm>
            <a:off x="3413284" y="2771913"/>
            <a:ext cx="660083" cy="212027"/>
          </a:xfrm>
          <a:prstGeom prst="roundRect">
            <a:avLst>
              <a:gd name="adj" fmla="val 17969"/>
            </a:avLst>
          </a:prstGeom>
          <a:solidFill>
            <a:srgbClr val="0B0B0D"/>
          </a:solidFill>
          <a:ln w="7144">
            <a:solidFill>
              <a:srgbClr val="2A2A33"/>
            </a:solidFill>
            <a:prstDash val="solid"/>
          </a:ln>
        </p:spPr>
        <p:txBody>
          <a:bodyPr wrap="square" rtlCol="0" anchor="ctr"/>
          <a:lstStyle/>
          <a:p>
            <a:pPr indent="0" marL="0">
              <a:buNone/>
            </a:pPr>
            <a:endParaRPr lang="en-US" dirty="0"/>
          </a:p>
        </p:txBody>
      </p:sp>
      <p:sp>
        <p:nvSpPr>
          <p:cNvPr id="24" name="Text 22"/>
          <p:cNvSpPr/>
          <p:nvPr/>
        </p:nvSpPr>
        <p:spPr>
          <a:xfrm>
            <a:off x="3365881" y="2783272"/>
            <a:ext cx="754888" cy="189309"/>
          </a:xfrm>
          <a:prstGeom prst="rect">
            <a:avLst/>
          </a:prstGeom>
          <a:noFill/>
          <a:ln/>
        </p:spPr>
        <p:txBody>
          <a:bodyPr wrap="none" lIns="0" tIns="0" rIns="0" bIns="0" rtlCol="0" anchor="ctr"/>
          <a:lstStyle/>
          <a:p>
            <a:pPr algn="ctr" indent="0" marL="0">
              <a:lnSpc>
                <a:spcPts val="928"/>
              </a:lnSpc>
              <a:buNone/>
            </a:pPr>
            <a:r>
              <a:rPr lang="en-US" sz="800" dirty="0">
                <a:solidFill>
                  <a:srgbClr val="A1A1AA"/>
                </a:solidFill>
                <a:latin typeface="Courier New" pitchFamily="34" charset="0"/>
                <a:ea typeface="Courier New" pitchFamily="34" charset="-122"/>
                <a:cs typeface="Courier New" pitchFamily="34" charset="-120"/>
              </a:rPr>
              <a:t>same process</a:t>
            </a:r>
            <a:endParaRPr lang="en-US" sz="800" dirty="0"/>
          </a:p>
        </p:txBody>
      </p:sp>
      <p:pic>
        <p:nvPicPr>
          <p:cNvPr id="25" name="Image 0" descr="preencoded.png">    </p:cNvPr>
          <p:cNvPicPr>
            <a:picLocks noChangeAspect="1"/>
          </p:cNvPicPr>
          <p:nvPr/>
        </p:nvPicPr>
        <p:blipFill>
          <a:blip r:embed="rId1"/>
          <a:stretch>
            <a:fillRect/>
          </a:stretch>
        </p:blipFill>
        <p:spPr>
          <a:xfrm>
            <a:off x="6029325" y="1450851"/>
            <a:ext cx="2600325" cy="2760390"/>
          </a:xfrm>
          <a:prstGeom prst="rect">
            <a:avLst/>
          </a:prstGeom>
        </p:spPr>
      </p:pic>
      <p:sp>
        <p:nvSpPr>
          <p:cNvPr id="26" name="Text 23"/>
          <p:cNvSpPr/>
          <p:nvPr/>
        </p:nvSpPr>
        <p:spPr>
          <a:xfrm>
            <a:off x="6032897" y="1454423"/>
            <a:ext cx="2593181" cy="2753246"/>
          </a:xfrm>
          <a:prstGeom prst="roundRect">
            <a:avLst>
              <a:gd name="adj" fmla="val 3673"/>
            </a:avLst>
          </a:prstGeom>
          <a:solidFill>
            <a:srgbClr val="15151A"/>
          </a:solidFill>
          <a:ln w="7144">
            <a:solidFill>
              <a:srgbClr val="FF7A1A"/>
            </a:solidFill>
            <a:prstDash val="solid"/>
          </a:ln>
        </p:spPr>
        <p:txBody>
          <a:bodyPr wrap="square" rtlCol="0" anchor="ctr"/>
          <a:lstStyle/>
          <a:p>
            <a:pPr indent="0" marL="0">
              <a:buNone/>
            </a:pPr>
            <a:endParaRPr lang="en-US" dirty="0"/>
          </a:p>
        </p:txBody>
      </p:sp>
      <p:sp>
        <p:nvSpPr>
          <p:cNvPr id="27" name="Text 24"/>
          <p:cNvSpPr/>
          <p:nvPr/>
        </p:nvSpPr>
        <p:spPr>
          <a:xfrm>
            <a:off x="6193631" y="1634803"/>
            <a:ext cx="2100263" cy="164592"/>
          </a:xfrm>
          <a:prstGeom prst="rect">
            <a:avLst/>
          </a:prstGeom>
          <a:noFill/>
          <a:ln/>
        </p:spPr>
        <p:txBody>
          <a:bodyPr wrap="none" lIns="0" tIns="0" rIns="0" bIns="0" rtlCol="0" anchor="t"/>
          <a:lstStyle/>
          <a:p>
            <a:pPr algn="l" indent="0" marL="0">
              <a:lnSpc>
                <a:spcPts val="928"/>
              </a:lnSpc>
              <a:buNone/>
            </a:pPr>
            <a:r>
              <a:rPr lang="en-US" sz="800" spc="136" kern="0" dirty="0">
                <a:solidFill>
                  <a:srgbClr val="FF7A1A"/>
                </a:solidFill>
                <a:latin typeface="Liberation Sans Narrow" pitchFamily="34" charset="0"/>
                <a:ea typeface="Liberation Sans Narrow" pitchFamily="34" charset="-122"/>
                <a:cs typeface="Liberation Sans Narrow" pitchFamily="34" charset="-120"/>
              </a:rPr>
              <a:t>PATTERN 03 + 04</a:t>
            </a:r>
            <a:endParaRPr lang="en-US" sz="800" dirty="0"/>
          </a:p>
        </p:txBody>
      </p:sp>
      <p:sp>
        <p:nvSpPr>
          <p:cNvPr id="28" name="Text 25"/>
          <p:cNvSpPr/>
          <p:nvPr/>
        </p:nvSpPr>
        <p:spPr>
          <a:xfrm>
            <a:off x="8308181" y="1615157"/>
            <a:ext cx="157163" cy="157163"/>
          </a:xfrm>
          <a:prstGeom prst="rect">
            <a:avLst/>
          </a:prstGeom>
          <a:noFill/>
          <a:ln/>
        </p:spPr>
        <p:txBody>
          <a:bodyPr wrap="none" lIns="0" tIns="0" rIns="0" bIns="0" rtlCol="0" anchor="ctr"/>
          <a:lstStyle/>
          <a:p>
            <a:pPr algn="ctr" indent="0" marL="0">
              <a:buNone/>
            </a:pPr>
            <a:r>
              <a:rPr lang="en-US" sz="1547" dirty="0">
                <a:solidFill>
                  <a:srgbClr val="FF7A1A"/>
                </a:solidFill>
                <a:latin typeface="Segoe UI Symbol" pitchFamily="34" charset="0"/>
                <a:ea typeface="Segoe UI Symbol" pitchFamily="34" charset="-122"/>
                <a:cs typeface="Segoe UI Symbol" pitchFamily="34" charset="-120"/>
              </a:rPr>
              <a:t>✦</a:t>
            </a:r>
            <a:endParaRPr lang="en-US" sz="1547" dirty="0"/>
          </a:p>
        </p:txBody>
      </p:sp>
      <p:sp>
        <p:nvSpPr>
          <p:cNvPr id="29" name="Text 26"/>
          <p:cNvSpPr/>
          <p:nvPr/>
        </p:nvSpPr>
        <p:spPr>
          <a:xfrm>
            <a:off x="6193631" y="1872332"/>
            <a:ext cx="2271713" cy="164592"/>
          </a:xfrm>
          <a:prstGeom prst="rect">
            <a:avLst/>
          </a:prstGeom>
          <a:noFill/>
          <a:ln/>
        </p:spPr>
        <p:txBody>
          <a:bodyPr wrap="none" lIns="0" tIns="0" rIns="0" bIns="0" rtlCol="0" anchor="t"/>
          <a:lstStyle/>
          <a:p>
            <a:pPr algn="l" indent="0" marL="0">
              <a:lnSpc>
                <a:spcPts val="1013"/>
              </a:lnSpc>
              <a:buNone/>
            </a:pPr>
            <a:r>
              <a:rPr lang="en-US" sz="800" spc="27" kern="0" dirty="0">
                <a:solidFill>
                  <a:srgbClr val="FF7A1A"/>
                </a:solidFill>
                <a:latin typeface="Liberation Sans Narrow" pitchFamily="34" charset="0"/>
                <a:ea typeface="Liberation Sans Narrow" pitchFamily="34" charset="-122"/>
                <a:cs typeface="Liberation Sans Narrow" pitchFamily="34" charset="-120"/>
              </a:rPr>
              <a:t>EP09 · today</a:t>
            </a:r>
            <a:endParaRPr lang="en-US" sz="800" dirty="0"/>
          </a:p>
        </p:txBody>
      </p:sp>
      <p:sp>
        <p:nvSpPr>
          <p:cNvPr id="30" name="Text 27"/>
          <p:cNvSpPr/>
          <p:nvPr/>
        </p:nvSpPr>
        <p:spPr>
          <a:xfrm>
            <a:off x="6193631" y="2100932"/>
            <a:ext cx="2381440" cy="186251"/>
          </a:xfrm>
          <a:prstGeom prst="rect">
            <a:avLst/>
          </a:prstGeom>
          <a:noFill/>
          <a:ln/>
        </p:spPr>
        <p:txBody>
          <a:bodyPr wrap="square" lIns="0" tIns="0" rIns="0" bIns="0" rtlCol="0" anchor="t"/>
          <a:lstStyle/>
          <a:p>
            <a:pPr algn="l" indent="0" marL="0">
              <a:lnSpc>
                <a:spcPts val="1358"/>
              </a:lnSpc>
              <a:buNone/>
            </a:pPr>
            <a:r>
              <a:rPr lang="en-US" sz="1181" b="1" spc="-12" kern="0" dirty="0">
                <a:solidFill>
                  <a:srgbClr val="F4F4F5"/>
                </a:solidFill>
                <a:latin typeface="Carlito" pitchFamily="34" charset="0"/>
                <a:ea typeface="Carlito" pitchFamily="34" charset="-122"/>
                <a:cs typeface="Carlito" pitchFamily="34" charset="-120"/>
              </a:rPr>
              <a:t>The OTHER kinds of MCP server</a:t>
            </a:r>
            <a:endParaRPr lang="en-US" sz="1181" dirty="0"/>
          </a:p>
        </p:txBody>
      </p:sp>
      <p:sp>
        <p:nvSpPr>
          <p:cNvPr id="31" name="Text 28"/>
          <p:cNvSpPr/>
          <p:nvPr/>
        </p:nvSpPr>
        <p:spPr>
          <a:xfrm>
            <a:off x="6193631" y="2373399"/>
            <a:ext cx="2271713" cy="339961"/>
          </a:xfrm>
          <a:prstGeom prst="rect">
            <a:avLst/>
          </a:prstGeom>
          <a:noFill/>
          <a:ln/>
        </p:spPr>
        <p:txBody>
          <a:bodyPr wrap="square" lIns="0" tIns="0" rIns="0" bIns="0" rtlCol="0" anchor="t"/>
          <a:lstStyle/>
          <a:p>
            <a:pPr algn="l" indent="0" marL="0">
              <a:lnSpc>
                <a:spcPts val="1221"/>
              </a:lnSpc>
              <a:buNone/>
            </a:pPr>
            <a:r>
              <a:rPr lang="en-US" sz="800" dirty="0">
                <a:solidFill>
                  <a:srgbClr val="A1A1AA"/>
                </a:solidFill>
                <a:latin typeface="Carlito" pitchFamily="34" charset="0"/>
                <a:ea typeface="Carlito" pitchFamily="34" charset="-122"/>
                <a:cs typeface="Carlito" pitchFamily="34" charset="-120"/>
              </a:rPr>
              <a:t>Connect to someone else's MCP server (GitHub), and build our own — but standalone this time.</a:t>
            </a:r>
            <a:endParaRPr lang="en-US" sz="800" dirty="0"/>
          </a:p>
        </p:txBody>
      </p:sp>
      <p:sp>
        <p:nvSpPr>
          <p:cNvPr id="32" name="Text 29"/>
          <p:cNvSpPr/>
          <p:nvPr/>
        </p:nvSpPr>
        <p:spPr>
          <a:xfrm>
            <a:off x="6170771" y="2771913"/>
            <a:ext cx="817245" cy="212027"/>
          </a:xfrm>
          <a:prstGeom prst="roundRect">
            <a:avLst>
              <a:gd name="adj" fmla="val 17969"/>
            </a:avLst>
          </a:prstGeom>
          <a:solidFill>
            <a:srgbClr val="FF7A1A">
              <a:alpha val="8000"/>
            </a:srgbClr>
          </a:solidFill>
          <a:ln w="7144">
            <a:solidFill>
              <a:srgbClr val="FF7A1A"/>
            </a:solidFill>
            <a:prstDash val="solid"/>
          </a:ln>
        </p:spPr>
        <p:txBody>
          <a:bodyPr wrap="square" rtlCol="0" anchor="ctr"/>
          <a:lstStyle/>
          <a:p>
            <a:pPr indent="0" marL="0">
              <a:buNone/>
            </a:pPr>
            <a:endParaRPr lang="en-US" dirty="0"/>
          </a:p>
        </p:txBody>
      </p:sp>
      <p:sp>
        <p:nvSpPr>
          <p:cNvPr id="33" name="Text 30"/>
          <p:cNvSpPr/>
          <p:nvPr/>
        </p:nvSpPr>
        <p:spPr>
          <a:xfrm>
            <a:off x="6193631" y="2783272"/>
            <a:ext cx="771525" cy="189309"/>
          </a:xfrm>
          <a:prstGeom prst="rect">
            <a:avLst/>
          </a:prstGeom>
          <a:noFill/>
          <a:ln/>
        </p:spPr>
        <p:txBody>
          <a:bodyPr wrap="none" lIns="0" tIns="0" rIns="0" bIns="0" rtlCol="0" anchor="ctr"/>
          <a:lstStyle/>
          <a:p>
            <a:pPr algn="ctr" indent="0" marL="0">
              <a:lnSpc>
                <a:spcPts val="928"/>
              </a:lnSpc>
              <a:buNone/>
            </a:pPr>
            <a:r>
              <a:rPr lang="en-US" sz="800" dirty="0">
                <a:solidFill>
                  <a:srgbClr val="FF7A1A"/>
                </a:solidFill>
                <a:latin typeface="Courier New" pitchFamily="34" charset="0"/>
                <a:ea typeface="Courier New" pitchFamily="34" charset="-122"/>
                <a:cs typeface="Courier New" pitchFamily="34" charset="-120"/>
              </a:rPr>
              <a:t>separate process</a:t>
            </a:r>
            <a:endParaRPr lang="en-US" sz="800" dirty="0"/>
          </a:p>
        </p:txBody>
      </p:sp>
      <p:sp>
        <p:nvSpPr>
          <p:cNvPr id="34" name="Text 31"/>
          <p:cNvSpPr/>
          <p:nvPr/>
        </p:nvSpPr>
        <p:spPr>
          <a:xfrm>
            <a:off x="517922" y="4343400"/>
            <a:ext cx="8108156" cy="396478"/>
          </a:xfrm>
          <a:prstGeom prst="roundRect">
            <a:avLst>
              <a:gd name="adj" fmla="val 24024"/>
            </a:avLst>
          </a:prstGeom>
          <a:solidFill>
            <a:srgbClr val="FF7A1A">
              <a:alpha val="5000"/>
            </a:srgbClr>
          </a:solidFill>
          <a:ln w="7144">
            <a:solidFill>
              <a:srgbClr val="FF7A1A"/>
            </a:solidFill>
            <a:prstDash val="solid"/>
          </a:ln>
        </p:spPr>
        <p:txBody>
          <a:bodyPr wrap="square" rtlCol="0" anchor="ctr"/>
          <a:lstStyle/>
          <a:p>
            <a:pPr indent="0" marL="0">
              <a:buNone/>
            </a:pPr>
            <a:endParaRPr lang="en-US" dirty="0"/>
          </a:p>
        </p:txBody>
      </p:sp>
      <p:sp>
        <p:nvSpPr>
          <p:cNvPr id="35" name="Text 32"/>
          <p:cNvSpPr/>
          <p:nvPr/>
        </p:nvSpPr>
        <p:spPr>
          <a:xfrm>
            <a:off x="641509" y="4435626"/>
            <a:ext cx="1002759" cy="212027"/>
          </a:xfrm>
          <a:prstGeom prst="roundRect">
            <a:avLst>
              <a:gd name="adj" fmla="val 17969"/>
            </a:avLst>
          </a:prstGeom>
          <a:solidFill>
            <a:srgbClr val="FF7A1A">
              <a:alpha val="10000"/>
            </a:srgbClr>
          </a:solidFill>
          <a:ln w="7144">
            <a:solidFill>
              <a:srgbClr val="FF7A1A"/>
            </a:solidFill>
            <a:prstDash val="solid"/>
          </a:ln>
        </p:spPr>
        <p:txBody>
          <a:bodyPr wrap="square" rtlCol="0" anchor="ctr"/>
          <a:lstStyle/>
          <a:p>
            <a:pPr indent="0" marL="0">
              <a:buNone/>
            </a:pPr>
            <a:endParaRPr lang="en-US" dirty="0"/>
          </a:p>
        </p:txBody>
      </p:sp>
      <p:sp>
        <p:nvSpPr>
          <p:cNvPr id="36" name="Text 33"/>
          <p:cNvSpPr/>
          <p:nvPr/>
        </p:nvSpPr>
        <p:spPr>
          <a:xfrm>
            <a:off x="664369" y="4446984"/>
            <a:ext cx="957039" cy="189309"/>
          </a:xfrm>
          <a:prstGeom prst="rect">
            <a:avLst/>
          </a:prstGeom>
          <a:noFill/>
          <a:ln/>
        </p:spPr>
        <p:txBody>
          <a:bodyPr wrap="none" lIns="0" tIns="0" rIns="0" bIns="0" rtlCol="0" anchor="ctr"/>
          <a:lstStyle/>
          <a:p>
            <a:pPr algn="ctr" indent="0" marL="0">
              <a:lnSpc>
                <a:spcPts val="928"/>
              </a:lnSpc>
              <a:buNone/>
            </a:pPr>
            <a:r>
              <a:rPr lang="en-US" sz="800" spc="149" kern="0" dirty="0">
                <a:solidFill>
                  <a:srgbClr val="FF7A1A"/>
                </a:solidFill>
                <a:latin typeface="Courier New" pitchFamily="34" charset="0"/>
                <a:ea typeface="Courier New" pitchFamily="34" charset="-122"/>
                <a:cs typeface="Courier New" pitchFamily="34" charset="-120"/>
              </a:rPr>
              <a:t>THE CONFESSION</a:t>
            </a:r>
            <a:endParaRPr lang="en-US" sz="800" dirty="0"/>
          </a:p>
        </p:txBody>
      </p:sp>
      <p:sp>
        <p:nvSpPr>
          <p:cNvPr id="37" name="Text 34"/>
          <p:cNvSpPr/>
          <p:nvPr/>
        </p:nvSpPr>
        <p:spPr>
          <a:xfrm>
            <a:off x="1735708" y="4472657"/>
            <a:ext cx="1065758" cy="142875"/>
          </a:xfrm>
          <a:prstGeom prst="roundRect">
            <a:avLst>
              <a:gd name="adj" fmla="val 26667"/>
            </a:avLst>
          </a:prstGeom>
          <a:solidFill>
            <a:srgbClr val="1D1D24"/>
          </a:solidFill>
          <a:ln/>
        </p:spPr>
        <p:txBody>
          <a:bodyPr wrap="square" rtlCol="0" anchor="ctr"/>
          <a:lstStyle/>
          <a:p>
            <a:pPr indent="0" marL="0">
              <a:buNone/>
            </a:pPr>
            <a:endParaRPr lang="en-US" dirty="0"/>
          </a:p>
        </p:txBody>
      </p:sp>
      <p:sp>
        <p:nvSpPr>
          <p:cNvPr id="38" name="Text 35"/>
          <p:cNvSpPr/>
          <p:nvPr/>
        </p:nvSpPr>
        <p:spPr>
          <a:xfrm>
            <a:off x="1735708" y="4465513"/>
            <a:ext cx="6743923" cy="167041"/>
          </a:xfrm>
          <a:prstGeom prst="rect">
            <a:avLst/>
          </a:prstGeom>
          <a:noFill/>
          <a:ln/>
        </p:spPr>
        <p:txBody>
          <a:bodyPr wrap="square" lIns="0" tIns="0" rIns="0" bIns="0" rtlCol="0" anchor="t"/>
          <a:lstStyle/>
          <a:p>
            <a:pPr algn="l" indent="0" marL="0">
              <a:lnSpc>
                <a:spcPts val="1181"/>
              </a:lnSpc>
              <a:buNone/>
            </a:pPr>
            <a:r>
              <a:rPr lang="en-US" sz="788" dirty="0">
                <a:solidFill>
                  <a:srgbClr val="FF7A1A"/>
                </a:solidFill>
                <a:highlight>
                  <a:srgbClr val="1D1D24"/>
                </a:highlight>
                <a:latin typeface="Courier New" pitchFamily="34" charset="0"/>
                <a:ea typeface="Courier New" pitchFamily="34" charset="-122"/>
                <a:cs typeface="Courier New" pitchFamily="34" charset="-120"/>
              </a:rPr>
              <a:t>create_sdk_mcp_server</a:t>
            </a:r>
            <a:pPr algn="l" indent="0" marL="0">
              <a:lnSpc>
                <a:spcPts val="1181"/>
              </a:lnSpc>
              <a:buNone/>
            </a:pPr>
            <a:r>
              <a:rPr lang="en-US" sz="788" dirty="0">
                <a:solidFill>
                  <a:srgbClr val="F4F4F5"/>
                </a:solidFill>
                <a:latin typeface="Carlito" pitchFamily="34" charset="0"/>
                <a:ea typeface="Carlito" pitchFamily="34" charset="-122"/>
                <a:cs typeface="Carlito" pitchFamily="34" charset="-120"/>
              </a:rPr>
              <a:t> builds a </a:t>
            </a:r>
            <a:pPr algn="l" indent="0" marL="0">
              <a:lnSpc>
                <a:spcPts val="1181"/>
              </a:lnSpc>
              <a:buNone/>
            </a:pPr>
            <a:r>
              <a:rPr lang="en-US" sz="788" dirty="0">
                <a:solidFill>
                  <a:srgbClr val="FF7A1A"/>
                </a:solidFill>
                <a:latin typeface="Carlito" pitchFamily="34" charset="0"/>
                <a:ea typeface="Carlito" pitchFamily="34" charset="-122"/>
                <a:cs typeface="Carlito" pitchFamily="34" charset="-120"/>
              </a:rPr>
              <a:t>real MCP server</a:t>
            </a:r>
            <a:pPr algn="l" indent="0" marL="0">
              <a:lnSpc>
                <a:spcPts val="1181"/>
              </a:lnSpc>
              <a:buNone/>
            </a:pPr>
            <a:r>
              <a:rPr lang="en-US" sz="788" dirty="0">
                <a:solidFill>
                  <a:srgbClr val="F4F4F5"/>
                </a:solidFill>
                <a:latin typeface="Carlito" pitchFamily="34" charset="0"/>
                <a:ea typeface="Carlito" pitchFamily="34" charset="-122"/>
                <a:cs typeface="Carlito" pitchFamily="34" charset="-120"/>
              </a:rPr>
              <a:t> — an in-process one. The two new patterns today are the OTHER kinds of MCP server.</a:t>
            </a:r>
            <a:endParaRPr lang="en-US" sz="788" dirty="0"/>
          </a:p>
        </p:txBody>
      </p:sp>
      <p:sp>
        <p:nvSpPr>
          <p:cNvPr id="39" name="Text 36"/>
          <p:cNvSpPr/>
          <p:nvPr/>
        </p:nvSpPr>
        <p:spPr>
          <a:xfrm>
            <a:off x="514350" y="4868466"/>
            <a:ext cx="6824849"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EP09 · MCP IN THE REAL WORLD</a:t>
            </a:r>
            <a:endParaRPr lang="en-US" sz="800" dirty="0"/>
          </a:p>
        </p:txBody>
      </p:sp>
      <p:sp>
        <p:nvSpPr>
          <p:cNvPr id="40" name="Text 37"/>
          <p:cNvSpPr/>
          <p:nvPr/>
        </p:nvSpPr>
        <p:spPr>
          <a:xfrm>
            <a:off x="7353486" y="4868466"/>
            <a:ext cx="1561706" cy="164592"/>
          </a:xfrm>
          <a:prstGeom prst="rect">
            <a:avLst/>
          </a:prstGeom>
          <a:noFill/>
          <a:ln/>
        </p:spPr>
        <p:txBody>
          <a:bodyPr wrap="none" lIns="0" tIns="0" rIns="0" bIns="0" rtlCol="0" anchor="t"/>
          <a:lstStyle/>
          <a:p>
            <a:pPr algn="l" indent="0" marL="0">
              <a:lnSpc>
                <a:spcPts val="928"/>
              </a:lnSpc>
              <a:buNone/>
            </a:pPr>
            <a:r>
              <a:rPr lang="en-US" sz="619" spc="99" kern="0" dirty="0">
                <a:solidFill>
                  <a:srgbClr val="71717A"/>
                </a:solidFill>
                <a:latin typeface="Liberation Sans Narrow" pitchFamily="34" charset="0"/>
                <a:ea typeface="Liberation Sans Narrow" pitchFamily="34" charset="-122"/>
                <a:cs typeface="Liberation Sans Narrow" pitchFamily="34" charset="-120"/>
              </a:rPr>
              <a:t>3 PATTERNS · 1 CONFESSION</a:t>
            </a:r>
            <a:endParaRPr lang="en-US" sz="619"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257175" y="200025"/>
            <a:ext cx="2232705"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71717A"/>
                </a:solidFill>
                <a:latin typeface="Liberation Sans Narrow" pitchFamily="34" charset="0"/>
                <a:ea typeface="Liberation Sans Narrow" pitchFamily="34" charset="-122"/>
                <a:cs typeface="Liberation Sans Narrow" pitchFamily="34" charset="-120"/>
              </a:rPr>
              <a:t>EP09 </a:t>
            </a:r>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a:t>
            </a:r>
            <a:pPr algn="l" indent="0" marL="0">
              <a:lnSpc>
                <a:spcPts val="928"/>
              </a:lnSpc>
              <a:buNone/>
            </a:pPr>
            <a:r>
              <a:rPr lang="en-US" sz="800" spc="173" kern="0" dirty="0">
                <a:solidFill>
                  <a:srgbClr val="71717A"/>
                </a:solidFill>
                <a:latin typeface="Courier New" pitchFamily="34" charset="0"/>
                <a:ea typeface="Courier New" pitchFamily="34" charset="-122"/>
                <a:cs typeface="Courier New" pitchFamily="34" charset="-120"/>
              </a:rPr>
              <a:t> MCP IN THE REAL WORLD</a:t>
            </a:r>
            <a:endParaRPr lang="en-US" sz="800" dirty="0"/>
          </a:p>
        </p:txBody>
      </p:sp>
      <p:sp>
        <p:nvSpPr>
          <p:cNvPr id="3" name="Text 1"/>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06 / 30</a:t>
            </a:r>
            <a:endParaRPr lang="en-US" sz="800" dirty="0"/>
          </a:p>
        </p:txBody>
      </p:sp>
      <p:sp>
        <p:nvSpPr>
          <p:cNvPr id="4" name="Text 2"/>
          <p:cNvSpPr/>
          <p:nvPr/>
        </p:nvSpPr>
        <p:spPr>
          <a:xfrm>
            <a:off x="4480903" y="3214688"/>
            <a:ext cx="4663097" cy="1928813"/>
          </a:xfrm>
          <a:prstGeom prst="rect">
            <a:avLst/>
          </a:prstGeom>
          <a:noFill/>
          <a:ln/>
        </p:spPr>
        <p:txBody>
          <a:bodyPr wrap="square" lIns="0" tIns="0" rIns="0" bIns="0" rtlCol="0" anchor="t"/>
          <a:lstStyle/>
          <a:p>
            <a:pPr algn="l" indent="0" marL="0">
              <a:lnSpc>
                <a:spcPts val="20250"/>
              </a:lnSpc>
              <a:buNone/>
            </a:pPr>
            <a:r>
              <a:rPr lang="en-US" sz="20250" b="1" dirty="0">
                <a:solidFill>
                  <a:srgbClr val="FF7A1A">
                    <a:alpha val="4000"/>
                  </a:srgbClr>
                </a:solidFill>
                <a:latin typeface="Liberation Sans Narrow" pitchFamily="34" charset="0"/>
                <a:ea typeface="Liberation Sans Narrow" pitchFamily="34" charset="-122"/>
                <a:cs typeface="Liberation Sans Narrow" pitchFamily="34" charset="-120"/>
              </a:rPr>
              <a:t>06</a:t>
            </a:r>
            <a:endParaRPr lang="en-US" sz="20250" dirty="0"/>
          </a:p>
        </p:txBody>
      </p:sp>
      <p:sp>
        <p:nvSpPr>
          <p:cNvPr id="5" name="Text 3"/>
          <p:cNvSpPr/>
          <p:nvPr/>
        </p:nvSpPr>
        <p:spPr>
          <a:xfrm>
            <a:off x="514350" y="600075"/>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ROADMAP</a:t>
            </a:r>
            <a:endParaRPr lang="en-US" sz="800" dirty="0"/>
          </a:p>
        </p:txBody>
      </p:sp>
      <p:sp>
        <p:nvSpPr>
          <p:cNvPr id="6" name="Text 4"/>
          <p:cNvSpPr/>
          <p:nvPr/>
        </p:nvSpPr>
        <p:spPr>
          <a:xfrm>
            <a:off x="514350" y="817959"/>
            <a:ext cx="8521065" cy="373346"/>
          </a:xfrm>
          <a:prstGeom prst="rect">
            <a:avLst/>
          </a:prstGeom>
          <a:noFill/>
          <a:ln/>
        </p:spPr>
        <p:txBody>
          <a:bodyPr wrap="non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Two New Patterns </a:t>
            </a:r>
            <a:pPr algn="l" indent="0" marL="0">
              <a:lnSpc>
                <a:spcPts val="2723"/>
              </a:lnSpc>
              <a:buNone/>
            </a:pPr>
            <a:r>
              <a:rPr lang="en-US" sz="2475" b="1" spc="-49" kern="0" dirty="0">
                <a:solidFill>
                  <a:srgbClr val="FF7A1A"/>
                </a:solidFill>
                <a:latin typeface="Carlito" pitchFamily="34" charset="0"/>
                <a:ea typeface="Carlito" pitchFamily="34" charset="-122"/>
                <a:cs typeface="Carlito" pitchFamily="34" charset="-120"/>
              </a:rPr>
              <a:t>For Today</a:t>
            </a:r>
            <a:endParaRPr lang="en-US" sz="2475" dirty="0"/>
          </a:p>
        </p:txBody>
      </p:sp>
      <p:sp>
        <p:nvSpPr>
          <p:cNvPr id="7" name="Shape 5"/>
          <p:cNvSpPr/>
          <p:nvPr/>
        </p:nvSpPr>
        <p:spPr>
          <a:xfrm>
            <a:off x="514350" y="1345816"/>
            <a:ext cx="400050" cy="0"/>
          </a:xfrm>
          <a:prstGeom prst="line">
            <a:avLst/>
          </a:prstGeom>
          <a:noFill/>
          <a:ln w="7144">
            <a:solidFill>
              <a:srgbClr val="F4F4F5"/>
            </a:solidFill>
            <a:prstDash val="solid"/>
          </a:ln>
        </p:spPr>
      </p:sp>
      <p:sp>
        <p:nvSpPr>
          <p:cNvPr id="8" name="Text 6"/>
          <p:cNvSpPr/>
          <p:nvPr/>
        </p:nvSpPr>
        <p:spPr>
          <a:xfrm>
            <a:off x="1912529" y="1850120"/>
            <a:ext cx="5318942" cy="345860"/>
          </a:xfrm>
          <a:prstGeom prst="rect">
            <a:avLst/>
          </a:prstGeom>
          <a:noFill/>
          <a:ln/>
        </p:spPr>
        <p:txBody>
          <a:bodyPr wrap="square" lIns="0" tIns="0" rIns="0" bIns="0" rtlCol="0" anchor="t"/>
          <a:lstStyle/>
          <a:p>
            <a:pPr algn="ctr" indent="0" marL="0">
              <a:lnSpc>
                <a:spcPts val="2522"/>
              </a:lnSpc>
              <a:buNone/>
            </a:pPr>
            <a:r>
              <a:rPr lang="en-US" sz="2138" b="1" spc="-38" kern="0" dirty="0">
                <a:solidFill>
                  <a:srgbClr val="F4F4F5"/>
                </a:solidFill>
                <a:latin typeface="Carlito" pitchFamily="34" charset="0"/>
                <a:ea typeface="Carlito" pitchFamily="34" charset="-122"/>
                <a:cs typeface="Carlito" pitchFamily="34" charset="-120"/>
              </a:rPr>
              <a:t>Two patterns. </a:t>
            </a:r>
            <a:pPr algn="ctr" indent="0" marL="0">
              <a:lnSpc>
                <a:spcPts val="2522"/>
              </a:lnSpc>
              <a:buNone/>
            </a:pPr>
            <a:r>
              <a:rPr lang="en-US" sz="2138" b="1" spc="-38" kern="0" dirty="0">
                <a:solidFill>
                  <a:srgbClr val="FF7A1A"/>
                </a:solidFill>
                <a:latin typeface="Carlito" pitchFamily="34" charset="0"/>
                <a:ea typeface="Carlito" pitchFamily="34" charset="-122"/>
                <a:cs typeface="Carlito" pitchFamily="34" charset="-120"/>
              </a:rPr>
              <a:t>Both</a:t>
            </a:r>
            <a:pPr algn="ctr" indent="0" marL="0">
              <a:lnSpc>
                <a:spcPts val="2522"/>
              </a:lnSpc>
              <a:buNone/>
            </a:pPr>
            <a:r>
              <a:rPr lang="en-US" sz="2138" b="1" spc="-38" kern="0" dirty="0">
                <a:solidFill>
                  <a:srgbClr val="F4F4F5"/>
                </a:solidFill>
                <a:latin typeface="Carlito" pitchFamily="34" charset="0"/>
                <a:ea typeface="Carlito" pitchFamily="34" charset="-122"/>
                <a:cs typeface="Carlito" pitchFamily="34" charset="-120"/>
              </a:rPr>
              <a:t> end up living in one file.</a:t>
            </a:r>
            <a:endParaRPr lang="en-US" sz="2138" dirty="0"/>
          </a:p>
        </p:txBody>
      </p:sp>
      <p:sp>
        <p:nvSpPr>
          <p:cNvPr id="9" name="Text 7"/>
          <p:cNvSpPr/>
          <p:nvPr/>
        </p:nvSpPr>
        <p:spPr>
          <a:xfrm>
            <a:off x="932259" y="2431107"/>
            <a:ext cx="3536156" cy="1536576"/>
          </a:xfrm>
          <a:prstGeom prst="roundRect">
            <a:avLst>
              <a:gd name="adj" fmla="val 7439"/>
            </a:avLst>
          </a:prstGeom>
          <a:solidFill>
            <a:srgbClr val="15151A"/>
          </a:solidFill>
          <a:ln w="7144">
            <a:solidFill>
              <a:srgbClr val="2A2A33"/>
            </a:solidFill>
            <a:prstDash val="solid"/>
          </a:ln>
        </p:spPr>
        <p:txBody>
          <a:bodyPr wrap="square" rtlCol="0" anchor="ctr"/>
          <a:lstStyle/>
          <a:p>
            <a:pPr indent="0" marL="0">
              <a:buNone/>
            </a:pPr>
            <a:endParaRPr lang="en-US" dirty="0"/>
          </a:p>
        </p:txBody>
      </p:sp>
      <p:sp>
        <p:nvSpPr>
          <p:cNvPr id="10" name="Text 8"/>
          <p:cNvSpPr/>
          <p:nvPr/>
        </p:nvSpPr>
        <p:spPr>
          <a:xfrm>
            <a:off x="1107281" y="2591842"/>
            <a:ext cx="3186113" cy="164592"/>
          </a:xfrm>
          <a:prstGeom prst="rect">
            <a:avLst/>
          </a:prstGeom>
          <a:noFill/>
          <a:ln/>
        </p:spPr>
        <p:txBody>
          <a:bodyPr wrap="none" lIns="0" tIns="0" rIns="0" bIns="0" rtlCol="0" anchor="t"/>
          <a:lstStyle/>
          <a:p>
            <a:pPr algn="l" indent="0" marL="0">
              <a:lnSpc>
                <a:spcPts val="1097"/>
              </a:lnSpc>
              <a:buNone/>
            </a:pPr>
            <a:r>
              <a:rPr lang="en-US" sz="800" spc="161" kern="0" dirty="0">
                <a:solidFill>
                  <a:srgbClr val="FF7A1A"/>
                </a:solidFill>
                <a:latin typeface="Liberation Sans Narrow" pitchFamily="34" charset="0"/>
                <a:ea typeface="Liberation Sans Narrow" pitchFamily="34" charset="-122"/>
                <a:cs typeface="Liberation Sans Narrow" pitchFamily="34" charset="-120"/>
              </a:rPr>
              <a:t>PATTERN 03</a:t>
            </a:r>
            <a:endParaRPr lang="en-US" sz="800" dirty="0"/>
          </a:p>
        </p:txBody>
      </p:sp>
      <p:sp>
        <p:nvSpPr>
          <p:cNvPr id="11" name="Text 9"/>
          <p:cNvSpPr/>
          <p:nvPr/>
        </p:nvSpPr>
        <p:spPr>
          <a:xfrm>
            <a:off x="1107281" y="2816870"/>
            <a:ext cx="3295840" cy="191073"/>
          </a:xfrm>
          <a:prstGeom prst="rect">
            <a:avLst/>
          </a:prstGeom>
          <a:noFill/>
          <a:ln/>
        </p:spPr>
        <p:txBody>
          <a:bodyPr wrap="square" lIns="0" tIns="0" rIns="0" bIns="0" rtlCol="0" anchor="t"/>
          <a:lstStyle/>
          <a:p>
            <a:pPr algn="l" indent="0" marL="0">
              <a:lnSpc>
                <a:spcPts val="1394"/>
              </a:lnSpc>
              <a:buNone/>
            </a:pPr>
            <a:r>
              <a:rPr lang="en-US" sz="1181" b="1" spc="-12" kern="0" dirty="0">
                <a:solidFill>
                  <a:srgbClr val="F4F4F5"/>
                </a:solidFill>
                <a:latin typeface="Carlito" pitchFamily="34" charset="0"/>
                <a:ea typeface="Carlito" pitchFamily="34" charset="-122"/>
                <a:cs typeface="Carlito" pitchFamily="34" charset="-120"/>
              </a:rPr>
              <a:t>Connect to somebody else's MCP server</a:t>
            </a:r>
            <a:endParaRPr lang="en-US" sz="1181" dirty="0"/>
          </a:p>
        </p:txBody>
      </p:sp>
      <p:sp>
        <p:nvSpPr>
          <p:cNvPr id="12" name="Text 10"/>
          <p:cNvSpPr/>
          <p:nvPr/>
        </p:nvSpPr>
        <p:spPr>
          <a:xfrm>
            <a:off x="1107281" y="3079514"/>
            <a:ext cx="3186113" cy="339961"/>
          </a:xfrm>
          <a:prstGeom prst="rect">
            <a:avLst/>
          </a:prstGeom>
          <a:noFill/>
          <a:ln/>
        </p:spPr>
        <p:txBody>
          <a:bodyPr wrap="square" lIns="0" tIns="0" rIns="0" bIns="0" rtlCol="0" anchor="t"/>
          <a:lstStyle/>
          <a:p>
            <a:pPr algn="l" indent="0" marL="0">
              <a:lnSpc>
                <a:spcPts val="1221"/>
              </a:lnSpc>
              <a:buNone/>
            </a:pPr>
            <a:r>
              <a:rPr lang="en-US" sz="800" dirty="0">
                <a:solidFill>
                  <a:srgbClr val="A1A1AA"/>
                </a:solidFill>
                <a:latin typeface="Carlito" pitchFamily="34" charset="0"/>
                <a:ea typeface="Carlito" pitchFamily="34" charset="-122"/>
                <a:cs typeface="Carlito" pitchFamily="34" charset="-120"/>
              </a:rPr>
              <a:t>They wrote it. They run it. You just point your agent at it — config, not code. Today's example: GitHub's own official MCP server.</a:t>
            </a:r>
            <a:endParaRPr lang="en-US" sz="800" dirty="0"/>
          </a:p>
        </p:txBody>
      </p:sp>
      <p:sp>
        <p:nvSpPr>
          <p:cNvPr id="13" name="Text 11"/>
          <p:cNvSpPr/>
          <p:nvPr/>
        </p:nvSpPr>
        <p:spPr>
          <a:xfrm>
            <a:off x="1084421" y="3464598"/>
            <a:ext cx="1035576" cy="196025"/>
          </a:xfrm>
          <a:prstGeom prst="roundRect">
            <a:avLst>
              <a:gd name="adj" fmla="val 19436"/>
            </a:avLst>
          </a:prstGeom>
          <a:solidFill>
            <a:srgbClr val="0B0B0D"/>
          </a:solidFill>
          <a:ln w="7144">
            <a:solidFill>
              <a:srgbClr val="2A2A33"/>
            </a:solidFill>
            <a:prstDash val="solid"/>
          </a:ln>
        </p:spPr>
        <p:txBody>
          <a:bodyPr wrap="square" rtlCol="0" anchor="ctr"/>
          <a:lstStyle/>
          <a:p>
            <a:pPr indent="0" marL="0">
              <a:buNone/>
            </a:pPr>
            <a:endParaRPr lang="en-US" dirty="0"/>
          </a:p>
        </p:txBody>
      </p:sp>
      <p:sp>
        <p:nvSpPr>
          <p:cNvPr id="14" name="Text 12"/>
          <p:cNvSpPr/>
          <p:nvPr/>
        </p:nvSpPr>
        <p:spPr>
          <a:xfrm>
            <a:off x="1107281" y="3475100"/>
            <a:ext cx="989856" cy="175022"/>
          </a:xfrm>
          <a:prstGeom prst="rect">
            <a:avLst/>
          </a:prstGeom>
          <a:noFill/>
          <a:ln/>
        </p:spPr>
        <p:txBody>
          <a:bodyPr wrap="none" lIns="0" tIns="0" rIns="0" bIns="0" rtlCol="0" anchor="ctr"/>
          <a:lstStyle/>
          <a:p>
            <a:pPr algn="ctr" indent="0" marL="0">
              <a:lnSpc>
                <a:spcPts val="928"/>
              </a:lnSpc>
              <a:buNone/>
            </a:pPr>
            <a:r>
              <a:rPr lang="en-US" sz="800" spc="99" kern="0" dirty="0">
                <a:solidFill>
                  <a:srgbClr val="FF7A1A"/>
                </a:solidFill>
                <a:latin typeface="Courier New" pitchFamily="34" charset="0"/>
                <a:ea typeface="Courier New" pitchFamily="34" charset="-122"/>
                <a:cs typeface="Courier New" pitchFamily="34" charset="-120"/>
              </a:rPr>
              <a:t>CONFIG · NOT CODE</a:t>
            </a:r>
            <a:endParaRPr lang="en-US" sz="800" dirty="0"/>
          </a:p>
        </p:txBody>
      </p:sp>
      <p:sp>
        <p:nvSpPr>
          <p:cNvPr id="15" name="Text 13"/>
          <p:cNvSpPr/>
          <p:nvPr/>
        </p:nvSpPr>
        <p:spPr>
          <a:xfrm>
            <a:off x="4675584" y="2431107"/>
            <a:ext cx="3536156" cy="1536576"/>
          </a:xfrm>
          <a:prstGeom prst="roundRect">
            <a:avLst>
              <a:gd name="adj" fmla="val 7439"/>
            </a:avLst>
          </a:prstGeom>
          <a:solidFill>
            <a:srgbClr val="15151A"/>
          </a:solidFill>
          <a:ln w="7144">
            <a:solidFill>
              <a:srgbClr val="2A2A33"/>
            </a:solidFill>
            <a:prstDash val="solid"/>
          </a:ln>
        </p:spPr>
        <p:txBody>
          <a:bodyPr wrap="square" rtlCol="0" anchor="ctr"/>
          <a:lstStyle/>
          <a:p>
            <a:pPr indent="0" marL="0">
              <a:buNone/>
            </a:pPr>
            <a:endParaRPr lang="en-US" dirty="0"/>
          </a:p>
        </p:txBody>
      </p:sp>
      <p:sp>
        <p:nvSpPr>
          <p:cNvPr id="16" name="Text 14"/>
          <p:cNvSpPr/>
          <p:nvPr/>
        </p:nvSpPr>
        <p:spPr>
          <a:xfrm>
            <a:off x="4850606" y="2591842"/>
            <a:ext cx="3186113" cy="164592"/>
          </a:xfrm>
          <a:prstGeom prst="rect">
            <a:avLst/>
          </a:prstGeom>
          <a:noFill/>
          <a:ln/>
        </p:spPr>
        <p:txBody>
          <a:bodyPr wrap="none" lIns="0" tIns="0" rIns="0" bIns="0" rtlCol="0" anchor="t"/>
          <a:lstStyle/>
          <a:p>
            <a:pPr algn="l" indent="0" marL="0">
              <a:lnSpc>
                <a:spcPts val="1097"/>
              </a:lnSpc>
              <a:buNone/>
            </a:pPr>
            <a:r>
              <a:rPr lang="en-US" sz="800" spc="161" kern="0" dirty="0">
                <a:solidFill>
                  <a:srgbClr val="FF7A1A"/>
                </a:solidFill>
                <a:latin typeface="Liberation Sans Narrow" pitchFamily="34" charset="0"/>
                <a:ea typeface="Liberation Sans Narrow" pitchFamily="34" charset="-122"/>
                <a:cs typeface="Liberation Sans Narrow" pitchFamily="34" charset="-120"/>
              </a:rPr>
              <a:t>PATTERN 04</a:t>
            </a:r>
            <a:endParaRPr lang="en-US" sz="800" dirty="0"/>
          </a:p>
        </p:txBody>
      </p:sp>
      <p:sp>
        <p:nvSpPr>
          <p:cNvPr id="17" name="Text 15"/>
          <p:cNvSpPr/>
          <p:nvPr/>
        </p:nvSpPr>
        <p:spPr>
          <a:xfrm>
            <a:off x="4850606" y="2816870"/>
            <a:ext cx="3295840" cy="191073"/>
          </a:xfrm>
          <a:prstGeom prst="rect">
            <a:avLst/>
          </a:prstGeom>
          <a:noFill/>
          <a:ln/>
        </p:spPr>
        <p:txBody>
          <a:bodyPr wrap="square" lIns="0" tIns="0" rIns="0" bIns="0" rtlCol="0" anchor="t"/>
          <a:lstStyle/>
          <a:p>
            <a:pPr algn="l" indent="0" marL="0">
              <a:lnSpc>
                <a:spcPts val="1394"/>
              </a:lnSpc>
              <a:buNone/>
            </a:pPr>
            <a:r>
              <a:rPr lang="en-US" sz="1181" b="1" spc="-12" kern="0" dirty="0">
                <a:solidFill>
                  <a:srgbClr val="F4F4F5"/>
                </a:solidFill>
                <a:latin typeface="Carlito" pitchFamily="34" charset="0"/>
                <a:ea typeface="Carlito" pitchFamily="34" charset="-122"/>
                <a:cs typeface="Carlito" pitchFamily="34" charset="-120"/>
              </a:rPr>
              <a:t>Build our own — standalone this time</a:t>
            </a:r>
            <a:endParaRPr lang="en-US" sz="1181" dirty="0"/>
          </a:p>
        </p:txBody>
      </p:sp>
      <p:sp>
        <p:nvSpPr>
          <p:cNvPr id="18" name="Text 16"/>
          <p:cNvSpPr/>
          <p:nvPr/>
        </p:nvSpPr>
        <p:spPr>
          <a:xfrm>
            <a:off x="5541764" y="3241588"/>
            <a:ext cx="835819" cy="142875"/>
          </a:xfrm>
          <a:prstGeom prst="roundRect">
            <a:avLst>
              <a:gd name="adj" fmla="val 26667"/>
            </a:avLst>
          </a:prstGeom>
          <a:solidFill>
            <a:srgbClr val="1D1D24"/>
          </a:solidFill>
          <a:ln/>
        </p:spPr>
        <p:txBody>
          <a:bodyPr wrap="square" rtlCol="0" anchor="ctr"/>
          <a:lstStyle/>
          <a:p>
            <a:pPr indent="0" marL="0">
              <a:buNone/>
            </a:pPr>
            <a:endParaRPr lang="en-US" dirty="0"/>
          </a:p>
        </p:txBody>
      </p:sp>
      <p:sp>
        <p:nvSpPr>
          <p:cNvPr id="19" name="Text 17"/>
          <p:cNvSpPr/>
          <p:nvPr/>
        </p:nvSpPr>
        <p:spPr>
          <a:xfrm>
            <a:off x="4850606" y="3079514"/>
            <a:ext cx="3186113" cy="512023"/>
          </a:xfrm>
          <a:prstGeom prst="rect">
            <a:avLst/>
          </a:prstGeom>
          <a:noFill/>
          <a:ln/>
        </p:spPr>
        <p:txBody>
          <a:bodyPr wrap="square" lIns="0" tIns="0" rIns="0" bIns="0" rtlCol="0" anchor="t"/>
          <a:lstStyle/>
          <a:p>
            <a:pPr algn="l" indent="0" marL="0">
              <a:lnSpc>
                <a:spcPts val="1221"/>
              </a:lnSpc>
              <a:buNone/>
            </a:pPr>
            <a:r>
              <a:rPr lang="en-US" sz="800" dirty="0">
                <a:solidFill>
                  <a:srgbClr val="A1A1AA"/>
                </a:solidFill>
                <a:latin typeface="Carlito" pitchFamily="34" charset="0"/>
                <a:ea typeface="Carlito" pitchFamily="34" charset="-122"/>
                <a:cs typeface="Carlito" pitchFamily="34" charset="-120"/>
              </a:rPr>
              <a:t>A separate file, a separate process, speaking MCP over its own pipe. No knowledge that </a:t>
            </a:r>
            <a:pPr algn="l" indent="0" marL="0">
              <a:lnSpc>
                <a:spcPts val="1221"/>
              </a:lnSpc>
              <a:buNone/>
            </a:pPr>
            <a:r>
              <a:rPr lang="en-US" sz="800" dirty="0">
                <a:solidFill>
                  <a:srgbClr val="FF7A1A"/>
                </a:solidFill>
                <a:highlight>
                  <a:srgbClr val="1D1D24"/>
                </a:highlight>
                <a:latin typeface="Courier New" pitchFamily="34" charset="0"/>
                <a:ea typeface="Courier New" pitchFamily="34" charset="-122"/>
                <a:cs typeface="Courier New" pitchFamily="34" charset="-120"/>
              </a:rPr>
              <a:t>claude-agent-sdk</a:t>
            </a:r>
            <a:pPr algn="l" indent="0" marL="0">
              <a:lnSpc>
                <a:spcPts val="1221"/>
              </a:lnSpc>
              <a:buNone/>
            </a:pPr>
            <a:r>
              <a:rPr lang="en-US" sz="800" dirty="0">
                <a:solidFill>
                  <a:srgbClr val="A1A1AA"/>
                </a:solidFill>
                <a:latin typeface="Carlito" pitchFamily="34" charset="0"/>
                <a:ea typeface="Carlito" pitchFamily="34" charset="-122"/>
                <a:cs typeface="Carlito" pitchFamily="34" charset="-120"/>
              </a:rPr>
              <a:t> even exists. Portable to Cursor, Claude Desktop, anything.</a:t>
            </a:r>
            <a:endParaRPr lang="en-US" sz="800" dirty="0"/>
          </a:p>
        </p:txBody>
      </p:sp>
      <p:sp>
        <p:nvSpPr>
          <p:cNvPr id="20" name="Text 18"/>
          <p:cNvSpPr/>
          <p:nvPr/>
        </p:nvSpPr>
        <p:spPr>
          <a:xfrm>
            <a:off x="4827746" y="3621426"/>
            <a:ext cx="1004210" cy="196025"/>
          </a:xfrm>
          <a:prstGeom prst="roundRect">
            <a:avLst>
              <a:gd name="adj" fmla="val 19436"/>
            </a:avLst>
          </a:prstGeom>
          <a:solidFill>
            <a:srgbClr val="0B0B0D"/>
          </a:solidFill>
          <a:ln w="7144">
            <a:solidFill>
              <a:srgbClr val="2A2A33"/>
            </a:solidFill>
            <a:prstDash val="solid"/>
          </a:ln>
        </p:spPr>
        <p:txBody>
          <a:bodyPr wrap="square" rtlCol="0" anchor="ctr"/>
          <a:lstStyle/>
          <a:p>
            <a:pPr indent="0" marL="0">
              <a:buNone/>
            </a:pPr>
            <a:endParaRPr lang="en-US" dirty="0"/>
          </a:p>
        </p:txBody>
      </p:sp>
      <p:sp>
        <p:nvSpPr>
          <p:cNvPr id="21" name="Text 19"/>
          <p:cNvSpPr/>
          <p:nvPr/>
        </p:nvSpPr>
        <p:spPr>
          <a:xfrm>
            <a:off x="4850606" y="3631927"/>
            <a:ext cx="958490" cy="175022"/>
          </a:xfrm>
          <a:prstGeom prst="rect">
            <a:avLst/>
          </a:prstGeom>
          <a:noFill/>
          <a:ln/>
        </p:spPr>
        <p:txBody>
          <a:bodyPr wrap="none" lIns="0" tIns="0" rIns="0" bIns="0" rtlCol="0" anchor="ctr"/>
          <a:lstStyle/>
          <a:p>
            <a:pPr algn="ctr" indent="0" marL="0">
              <a:lnSpc>
                <a:spcPts val="928"/>
              </a:lnSpc>
              <a:buNone/>
            </a:pPr>
            <a:r>
              <a:rPr lang="en-US" sz="800" spc="99" kern="0" dirty="0">
                <a:solidFill>
                  <a:srgbClr val="FF7A1A"/>
                </a:solidFill>
                <a:latin typeface="Courier New" pitchFamily="34" charset="0"/>
                <a:ea typeface="Courier New" pitchFamily="34" charset="-122"/>
                <a:cs typeface="Courier New" pitchFamily="34" charset="-120"/>
              </a:rPr>
              <a:t>SEPARATE PROCESS</a:t>
            </a:r>
            <a:endParaRPr lang="en-US" sz="800" dirty="0"/>
          </a:p>
        </p:txBody>
      </p:sp>
      <p:sp>
        <p:nvSpPr>
          <p:cNvPr id="22" name="Text 20"/>
          <p:cNvSpPr/>
          <p:nvPr/>
        </p:nvSpPr>
        <p:spPr>
          <a:xfrm>
            <a:off x="3518297" y="4260577"/>
            <a:ext cx="157163" cy="157163"/>
          </a:xfrm>
          <a:prstGeom prst="rect">
            <a:avLst/>
          </a:prstGeom>
          <a:noFill/>
          <a:ln/>
        </p:spPr>
        <p:txBody>
          <a:bodyPr wrap="none" lIns="0" tIns="0" rIns="0" bIns="0" rtlCol="0" anchor="ctr"/>
          <a:lstStyle/>
          <a:p>
            <a:pPr algn="ctr" indent="0" marL="0">
              <a:buNone/>
            </a:pPr>
            <a:r>
              <a:rPr lang="en-US" sz="1547" dirty="0">
                <a:solidFill>
                  <a:srgbClr val="FF7A1A"/>
                </a:solidFill>
                <a:latin typeface="Segoe UI Symbol" pitchFamily="34" charset="0"/>
                <a:ea typeface="Segoe UI Symbol" pitchFamily="34" charset="-122"/>
                <a:cs typeface="Segoe UI Symbol" pitchFamily="34" charset="-120"/>
              </a:rPr>
              <a:t>↓</a:t>
            </a:r>
            <a:endParaRPr lang="en-US" sz="1547" dirty="0"/>
          </a:p>
        </p:txBody>
      </p:sp>
      <p:sp>
        <p:nvSpPr>
          <p:cNvPr id="23" name="Text 21"/>
          <p:cNvSpPr/>
          <p:nvPr/>
        </p:nvSpPr>
        <p:spPr>
          <a:xfrm>
            <a:off x="3719751" y="4264149"/>
            <a:ext cx="1225868" cy="164592"/>
          </a:xfrm>
          <a:prstGeom prst="rect">
            <a:avLst/>
          </a:prstGeom>
          <a:noFill/>
          <a:ln/>
        </p:spPr>
        <p:txBody>
          <a:bodyPr wrap="none" lIns="0" tIns="0" rIns="0" bIns="0" rtlCol="0" anchor="t"/>
          <a:lstStyle/>
          <a:p>
            <a:pPr algn="ctr" indent="0" marL="0">
              <a:lnSpc>
                <a:spcPts val="1181"/>
              </a:lnSpc>
              <a:buNone/>
            </a:pPr>
            <a:r>
              <a:rPr lang="en-US" sz="788" dirty="0">
                <a:solidFill>
                  <a:srgbClr val="A1A1AA"/>
                </a:solidFill>
                <a:latin typeface="Carlito" pitchFamily="34" charset="0"/>
                <a:ea typeface="Carlito" pitchFamily="34" charset="-122"/>
                <a:cs typeface="Carlito" pitchFamily="34" charset="-120"/>
              </a:rPr>
              <a:t>both patterns converge in</a:t>
            </a:r>
            <a:endParaRPr lang="en-US" sz="788" dirty="0"/>
          </a:p>
        </p:txBody>
      </p:sp>
      <p:sp>
        <p:nvSpPr>
          <p:cNvPr id="24" name="Text 22"/>
          <p:cNvSpPr/>
          <p:nvPr/>
        </p:nvSpPr>
        <p:spPr>
          <a:xfrm>
            <a:off x="4989909" y="4215629"/>
            <a:ext cx="635794" cy="247059"/>
          </a:xfrm>
          <a:prstGeom prst="roundRect">
            <a:avLst>
              <a:gd name="adj" fmla="val 23132"/>
            </a:avLst>
          </a:prstGeom>
          <a:solidFill>
            <a:srgbClr val="FF7A1A">
              <a:alpha val="8000"/>
            </a:srgbClr>
          </a:solidFill>
          <a:ln w="7144">
            <a:solidFill>
              <a:srgbClr val="FF7A1A"/>
            </a:solidFill>
            <a:prstDash val="solid"/>
          </a:ln>
        </p:spPr>
        <p:txBody>
          <a:bodyPr wrap="square" rtlCol="0" anchor="ctr"/>
          <a:lstStyle/>
          <a:p>
            <a:pPr indent="0" marL="0">
              <a:buNone/>
            </a:pPr>
            <a:endParaRPr lang="en-US" dirty="0"/>
          </a:p>
        </p:txBody>
      </p:sp>
      <p:sp>
        <p:nvSpPr>
          <p:cNvPr id="25" name="Text 23"/>
          <p:cNvSpPr/>
          <p:nvPr/>
        </p:nvSpPr>
        <p:spPr>
          <a:xfrm>
            <a:off x="4989909" y="4228430"/>
            <a:ext cx="635794" cy="221456"/>
          </a:xfrm>
          <a:prstGeom prst="rect">
            <a:avLst/>
          </a:prstGeom>
          <a:noFill/>
          <a:ln/>
        </p:spPr>
        <p:txBody>
          <a:bodyPr wrap="none" lIns="0" tIns="0" rIns="0" bIns="0" rtlCol="0" anchor="ctr"/>
          <a:lstStyle/>
          <a:p>
            <a:pPr algn="ctr" indent="0" marL="0">
              <a:lnSpc>
                <a:spcPts val="1181"/>
              </a:lnSpc>
              <a:buNone/>
            </a:pPr>
            <a:r>
              <a:rPr lang="en-US" sz="800" dirty="0">
                <a:solidFill>
                  <a:srgbClr val="FF7A1A"/>
                </a:solidFill>
                <a:latin typeface="Courier New" pitchFamily="34" charset="0"/>
                <a:ea typeface="Courier New" pitchFamily="34" charset="-122"/>
                <a:cs typeface="Courier New" pitchFamily="34" charset="-120"/>
              </a:rPr>
              <a:t>.mcp.json</a:t>
            </a:r>
            <a:endParaRPr lang="en-US" sz="800" dirty="0"/>
          </a:p>
        </p:txBody>
      </p:sp>
      <p:sp>
        <p:nvSpPr>
          <p:cNvPr id="26" name="Text 24"/>
          <p:cNvSpPr/>
          <p:nvPr/>
        </p:nvSpPr>
        <p:spPr>
          <a:xfrm>
            <a:off x="514350" y="4868466"/>
            <a:ext cx="7136048"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EP09 · MCP IN THE REAL WORLD</a:t>
            </a:r>
            <a:endParaRPr lang="en-US" sz="800" dirty="0"/>
          </a:p>
        </p:txBody>
      </p:sp>
      <p:sp>
        <p:nvSpPr>
          <p:cNvPr id="27" name="Text 25"/>
          <p:cNvSpPr/>
          <p:nvPr/>
        </p:nvSpPr>
        <p:spPr>
          <a:xfrm>
            <a:off x="7664686" y="4868466"/>
            <a:ext cx="1250353"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2 PATTERNS · 1 FILE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257175" y="200025"/>
            <a:ext cx="2232705"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71717A"/>
                </a:solidFill>
                <a:latin typeface="Liberation Sans Narrow" pitchFamily="34" charset="0"/>
                <a:ea typeface="Liberation Sans Narrow" pitchFamily="34" charset="-122"/>
                <a:cs typeface="Liberation Sans Narrow" pitchFamily="34" charset="-120"/>
              </a:rPr>
              <a:t>EP09 </a:t>
            </a:r>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a:t>
            </a:r>
            <a:pPr algn="l" indent="0" marL="0">
              <a:lnSpc>
                <a:spcPts val="928"/>
              </a:lnSpc>
              <a:buNone/>
            </a:pPr>
            <a:r>
              <a:rPr lang="en-US" sz="800" spc="173" kern="0" dirty="0">
                <a:solidFill>
                  <a:srgbClr val="71717A"/>
                </a:solidFill>
                <a:latin typeface="Courier New" pitchFamily="34" charset="0"/>
                <a:ea typeface="Courier New" pitchFamily="34" charset="-122"/>
                <a:cs typeface="Courier New" pitchFamily="34" charset="-120"/>
              </a:rPr>
              <a:t> MCP IN THE REAL WORLD</a:t>
            </a:r>
            <a:endParaRPr lang="en-US" sz="800" dirty="0"/>
          </a:p>
        </p:txBody>
      </p:sp>
      <p:sp>
        <p:nvSpPr>
          <p:cNvPr id="3" name="Text 1"/>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07 / 30</a:t>
            </a:r>
            <a:endParaRPr lang="en-US" sz="800" dirty="0"/>
          </a:p>
        </p:txBody>
      </p:sp>
      <p:sp>
        <p:nvSpPr>
          <p:cNvPr id="4" name="Text 2"/>
          <p:cNvSpPr/>
          <p:nvPr/>
        </p:nvSpPr>
        <p:spPr>
          <a:xfrm>
            <a:off x="4480903" y="-428625"/>
            <a:ext cx="4663097" cy="2777490"/>
          </a:xfrm>
          <a:prstGeom prst="rect">
            <a:avLst/>
          </a:prstGeom>
          <a:noFill/>
          <a:ln/>
        </p:spPr>
        <p:txBody>
          <a:bodyPr wrap="square" lIns="0" tIns="0" rIns="0" bIns="0" rtlCol="0" anchor="t"/>
          <a:lstStyle/>
          <a:p>
            <a:pPr algn="l" indent="0" marL="0">
              <a:lnSpc>
                <a:spcPts val="20250"/>
              </a:lnSpc>
              <a:buNone/>
            </a:pPr>
            <a:r>
              <a:rPr lang="en-US" sz="20250" b="1" dirty="0">
                <a:solidFill>
                  <a:srgbClr val="FF7A1A">
                    <a:alpha val="4000"/>
                  </a:srgbClr>
                </a:solidFill>
                <a:latin typeface="Liberation Sans Narrow" pitchFamily="34" charset="0"/>
                <a:ea typeface="Liberation Sans Narrow" pitchFamily="34" charset="-122"/>
                <a:cs typeface="Liberation Sans Narrow" pitchFamily="34" charset="-120"/>
              </a:rPr>
              <a:t>03</a:t>
            </a:r>
            <a:endParaRPr lang="en-US" sz="20250" dirty="0"/>
          </a:p>
        </p:txBody>
      </p:sp>
      <p:sp>
        <p:nvSpPr>
          <p:cNvPr id="5" name="Text 3"/>
          <p:cNvSpPr/>
          <p:nvPr/>
        </p:nvSpPr>
        <p:spPr>
          <a:xfrm>
            <a:off x="514350" y="600075"/>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Liberation Sans Narrow" pitchFamily="34" charset="0"/>
                <a:ea typeface="Liberation Sans Narrow" pitchFamily="34" charset="-122"/>
                <a:cs typeface="Liberation Sans Narrow" pitchFamily="34" charset="-120"/>
              </a:rPr>
              <a:t>PATTERN 3</a:t>
            </a:r>
            <a:endParaRPr lang="en-US" sz="800" dirty="0"/>
          </a:p>
        </p:txBody>
      </p:sp>
      <p:sp>
        <p:nvSpPr>
          <p:cNvPr id="6" name="Text 4"/>
          <p:cNvSpPr/>
          <p:nvPr/>
        </p:nvSpPr>
        <p:spPr>
          <a:xfrm>
            <a:off x="514350" y="1313445"/>
            <a:ext cx="5829300" cy="164592"/>
          </a:xfrm>
          <a:prstGeom prst="rect">
            <a:avLst/>
          </a:prstGeom>
          <a:noFill/>
          <a:ln/>
        </p:spPr>
        <p:txBody>
          <a:bodyPr wrap="none" lIns="0" tIns="0" rIns="0" bIns="0" rtlCol="0" anchor="t"/>
          <a:lstStyle/>
          <a:p>
            <a:pPr algn="l" indent="0" marL="0">
              <a:lnSpc>
                <a:spcPts val="1181"/>
              </a:lnSpc>
              <a:buNone/>
            </a:pPr>
            <a:r>
              <a:rPr lang="en-US" sz="800" spc="284" kern="0" dirty="0">
                <a:solidFill>
                  <a:srgbClr val="FF7A1A"/>
                </a:solidFill>
                <a:latin typeface="Courier New" pitchFamily="34" charset="0"/>
                <a:ea typeface="Courier New" pitchFamily="34" charset="-122"/>
                <a:cs typeface="Courier New" pitchFamily="34" charset="-120"/>
              </a:rPr>
              <a:t>CHAPTER</a:t>
            </a:r>
            <a:endParaRPr lang="en-US" sz="800" dirty="0"/>
          </a:p>
        </p:txBody>
      </p:sp>
      <p:sp>
        <p:nvSpPr>
          <p:cNvPr id="7" name="Text 5"/>
          <p:cNvSpPr/>
          <p:nvPr/>
        </p:nvSpPr>
        <p:spPr>
          <a:xfrm>
            <a:off x="514350" y="1592052"/>
            <a:ext cx="6140196" cy="1444181"/>
          </a:xfrm>
          <a:prstGeom prst="rect">
            <a:avLst/>
          </a:prstGeom>
          <a:noFill/>
          <a:ln/>
        </p:spPr>
        <p:txBody>
          <a:bodyPr wrap="none" lIns="0" tIns="0" rIns="0" bIns="0" rtlCol="0" anchor="t">
            <a:normAutofit/>
          </a:bodyPr>
          <a:lstStyle/>
          <a:p>
            <a:pPr algn="l" indent="0" marL="0">
              <a:lnSpc>
                <a:spcPts val="11138"/>
              </a:lnSpc>
              <a:buNone/>
            </a:pPr>
            <a:r>
              <a:rPr lang="en-US" sz="12375" b="1" spc="-619" kern="0" dirty="0">
                <a:solidFill>
                  <a:srgbClr val="71717A"/>
                </a:solidFill>
                <a:latin typeface="Courier New" pitchFamily="34" charset="0"/>
                <a:ea typeface="Courier New" pitchFamily="34" charset="-122"/>
                <a:cs typeface="Courier New" pitchFamily="34" charset="-120"/>
              </a:rPr>
              <a:t>P</a:t>
            </a:r>
            <a:pPr algn="l" indent="0" marL="0">
              <a:lnSpc>
                <a:spcPts val="11138"/>
              </a:lnSpc>
              <a:buNone/>
            </a:pPr>
            <a:r>
              <a:rPr lang="en-US" sz="12375" b="1" spc="-619" kern="0" dirty="0">
                <a:solidFill>
                  <a:srgbClr val="FF7A1A"/>
                </a:solidFill>
                <a:latin typeface="Liberation Sans Narrow" pitchFamily="34" charset="0"/>
                <a:ea typeface="Liberation Sans Narrow" pitchFamily="34" charset="-122"/>
                <a:cs typeface="Liberation Sans Narrow" pitchFamily="34" charset="-120"/>
              </a:rPr>
              <a:t>03</a:t>
            </a:r>
            <a:endParaRPr lang="en-US" sz="12375" dirty="0"/>
          </a:p>
        </p:txBody>
      </p:sp>
      <p:sp>
        <p:nvSpPr>
          <p:cNvPr id="8" name="Text 6"/>
          <p:cNvSpPr/>
          <p:nvPr/>
        </p:nvSpPr>
        <p:spPr>
          <a:xfrm>
            <a:off x="514350" y="3063664"/>
            <a:ext cx="3857625" cy="678942"/>
          </a:xfrm>
          <a:prstGeom prst="rect">
            <a:avLst/>
          </a:prstGeom>
          <a:noFill/>
          <a:ln/>
        </p:spPr>
        <p:txBody>
          <a:bodyPr wrap="square" lIns="0" tIns="0" rIns="0" bIns="0" rtlCol="0" anchor="t"/>
          <a:lstStyle/>
          <a:p>
            <a:pPr algn="l" indent="0" marL="0">
              <a:lnSpc>
                <a:spcPts val="2475"/>
              </a:lnSpc>
              <a:buNone/>
            </a:pPr>
            <a:r>
              <a:rPr lang="en-US" sz="2250" b="1" spc="-49" kern="0" dirty="0">
                <a:solidFill>
                  <a:srgbClr val="F4F4F5"/>
                </a:solidFill>
                <a:latin typeface="Carlito" pitchFamily="34" charset="0"/>
                <a:ea typeface="Carlito" pitchFamily="34" charset="-122"/>
                <a:cs typeface="Carlito" pitchFamily="34" charset="-120"/>
              </a:rPr>
              <a:t>Plug Into </a:t>
            </a:r>
            <a:pPr algn="l" indent="0" marL="0">
              <a:lnSpc>
                <a:spcPts val="2475"/>
              </a:lnSpc>
              <a:buNone/>
            </a:pPr>
            <a:r>
              <a:rPr lang="en-US" sz="2250" b="1" spc="-49" kern="0" dirty="0">
                <a:solidFill>
                  <a:srgbClr val="FF7A1A"/>
                </a:solidFill>
                <a:latin typeface="Carlito" pitchFamily="34" charset="0"/>
                <a:ea typeface="Carlito" pitchFamily="34" charset="-122"/>
                <a:cs typeface="Carlito" pitchFamily="34" charset="-120"/>
              </a:rPr>
              <a:t>Somebody Else's</a:t>
            </a:r>
            <a:pPr algn="l" indent="0" marL="0">
              <a:lnSpc>
                <a:spcPts val="2475"/>
              </a:lnSpc>
              <a:buNone/>
            </a:pPr>
            <a:r>
              <a:rPr lang="en-US" sz="2250" b="1" spc="-49" kern="0" dirty="0">
                <a:solidFill>
                  <a:srgbClr val="F4F4F5"/>
                </a:solidFill>
                <a:latin typeface="Carlito" pitchFamily="34" charset="0"/>
                <a:ea typeface="Carlito" pitchFamily="34" charset="-122"/>
                <a:cs typeface="Carlito" pitchFamily="34" charset="-120"/>
              </a:rPr>
              <a:t> MCP Server</a:t>
            </a:r>
            <a:endParaRPr lang="en-US" sz="2250" dirty="0"/>
          </a:p>
        </p:txBody>
      </p:sp>
      <p:sp>
        <p:nvSpPr>
          <p:cNvPr id="9" name="Text 7"/>
          <p:cNvSpPr/>
          <p:nvPr/>
        </p:nvSpPr>
        <p:spPr>
          <a:xfrm>
            <a:off x="514350" y="3849477"/>
            <a:ext cx="3714750" cy="430366"/>
          </a:xfrm>
          <a:prstGeom prst="rect">
            <a:avLst/>
          </a:prstGeom>
          <a:noFill/>
          <a:ln/>
        </p:spPr>
        <p:txBody>
          <a:bodyPr wrap="square" lIns="0" tIns="0" rIns="0" bIns="0" rtlCol="0" anchor="t"/>
          <a:lstStyle/>
          <a:p>
            <a:pPr algn="l" indent="0" marL="0">
              <a:lnSpc>
                <a:spcPts val="1569"/>
              </a:lnSpc>
              <a:buNone/>
            </a:pPr>
            <a:r>
              <a:rPr lang="en-US" sz="1013" dirty="0">
                <a:solidFill>
                  <a:srgbClr val="A1A1AA"/>
                </a:solidFill>
                <a:latin typeface="Carlito" pitchFamily="34" charset="0"/>
                <a:ea typeface="Carlito" pitchFamily="34" charset="-122"/>
                <a:cs typeface="Carlito" pitchFamily="34" charset="-120"/>
              </a:rPr>
              <a:t>Connect, don't reimplement. </a:t>
            </a:r>
            <a:pPr algn="l" indent="0" marL="0">
              <a:lnSpc>
                <a:spcPts val="1569"/>
              </a:lnSpc>
              <a:buNone/>
            </a:pPr>
            <a:r>
              <a:rPr lang="en-US" sz="1013" dirty="0">
                <a:solidFill>
                  <a:srgbClr val="F4F4F5"/>
                </a:solidFill>
                <a:latin typeface="Carlito" pitchFamily="34" charset="0"/>
                <a:ea typeface="Carlito" pitchFamily="34" charset="-122"/>
                <a:cs typeface="Carlito" pitchFamily="34" charset="-120"/>
              </a:rPr>
              <a:t>Somebody else already wrote and hosts the integration.</a:t>
            </a:r>
            <a:endParaRPr lang="en-US" sz="1013" dirty="0"/>
          </a:p>
        </p:txBody>
      </p:sp>
      <p:sp>
        <p:nvSpPr>
          <p:cNvPr id="10" name="Text 8"/>
          <p:cNvSpPr/>
          <p:nvPr/>
        </p:nvSpPr>
        <p:spPr>
          <a:xfrm>
            <a:off x="4743450" y="1641611"/>
            <a:ext cx="3886200" cy="875353"/>
          </a:xfrm>
          <a:prstGeom prst="rect">
            <a:avLst/>
          </a:prstGeom>
          <a:noFill/>
          <a:ln/>
        </p:spPr>
        <p:txBody>
          <a:bodyPr wrap="square" lIns="0" tIns="0" rIns="0" bIns="0" rtlCol="0" anchor="t"/>
          <a:lstStyle/>
          <a:p>
            <a:pPr algn="l" indent="0" marL="0">
              <a:lnSpc>
                <a:spcPts val="1395"/>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95"/>
              </a:lnSpc>
              <a:spcAft>
                <a:spcPts val="788"/>
              </a:spcAft>
              <a:buNone/>
            </a:pPr>
            <a:r>
              <a:rPr lang="en-US" sz="900" dirty="0">
                <a:solidFill>
                  <a:srgbClr val="F4F4F5"/>
                </a:solidFill>
                <a:latin typeface="Carlito" pitchFamily="34" charset="0"/>
                <a:ea typeface="Carlito" pitchFamily="34" charset="-122"/>
                <a:cs typeface="Carlito" pitchFamily="34" charset="-120"/>
              </a:rPr>
              <a:t>Analogy: MCP is like a </a:t>
            </a:r>
            <a:pPr algn="l" indent="0" marL="0">
              <a:lnSpc>
                <a:spcPts val="1395"/>
              </a:lnSpc>
              <a:spcAft>
                <a:spcPts val="788"/>
              </a:spcAft>
              <a:buNone/>
            </a:pPr>
            <a:r>
              <a:rPr lang="en-US" sz="828" dirty="0">
                <a:solidFill>
                  <a:srgbClr val="FF7A1A"/>
                </a:solidFill>
                <a:highlight>
                  <a:srgbClr val="1D1D24"/>
                </a:highlight>
                <a:latin typeface="Courier New" pitchFamily="34" charset="0"/>
                <a:ea typeface="Courier New" pitchFamily="34" charset="-122"/>
                <a:cs typeface="Courier New" pitchFamily="34" charset="-120"/>
              </a:rPr>
              <a:t>USB port</a:t>
            </a:r>
            <a:pPr algn="l" indent="0" marL="0">
              <a:lnSpc>
                <a:spcPts val="1395"/>
              </a:lnSpc>
              <a:spcAft>
                <a:spcPts val="788"/>
              </a:spcAft>
              <a:buNone/>
            </a:pPr>
            <a:r>
              <a:rPr lang="en-US" sz="900" dirty="0">
                <a:solidFill>
                  <a:srgbClr val="F4F4F5"/>
                </a:solidFill>
                <a:latin typeface="Carlito" pitchFamily="34" charset="0"/>
                <a:ea typeface="Carlito" pitchFamily="34" charset="-122"/>
                <a:cs typeface="Carlito" pitchFamily="34" charset="-120"/>
              </a:rPr>
              <a:t>, not a specific cable</a:t>
            </a:r>
            <a:endParaRPr lang="en-US" sz="900" dirty="0"/>
          </a:p>
          <a:p>
            <a:pPr algn="l" indent="0" marL="0">
              <a:lnSpc>
                <a:spcPts val="1395"/>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95"/>
              </a:lnSpc>
              <a:spcAft>
                <a:spcPts val="788"/>
              </a:spcAft>
              <a:buNone/>
            </a:pPr>
            <a:r>
              <a:rPr lang="en-US" sz="900" dirty="0">
                <a:solidFill>
                  <a:srgbClr val="F4F4F5"/>
                </a:solidFill>
                <a:latin typeface="Carlito" pitchFamily="34" charset="0"/>
                <a:ea typeface="Carlito" pitchFamily="34" charset="-122"/>
                <a:cs typeface="Carlito" pitchFamily="34" charset="-120"/>
              </a:rPr>
              <a:t>Any device speaking the protocol just plugs in</a:t>
            </a:r>
            <a:endParaRPr lang="en-US" sz="900" dirty="0"/>
          </a:p>
          <a:p>
            <a:pPr algn="l" indent="0" marL="0">
              <a:lnSpc>
                <a:spcPts val="1395"/>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95"/>
              </a:lnSpc>
              <a:spcAft>
                <a:spcPts val="788"/>
              </a:spcAft>
              <a:buNone/>
            </a:pPr>
            <a:r>
              <a:rPr lang="en-US" sz="900" dirty="0">
                <a:solidFill>
                  <a:srgbClr val="F4F4F5"/>
                </a:solidFill>
                <a:latin typeface="Carlito" pitchFamily="34" charset="0"/>
                <a:ea typeface="Carlito" pitchFamily="34" charset="-122"/>
                <a:cs typeface="Carlito" pitchFamily="34" charset="-120"/>
              </a:rPr>
              <a:t>You don't reimplement someone else's integration — you connect to it</a:t>
            </a:r>
            <a:endParaRPr lang="en-US" sz="900" dirty="0"/>
          </a:p>
        </p:txBody>
      </p:sp>
      <p:sp>
        <p:nvSpPr>
          <p:cNvPr id="11" name="Text 9"/>
          <p:cNvSpPr/>
          <p:nvPr/>
        </p:nvSpPr>
        <p:spPr>
          <a:xfrm>
            <a:off x="4747022" y="2533799"/>
            <a:ext cx="3879056" cy="578644"/>
          </a:xfrm>
          <a:prstGeom prst="roundRect">
            <a:avLst>
              <a:gd name="adj" fmla="val 16461"/>
            </a:avLst>
          </a:prstGeom>
          <a:solidFill>
            <a:srgbClr val="15151A"/>
          </a:solidFill>
          <a:ln w="7144">
            <a:solidFill>
              <a:srgbClr val="2A2A33"/>
            </a:solidFill>
            <a:prstDash val="solid"/>
          </a:ln>
        </p:spPr>
        <p:txBody>
          <a:bodyPr wrap="square" rtlCol="0" anchor="ctr"/>
          <a:lstStyle/>
          <a:p>
            <a:pPr indent="0" marL="0">
              <a:buNone/>
            </a:pPr>
            <a:endParaRPr lang="en-US" dirty="0"/>
          </a:p>
        </p:txBody>
      </p:sp>
      <p:sp>
        <p:nvSpPr>
          <p:cNvPr id="12" name="Text 10"/>
          <p:cNvSpPr/>
          <p:nvPr/>
        </p:nvSpPr>
        <p:spPr>
          <a:xfrm>
            <a:off x="4907756" y="2687389"/>
            <a:ext cx="271463" cy="271463"/>
          </a:xfrm>
          <a:prstGeom prst="rect">
            <a:avLst/>
          </a:prstGeom>
          <a:noFill/>
          <a:ln/>
        </p:spPr>
        <p:txBody>
          <a:bodyPr wrap="none" lIns="0" tIns="0" rIns="0" bIns="0" rtlCol="0" anchor="ctr"/>
          <a:lstStyle/>
          <a:p>
            <a:pPr algn="ctr" indent="0" marL="0">
              <a:buNone/>
            </a:pPr>
            <a:r>
              <a:rPr lang="en-US" sz="2672" dirty="0">
                <a:solidFill>
                  <a:srgbClr val="FF7A1A"/>
                </a:solidFill>
                <a:latin typeface="Segoe UI Symbol" pitchFamily="34" charset="0"/>
                <a:ea typeface="Segoe UI Symbol" pitchFamily="34" charset="-122"/>
                <a:cs typeface="Segoe UI Symbol" pitchFamily="34" charset="-120"/>
              </a:rPr>
              <a:t>✦</a:t>
            </a:r>
            <a:endParaRPr lang="en-US" sz="2672" dirty="0"/>
          </a:p>
        </p:txBody>
      </p:sp>
      <p:sp>
        <p:nvSpPr>
          <p:cNvPr id="13" name="Text 11"/>
          <p:cNvSpPr/>
          <p:nvPr/>
        </p:nvSpPr>
        <p:spPr>
          <a:xfrm>
            <a:off x="5307806" y="2665958"/>
            <a:ext cx="3157538" cy="104727"/>
          </a:xfrm>
          <a:prstGeom prst="rect">
            <a:avLst/>
          </a:prstGeom>
          <a:noFill/>
          <a:ln/>
        </p:spPr>
        <p:txBody>
          <a:bodyPr wrap="none" lIns="0" tIns="0" rIns="0" bIns="0" rtlCol="0" anchor="t">
            <a:normAutofit/>
          </a:bodyPr>
          <a:lstStyle/>
          <a:p>
            <a:pPr algn="l" indent="0" marL="0">
              <a:lnSpc>
                <a:spcPts val="928"/>
              </a:lnSpc>
              <a:buNone/>
            </a:pPr>
            <a:r>
              <a:rPr lang="en-US" sz="800" spc="136" kern="0" dirty="0">
                <a:solidFill>
                  <a:srgbClr val="71717A"/>
                </a:solidFill>
                <a:latin typeface="Courier New" pitchFamily="34" charset="0"/>
                <a:ea typeface="Courier New" pitchFamily="34" charset="-122"/>
                <a:cs typeface="Courier New" pitchFamily="34" charset="-120"/>
              </a:rPr>
              <a:t>MENTAL PICTURE</a:t>
            </a:r>
            <a:endParaRPr lang="en-US" sz="800" dirty="0"/>
          </a:p>
        </p:txBody>
      </p:sp>
      <p:sp>
        <p:nvSpPr>
          <p:cNvPr id="14" name="Text 12"/>
          <p:cNvSpPr/>
          <p:nvPr/>
        </p:nvSpPr>
        <p:spPr>
          <a:xfrm>
            <a:off x="5307806" y="2798118"/>
            <a:ext cx="3157538" cy="182166"/>
          </a:xfrm>
          <a:prstGeom prst="rect">
            <a:avLst/>
          </a:prstGeom>
          <a:noFill/>
          <a:ln/>
        </p:spPr>
        <p:txBody>
          <a:bodyPr wrap="square" lIns="0" tIns="0" rIns="0" bIns="0" rtlCol="0" anchor="t"/>
          <a:lstStyle/>
          <a:p>
            <a:pPr algn="l" indent="0" marL="0">
              <a:lnSpc>
                <a:spcPts val="1434"/>
              </a:lnSpc>
              <a:buNone/>
            </a:pPr>
            <a:r>
              <a:rPr lang="en-US" sz="956" dirty="0">
                <a:solidFill>
                  <a:srgbClr val="F4F4F5"/>
                </a:solidFill>
                <a:latin typeface="Carlito" pitchFamily="34" charset="0"/>
                <a:ea typeface="Carlito" pitchFamily="34" charset="-122"/>
                <a:cs typeface="Carlito" pitchFamily="34" charset="-120"/>
              </a:rPr>
              <a:t>GitHub · Slack · a database · anything that speaks MCP</a:t>
            </a:r>
            <a:endParaRPr lang="en-US" sz="956" dirty="0"/>
          </a:p>
        </p:txBody>
      </p:sp>
      <p:sp>
        <p:nvSpPr>
          <p:cNvPr id="15" name="Text 13"/>
          <p:cNvSpPr/>
          <p:nvPr/>
        </p:nvSpPr>
        <p:spPr>
          <a:xfrm>
            <a:off x="4743450" y="3273177"/>
            <a:ext cx="3886200" cy="646509"/>
          </a:xfrm>
          <a:prstGeom prst="rect">
            <a:avLst/>
          </a:prstGeom>
          <a:solidFill>
            <a:srgbClr val="15151A"/>
          </a:solidFill>
          <a:ln/>
        </p:spPr>
        <p:txBody>
          <a:bodyPr wrap="square" rtlCol="0" anchor="ctr"/>
          <a:lstStyle/>
          <a:p>
            <a:pPr indent="0" marL="0">
              <a:buNone/>
            </a:pPr>
            <a:endParaRPr lang="en-US" dirty="0"/>
          </a:p>
        </p:txBody>
      </p:sp>
      <p:sp>
        <p:nvSpPr>
          <p:cNvPr id="16" name="Shape 14"/>
          <p:cNvSpPr/>
          <p:nvPr/>
        </p:nvSpPr>
        <p:spPr>
          <a:xfrm>
            <a:off x="4754166" y="3273177"/>
            <a:ext cx="0" cy="646509"/>
          </a:xfrm>
          <a:prstGeom prst="line">
            <a:avLst/>
          </a:prstGeom>
          <a:noFill/>
          <a:ln w="21431">
            <a:solidFill>
              <a:srgbClr val="C79BFF"/>
            </a:solidFill>
            <a:prstDash val="solid"/>
          </a:ln>
        </p:spPr>
      </p:sp>
      <p:sp>
        <p:nvSpPr>
          <p:cNvPr id="17" name="Text 15"/>
          <p:cNvSpPr/>
          <p:nvPr/>
        </p:nvSpPr>
        <p:spPr>
          <a:xfrm>
            <a:off x="4907756" y="3373189"/>
            <a:ext cx="3579019" cy="119015"/>
          </a:xfrm>
          <a:prstGeom prst="rect">
            <a:avLst/>
          </a:prstGeom>
          <a:noFill/>
          <a:ln/>
        </p:spPr>
        <p:txBody>
          <a:bodyPr wrap="none" lIns="0" tIns="0" rIns="0" bIns="0" rtlCol="0" anchor="t">
            <a:normAutofit/>
          </a:bodyPr>
          <a:lstStyle/>
          <a:p>
            <a:pPr algn="l" indent="0" marL="0">
              <a:lnSpc>
                <a:spcPts val="928"/>
              </a:lnSpc>
              <a:buNone/>
            </a:pPr>
            <a:r>
              <a:rPr lang="en-US" sz="800" spc="149" kern="0" dirty="0">
                <a:solidFill>
                  <a:srgbClr val="C79BFF"/>
                </a:solidFill>
                <a:latin typeface="Liberation Sans Narrow" pitchFamily="34" charset="0"/>
                <a:ea typeface="Liberation Sans Narrow" pitchFamily="34" charset="-122"/>
                <a:cs typeface="Liberation Sans Narrow" pitchFamily="34" charset="-120"/>
              </a:rPr>
              <a:t>EXAM MAP · DOMAIN 8</a:t>
            </a:r>
            <a:endParaRPr lang="en-US" sz="800" dirty="0"/>
          </a:p>
        </p:txBody>
      </p:sp>
      <p:sp>
        <p:nvSpPr>
          <p:cNvPr id="18" name="Text 16"/>
          <p:cNvSpPr/>
          <p:nvPr/>
        </p:nvSpPr>
        <p:spPr>
          <a:xfrm>
            <a:off x="4907756" y="3519636"/>
            <a:ext cx="3579019" cy="300038"/>
          </a:xfrm>
          <a:prstGeom prst="rect">
            <a:avLst/>
          </a:prstGeom>
          <a:noFill/>
          <a:ln/>
        </p:spPr>
        <p:txBody>
          <a:bodyPr wrap="square" lIns="0" tIns="0" rIns="0" bIns="0" rtlCol="0" anchor="t"/>
          <a:lstStyle/>
          <a:p>
            <a:pPr algn="l" indent="0" marL="0">
              <a:lnSpc>
                <a:spcPts val="1181"/>
              </a:lnSpc>
              <a:buNone/>
            </a:pPr>
            <a:r>
              <a:rPr lang="en-US" sz="800" dirty="0">
                <a:solidFill>
                  <a:srgbClr val="F4F4F5"/>
                </a:solidFill>
                <a:latin typeface="Carlito" pitchFamily="34" charset="0"/>
                <a:ea typeface="Carlito" pitchFamily="34" charset="-122"/>
                <a:cs typeface="Carlito" pitchFamily="34" charset="-120"/>
              </a:rPr>
              <a:t>Tools and MCPs (10.6%). Today's episode covers Tool Implementation (4.4%, partial) here, and MCP Server Development (2.1%) in Pattern 4 later.</a:t>
            </a:r>
            <a:endParaRPr lang="en-US" sz="800" dirty="0"/>
          </a:p>
        </p:txBody>
      </p:sp>
      <p:sp>
        <p:nvSpPr>
          <p:cNvPr id="19" name="Text 17"/>
          <p:cNvSpPr/>
          <p:nvPr/>
        </p:nvSpPr>
        <p:spPr>
          <a:xfrm>
            <a:off x="514350" y="4868466"/>
            <a:ext cx="7084144"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EP09 · MCP IN THE REAL WORLD</a:t>
            </a:r>
            <a:endParaRPr lang="en-US" sz="800" dirty="0"/>
          </a:p>
        </p:txBody>
      </p:sp>
      <p:sp>
        <p:nvSpPr>
          <p:cNvPr id="20" name="Text 18"/>
          <p:cNvSpPr/>
          <p:nvPr/>
        </p:nvSpPr>
        <p:spPr>
          <a:xfrm>
            <a:off x="7612782" y="4868466"/>
            <a:ext cx="1317607"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PATTERN 03 · CONNECT</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257175" y="200025"/>
            <a:ext cx="2232705"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71717A"/>
                </a:solidFill>
                <a:latin typeface="Liberation Sans Narrow" pitchFamily="34" charset="0"/>
                <a:ea typeface="Liberation Sans Narrow" pitchFamily="34" charset="-122"/>
                <a:cs typeface="Liberation Sans Narrow" pitchFamily="34" charset="-120"/>
              </a:rPr>
              <a:t>EP09 </a:t>
            </a:r>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a:t>
            </a:r>
            <a:pPr algn="l" indent="0" marL="0">
              <a:lnSpc>
                <a:spcPts val="928"/>
              </a:lnSpc>
              <a:buNone/>
            </a:pPr>
            <a:r>
              <a:rPr lang="en-US" sz="800" spc="173" kern="0" dirty="0">
                <a:solidFill>
                  <a:srgbClr val="71717A"/>
                </a:solidFill>
                <a:latin typeface="Courier New" pitchFamily="34" charset="0"/>
                <a:ea typeface="Courier New" pitchFamily="34" charset="-122"/>
                <a:cs typeface="Courier New" pitchFamily="34" charset="-120"/>
              </a:rPr>
              <a:t> MCP IN THE REAL WORLD</a:t>
            </a:r>
            <a:endParaRPr lang="en-US" sz="800" dirty="0"/>
          </a:p>
        </p:txBody>
      </p:sp>
      <p:sp>
        <p:nvSpPr>
          <p:cNvPr id="3" name="Text 1"/>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08 / 30</a:t>
            </a:r>
            <a:endParaRPr lang="en-US" sz="800" dirty="0"/>
          </a:p>
        </p:txBody>
      </p:sp>
      <p:sp>
        <p:nvSpPr>
          <p:cNvPr id="4" name="Text 2"/>
          <p:cNvSpPr/>
          <p:nvPr/>
        </p:nvSpPr>
        <p:spPr>
          <a:xfrm>
            <a:off x="514350" y="600075"/>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REFERENCE</a:t>
            </a:r>
            <a:endParaRPr lang="en-US" sz="800" dirty="0"/>
          </a:p>
        </p:txBody>
      </p:sp>
      <p:sp>
        <p:nvSpPr>
          <p:cNvPr id="5" name="Text 3"/>
          <p:cNvSpPr/>
          <p:nvPr/>
        </p:nvSpPr>
        <p:spPr>
          <a:xfrm>
            <a:off x="514350" y="817959"/>
            <a:ext cx="8629650" cy="373346"/>
          </a:xfrm>
          <a:prstGeom prst="rect">
            <a:avLst/>
          </a:prstGeom>
          <a:noFill/>
          <a:ln/>
        </p:spPr>
        <p:txBody>
          <a:bodyPr wrap="squar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The Four Shapes An MCP Server Config </a:t>
            </a:r>
            <a:pPr algn="l" indent="0" marL="0">
              <a:lnSpc>
                <a:spcPts val="2723"/>
              </a:lnSpc>
              <a:buNone/>
            </a:pPr>
            <a:r>
              <a:rPr lang="en-US" sz="2475" b="1" spc="-49" kern="0" dirty="0">
                <a:solidFill>
                  <a:srgbClr val="FF7A1A"/>
                </a:solidFill>
                <a:latin typeface="Carlito" pitchFamily="34" charset="0"/>
                <a:ea typeface="Carlito" pitchFamily="34" charset="-122"/>
                <a:cs typeface="Carlito" pitchFamily="34" charset="-120"/>
              </a:rPr>
              <a:t>Can Take</a:t>
            </a:r>
            <a:endParaRPr lang="en-US" sz="2475" dirty="0"/>
          </a:p>
        </p:txBody>
      </p:sp>
      <p:sp>
        <p:nvSpPr>
          <p:cNvPr id="6" name="Shape 4"/>
          <p:cNvSpPr/>
          <p:nvPr/>
        </p:nvSpPr>
        <p:spPr>
          <a:xfrm>
            <a:off x="514350" y="1317241"/>
            <a:ext cx="400050" cy="0"/>
          </a:xfrm>
          <a:prstGeom prst="line">
            <a:avLst/>
          </a:prstGeom>
          <a:noFill/>
          <a:ln w="7144">
            <a:solidFill>
              <a:srgbClr val="F4F4F5"/>
            </a:solidFill>
            <a:prstDash val="solid"/>
          </a:ln>
        </p:spPr>
      </p:sp>
      <p:pic>
        <p:nvPicPr>
          <p:cNvPr id="7" name="Image 0" descr="preencoded.png">    </p:cNvPr>
          <p:cNvPicPr>
            <a:picLocks noChangeAspect="1"/>
          </p:cNvPicPr>
          <p:nvPr/>
        </p:nvPicPr>
        <p:blipFill>
          <a:blip r:embed="rId1"/>
          <a:stretch>
            <a:fillRect/>
          </a:stretch>
        </p:blipFill>
        <p:spPr>
          <a:xfrm>
            <a:off x="514350" y="1456544"/>
            <a:ext cx="3993356" cy="1427299"/>
          </a:xfrm>
          <a:prstGeom prst="rect">
            <a:avLst/>
          </a:prstGeom>
        </p:spPr>
      </p:pic>
      <p:sp>
        <p:nvSpPr>
          <p:cNvPr id="8" name="Text 5"/>
          <p:cNvSpPr/>
          <p:nvPr/>
        </p:nvSpPr>
        <p:spPr>
          <a:xfrm>
            <a:off x="517922" y="1460116"/>
            <a:ext cx="3986213" cy="1420155"/>
          </a:xfrm>
          <a:prstGeom prst="roundRect">
            <a:avLst>
              <a:gd name="adj" fmla="val 8048"/>
            </a:avLst>
          </a:prstGeom>
          <a:solidFill>
            <a:srgbClr val="15151A"/>
          </a:solidFill>
          <a:ln w="7144">
            <a:solidFill>
              <a:srgbClr val="FF7A1A"/>
            </a:solidFill>
            <a:prstDash val="solid"/>
          </a:ln>
        </p:spPr>
        <p:txBody>
          <a:bodyPr wrap="square" rtlCol="0" anchor="ctr"/>
          <a:lstStyle/>
          <a:p>
            <a:pPr indent="0" marL="0">
              <a:buNone/>
            </a:pPr>
            <a:endParaRPr lang="en-US" dirty="0"/>
          </a:p>
        </p:txBody>
      </p:sp>
      <p:sp>
        <p:nvSpPr>
          <p:cNvPr id="9" name="Text 6"/>
          <p:cNvSpPr/>
          <p:nvPr/>
        </p:nvSpPr>
        <p:spPr>
          <a:xfrm>
            <a:off x="678656" y="1592275"/>
            <a:ext cx="3664744" cy="254603"/>
          </a:xfrm>
          <a:prstGeom prst="rect">
            <a:avLst/>
          </a:prstGeom>
          <a:noFill/>
          <a:ln/>
        </p:spPr>
        <p:txBody>
          <a:bodyPr wrap="none" lIns="0" tIns="0" rIns="0" bIns="0" rtlCol="0" anchor="t"/>
          <a:lstStyle/>
          <a:p>
            <a:pPr algn="l" indent="0" marL="0">
              <a:lnSpc>
                <a:spcPts val="1856"/>
              </a:lnSpc>
              <a:buNone/>
            </a:pPr>
            <a:r>
              <a:rPr lang="en-US" sz="1238" b="1" spc="-12" kern="0" dirty="0">
                <a:solidFill>
                  <a:srgbClr val="A1A1AA"/>
                </a:solidFill>
                <a:latin typeface="Courier New" pitchFamily="34" charset="0"/>
                <a:ea typeface="Courier New" pitchFamily="34" charset="-122"/>
                <a:cs typeface="Courier New" pitchFamily="34" charset="-120"/>
              </a:rPr>
              <a:t>"</a:t>
            </a:r>
            <a:pPr algn="l" indent="0" marL="0">
              <a:lnSpc>
                <a:spcPts val="1856"/>
              </a:lnSpc>
              <a:buNone/>
            </a:pPr>
            <a:r>
              <a:rPr lang="en-US" sz="1238" b="1" spc="-12" kern="0" dirty="0">
                <a:solidFill>
                  <a:srgbClr val="FF7A1A"/>
                </a:solidFill>
                <a:latin typeface="Courier New" pitchFamily="34" charset="0"/>
                <a:ea typeface="Courier New" pitchFamily="34" charset="-122"/>
                <a:cs typeface="Courier New" pitchFamily="34" charset="-120"/>
              </a:rPr>
              <a:t>stdio</a:t>
            </a:r>
            <a:pPr algn="l" indent="0" marL="0">
              <a:lnSpc>
                <a:spcPts val="1856"/>
              </a:lnSpc>
              <a:buNone/>
            </a:pPr>
            <a:r>
              <a:rPr lang="en-US" sz="1238" b="1" spc="-12" kern="0" dirty="0">
                <a:solidFill>
                  <a:srgbClr val="A1A1AA"/>
                </a:solidFill>
                <a:latin typeface="Courier New" pitchFamily="34" charset="0"/>
                <a:ea typeface="Courier New" pitchFamily="34" charset="-122"/>
                <a:cs typeface="Courier New" pitchFamily="34" charset="-120"/>
              </a:rPr>
              <a:t>"</a:t>
            </a:r>
            <a:endParaRPr lang="en-US" sz="1238" dirty="0"/>
          </a:p>
        </p:txBody>
      </p:sp>
      <p:sp>
        <p:nvSpPr>
          <p:cNvPr id="10" name="Text 7"/>
          <p:cNvSpPr/>
          <p:nvPr/>
        </p:nvSpPr>
        <p:spPr>
          <a:xfrm>
            <a:off x="4143375" y="1610134"/>
            <a:ext cx="200025" cy="200025"/>
          </a:xfrm>
          <a:prstGeom prst="rect">
            <a:avLst/>
          </a:prstGeom>
          <a:noFill/>
          <a:ln/>
        </p:spPr>
        <p:txBody>
          <a:bodyPr wrap="none" lIns="0" tIns="0" rIns="0" bIns="0" rtlCol="0" anchor="ctr"/>
          <a:lstStyle/>
          <a:p>
            <a:pPr algn="ctr" indent="0" marL="0">
              <a:buNone/>
            </a:pPr>
            <a:r>
              <a:rPr lang="en-US" sz="1969" dirty="0">
                <a:solidFill>
                  <a:srgbClr val="FF7A1A"/>
                </a:solidFill>
                <a:latin typeface="Segoe UI Symbol" pitchFamily="34" charset="0"/>
                <a:ea typeface="Segoe UI Symbol" pitchFamily="34" charset="-122"/>
                <a:cs typeface="Segoe UI Symbol" pitchFamily="34" charset="-120"/>
              </a:rPr>
              <a:t>✦</a:t>
            </a:r>
            <a:endParaRPr lang="en-US" sz="1969" dirty="0"/>
          </a:p>
        </p:txBody>
      </p:sp>
      <p:sp>
        <p:nvSpPr>
          <p:cNvPr id="11" name="Text 8"/>
          <p:cNvSpPr/>
          <p:nvPr/>
        </p:nvSpPr>
        <p:spPr>
          <a:xfrm>
            <a:off x="3471863" y="1553842"/>
            <a:ext cx="628650" cy="184023"/>
          </a:xfrm>
          <a:prstGeom prst="roundRect">
            <a:avLst>
              <a:gd name="adj" fmla="val 20704"/>
            </a:avLst>
          </a:prstGeom>
          <a:solidFill>
            <a:srgbClr val="FF7A1A">
              <a:alpha val="12000"/>
            </a:srgbClr>
          </a:solidFill>
          <a:ln w="7144">
            <a:solidFill>
              <a:srgbClr val="FF7A1A"/>
            </a:solidFill>
            <a:prstDash val="solid"/>
          </a:ln>
        </p:spPr>
        <p:txBody>
          <a:bodyPr wrap="square" rtlCol="0" anchor="ctr"/>
          <a:lstStyle/>
          <a:p>
            <a:pPr indent="0" marL="0">
              <a:buNone/>
            </a:pPr>
            <a:endParaRPr lang="en-US" dirty="0"/>
          </a:p>
        </p:txBody>
      </p:sp>
      <p:sp>
        <p:nvSpPr>
          <p:cNvPr id="12" name="Text 9"/>
          <p:cNvSpPr/>
          <p:nvPr/>
        </p:nvSpPr>
        <p:spPr>
          <a:xfrm>
            <a:off x="3417136" y="1563700"/>
            <a:ext cx="738104" cy="164306"/>
          </a:xfrm>
          <a:prstGeom prst="rect">
            <a:avLst/>
          </a:prstGeom>
          <a:noFill/>
          <a:ln/>
        </p:spPr>
        <p:txBody>
          <a:bodyPr wrap="none" lIns="0" tIns="0" rIns="0" bIns="0" rtlCol="0" anchor="ctr"/>
          <a:lstStyle/>
          <a:p>
            <a:pPr algn="ctr" indent="0" marL="0">
              <a:lnSpc>
                <a:spcPts val="844"/>
              </a:lnSpc>
              <a:buNone/>
            </a:pPr>
            <a:r>
              <a:rPr lang="en-US" sz="800" spc="124" kern="0" dirty="0">
                <a:solidFill>
                  <a:srgbClr val="FF7A1A"/>
                </a:solidFill>
                <a:latin typeface="Courier New" pitchFamily="34" charset="0"/>
                <a:ea typeface="Courier New" pitchFamily="34" charset="-122"/>
                <a:cs typeface="Courier New" pitchFamily="34" charset="-120"/>
              </a:rPr>
              <a:t>USED TODAY</a:t>
            </a:r>
            <a:endParaRPr lang="en-US" sz="800" dirty="0"/>
          </a:p>
        </p:txBody>
      </p:sp>
      <p:sp>
        <p:nvSpPr>
          <p:cNvPr id="13" name="Text 10"/>
          <p:cNvSpPr/>
          <p:nvPr/>
        </p:nvSpPr>
        <p:spPr>
          <a:xfrm>
            <a:off x="678656" y="1885169"/>
            <a:ext cx="3664744" cy="329184"/>
          </a:xfrm>
          <a:prstGeom prst="rect">
            <a:avLst/>
          </a:prstGeom>
          <a:noFill/>
          <a:ln/>
        </p:spPr>
        <p:txBody>
          <a:bodyPr wrap="square" lIns="0" tIns="0" rIns="0" bIns="0" rtlCol="0" anchor="t"/>
          <a:lstStyle/>
          <a:p>
            <a:pPr algn="l" indent="0" marL="0">
              <a:lnSpc>
                <a:spcPts val="1181"/>
              </a:lnSpc>
              <a:buNone/>
            </a:pPr>
            <a:r>
              <a:rPr lang="en-US" sz="800" dirty="0">
                <a:solidFill>
                  <a:srgbClr val="A1A1AA"/>
                </a:solidFill>
                <a:latin typeface="Carlito" pitchFamily="34" charset="0"/>
                <a:ea typeface="Carlito" pitchFamily="34" charset="-122"/>
                <a:cs typeface="Carlito" pitchFamily="34" charset="-120"/>
              </a:rPr>
              <a:t>Command + optional args/env — a separate program you launch that talks over stdin and stdout.</a:t>
            </a:r>
            <a:endParaRPr lang="en-US" sz="800" dirty="0"/>
          </a:p>
        </p:txBody>
      </p:sp>
      <p:sp>
        <p:nvSpPr>
          <p:cNvPr id="14" name="Text 11"/>
          <p:cNvSpPr/>
          <p:nvPr/>
        </p:nvSpPr>
        <p:spPr>
          <a:xfrm>
            <a:off x="682228" y="2303078"/>
            <a:ext cx="3657600" cy="250031"/>
          </a:xfrm>
          <a:prstGeom prst="roundRect">
            <a:avLst>
              <a:gd name="adj" fmla="val 22857"/>
            </a:avLst>
          </a:prstGeom>
          <a:solidFill>
            <a:srgbClr val="0B0B0D"/>
          </a:solidFill>
          <a:ln w="7144">
            <a:solidFill>
              <a:srgbClr val="2A2A33"/>
            </a:solidFill>
            <a:prstDash val="solid"/>
          </a:ln>
        </p:spPr>
        <p:txBody>
          <a:bodyPr wrap="square" rtlCol="0" anchor="ctr"/>
          <a:lstStyle/>
          <a:p>
            <a:pPr indent="0" marL="0">
              <a:buNone/>
            </a:pPr>
            <a:endParaRPr lang="en-US" dirty="0"/>
          </a:p>
        </p:txBody>
      </p:sp>
      <p:sp>
        <p:nvSpPr>
          <p:cNvPr id="15" name="Text 12"/>
          <p:cNvSpPr/>
          <p:nvPr/>
        </p:nvSpPr>
        <p:spPr>
          <a:xfrm>
            <a:off x="678656" y="2299506"/>
            <a:ext cx="3664744" cy="329184"/>
          </a:xfrm>
          <a:prstGeom prst="rect">
            <a:avLst/>
          </a:prstGeom>
          <a:noFill/>
          <a:ln/>
        </p:spPr>
        <p:txBody>
          <a:bodyPr wrap="square" lIns="85725" tIns="57150" rIns="85725" bIns="57150" rtlCol="0" anchor="t"/>
          <a:lstStyle/>
          <a:p>
            <a:pPr algn="l" indent="0" marL="0">
              <a:lnSpc>
                <a:spcPts val="1013"/>
              </a:lnSpc>
              <a:buNone/>
            </a:pPr>
            <a:r>
              <a:rPr lang="en-US" sz="800" dirty="0">
                <a:solidFill>
                  <a:srgbClr val="FF7A1A"/>
                </a:solidFill>
                <a:latin typeface="Courier New" pitchFamily="34" charset="0"/>
                <a:ea typeface="Courier New" pitchFamily="34" charset="-122"/>
                <a:cs typeface="Courier New" pitchFamily="34" charset="-120"/>
              </a:rPr>
              <a:t>type:</a:t>
            </a:r>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 </a:t>
            </a:r>
            <a:pPr algn="l" indent="0" marL="0">
              <a:lnSpc>
                <a:spcPts val="1013"/>
              </a:lnSpc>
              <a:buNone/>
            </a:pPr>
            <a:r>
              <a:rPr lang="en-US" sz="800" dirty="0">
                <a:solidFill>
                  <a:srgbClr val="E4E4E7"/>
                </a:solidFill>
                <a:latin typeface="Courier New" pitchFamily="34" charset="0"/>
                <a:ea typeface="Courier New" pitchFamily="34" charset="-122"/>
                <a:cs typeface="Courier New" pitchFamily="34" charset="-120"/>
              </a:rPr>
              <a:t>"stdio"</a:t>
            </a:r>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 · </a:t>
            </a:r>
            <a:pPr algn="l" indent="0" marL="0">
              <a:lnSpc>
                <a:spcPts val="1013"/>
              </a:lnSpc>
              <a:buNone/>
            </a:pPr>
            <a:r>
              <a:rPr lang="en-US" sz="800" dirty="0">
                <a:solidFill>
                  <a:srgbClr val="FF7A1A"/>
                </a:solidFill>
                <a:latin typeface="Courier New" pitchFamily="34" charset="0"/>
                <a:ea typeface="Courier New" pitchFamily="34" charset="-122"/>
                <a:cs typeface="Courier New" pitchFamily="34" charset="-120"/>
              </a:rPr>
              <a:t>command:</a:t>
            </a:r>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 </a:t>
            </a:r>
            <a:pPr algn="l" indent="0" marL="0">
              <a:lnSpc>
                <a:spcPts val="1013"/>
              </a:lnSpc>
              <a:buNone/>
            </a:pPr>
            <a:r>
              <a:rPr lang="en-US" sz="800" dirty="0">
                <a:solidFill>
                  <a:srgbClr val="E4E4E7"/>
                </a:solidFill>
                <a:latin typeface="Courier New" pitchFamily="34" charset="0"/>
                <a:ea typeface="Courier New" pitchFamily="34" charset="-122"/>
                <a:cs typeface="Courier New" pitchFamily="34" charset="-120"/>
              </a:rPr>
              <a:t>"python repo_facts_server.py"</a:t>
            </a:r>
            <a:endParaRPr lang="en-US" sz="800" dirty="0"/>
          </a:p>
        </p:txBody>
      </p:sp>
      <p:sp>
        <p:nvSpPr>
          <p:cNvPr id="16" name="Text 13"/>
          <p:cNvSpPr/>
          <p:nvPr/>
        </p:nvSpPr>
        <p:spPr>
          <a:xfrm>
            <a:off x="678656" y="2630239"/>
            <a:ext cx="3664744" cy="117872"/>
          </a:xfrm>
          <a:prstGeom prst="rect">
            <a:avLst/>
          </a:prstGeom>
          <a:noFill/>
          <a:ln/>
        </p:spPr>
        <p:txBody>
          <a:bodyPr wrap="none" lIns="0" tIns="0" rIns="0" bIns="0" rtlCol="0" anchor="t"/>
          <a:lstStyle/>
          <a:p>
            <a:pPr algn="l" indent="0" marL="0">
              <a:lnSpc>
                <a:spcPts val="928"/>
              </a:lnSpc>
              <a:buNone/>
            </a:pPr>
            <a:r>
              <a:rPr lang="en-US" sz="800" spc="99" kern="0" dirty="0">
                <a:solidFill>
                  <a:srgbClr val="FF7A1A"/>
                </a:solidFill>
                <a:latin typeface="Liberation Sans Narrow" pitchFamily="34" charset="0"/>
                <a:ea typeface="Liberation Sans Narrow" pitchFamily="34" charset="-122"/>
                <a:cs typeface="Liberation Sans Narrow" pitchFamily="34" charset="-120"/>
              </a:rPr>
              <a:t>PATTERN 04 · OUR OWN SERVER</a:t>
            </a:r>
            <a:endParaRPr lang="en-US" sz="800" dirty="0"/>
          </a:p>
        </p:txBody>
      </p:sp>
      <p:pic>
        <p:nvPicPr>
          <p:cNvPr id="17" name="Image 1" descr="preencoded.png">    </p:cNvPr>
          <p:cNvPicPr>
            <a:picLocks noChangeAspect="1"/>
          </p:cNvPicPr>
          <p:nvPr/>
        </p:nvPicPr>
        <p:blipFill>
          <a:blip r:embed="rId2"/>
          <a:stretch>
            <a:fillRect/>
          </a:stretch>
        </p:blipFill>
        <p:spPr>
          <a:xfrm>
            <a:off x="4636294" y="1456544"/>
            <a:ext cx="3993356" cy="1427299"/>
          </a:xfrm>
          <a:prstGeom prst="rect">
            <a:avLst/>
          </a:prstGeom>
        </p:spPr>
      </p:pic>
      <p:sp>
        <p:nvSpPr>
          <p:cNvPr id="18" name="Text 14"/>
          <p:cNvSpPr/>
          <p:nvPr/>
        </p:nvSpPr>
        <p:spPr>
          <a:xfrm>
            <a:off x="4639866" y="1460116"/>
            <a:ext cx="3986213" cy="1420155"/>
          </a:xfrm>
          <a:prstGeom prst="roundRect">
            <a:avLst>
              <a:gd name="adj" fmla="val 8048"/>
            </a:avLst>
          </a:prstGeom>
          <a:solidFill>
            <a:srgbClr val="15151A"/>
          </a:solidFill>
          <a:ln w="7144">
            <a:solidFill>
              <a:srgbClr val="FF7A1A"/>
            </a:solidFill>
            <a:prstDash val="solid"/>
          </a:ln>
        </p:spPr>
        <p:txBody>
          <a:bodyPr wrap="square" rtlCol="0" anchor="ctr"/>
          <a:lstStyle/>
          <a:p>
            <a:pPr indent="0" marL="0">
              <a:buNone/>
            </a:pPr>
            <a:endParaRPr lang="en-US" dirty="0"/>
          </a:p>
        </p:txBody>
      </p:sp>
      <p:sp>
        <p:nvSpPr>
          <p:cNvPr id="19" name="Text 15"/>
          <p:cNvSpPr/>
          <p:nvPr/>
        </p:nvSpPr>
        <p:spPr>
          <a:xfrm>
            <a:off x="4800600" y="1592275"/>
            <a:ext cx="3664744" cy="254603"/>
          </a:xfrm>
          <a:prstGeom prst="rect">
            <a:avLst/>
          </a:prstGeom>
          <a:noFill/>
          <a:ln/>
        </p:spPr>
        <p:txBody>
          <a:bodyPr wrap="none" lIns="0" tIns="0" rIns="0" bIns="0" rtlCol="0" anchor="t"/>
          <a:lstStyle/>
          <a:p>
            <a:pPr algn="l" indent="0" marL="0">
              <a:lnSpc>
                <a:spcPts val="1856"/>
              </a:lnSpc>
              <a:buNone/>
            </a:pPr>
            <a:r>
              <a:rPr lang="en-US" sz="1238" b="1" spc="-12" kern="0" dirty="0">
                <a:solidFill>
                  <a:srgbClr val="A1A1AA"/>
                </a:solidFill>
                <a:latin typeface="Courier New" pitchFamily="34" charset="0"/>
                <a:ea typeface="Courier New" pitchFamily="34" charset="-122"/>
                <a:cs typeface="Courier New" pitchFamily="34" charset="-120"/>
              </a:rPr>
              <a:t>"</a:t>
            </a:r>
            <a:pPr algn="l" indent="0" marL="0">
              <a:lnSpc>
                <a:spcPts val="1856"/>
              </a:lnSpc>
              <a:buNone/>
            </a:pPr>
            <a:r>
              <a:rPr lang="en-US" sz="1238" b="1" spc="-12" kern="0" dirty="0">
                <a:solidFill>
                  <a:srgbClr val="FF7A1A"/>
                </a:solidFill>
                <a:latin typeface="Courier New" pitchFamily="34" charset="0"/>
                <a:ea typeface="Courier New" pitchFamily="34" charset="-122"/>
                <a:cs typeface="Courier New" pitchFamily="34" charset="-120"/>
              </a:rPr>
              <a:t>http</a:t>
            </a:r>
            <a:pPr algn="l" indent="0" marL="0">
              <a:lnSpc>
                <a:spcPts val="1856"/>
              </a:lnSpc>
              <a:buNone/>
            </a:pPr>
            <a:r>
              <a:rPr lang="en-US" sz="1238" b="1" spc="-12" kern="0" dirty="0">
                <a:solidFill>
                  <a:srgbClr val="A1A1AA"/>
                </a:solidFill>
                <a:latin typeface="Courier New" pitchFamily="34" charset="0"/>
                <a:ea typeface="Courier New" pitchFamily="34" charset="-122"/>
                <a:cs typeface="Courier New" pitchFamily="34" charset="-120"/>
              </a:rPr>
              <a:t>"</a:t>
            </a:r>
            <a:endParaRPr lang="en-US" sz="1238" dirty="0"/>
          </a:p>
        </p:txBody>
      </p:sp>
      <p:sp>
        <p:nvSpPr>
          <p:cNvPr id="20" name="Text 16"/>
          <p:cNvSpPr/>
          <p:nvPr/>
        </p:nvSpPr>
        <p:spPr>
          <a:xfrm>
            <a:off x="8265319" y="1610134"/>
            <a:ext cx="200025" cy="200025"/>
          </a:xfrm>
          <a:prstGeom prst="rect">
            <a:avLst/>
          </a:prstGeom>
          <a:noFill/>
          <a:ln/>
        </p:spPr>
        <p:txBody>
          <a:bodyPr wrap="none" lIns="0" tIns="0" rIns="0" bIns="0" rtlCol="0" anchor="ctr"/>
          <a:lstStyle/>
          <a:p>
            <a:pPr algn="ctr" indent="0" marL="0">
              <a:buNone/>
            </a:pPr>
            <a:r>
              <a:rPr lang="en-US" sz="1969" dirty="0">
                <a:solidFill>
                  <a:srgbClr val="FF7A1A"/>
                </a:solidFill>
                <a:latin typeface="Segoe UI Symbol" pitchFamily="34" charset="0"/>
                <a:ea typeface="Segoe UI Symbol" pitchFamily="34" charset="-122"/>
                <a:cs typeface="Segoe UI Symbol" pitchFamily="34" charset="-120"/>
              </a:rPr>
              <a:t>☁</a:t>
            </a:r>
            <a:endParaRPr lang="en-US" sz="1969" dirty="0"/>
          </a:p>
        </p:txBody>
      </p:sp>
      <p:sp>
        <p:nvSpPr>
          <p:cNvPr id="21" name="Text 17"/>
          <p:cNvSpPr/>
          <p:nvPr/>
        </p:nvSpPr>
        <p:spPr>
          <a:xfrm>
            <a:off x="7593806" y="1553842"/>
            <a:ext cx="628650" cy="184023"/>
          </a:xfrm>
          <a:prstGeom prst="roundRect">
            <a:avLst>
              <a:gd name="adj" fmla="val 20704"/>
            </a:avLst>
          </a:prstGeom>
          <a:solidFill>
            <a:srgbClr val="FF7A1A">
              <a:alpha val="12000"/>
            </a:srgbClr>
          </a:solidFill>
          <a:ln w="7144">
            <a:solidFill>
              <a:srgbClr val="FF7A1A"/>
            </a:solidFill>
            <a:prstDash val="solid"/>
          </a:ln>
        </p:spPr>
        <p:txBody>
          <a:bodyPr wrap="square" rtlCol="0" anchor="ctr"/>
          <a:lstStyle/>
          <a:p>
            <a:pPr indent="0" marL="0">
              <a:buNone/>
            </a:pPr>
            <a:endParaRPr lang="en-US" dirty="0"/>
          </a:p>
        </p:txBody>
      </p:sp>
      <p:sp>
        <p:nvSpPr>
          <p:cNvPr id="22" name="Text 18"/>
          <p:cNvSpPr/>
          <p:nvPr/>
        </p:nvSpPr>
        <p:spPr>
          <a:xfrm>
            <a:off x="7539079" y="1563700"/>
            <a:ext cx="738104" cy="164306"/>
          </a:xfrm>
          <a:prstGeom prst="rect">
            <a:avLst/>
          </a:prstGeom>
          <a:noFill/>
          <a:ln/>
        </p:spPr>
        <p:txBody>
          <a:bodyPr wrap="none" lIns="0" tIns="0" rIns="0" bIns="0" rtlCol="0" anchor="ctr"/>
          <a:lstStyle/>
          <a:p>
            <a:pPr algn="ctr" indent="0" marL="0">
              <a:lnSpc>
                <a:spcPts val="844"/>
              </a:lnSpc>
              <a:buNone/>
            </a:pPr>
            <a:r>
              <a:rPr lang="en-US" sz="800" spc="124" kern="0" dirty="0">
                <a:solidFill>
                  <a:srgbClr val="FF7A1A"/>
                </a:solidFill>
                <a:latin typeface="Courier New" pitchFamily="34" charset="0"/>
                <a:ea typeface="Courier New" pitchFamily="34" charset="-122"/>
                <a:cs typeface="Courier New" pitchFamily="34" charset="-120"/>
              </a:rPr>
              <a:t>USED TODAY</a:t>
            </a:r>
            <a:endParaRPr lang="en-US" sz="800" dirty="0"/>
          </a:p>
        </p:txBody>
      </p:sp>
      <p:sp>
        <p:nvSpPr>
          <p:cNvPr id="23" name="Text 19"/>
          <p:cNvSpPr/>
          <p:nvPr/>
        </p:nvSpPr>
        <p:spPr>
          <a:xfrm>
            <a:off x="4800600" y="1885169"/>
            <a:ext cx="3664744" cy="164592"/>
          </a:xfrm>
          <a:prstGeom prst="rect">
            <a:avLst/>
          </a:prstGeom>
          <a:noFill/>
          <a:ln/>
        </p:spPr>
        <p:txBody>
          <a:bodyPr wrap="square" lIns="0" tIns="0" rIns="0" bIns="0" rtlCol="0" anchor="t"/>
          <a:lstStyle/>
          <a:p>
            <a:pPr algn="l" indent="0" marL="0">
              <a:lnSpc>
                <a:spcPts val="1181"/>
              </a:lnSpc>
              <a:buNone/>
            </a:pPr>
            <a:r>
              <a:rPr lang="en-US" sz="788" dirty="0">
                <a:solidFill>
                  <a:srgbClr val="A1A1AA"/>
                </a:solidFill>
                <a:latin typeface="Carlito" pitchFamily="34" charset="0"/>
                <a:ea typeface="Carlito" pitchFamily="34" charset="-122"/>
                <a:cs typeface="Carlito" pitchFamily="34" charset="-120"/>
              </a:rPr>
              <a:t>URL + optional headers — a remote server somewhere on the internet.</a:t>
            </a:r>
            <a:endParaRPr lang="en-US" sz="788" dirty="0"/>
          </a:p>
        </p:txBody>
      </p:sp>
      <p:sp>
        <p:nvSpPr>
          <p:cNvPr id="24" name="Text 20"/>
          <p:cNvSpPr/>
          <p:nvPr/>
        </p:nvSpPr>
        <p:spPr>
          <a:xfrm>
            <a:off x="4804172" y="2153059"/>
            <a:ext cx="3657600" cy="250031"/>
          </a:xfrm>
          <a:prstGeom prst="roundRect">
            <a:avLst>
              <a:gd name="adj" fmla="val 22857"/>
            </a:avLst>
          </a:prstGeom>
          <a:solidFill>
            <a:srgbClr val="0B0B0D"/>
          </a:solidFill>
          <a:ln w="7144">
            <a:solidFill>
              <a:srgbClr val="2A2A33"/>
            </a:solidFill>
            <a:prstDash val="solid"/>
          </a:ln>
        </p:spPr>
        <p:txBody>
          <a:bodyPr wrap="square" rtlCol="0" anchor="ctr"/>
          <a:lstStyle/>
          <a:p>
            <a:pPr indent="0" marL="0">
              <a:buNone/>
            </a:pPr>
            <a:endParaRPr lang="en-US" dirty="0"/>
          </a:p>
        </p:txBody>
      </p:sp>
      <p:sp>
        <p:nvSpPr>
          <p:cNvPr id="25" name="Text 21"/>
          <p:cNvSpPr/>
          <p:nvPr/>
        </p:nvSpPr>
        <p:spPr>
          <a:xfrm>
            <a:off x="4800600" y="2149487"/>
            <a:ext cx="3664744" cy="329184"/>
          </a:xfrm>
          <a:prstGeom prst="rect">
            <a:avLst/>
          </a:prstGeom>
          <a:noFill/>
          <a:ln/>
        </p:spPr>
        <p:txBody>
          <a:bodyPr wrap="square" lIns="85725" tIns="57150" rIns="85725" bIns="57150" rtlCol="0" anchor="t"/>
          <a:lstStyle/>
          <a:p>
            <a:pPr algn="l" indent="0" marL="0">
              <a:lnSpc>
                <a:spcPts val="1013"/>
              </a:lnSpc>
              <a:buNone/>
            </a:pPr>
            <a:r>
              <a:rPr lang="en-US" sz="800" dirty="0">
                <a:solidFill>
                  <a:srgbClr val="FF7A1A"/>
                </a:solidFill>
                <a:latin typeface="Courier New" pitchFamily="34" charset="0"/>
                <a:ea typeface="Courier New" pitchFamily="34" charset="-122"/>
                <a:cs typeface="Courier New" pitchFamily="34" charset="-120"/>
              </a:rPr>
              <a:t>type:</a:t>
            </a:r>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 </a:t>
            </a:r>
            <a:pPr algn="l" indent="0" marL="0">
              <a:lnSpc>
                <a:spcPts val="1013"/>
              </a:lnSpc>
              <a:buNone/>
            </a:pPr>
            <a:r>
              <a:rPr lang="en-US" sz="800" dirty="0">
                <a:solidFill>
                  <a:srgbClr val="E4E4E7"/>
                </a:solidFill>
                <a:latin typeface="Courier New" pitchFamily="34" charset="0"/>
                <a:ea typeface="Courier New" pitchFamily="34" charset="-122"/>
                <a:cs typeface="Courier New" pitchFamily="34" charset="-120"/>
              </a:rPr>
              <a:t>"http"</a:t>
            </a:r>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 · </a:t>
            </a:r>
            <a:pPr algn="l" indent="0" marL="0">
              <a:lnSpc>
                <a:spcPts val="1013"/>
              </a:lnSpc>
              <a:buNone/>
            </a:pPr>
            <a:r>
              <a:rPr lang="en-US" sz="800" dirty="0">
                <a:solidFill>
                  <a:srgbClr val="FF7A1A"/>
                </a:solidFill>
                <a:latin typeface="Courier New" pitchFamily="34" charset="0"/>
                <a:ea typeface="Courier New" pitchFamily="34" charset="-122"/>
                <a:cs typeface="Courier New" pitchFamily="34" charset="-120"/>
              </a:rPr>
              <a:t>url:</a:t>
            </a:r>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 </a:t>
            </a:r>
            <a:pPr algn="l" indent="0" marL="0">
              <a:lnSpc>
                <a:spcPts val="1013"/>
              </a:lnSpc>
              <a:buNone/>
            </a:pPr>
            <a:r>
              <a:rPr lang="en-US" sz="800" dirty="0">
                <a:solidFill>
                  <a:srgbClr val="E4E4E7"/>
                </a:solidFill>
                <a:latin typeface="Courier New" pitchFamily="34" charset="0"/>
                <a:ea typeface="Courier New" pitchFamily="34" charset="-122"/>
                <a:cs typeface="Courier New" pitchFamily="34" charset="-120"/>
              </a:rPr>
              <a:t>"https://api.githubcopilot.com/mcp/"</a:t>
            </a:r>
            <a:endParaRPr lang="en-US" sz="800" dirty="0"/>
          </a:p>
        </p:txBody>
      </p:sp>
      <p:sp>
        <p:nvSpPr>
          <p:cNvPr id="26" name="Text 22"/>
          <p:cNvSpPr/>
          <p:nvPr/>
        </p:nvSpPr>
        <p:spPr>
          <a:xfrm>
            <a:off x="4800600" y="2630239"/>
            <a:ext cx="3664744" cy="117872"/>
          </a:xfrm>
          <a:prstGeom prst="rect">
            <a:avLst/>
          </a:prstGeom>
          <a:noFill/>
          <a:ln/>
        </p:spPr>
        <p:txBody>
          <a:bodyPr wrap="none" lIns="0" tIns="0" rIns="0" bIns="0" rtlCol="0" anchor="t"/>
          <a:lstStyle/>
          <a:p>
            <a:pPr algn="l" indent="0" marL="0">
              <a:lnSpc>
                <a:spcPts val="928"/>
              </a:lnSpc>
              <a:buNone/>
            </a:pPr>
            <a:r>
              <a:rPr lang="en-US" sz="800" spc="99" kern="0" dirty="0">
                <a:solidFill>
                  <a:srgbClr val="FF7A1A"/>
                </a:solidFill>
                <a:latin typeface="Liberation Sans Narrow" pitchFamily="34" charset="0"/>
                <a:ea typeface="Liberation Sans Narrow" pitchFamily="34" charset="-122"/>
                <a:cs typeface="Liberation Sans Narrow" pitchFamily="34" charset="-120"/>
              </a:rPr>
              <a:t>PATTERN 03 · GITHUB</a:t>
            </a:r>
            <a:endParaRPr lang="en-US" sz="800" dirty="0"/>
          </a:p>
        </p:txBody>
      </p:sp>
      <p:sp>
        <p:nvSpPr>
          <p:cNvPr id="27" name="Text 23"/>
          <p:cNvSpPr/>
          <p:nvPr/>
        </p:nvSpPr>
        <p:spPr>
          <a:xfrm>
            <a:off x="517922" y="3016002"/>
            <a:ext cx="3986213" cy="1420267"/>
          </a:xfrm>
          <a:prstGeom prst="roundRect">
            <a:avLst>
              <a:gd name="adj" fmla="val 8048"/>
            </a:avLst>
          </a:prstGeom>
          <a:solidFill>
            <a:srgbClr val="15151A"/>
          </a:solidFill>
          <a:ln w="7144">
            <a:solidFill>
              <a:srgbClr val="2A2A33"/>
            </a:solidFill>
            <a:prstDash val="solid"/>
          </a:ln>
        </p:spPr>
        <p:txBody>
          <a:bodyPr wrap="square" rtlCol="0" anchor="ctr"/>
          <a:lstStyle/>
          <a:p>
            <a:pPr indent="0" marL="0">
              <a:buNone/>
            </a:pPr>
            <a:endParaRPr lang="en-US" dirty="0"/>
          </a:p>
        </p:txBody>
      </p:sp>
      <p:sp>
        <p:nvSpPr>
          <p:cNvPr id="28" name="Text 24"/>
          <p:cNvSpPr/>
          <p:nvPr/>
        </p:nvSpPr>
        <p:spPr>
          <a:xfrm>
            <a:off x="678656" y="3148161"/>
            <a:ext cx="3664744" cy="254603"/>
          </a:xfrm>
          <a:prstGeom prst="rect">
            <a:avLst/>
          </a:prstGeom>
          <a:noFill/>
          <a:ln/>
        </p:spPr>
        <p:txBody>
          <a:bodyPr wrap="none" lIns="0" tIns="0" rIns="0" bIns="0" rtlCol="0" anchor="t"/>
          <a:lstStyle/>
          <a:p>
            <a:pPr algn="l" indent="0" marL="0">
              <a:lnSpc>
                <a:spcPts val="1856"/>
              </a:lnSpc>
              <a:buNone/>
            </a:pPr>
            <a:r>
              <a:rPr lang="en-US" sz="1238" b="1" spc="-12" kern="0" dirty="0">
                <a:solidFill>
                  <a:srgbClr val="A1A1AA"/>
                </a:solidFill>
                <a:latin typeface="Courier New" pitchFamily="34" charset="0"/>
                <a:ea typeface="Courier New" pitchFamily="34" charset="-122"/>
                <a:cs typeface="Courier New" pitchFamily="34" charset="-120"/>
              </a:rPr>
              <a:t>"</a:t>
            </a:r>
            <a:pPr algn="l" indent="0" marL="0">
              <a:lnSpc>
                <a:spcPts val="1856"/>
              </a:lnSpc>
              <a:buNone/>
            </a:pPr>
            <a:r>
              <a:rPr lang="en-US" sz="1238" b="1" spc="-12" kern="0" dirty="0">
                <a:solidFill>
                  <a:srgbClr val="FF7A1A"/>
                </a:solidFill>
                <a:latin typeface="Courier New" pitchFamily="34" charset="0"/>
                <a:ea typeface="Courier New" pitchFamily="34" charset="-122"/>
                <a:cs typeface="Courier New" pitchFamily="34" charset="-120"/>
              </a:rPr>
              <a:t>sse</a:t>
            </a:r>
            <a:pPr algn="l" indent="0" marL="0">
              <a:lnSpc>
                <a:spcPts val="1856"/>
              </a:lnSpc>
              <a:buNone/>
            </a:pPr>
            <a:r>
              <a:rPr lang="en-US" sz="1238" b="1" spc="-12" kern="0" dirty="0">
                <a:solidFill>
                  <a:srgbClr val="A1A1AA"/>
                </a:solidFill>
                <a:latin typeface="Courier New" pitchFamily="34" charset="0"/>
                <a:ea typeface="Courier New" pitchFamily="34" charset="-122"/>
                <a:cs typeface="Courier New" pitchFamily="34" charset="-120"/>
              </a:rPr>
              <a:t>"</a:t>
            </a:r>
            <a:endParaRPr lang="en-US" sz="1238" dirty="0"/>
          </a:p>
        </p:txBody>
      </p:sp>
      <p:sp>
        <p:nvSpPr>
          <p:cNvPr id="29" name="Text 25"/>
          <p:cNvSpPr/>
          <p:nvPr/>
        </p:nvSpPr>
        <p:spPr>
          <a:xfrm>
            <a:off x="4143375" y="3166021"/>
            <a:ext cx="200025" cy="200025"/>
          </a:xfrm>
          <a:prstGeom prst="rect">
            <a:avLst/>
          </a:prstGeom>
          <a:noFill/>
          <a:ln/>
        </p:spPr>
        <p:txBody>
          <a:bodyPr wrap="none" lIns="0" tIns="0" rIns="0" bIns="0" rtlCol="0" anchor="ctr"/>
          <a:lstStyle/>
          <a:p>
            <a:pPr algn="ctr" indent="0" marL="0">
              <a:buNone/>
            </a:pPr>
            <a:r>
              <a:rPr lang="en-US" sz="1969" dirty="0">
                <a:solidFill>
                  <a:srgbClr val="71717A"/>
                </a:solidFill>
                <a:latin typeface="Segoe UI Symbol" pitchFamily="34" charset="0"/>
                <a:ea typeface="Segoe UI Symbol" pitchFamily="34" charset="-122"/>
                <a:cs typeface="Segoe UI Symbol" pitchFamily="34" charset="-120"/>
              </a:rPr>
              <a:t>✦</a:t>
            </a:r>
            <a:endParaRPr lang="en-US" sz="1969" dirty="0"/>
          </a:p>
        </p:txBody>
      </p:sp>
      <p:sp>
        <p:nvSpPr>
          <p:cNvPr id="30" name="Text 26"/>
          <p:cNvSpPr/>
          <p:nvPr/>
        </p:nvSpPr>
        <p:spPr>
          <a:xfrm>
            <a:off x="678656" y="3441055"/>
            <a:ext cx="3664744" cy="164592"/>
          </a:xfrm>
          <a:prstGeom prst="rect">
            <a:avLst/>
          </a:prstGeom>
          <a:noFill/>
          <a:ln/>
        </p:spPr>
        <p:txBody>
          <a:bodyPr wrap="square" lIns="0" tIns="0" rIns="0" bIns="0" rtlCol="0" anchor="t"/>
          <a:lstStyle/>
          <a:p>
            <a:pPr algn="l" indent="0" marL="0">
              <a:lnSpc>
                <a:spcPts val="1181"/>
              </a:lnSpc>
              <a:buNone/>
            </a:pPr>
            <a:r>
              <a:rPr lang="en-US" sz="788" dirty="0">
                <a:solidFill>
                  <a:srgbClr val="A1A1AA"/>
                </a:solidFill>
                <a:latin typeface="Carlito" pitchFamily="34" charset="0"/>
                <a:ea typeface="Carlito" pitchFamily="34" charset="-122"/>
                <a:cs typeface="Carlito" pitchFamily="34" charset="-120"/>
              </a:rPr>
              <a:t>URL + optional headers — same idea as HTTP, an older streaming style.</a:t>
            </a:r>
            <a:endParaRPr lang="en-US" sz="788" dirty="0"/>
          </a:p>
        </p:txBody>
      </p:sp>
      <p:sp>
        <p:nvSpPr>
          <p:cNvPr id="31" name="Text 27"/>
          <p:cNvSpPr/>
          <p:nvPr/>
        </p:nvSpPr>
        <p:spPr>
          <a:xfrm>
            <a:off x="682228" y="3708946"/>
            <a:ext cx="3657600" cy="250031"/>
          </a:xfrm>
          <a:prstGeom prst="roundRect">
            <a:avLst>
              <a:gd name="adj" fmla="val 22857"/>
            </a:avLst>
          </a:prstGeom>
          <a:solidFill>
            <a:srgbClr val="0B0B0D"/>
          </a:solidFill>
          <a:ln w="7144">
            <a:solidFill>
              <a:srgbClr val="2A2A33"/>
            </a:solidFill>
            <a:prstDash val="solid"/>
          </a:ln>
        </p:spPr>
        <p:txBody>
          <a:bodyPr wrap="square" rtlCol="0" anchor="ctr"/>
          <a:lstStyle/>
          <a:p>
            <a:pPr indent="0" marL="0">
              <a:buNone/>
            </a:pPr>
            <a:endParaRPr lang="en-US" dirty="0"/>
          </a:p>
        </p:txBody>
      </p:sp>
      <p:sp>
        <p:nvSpPr>
          <p:cNvPr id="32" name="Text 28"/>
          <p:cNvSpPr/>
          <p:nvPr/>
        </p:nvSpPr>
        <p:spPr>
          <a:xfrm>
            <a:off x="678656" y="3705374"/>
            <a:ext cx="3664744" cy="329184"/>
          </a:xfrm>
          <a:prstGeom prst="rect">
            <a:avLst/>
          </a:prstGeom>
          <a:noFill/>
          <a:ln/>
        </p:spPr>
        <p:txBody>
          <a:bodyPr wrap="square" lIns="85725" tIns="57150" rIns="85725" bIns="57150" rtlCol="0" anchor="t"/>
          <a:lstStyle/>
          <a:p>
            <a:pPr algn="l" indent="0" marL="0">
              <a:lnSpc>
                <a:spcPts val="1013"/>
              </a:lnSpc>
              <a:buNone/>
            </a:pPr>
            <a:r>
              <a:rPr lang="en-US" sz="800" dirty="0">
                <a:solidFill>
                  <a:srgbClr val="FF7A1A"/>
                </a:solidFill>
                <a:latin typeface="Courier New" pitchFamily="34" charset="0"/>
                <a:ea typeface="Courier New" pitchFamily="34" charset="-122"/>
                <a:cs typeface="Courier New" pitchFamily="34" charset="-120"/>
              </a:rPr>
              <a:t>type:</a:t>
            </a:r>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 </a:t>
            </a:r>
            <a:pPr algn="l" indent="0" marL="0">
              <a:lnSpc>
                <a:spcPts val="1013"/>
              </a:lnSpc>
              <a:buNone/>
            </a:pPr>
            <a:r>
              <a:rPr lang="en-US" sz="800" dirty="0">
                <a:solidFill>
                  <a:srgbClr val="E4E4E7"/>
                </a:solidFill>
                <a:latin typeface="Courier New" pitchFamily="34" charset="0"/>
                <a:ea typeface="Courier New" pitchFamily="34" charset="-122"/>
                <a:cs typeface="Courier New" pitchFamily="34" charset="-120"/>
              </a:rPr>
              <a:t>"sse"</a:t>
            </a:r>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 · </a:t>
            </a:r>
            <a:pPr algn="l" indent="0" marL="0">
              <a:lnSpc>
                <a:spcPts val="1013"/>
              </a:lnSpc>
              <a:buNone/>
            </a:pPr>
            <a:r>
              <a:rPr lang="en-US" sz="800" dirty="0">
                <a:solidFill>
                  <a:srgbClr val="FF7A1A"/>
                </a:solidFill>
                <a:latin typeface="Courier New" pitchFamily="34" charset="0"/>
                <a:ea typeface="Courier New" pitchFamily="34" charset="-122"/>
                <a:cs typeface="Courier New" pitchFamily="34" charset="-120"/>
              </a:rPr>
              <a:t>url:</a:t>
            </a:r>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 </a:t>
            </a:r>
            <a:pPr algn="l" indent="0" marL="0">
              <a:lnSpc>
                <a:spcPts val="1013"/>
              </a:lnSpc>
              <a:buNone/>
            </a:pPr>
            <a:r>
              <a:rPr lang="en-US" sz="800" dirty="0">
                <a:solidFill>
                  <a:srgbClr val="E4E4E7"/>
                </a:solidFill>
                <a:latin typeface="Courier New" pitchFamily="34" charset="0"/>
                <a:ea typeface="Courier New" pitchFamily="34" charset="-122"/>
                <a:cs typeface="Courier New" pitchFamily="34" charset="-120"/>
              </a:rPr>
              <a:t>"https://…/sse"</a:t>
            </a:r>
            <a:endParaRPr lang="en-US" sz="800" dirty="0"/>
          </a:p>
        </p:txBody>
      </p:sp>
      <p:sp>
        <p:nvSpPr>
          <p:cNvPr id="33" name="Text 29"/>
          <p:cNvSpPr/>
          <p:nvPr/>
        </p:nvSpPr>
        <p:spPr>
          <a:xfrm>
            <a:off x="678656" y="4186238"/>
            <a:ext cx="3664744" cy="11787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NOT USED IN EP09</a:t>
            </a:r>
            <a:endParaRPr lang="en-US" sz="800" dirty="0"/>
          </a:p>
        </p:txBody>
      </p:sp>
      <p:sp>
        <p:nvSpPr>
          <p:cNvPr id="34" name="Text 30"/>
          <p:cNvSpPr/>
          <p:nvPr/>
        </p:nvSpPr>
        <p:spPr>
          <a:xfrm>
            <a:off x="4639866" y="3016002"/>
            <a:ext cx="3986213" cy="1420267"/>
          </a:xfrm>
          <a:prstGeom prst="roundRect">
            <a:avLst>
              <a:gd name="adj" fmla="val 8048"/>
            </a:avLst>
          </a:prstGeom>
          <a:solidFill>
            <a:srgbClr val="15151A"/>
          </a:solidFill>
          <a:ln w="7144">
            <a:solidFill>
              <a:srgbClr val="2A2A33"/>
            </a:solidFill>
            <a:prstDash val="solid"/>
          </a:ln>
        </p:spPr>
        <p:txBody>
          <a:bodyPr wrap="square" rtlCol="0" anchor="ctr"/>
          <a:lstStyle/>
          <a:p>
            <a:pPr indent="0" marL="0">
              <a:buNone/>
            </a:pPr>
            <a:endParaRPr lang="en-US" dirty="0"/>
          </a:p>
        </p:txBody>
      </p:sp>
      <p:sp>
        <p:nvSpPr>
          <p:cNvPr id="35" name="Text 31"/>
          <p:cNvSpPr/>
          <p:nvPr/>
        </p:nvSpPr>
        <p:spPr>
          <a:xfrm>
            <a:off x="4800600" y="3148161"/>
            <a:ext cx="3664744" cy="254603"/>
          </a:xfrm>
          <a:prstGeom prst="rect">
            <a:avLst/>
          </a:prstGeom>
          <a:noFill/>
          <a:ln/>
        </p:spPr>
        <p:txBody>
          <a:bodyPr wrap="none" lIns="0" tIns="0" rIns="0" bIns="0" rtlCol="0" anchor="t"/>
          <a:lstStyle/>
          <a:p>
            <a:pPr algn="l" indent="0" marL="0">
              <a:lnSpc>
                <a:spcPts val="1856"/>
              </a:lnSpc>
              <a:buNone/>
            </a:pPr>
            <a:r>
              <a:rPr lang="en-US" sz="1238" b="1" spc="-12" kern="0" dirty="0">
                <a:solidFill>
                  <a:srgbClr val="A1A1AA"/>
                </a:solidFill>
                <a:latin typeface="Courier New" pitchFamily="34" charset="0"/>
                <a:ea typeface="Courier New" pitchFamily="34" charset="-122"/>
                <a:cs typeface="Courier New" pitchFamily="34" charset="-120"/>
              </a:rPr>
              <a:t>"</a:t>
            </a:r>
            <a:pPr algn="l" indent="0" marL="0">
              <a:lnSpc>
                <a:spcPts val="1856"/>
              </a:lnSpc>
              <a:buNone/>
            </a:pPr>
            <a:r>
              <a:rPr lang="en-US" sz="1238" b="1" spc="-12" kern="0" dirty="0">
                <a:solidFill>
                  <a:srgbClr val="FF7A1A"/>
                </a:solidFill>
                <a:latin typeface="Courier New" pitchFamily="34" charset="0"/>
                <a:ea typeface="Courier New" pitchFamily="34" charset="-122"/>
                <a:cs typeface="Courier New" pitchFamily="34" charset="-120"/>
              </a:rPr>
              <a:t>sdk</a:t>
            </a:r>
            <a:pPr algn="l" indent="0" marL="0">
              <a:lnSpc>
                <a:spcPts val="1856"/>
              </a:lnSpc>
              <a:buNone/>
            </a:pPr>
            <a:r>
              <a:rPr lang="en-US" sz="1238" b="1" spc="-12" kern="0" dirty="0">
                <a:solidFill>
                  <a:srgbClr val="A1A1AA"/>
                </a:solidFill>
                <a:latin typeface="Courier New" pitchFamily="34" charset="0"/>
                <a:ea typeface="Courier New" pitchFamily="34" charset="-122"/>
                <a:cs typeface="Courier New" pitchFamily="34" charset="-120"/>
              </a:rPr>
              <a:t>"</a:t>
            </a:r>
            <a:endParaRPr lang="en-US" sz="1238" dirty="0"/>
          </a:p>
        </p:txBody>
      </p:sp>
      <p:sp>
        <p:nvSpPr>
          <p:cNvPr id="36" name="Text 32"/>
          <p:cNvSpPr/>
          <p:nvPr/>
        </p:nvSpPr>
        <p:spPr>
          <a:xfrm>
            <a:off x="8265319" y="3166021"/>
            <a:ext cx="200025" cy="200025"/>
          </a:xfrm>
          <a:prstGeom prst="rect">
            <a:avLst/>
          </a:prstGeom>
          <a:noFill/>
          <a:ln/>
        </p:spPr>
        <p:txBody>
          <a:bodyPr wrap="none" lIns="0" tIns="0" rIns="0" bIns="0" rtlCol="0" anchor="ctr"/>
          <a:lstStyle/>
          <a:p>
            <a:pPr algn="ctr" indent="0" marL="0">
              <a:buNone/>
            </a:pPr>
            <a:r>
              <a:rPr lang="en-US" sz="1969" dirty="0">
                <a:solidFill>
                  <a:srgbClr val="71717A"/>
                </a:solidFill>
                <a:latin typeface="Segoe UI Symbol" pitchFamily="34" charset="0"/>
                <a:ea typeface="Segoe UI Symbol" pitchFamily="34" charset="-122"/>
                <a:cs typeface="Segoe UI Symbol" pitchFamily="34" charset="-120"/>
              </a:rPr>
              <a:t>✦</a:t>
            </a:r>
            <a:endParaRPr lang="en-US" sz="1969" dirty="0"/>
          </a:p>
        </p:txBody>
      </p:sp>
      <p:sp>
        <p:nvSpPr>
          <p:cNvPr id="37" name="Text 33"/>
          <p:cNvSpPr/>
          <p:nvPr/>
        </p:nvSpPr>
        <p:spPr>
          <a:xfrm>
            <a:off x="6203007" y="3448199"/>
            <a:ext cx="1157734" cy="142875"/>
          </a:xfrm>
          <a:prstGeom prst="roundRect">
            <a:avLst>
              <a:gd name="adj" fmla="val 26667"/>
            </a:avLst>
          </a:prstGeom>
          <a:solidFill>
            <a:srgbClr val="1D1D24"/>
          </a:solidFill>
          <a:ln/>
        </p:spPr>
        <p:txBody>
          <a:bodyPr wrap="square" rtlCol="0" anchor="ctr"/>
          <a:lstStyle/>
          <a:p>
            <a:pPr indent="0" marL="0">
              <a:buNone/>
            </a:pPr>
            <a:endParaRPr lang="en-US" dirty="0"/>
          </a:p>
        </p:txBody>
      </p:sp>
      <p:sp>
        <p:nvSpPr>
          <p:cNvPr id="38" name="Text 34"/>
          <p:cNvSpPr/>
          <p:nvPr/>
        </p:nvSpPr>
        <p:spPr>
          <a:xfrm>
            <a:off x="4800600" y="3441055"/>
            <a:ext cx="3664744" cy="167041"/>
          </a:xfrm>
          <a:prstGeom prst="rect">
            <a:avLst/>
          </a:prstGeom>
          <a:noFill/>
          <a:ln/>
        </p:spPr>
        <p:txBody>
          <a:bodyPr wrap="square" lIns="0" tIns="0" rIns="0" bIns="0" rtlCol="0" anchor="t"/>
          <a:lstStyle/>
          <a:p>
            <a:pPr algn="l" indent="0" marL="0">
              <a:lnSpc>
                <a:spcPts val="1181"/>
              </a:lnSpc>
              <a:buNone/>
            </a:pPr>
            <a:r>
              <a:rPr lang="en-US" sz="800" dirty="0">
                <a:solidFill>
                  <a:srgbClr val="A1A1AA"/>
                </a:solidFill>
                <a:latin typeface="Carlito" pitchFamily="34" charset="0"/>
                <a:ea typeface="Carlito" pitchFamily="34" charset="-122"/>
                <a:cs typeface="Carlito" pitchFamily="34" charset="-120"/>
              </a:rPr>
              <a:t>Name + a live instance — what </a:t>
            </a:r>
            <a:pPr algn="l" indent="0" marL="0">
              <a:lnSpc>
                <a:spcPts val="1181"/>
              </a:lnSpc>
              <a:buNone/>
            </a:pPr>
            <a:r>
              <a:rPr lang="en-US" sz="800" dirty="0">
                <a:solidFill>
                  <a:srgbClr val="FF7A1A"/>
                </a:solidFill>
                <a:highlight>
                  <a:srgbClr val="1D1D24"/>
                </a:highlight>
                <a:latin typeface="Courier New" pitchFamily="34" charset="0"/>
                <a:ea typeface="Courier New" pitchFamily="34" charset="-122"/>
                <a:cs typeface="Courier New" pitchFamily="34" charset="-120"/>
              </a:rPr>
              <a:t>create_sdk_mcp_server()</a:t>
            </a:r>
            <a:pPr algn="l" indent="0" marL="0">
              <a:lnSpc>
                <a:spcPts val="1181"/>
              </a:lnSpc>
              <a:buNone/>
            </a:pPr>
            <a:r>
              <a:rPr lang="en-US" sz="800" dirty="0">
                <a:solidFill>
                  <a:srgbClr val="A1A1AA"/>
                </a:solidFill>
                <a:latin typeface="Carlito" pitchFamily="34" charset="0"/>
                <a:ea typeface="Carlito" pitchFamily="34" charset="-122"/>
                <a:cs typeface="Carlito" pitchFamily="34" charset="-120"/>
              </a:rPr>
              <a:t> builds.</a:t>
            </a:r>
            <a:endParaRPr lang="en-US" sz="800" dirty="0"/>
          </a:p>
        </p:txBody>
      </p:sp>
      <p:sp>
        <p:nvSpPr>
          <p:cNvPr id="39" name="Text 35"/>
          <p:cNvSpPr/>
          <p:nvPr/>
        </p:nvSpPr>
        <p:spPr>
          <a:xfrm>
            <a:off x="4804172" y="3711178"/>
            <a:ext cx="3657600" cy="250031"/>
          </a:xfrm>
          <a:prstGeom prst="roundRect">
            <a:avLst>
              <a:gd name="adj" fmla="val 22857"/>
            </a:avLst>
          </a:prstGeom>
          <a:solidFill>
            <a:srgbClr val="0B0B0D"/>
          </a:solidFill>
          <a:ln w="7144">
            <a:solidFill>
              <a:srgbClr val="2A2A33"/>
            </a:solidFill>
            <a:prstDash val="solid"/>
          </a:ln>
        </p:spPr>
        <p:txBody>
          <a:bodyPr wrap="square" rtlCol="0" anchor="ctr"/>
          <a:lstStyle/>
          <a:p>
            <a:pPr indent="0" marL="0">
              <a:buNone/>
            </a:pPr>
            <a:endParaRPr lang="en-US" dirty="0"/>
          </a:p>
        </p:txBody>
      </p:sp>
      <p:sp>
        <p:nvSpPr>
          <p:cNvPr id="40" name="Text 36"/>
          <p:cNvSpPr/>
          <p:nvPr/>
        </p:nvSpPr>
        <p:spPr>
          <a:xfrm>
            <a:off x="4800600" y="3707606"/>
            <a:ext cx="3664744" cy="329184"/>
          </a:xfrm>
          <a:prstGeom prst="rect">
            <a:avLst/>
          </a:prstGeom>
          <a:noFill/>
          <a:ln/>
        </p:spPr>
        <p:txBody>
          <a:bodyPr wrap="square" lIns="85725" tIns="57150" rIns="85725" bIns="57150" rtlCol="0" anchor="t"/>
          <a:lstStyle/>
          <a:p>
            <a:pPr algn="l" indent="0" marL="0">
              <a:lnSpc>
                <a:spcPts val="1013"/>
              </a:lnSpc>
              <a:buNone/>
            </a:pPr>
            <a:r>
              <a:rPr lang="en-US" sz="800" dirty="0">
                <a:solidFill>
                  <a:srgbClr val="FF7A1A"/>
                </a:solidFill>
                <a:latin typeface="Courier New" pitchFamily="34" charset="0"/>
                <a:ea typeface="Courier New" pitchFamily="34" charset="-122"/>
                <a:cs typeface="Courier New" pitchFamily="34" charset="-120"/>
              </a:rPr>
              <a:t>name:</a:t>
            </a:r>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 </a:t>
            </a:r>
            <a:pPr algn="l" indent="0" marL="0">
              <a:lnSpc>
                <a:spcPts val="1013"/>
              </a:lnSpc>
              <a:buNone/>
            </a:pPr>
            <a:r>
              <a:rPr lang="en-US" sz="800" dirty="0">
                <a:solidFill>
                  <a:srgbClr val="E4E4E7"/>
                </a:solidFill>
                <a:latin typeface="Courier New" pitchFamily="34" charset="0"/>
                <a:ea typeface="Courier New" pitchFamily="34" charset="-122"/>
                <a:cs typeface="Courier New" pitchFamily="34" charset="-120"/>
              </a:rPr>
              <a:t>"pr_tools"</a:t>
            </a:r>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 · </a:t>
            </a:r>
            <a:pPr algn="l" indent="0" marL="0">
              <a:lnSpc>
                <a:spcPts val="1013"/>
              </a:lnSpc>
              <a:buNone/>
            </a:pPr>
            <a:r>
              <a:rPr lang="en-US" sz="800" dirty="0">
                <a:solidFill>
                  <a:srgbClr val="FF7A1A"/>
                </a:solidFill>
                <a:latin typeface="Courier New" pitchFamily="34" charset="0"/>
                <a:ea typeface="Courier New" pitchFamily="34" charset="-122"/>
                <a:cs typeface="Courier New" pitchFamily="34" charset="-120"/>
              </a:rPr>
              <a:t>instance:</a:t>
            </a:r>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 </a:t>
            </a:r>
            <a:pPr algn="l" indent="0" marL="0">
              <a:lnSpc>
                <a:spcPts val="1013"/>
              </a:lnSpc>
              <a:buNone/>
            </a:pPr>
            <a:r>
              <a:rPr lang="en-US" sz="800" dirty="0">
                <a:solidFill>
                  <a:srgbClr val="E4E4E7"/>
                </a:solidFill>
                <a:latin typeface="Courier New" pitchFamily="34" charset="0"/>
                <a:ea typeface="Courier New" pitchFamily="34" charset="-122"/>
                <a:cs typeface="Courier New" pitchFamily="34" charset="-120"/>
              </a:rPr>
              <a:t>server_obj</a:t>
            </a:r>
            <a:endParaRPr lang="en-US" sz="800" dirty="0"/>
          </a:p>
        </p:txBody>
      </p:sp>
      <p:sp>
        <p:nvSpPr>
          <p:cNvPr id="41" name="Text 37"/>
          <p:cNvSpPr/>
          <p:nvPr/>
        </p:nvSpPr>
        <p:spPr>
          <a:xfrm>
            <a:off x="4800600" y="4186238"/>
            <a:ext cx="3664744" cy="11787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EP03/04 · IN-PROCESS</a:t>
            </a:r>
            <a:endParaRPr lang="en-US" sz="800" dirty="0"/>
          </a:p>
        </p:txBody>
      </p:sp>
      <p:sp>
        <p:nvSpPr>
          <p:cNvPr id="42" name="Text 38"/>
          <p:cNvSpPr/>
          <p:nvPr/>
        </p:nvSpPr>
        <p:spPr>
          <a:xfrm>
            <a:off x="514350" y="4589859"/>
            <a:ext cx="6958347" cy="164592"/>
          </a:xfrm>
          <a:prstGeom prst="rect">
            <a:avLst/>
          </a:prstGeom>
          <a:noFill/>
          <a:ln/>
        </p:spPr>
        <p:txBody>
          <a:bodyPr wrap="square" lIns="0" tIns="0" rIns="0" bIns="0" rtlCol="0" anchor="t"/>
          <a:lstStyle/>
          <a:p>
            <a:pPr algn="l" indent="0" marL="0">
              <a:lnSpc>
                <a:spcPts val="928"/>
              </a:lnSpc>
              <a:buNone/>
            </a:pPr>
            <a:r>
              <a:rPr lang="en-US" sz="800" spc="99" kern="0" dirty="0">
                <a:solidFill>
                  <a:srgbClr val="71717A"/>
                </a:solidFill>
                <a:latin typeface="Courier New" pitchFamily="34" charset="0"/>
                <a:ea typeface="Courier New" pitchFamily="34" charset="-122"/>
                <a:cs typeface="Courier New" pitchFamily="34" charset="-120"/>
              </a:rPr>
              <a:t>FOUR SHAPES · ONE PER SERVER · NEVER MIXED</a:t>
            </a:r>
            <a:endParaRPr lang="en-US" sz="800" dirty="0"/>
          </a:p>
        </p:txBody>
      </p:sp>
      <p:sp>
        <p:nvSpPr>
          <p:cNvPr id="43" name="Text 39"/>
          <p:cNvSpPr/>
          <p:nvPr/>
        </p:nvSpPr>
        <p:spPr>
          <a:xfrm>
            <a:off x="7464125" y="4542782"/>
            <a:ext cx="1188385" cy="212027"/>
          </a:xfrm>
          <a:prstGeom prst="roundRect">
            <a:avLst>
              <a:gd name="adj" fmla="val 17969"/>
            </a:avLst>
          </a:prstGeom>
          <a:solidFill>
            <a:srgbClr val="FF7A1A">
              <a:alpha val="10000"/>
            </a:srgbClr>
          </a:solidFill>
          <a:ln w="7144">
            <a:solidFill>
              <a:srgbClr val="FF7A1A"/>
            </a:solidFill>
            <a:prstDash val="solid"/>
          </a:ln>
        </p:spPr>
        <p:txBody>
          <a:bodyPr wrap="square" rtlCol="0" anchor="ctr"/>
          <a:lstStyle/>
          <a:p>
            <a:pPr indent="0" marL="0">
              <a:buNone/>
            </a:pPr>
            <a:endParaRPr lang="en-US" dirty="0"/>
          </a:p>
        </p:txBody>
      </p:sp>
      <p:sp>
        <p:nvSpPr>
          <p:cNvPr id="44" name="Text 40"/>
          <p:cNvSpPr/>
          <p:nvPr/>
        </p:nvSpPr>
        <p:spPr>
          <a:xfrm>
            <a:off x="7486985" y="4554141"/>
            <a:ext cx="1142665" cy="189309"/>
          </a:xfrm>
          <a:prstGeom prst="rect">
            <a:avLst/>
          </a:prstGeom>
          <a:noFill/>
          <a:ln/>
        </p:spPr>
        <p:txBody>
          <a:bodyPr wrap="none" lIns="0" tIns="0" rIns="0" bIns="0" rtlCol="0" anchor="ctr"/>
          <a:lstStyle/>
          <a:p>
            <a:pPr algn="ctr" indent="0" marL="0">
              <a:lnSpc>
                <a:spcPts val="928"/>
              </a:lnSpc>
              <a:buNone/>
            </a:pPr>
            <a:r>
              <a:rPr lang="en-US" sz="800" spc="99" kern="0" dirty="0">
                <a:solidFill>
                  <a:srgbClr val="FF7A1A"/>
                </a:solidFill>
                <a:latin typeface="Liberation Sans Narrow" pitchFamily="34" charset="0"/>
                <a:ea typeface="Liberation Sans Narrow" pitchFamily="34" charset="-122"/>
                <a:cs typeface="Liberation Sans Narrow" pitchFamily="34" charset="-120"/>
              </a:rPr>
              <a:t>2 OF 4 USED IN EP09</a:t>
            </a:r>
            <a:endParaRPr lang="en-US" sz="800" dirty="0"/>
          </a:p>
        </p:txBody>
      </p:sp>
      <p:sp>
        <p:nvSpPr>
          <p:cNvPr id="45" name="Text 41"/>
          <p:cNvSpPr/>
          <p:nvPr/>
        </p:nvSpPr>
        <p:spPr>
          <a:xfrm>
            <a:off x="514350" y="4868466"/>
            <a:ext cx="6980448"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EP09 · MCP IN THE REAL WORLD</a:t>
            </a:r>
            <a:endParaRPr lang="en-US" sz="800" dirty="0"/>
          </a:p>
        </p:txBody>
      </p:sp>
      <p:sp>
        <p:nvSpPr>
          <p:cNvPr id="46" name="Text 42"/>
          <p:cNvSpPr/>
          <p:nvPr/>
        </p:nvSpPr>
        <p:spPr>
          <a:xfrm>
            <a:off x="7509086" y="4868466"/>
            <a:ext cx="1371290" cy="164592"/>
          </a:xfrm>
          <a:prstGeom prst="rect">
            <a:avLst/>
          </a:prstGeom>
          <a:noFill/>
          <a:ln/>
        </p:spPr>
        <p:txBody>
          <a:bodyPr wrap="none" lIns="0" tIns="0" rIns="0" bIns="0" rtlCol="0" anchor="t"/>
          <a:lstStyle/>
          <a:p>
            <a:pPr algn="l" indent="0" marL="0">
              <a:lnSpc>
                <a:spcPts val="928"/>
              </a:lnSpc>
              <a:buNone/>
            </a:pPr>
            <a:r>
              <a:rPr lang="en-US" sz="619" spc="99" kern="0" dirty="0">
                <a:solidFill>
                  <a:srgbClr val="71717A"/>
                </a:solidFill>
                <a:latin typeface="Courier New" pitchFamily="34" charset="0"/>
                <a:ea typeface="Courier New" pitchFamily="34" charset="-122"/>
                <a:cs typeface="Courier New" pitchFamily="34" charset="-120"/>
              </a:rPr>
              <a:t>REFERENCE · SDK SOURCE</a:t>
            </a:r>
            <a:endParaRPr lang="en-US" sz="619"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257175" y="200025"/>
            <a:ext cx="2232705"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71717A"/>
                </a:solidFill>
                <a:latin typeface="Liberation Sans Narrow" pitchFamily="34" charset="0"/>
                <a:ea typeface="Liberation Sans Narrow" pitchFamily="34" charset="-122"/>
                <a:cs typeface="Liberation Sans Narrow" pitchFamily="34" charset="-120"/>
              </a:rPr>
              <a:t>EP09 </a:t>
            </a:r>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a:t>
            </a:r>
            <a:pPr algn="l" indent="0" marL="0">
              <a:lnSpc>
                <a:spcPts val="928"/>
              </a:lnSpc>
              <a:buNone/>
            </a:pPr>
            <a:r>
              <a:rPr lang="en-US" sz="800" spc="173" kern="0" dirty="0">
                <a:solidFill>
                  <a:srgbClr val="71717A"/>
                </a:solidFill>
                <a:latin typeface="Courier New" pitchFamily="34" charset="0"/>
                <a:ea typeface="Courier New" pitchFamily="34" charset="-122"/>
                <a:cs typeface="Courier New" pitchFamily="34" charset="-120"/>
              </a:rPr>
              <a:t> MCP IN THE REAL WORLD</a:t>
            </a:r>
            <a:endParaRPr lang="en-US" sz="800" dirty="0"/>
          </a:p>
        </p:txBody>
      </p:sp>
      <p:sp>
        <p:nvSpPr>
          <p:cNvPr id="3" name="Text 1"/>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09 / 30</a:t>
            </a:r>
            <a:endParaRPr lang="en-US" sz="800" dirty="0"/>
          </a:p>
        </p:txBody>
      </p:sp>
      <p:sp>
        <p:nvSpPr>
          <p:cNvPr id="4" name="Text 2"/>
          <p:cNvSpPr/>
          <p:nvPr/>
        </p:nvSpPr>
        <p:spPr>
          <a:xfrm>
            <a:off x="514350" y="600075"/>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Liberation Sans Narrow" pitchFamily="34" charset="0"/>
                <a:ea typeface="Liberation Sans Narrow" pitchFamily="34" charset="-122"/>
                <a:cs typeface="Liberation Sans Narrow" pitchFamily="34" charset="-120"/>
              </a:rPr>
              <a:t>PATTERN 3 · GITHUB</a:t>
            </a:r>
            <a:endParaRPr lang="en-US" sz="800" dirty="0"/>
          </a:p>
        </p:txBody>
      </p:sp>
      <p:sp>
        <p:nvSpPr>
          <p:cNvPr id="5" name="Text 3"/>
          <p:cNvSpPr/>
          <p:nvPr/>
        </p:nvSpPr>
        <p:spPr>
          <a:xfrm>
            <a:off x="514350" y="817959"/>
            <a:ext cx="8629650" cy="373346"/>
          </a:xfrm>
          <a:prstGeom prst="rect">
            <a:avLst/>
          </a:prstGeom>
          <a:noFill/>
          <a:ln/>
        </p:spPr>
        <p:txBody>
          <a:bodyPr wrap="squar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Meet GitHub's </a:t>
            </a:r>
            <a:pPr algn="l" indent="0" marL="0">
              <a:lnSpc>
                <a:spcPts val="2723"/>
              </a:lnSpc>
              <a:buNone/>
            </a:pPr>
            <a:r>
              <a:rPr lang="en-US" sz="2475" b="1" spc="-49" kern="0" dirty="0">
                <a:solidFill>
                  <a:srgbClr val="FF7A1A"/>
                </a:solidFill>
                <a:latin typeface="Carlito" pitchFamily="34" charset="0"/>
                <a:ea typeface="Carlito" pitchFamily="34" charset="-122"/>
                <a:cs typeface="Carlito" pitchFamily="34" charset="-120"/>
              </a:rPr>
              <a:t>Official</a:t>
            </a:r>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 MCP Server</a:t>
            </a:r>
            <a:endParaRPr lang="en-US" sz="2475" dirty="0"/>
          </a:p>
        </p:txBody>
      </p:sp>
      <p:sp>
        <p:nvSpPr>
          <p:cNvPr id="6" name="Shape 4"/>
          <p:cNvSpPr/>
          <p:nvPr/>
        </p:nvSpPr>
        <p:spPr>
          <a:xfrm>
            <a:off x="514350" y="1317241"/>
            <a:ext cx="400050" cy="0"/>
          </a:xfrm>
          <a:prstGeom prst="line">
            <a:avLst/>
          </a:prstGeom>
          <a:noFill/>
          <a:ln w="7144">
            <a:solidFill>
              <a:srgbClr val="F4F4F5"/>
            </a:solidFill>
            <a:prstDash val="solid"/>
          </a:ln>
        </p:spPr>
      </p:sp>
      <p:sp>
        <p:nvSpPr>
          <p:cNvPr id="7" name="Text 5"/>
          <p:cNvSpPr/>
          <p:nvPr/>
        </p:nvSpPr>
        <p:spPr>
          <a:xfrm>
            <a:off x="514350" y="2113322"/>
            <a:ext cx="4010211" cy="1415476"/>
          </a:xfrm>
          <a:prstGeom prst="rect">
            <a:avLst/>
          </a:prstGeom>
          <a:noFill/>
          <a:ln/>
        </p:spPr>
        <p:txBody>
          <a:bodyPr wrap="square" lIns="0" tIns="0" rIns="0" bIns="0" rtlCol="0" anchor="t"/>
          <a:lstStyle/>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Real, official, built and maintained by GitHub</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Exposes repos, issues, pull requests, actions, and more as MCP tools</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Two flavors: remote (hosted, just a URL) vs. local (self-run, usually Docker)</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Today: remote — </a:t>
            </a:r>
            <a:pPr algn="l" indent="0" marL="0">
              <a:lnSpc>
                <a:spcPts val="1482"/>
              </a:lnSpc>
              <a:spcAft>
                <a:spcPts val="788"/>
              </a:spcAft>
              <a:buNone/>
            </a:pPr>
            <a:r>
              <a:rPr lang="en-US" sz="956" dirty="0">
                <a:solidFill>
                  <a:srgbClr val="FF7A1A"/>
                </a:solidFill>
                <a:latin typeface="Carlito" pitchFamily="34" charset="0"/>
                <a:ea typeface="Carlito" pitchFamily="34" charset="-122"/>
                <a:cs typeface="Carlito" pitchFamily="34" charset="-120"/>
              </a:rPr>
              <a:t>one config block, zero installs</a:t>
            </a:r>
            <a:endParaRPr lang="en-US" sz="956" dirty="0"/>
          </a:p>
        </p:txBody>
      </p:sp>
      <p:sp>
        <p:nvSpPr>
          <p:cNvPr id="8" name="Text 6"/>
          <p:cNvSpPr/>
          <p:nvPr/>
        </p:nvSpPr>
        <p:spPr>
          <a:xfrm>
            <a:off x="517922" y="3486485"/>
            <a:ext cx="4003067" cy="625078"/>
          </a:xfrm>
          <a:prstGeom prst="roundRect">
            <a:avLst>
              <a:gd name="adj" fmla="val 15238"/>
            </a:avLst>
          </a:prstGeom>
          <a:solidFill>
            <a:srgbClr val="15151A"/>
          </a:solidFill>
          <a:ln w="7144">
            <a:solidFill>
              <a:srgbClr val="2A2A33"/>
            </a:solidFill>
            <a:prstDash val="solid"/>
          </a:ln>
        </p:spPr>
        <p:txBody>
          <a:bodyPr wrap="square" rtlCol="0" anchor="ctr"/>
          <a:lstStyle/>
          <a:p>
            <a:pPr indent="0" marL="0">
              <a:buNone/>
            </a:pPr>
            <a:endParaRPr lang="en-US" dirty="0"/>
          </a:p>
        </p:txBody>
      </p:sp>
      <p:sp>
        <p:nvSpPr>
          <p:cNvPr id="9" name="Text 7"/>
          <p:cNvSpPr/>
          <p:nvPr/>
        </p:nvSpPr>
        <p:spPr>
          <a:xfrm>
            <a:off x="650081" y="3604357"/>
            <a:ext cx="3738749" cy="161877"/>
          </a:xfrm>
          <a:prstGeom prst="rect">
            <a:avLst/>
          </a:prstGeom>
          <a:noFill/>
          <a:ln/>
        </p:spPr>
        <p:txBody>
          <a:bodyPr wrap="none" lIns="0" tIns="0" rIns="0" bIns="0" rtlCol="0" anchor="t">
            <a:normAutofit/>
          </a:bodyPr>
          <a:lstStyle/>
          <a:p>
            <a:pPr algn="l" indent="0" marL="0">
              <a:lnSpc>
                <a:spcPts val="928"/>
              </a:lnSpc>
              <a:buNone/>
            </a:pPr>
            <a:r>
              <a:rPr lang="en-US" sz="800" spc="136" kern="0" dirty="0">
                <a:solidFill>
                  <a:srgbClr val="71717A"/>
                </a:solidFill>
                <a:latin typeface="Courier New" pitchFamily="34" charset="0"/>
                <a:ea typeface="Courier New" pitchFamily="34" charset="-122"/>
                <a:cs typeface="Courier New" pitchFamily="34" charset="-120"/>
              </a:rPr>
              <a:t>EXPOSES AS MCP TOOLS</a:t>
            </a:r>
            <a:endParaRPr lang="en-US" sz="800" dirty="0"/>
          </a:p>
        </p:txBody>
      </p:sp>
      <p:sp>
        <p:nvSpPr>
          <p:cNvPr id="10" name="Text 8"/>
          <p:cNvSpPr/>
          <p:nvPr/>
        </p:nvSpPr>
        <p:spPr>
          <a:xfrm>
            <a:off x="650081" y="3781665"/>
            <a:ext cx="357188" cy="224028"/>
          </a:xfrm>
          <a:prstGeom prst="roundRect">
            <a:avLst>
              <a:gd name="adj" fmla="val 17007"/>
            </a:avLst>
          </a:prstGeom>
          <a:solidFill>
            <a:srgbClr val="0B0B0D"/>
          </a:solidFill>
          <a:ln w="7144">
            <a:solidFill>
              <a:srgbClr val="2A2A33"/>
            </a:solidFill>
            <a:prstDash val="solid"/>
          </a:ln>
        </p:spPr>
        <p:txBody>
          <a:bodyPr wrap="square" rtlCol="0" anchor="ctr"/>
          <a:lstStyle/>
          <a:p>
            <a:pPr indent="0" marL="0">
              <a:buNone/>
            </a:pPr>
            <a:endParaRPr lang="en-US" dirty="0"/>
          </a:p>
        </p:txBody>
      </p:sp>
      <p:sp>
        <p:nvSpPr>
          <p:cNvPr id="11" name="Text 9"/>
          <p:cNvSpPr/>
          <p:nvPr/>
        </p:nvSpPr>
        <p:spPr>
          <a:xfrm>
            <a:off x="650081" y="3793666"/>
            <a:ext cx="357188" cy="200025"/>
          </a:xfrm>
          <a:prstGeom prst="rect">
            <a:avLst/>
          </a:prstGeom>
          <a:noFill/>
          <a:ln/>
        </p:spPr>
        <p:txBody>
          <a:bodyPr wrap="none" lIns="0" tIns="0" rIns="0" bIns="0" rtlCol="0" anchor="ctr"/>
          <a:lstStyle/>
          <a:p>
            <a:pPr algn="ctr" indent="0" marL="0">
              <a:lnSpc>
                <a:spcPts val="1013"/>
              </a:lnSpc>
              <a:buNone/>
            </a:pPr>
            <a:r>
              <a:rPr lang="en-US" sz="800" dirty="0">
                <a:solidFill>
                  <a:srgbClr val="F4F4F5"/>
                </a:solidFill>
                <a:latin typeface="Courier New" pitchFamily="34" charset="0"/>
                <a:ea typeface="Courier New" pitchFamily="34" charset="-122"/>
                <a:cs typeface="Courier New" pitchFamily="34" charset="-120"/>
              </a:rPr>
              <a:t>repos</a:t>
            </a:r>
            <a:endParaRPr lang="en-US" sz="800" dirty="0"/>
          </a:p>
        </p:txBody>
      </p:sp>
      <p:sp>
        <p:nvSpPr>
          <p:cNvPr id="12" name="Text 10"/>
          <p:cNvSpPr/>
          <p:nvPr/>
        </p:nvSpPr>
        <p:spPr>
          <a:xfrm>
            <a:off x="1064419" y="3781665"/>
            <a:ext cx="400050" cy="224028"/>
          </a:xfrm>
          <a:prstGeom prst="roundRect">
            <a:avLst>
              <a:gd name="adj" fmla="val 17007"/>
            </a:avLst>
          </a:prstGeom>
          <a:solidFill>
            <a:srgbClr val="0B0B0D"/>
          </a:solidFill>
          <a:ln w="7144">
            <a:solidFill>
              <a:srgbClr val="2A2A33"/>
            </a:solidFill>
            <a:prstDash val="solid"/>
          </a:ln>
        </p:spPr>
        <p:txBody>
          <a:bodyPr wrap="square" rtlCol="0" anchor="ctr"/>
          <a:lstStyle/>
          <a:p>
            <a:pPr indent="0" marL="0">
              <a:buNone/>
            </a:pPr>
            <a:endParaRPr lang="en-US" dirty="0"/>
          </a:p>
        </p:txBody>
      </p:sp>
      <p:sp>
        <p:nvSpPr>
          <p:cNvPr id="13" name="Text 11"/>
          <p:cNvSpPr/>
          <p:nvPr/>
        </p:nvSpPr>
        <p:spPr>
          <a:xfrm>
            <a:off x="1059638" y="3793666"/>
            <a:ext cx="409611" cy="200025"/>
          </a:xfrm>
          <a:prstGeom prst="rect">
            <a:avLst/>
          </a:prstGeom>
          <a:noFill/>
          <a:ln/>
        </p:spPr>
        <p:txBody>
          <a:bodyPr wrap="none" lIns="0" tIns="0" rIns="0" bIns="0" rtlCol="0" anchor="ctr"/>
          <a:lstStyle/>
          <a:p>
            <a:pPr algn="ctr" indent="0" marL="0">
              <a:lnSpc>
                <a:spcPts val="1013"/>
              </a:lnSpc>
              <a:buNone/>
            </a:pPr>
            <a:r>
              <a:rPr lang="en-US" sz="800" dirty="0">
                <a:solidFill>
                  <a:srgbClr val="F4F4F5"/>
                </a:solidFill>
                <a:latin typeface="Courier New" pitchFamily="34" charset="0"/>
                <a:ea typeface="Courier New" pitchFamily="34" charset="-122"/>
                <a:cs typeface="Courier New" pitchFamily="34" charset="-120"/>
              </a:rPr>
              <a:t>issues</a:t>
            </a:r>
            <a:endParaRPr lang="en-US" sz="800" dirty="0"/>
          </a:p>
        </p:txBody>
      </p:sp>
      <p:sp>
        <p:nvSpPr>
          <p:cNvPr id="14" name="Text 12"/>
          <p:cNvSpPr/>
          <p:nvPr/>
        </p:nvSpPr>
        <p:spPr>
          <a:xfrm>
            <a:off x="1521619" y="3781665"/>
            <a:ext cx="700088" cy="224028"/>
          </a:xfrm>
          <a:prstGeom prst="roundRect">
            <a:avLst>
              <a:gd name="adj" fmla="val 17007"/>
            </a:avLst>
          </a:prstGeom>
          <a:solidFill>
            <a:srgbClr val="0B0B0D"/>
          </a:solidFill>
          <a:ln w="7144">
            <a:solidFill>
              <a:srgbClr val="2A2A33"/>
            </a:solidFill>
            <a:prstDash val="solid"/>
          </a:ln>
        </p:spPr>
        <p:txBody>
          <a:bodyPr wrap="square" rtlCol="0" anchor="ctr"/>
          <a:lstStyle/>
          <a:p>
            <a:pPr indent="0" marL="0">
              <a:buNone/>
            </a:pPr>
            <a:endParaRPr lang="en-US" dirty="0"/>
          </a:p>
        </p:txBody>
      </p:sp>
      <p:sp>
        <p:nvSpPr>
          <p:cNvPr id="15" name="Text 13"/>
          <p:cNvSpPr/>
          <p:nvPr/>
        </p:nvSpPr>
        <p:spPr>
          <a:xfrm>
            <a:off x="1521619" y="3793666"/>
            <a:ext cx="700088" cy="200025"/>
          </a:xfrm>
          <a:prstGeom prst="rect">
            <a:avLst/>
          </a:prstGeom>
          <a:noFill/>
          <a:ln/>
        </p:spPr>
        <p:txBody>
          <a:bodyPr wrap="none" lIns="0" tIns="0" rIns="0" bIns="0" rtlCol="0" anchor="ctr"/>
          <a:lstStyle/>
          <a:p>
            <a:pPr algn="ctr" indent="0" marL="0">
              <a:lnSpc>
                <a:spcPts val="1013"/>
              </a:lnSpc>
              <a:buNone/>
            </a:pPr>
            <a:r>
              <a:rPr lang="en-US" sz="800" dirty="0">
                <a:solidFill>
                  <a:srgbClr val="F4F4F5"/>
                </a:solidFill>
                <a:latin typeface="Courier New" pitchFamily="34" charset="0"/>
                <a:ea typeface="Courier New" pitchFamily="34" charset="-122"/>
                <a:cs typeface="Courier New" pitchFamily="34" charset="-120"/>
              </a:rPr>
              <a:t>pull_requests</a:t>
            </a:r>
            <a:endParaRPr lang="en-US" sz="800" dirty="0"/>
          </a:p>
        </p:txBody>
      </p:sp>
      <p:sp>
        <p:nvSpPr>
          <p:cNvPr id="16" name="Text 14"/>
          <p:cNvSpPr/>
          <p:nvPr/>
        </p:nvSpPr>
        <p:spPr>
          <a:xfrm>
            <a:off x="2278856" y="3781665"/>
            <a:ext cx="442913" cy="224028"/>
          </a:xfrm>
          <a:prstGeom prst="roundRect">
            <a:avLst>
              <a:gd name="adj" fmla="val 17007"/>
            </a:avLst>
          </a:prstGeom>
          <a:solidFill>
            <a:srgbClr val="0B0B0D"/>
          </a:solidFill>
          <a:ln w="7144">
            <a:solidFill>
              <a:srgbClr val="2A2A33"/>
            </a:solidFill>
            <a:prstDash val="solid"/>
          </a:ln>
        </p:spPr>
        <p:txBody>
          <a:bodyPr wrap="square" rtlCol="0" anchor="ctr"/>
          <a:lstStyle/>
          <a:p>
            <a:pPr indent="0" marL="0">
              <a:buNone/>
            </a:pPr>
            <a:endParaRPr lang="en-US" dirty="0"/>
          </a:p>
        </p:txBody>
      </p:sp>
      <p:sp>
        <p:nvSpPr>
          <p:cNvPr id="17" name="Text 15"/>
          <p:cNvSpPr/>
          <p:nvPr/>
        </p:nvSpPr>
        <p:spPr>
          <a:xfrm>
            <a:off x="2264336" y="3793666"/>
            <a:ext cx="471952" cy="200025"/>
          </a:xfrm>
          <a:prstGeom prst="rect">
            <a:avLst/>
          </a:prstGeom>
          <a:noFill/>
          <a:ln/>
        </p:spPr>
        <p:txBody>
          <a:bodyPr wrap="none" lIns="0" tIns="0" rIns="0" bIns="0" rtlCol="0" anchor="ctr"/>
          <a:lstStyle/>
          <a:p>
            <a:pPr algn="ctr" indent="0" marL="0">
              <a:lnSpc>
                <a:spcPts val="1013"/>
              </a:lnSpc>
              <a:buNone/>
            </a:pPr>
            <a:r>
              <a:rPr lang="en-US" sz="800" dirty="0">
                <a:solidFill>
                  <a:srgbClr val="F4F4F5"/>
                </a:solidFill>
                <a:latin typeface="Courier New" pitchFamily="34" charset="0"/>
                <a:ea typeface="Courier New" pitchFamily="34" charset="-122"/>
                <a:cs typeface="Courier New" pitchFamily="34" charset="-120"/>
              </a:rPr>
              <a:t>actions</a:t>
            </a:r>
            <a:endParaRPr lang="en-US" sz="800" dirty="0"/>
          </a:p>
        </p:txBody>
      </p:sp>
      <p:sp>
        <p:nvSpPr>
          <p:cNvPr id="18" name="Text 16"/>
          <p:cNvSpPr/>
          <p:nvPr/>
        </p:nvSpPr>
        <p:spPr>
          <a:xfrm>
            <a:off x="2778919" y="3781665"/>
            <a:ext cx="400050" cy="224028"/>
          </a:xfrm>
          <a:prstGeom prst="roundRect">
            <a:avLst>
              <a:gd name="adj" fmla="val 17007"/>
            </a:avLst>
          </a:prstGeom>
          <a:solidFill>
            <a:srgbClr val="0B0B0D"/>
          </a:solidFill>
          <a:ln w="7144">
            <a:solidFill>
              <a:srgbClr val="2A2A33"/>
            </a:solidFill>
            <a:prstDash val="dash"/>
          </a:ln>
        </p:spPr>
        <p:txBody>
          <a:bodyPr wrap="square" rtlCol="0" anchor="ctr"/>
          <a:lstStyle/>
          <a:p>
            <a:pPr indent="0" marL="0">
              <a:buNone/>
            </a:pPr>
            <a:endParaRPr lang="en-US" dirty="0"/>
          </a:p>
        </p:txBody>
      </p:sp>
      <p:sp>
        <p:nvSpPr>
          <p:cNvPr id="19" name="Text 17"/>
          <p:cNvSpPr/>
          <p:nvPr/>
        </p:nvSpPr>
        <p:spPr>
          <a:xfrm>
            <a:off x="2778919" y="3793666"/>
            <a:ext cx="400050" cy="200025"/>
          </a:xfrm>
          <a:prstGeom prst="rect">
            <a:avLst/>
          </a:prstGeom>
          <a:noFill/>
          <a:ln/>
        </p:spPr>
        <p:txBody>
          <a:bodyPr wrap="none" lIns="0" tIns="0" rIns="0" bIns="0" rtlCol="0" anchor="ctr"/>
          <a:lstStyle/>
          <a:p>
            <a:pPr algn="ctr"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 more</a:t>
            </a:r>
            <a:endParaRPr lang="en-US" sz="800" dirty="0"/>
          </a:p>
        </p:txBody>
      </p:sp>
      <p:pic>
        <p:nvPicPr>
          <p:cNvPr id="20" name="Image 0" descr="preencoded.png">    </p:cNvPr>
          <p:cNvPicPr>
            <a:picLocks noChangeAspect="1"/>
          </p:cNvPicPr>
          <p:nvPr/>
        </p:nvPicPr>
        <p:blipFill>
          <a:blip r:embed="rId1"/>
          <a:stretch>
            <a:fillRect/>
          </a:stretch>
        </p:blipFill>
        <p:spPr>
          <a:xfrm>
            <a:off x="4810311" y="1852687"/>
            <a:ext cx="1859607" cy="1080046"/>
          </a:xfrm>
          <a:prstGeom prst="rect">
            <a:avLst/>
          </a:prstGeom>
        </p:spPr>
      </p:pic>
      <p:sp>
        <p:nvSpPr>
          <p:cNvPr id="21" name="Text 18"/>
          <p:cNvSpPr/>
          <p:nvPr/>
        </p:nvSpPr>
        <p:spPr>
          <a:xfrm>
            <a:off x="4813883" y="1856259"/>
            <a:ext cx="1852464" cy="1072902"/>
          </a:xfrm>
          <a:prstGeom prst="roundRect">
            <a:avLst>
              <a:gd name="adj" fmla="val 7102"/>
            </a:avLst>
          </a:prstGeom>
          <a:solidFill>
            <a:srgbClr val="15151A"/>
          </a:solidFill>
          <a:ln w="7144">
            <a:solidFill>
              <a:srgbClr val="FF7A1A"/>
            </a:solidFill>
            <a:prstDash val="solid"/>
          </a:ln>
        </p:spPr>
        <p:txBody>
          <a:bodyPr wrap="square" rtlCol="0" anchor="ctr"/>
          <a:lstStyle/>
          <a:p>
            <a:pPr indent="0" marL="0">
              <a:buNone/>
            </a:pPr>
            <a:endParaRPr lang="en-US" dirty="0"/>
          </a:p>
        </p:txBody>
      </p:sp>
      <p:sp>
        <p:nvSpPr>
          <p:cNvPr id="22" name="Text 19"/>
          <p:cNvSpPr/>
          <p:nvPr/>
        </p:nvSpPr>
        <p:spPr>
          <a:xfrm>
            <a:off x="4917467" y="1959843"/>
            <a:ext cx="1645295" cy="133302"/>
          </a:xfrm>
          <a:prstGeom prst="rect">
            <a:avLst/>
          </a:prstGeom>
          <a:noFill/>
          <a:ln/>
        </p:spPr>
        <p:txBody>
          <a:bodyPr wrap="none" lIns="0" tIns="0" rIns="0" bIns="0" rtlCol="0" anchor="t">
            <a:normAutofit/>
          </a:bodyPr>
          <a:lstStyle/>
          <a:p>
            <a:pPr algn="l" indent="0" marL="0">
              <a:lnSpc>
                <a:spcPts val="928"/>
              </a:lnSpc>
              <a:buNone/>
            </a:pPr>
            <a:r>
              <a:rPr lang="en-US" sz="800" spc="136" kern="0" dirty="0">
                <a:solidFill>
                  <a:srgbClr val="FF7A1A"/>
                </a:solidFill>
                <a:latin typeface="Courier New" pitchFamily="34" charset="0"/>
                <a:ea typeface="Courier New" pitchFamily="34" charset="-122"/>
                <a:cs typeface="Courier New" pitchFamily="34" charset="-120"/>
              </a:rPr>
              <a:t>FLAVOR A · CHOSEN</a:t>
            </a:r>
            <a:endParaRPr lang="en-US" sz="800" dirty="0"/>
          </a:p>
        </p:txBody>
      </p:sp>
      <p:sp>
        <p:nvSpPr>
          <p:cNvPr id="23" name="Text 20"/>
          <p:cNvSpPr/>
          <p:nvPr/>
        </p:nvSpPr>
        <p:spPr>
          <a:xfrm>
            <a:off x="4917467" y="2120578"/>
            <a:ext cx="1645295" cy="185166"/>
          </a:xfrm>
          <a:prstGeom prst="rect">
            <a:avLst/>
          </a:prstGeom>
          <a:noFill/>
          <a:ln/>
        </p:spPr>
        <p:txBody>
          <a:bodyPr wrap="none" lIns="0" tIns="0" rIns="0" bIns="0" rtlCol="0" anchor="t"/>
          <a:lstStyle/>
          <a:p>
            <a:pPr algn="l" indent="0" marL="0">
              <a:lnSpc>
                <a:spcPts val="1350"/>
              </a:lnSpc>
              <a:buNone/>
            </a:pPr>
            <a:r>
              <a:rPr lang="en-US" sz="900" b="1" dirty="0">
                <a:solidFill>
                  <a:srgbClr val="F4F4F5"/>
                </a:solidFill>
                <a:latin typeface="Carlito" pitchFamily="34" charset="0"/>
                <a:ea typeface="Carlito" pitchFamily="34" charset="-122"/>
                <a:cs typeface="Carlito" pitchFamily="34" charset="-120"/>
              </a:rPr>
              <a:t>Remote</a:t>
            </a:r>
            <a:endParaRPr lang="en-US" sz="900" dirty="0"/>
          </a:p>
        </p:txBody>
      </p:sp>
      <p:sp>
        <p:nvSpPr>
          <p:cNvPr id="24" name="Text 21"/>
          <p:cNvSpPr/>
          <p:nvPr/>
        </p:nvSpPr>
        <p:spPr>
          <a:xfrm>
            <a:off x="4917467" y="2334890"/>
            <a:ext cx="1645295" cy="313236"/>
          </a:xfrm>
          <a:prstGeom prst="rect">
            <a:avLst/>
          </a:prstGeom>
          <a:noFill/>
          <a:ln/>
        </p:spPr>
        <p:txBody>
          <a:bodyPr wrap="square" lIns="0" tIns="0" rIns="0" bIns="0" rtlCol="0" anchor="t">
            <a:normAutofit/>
          </a:bodyPr>
          <a:lstStyle/>
          <a:p>
            <a:pPr algn="l" indent="0" marL="0">
              <a:lnSpc>
                <a:spcPts val="1060"/>
              </a:lnSpc>
              <a:buNone/>
            </a:pPr>
            <a:r>
              <a:rPr lang="en-US" sz="800" dirty="0">
                <a:solidFill>
                  <a:srgbClr val="A1A1AA"/>
                </a:solidFill>
                <a:latin typeface="Carlito" pitchFamily="34" charset="0"/>
                <a:ea typeface="Carlito" pitchFamily="34" charset="-122"/>
                <a:cs typeface="Carlito" pitchFamily="34" charset="-120"/>
              </a:rPr>
              <a:t>Hosted by GitHub. Just a URL. Nothing to install.</a:t>
            </a:r>
            <a:endParaRPr lang="en-US" sz="800" dirty="0"/>
          </a:p>
        </p:txBody>
      </p:sp>
      <p:sp>
        <p:nvSpPr>
          <p:cNvPr id="25" name="Text 22"/>
          <p:cNvSpPr/>
          <p:nvPr/>
        </p:nvSpPr>
        <p:spPr>
          <a:xfrm>
            <a:off x="4903180" y="2666556"/>
            <a:ext cx="385763" cy="168021"/>
          </a:xfrm>
          <a:prstGeom prst="roundRect">
            <a:avLst>
              <a:gd name="adj" fmla="val 22676"/>
            </a:avLst>
          </a:prstGeom>
          <a:solidFill>
            <a:srgbClr val="FF7A1A">
              <a:alpha val="10000"/>
            </a:srgbClr>
          </a:solidFill>
          <a:ln w="7144">
            <a:solidFill>
              <a:srgbClr val="FF7A1A"/>
            </a:solidFill>
            <a:prstDash val="solid"/>
          </a:ln>
        </p:spPr>
        <p:txBody>
          <a:bodyPr wrap="square" rtlCol="0" anchor="ctr"/>
          <a:lstStyle/>
          <a:p>
            <a:pPr indent="0" marL="0">
              <a:buNone/>
            </a:pPr>
            <a:endParaRPr lang="en-US" dirty="0"/>
          </a:p>
        </p:txBody>
      </p:sp>
      <p:sp>
        <p:nvSpPr>
          <p:cNvPr id="26" name="Text 23"/>
          <p:cNvSpPr/>
          <p:nvPr/>
        </p:nvSpPr>
        <p:spPr>
          <a:xfrm>
            <a:off x="4892455" y="2675558"/>
            <a:ext cx="407213" cy="150019"/>
          </a:xfrm>
          <a:prstGeom prst="rect">
            <a:avLst/>
          </a:prstGeom>
          <a:noFill/>
          <a:ln/>
        </p:spPr>
        <p:txBody>
          <a:bodyPr wrap="none" lIns="0" tIns="0" rIns="0" bIns="0" rtlCol="0" anchor="ctr"/>
          <a:lstStyle/>
          <a:p>
            <a:pPr algn="ctr" indent="0" marL="0">
              <a:lnSpc>
                <a:spcPts val="844"/>
              </a:lnSpc>
              <a:buNone/>
            </a:pPr>
            <a:r>
              <a:rPr lang="en-US" sz="800" spc="101" kern="0" dirty="0">
                <a:solidFill>
                  <a:srgbClr val="FF7A1A"/>
                </a:solidFill>
                <a:latin typeface="Courier New" pitchFamily="34" charset="0"/>
                <a:ea typeface="Courier New" pitchFamily="34" charset="-122"/>
                <a:cs typeface="Courier New" pitchFamily="34" charset="-120"/>
              </a:rPr>
              <a:t>TODAY</a:t>
            </a:r>
            <a:endParaRPr lang="en-US" sz="800" dirty="0"/>
          </a:p>
        </p:txBody>
      </p:sp>
      <p:sp>
        <p:nvSpPr>
          <p:cNvPr id="27" name="Text 24"/>
          <p:cNvSpPr/>
          <p:nvPr/>
        </p:nvSpPr>
        <p:spPr>
          <a:xfrm>
            <a:off x="6773503" y="1856259"/>
            <a:ext cx="1852575" cy="1072902"/>
          </a:xfrm>
          <a:prstGeom prst="roundRect">
            <a:avLst>
              <a:gd name="adj" fmla="val 7102"/>
            </a:avLst>
          </a:prstGeom>
          <a:solidFill>
            <a:srgbClr val="15151A"/>
          </a:solidFill>
          <a:ln w="7144">
            <a:solidFill>
              <a:srgbClr val="2A2A33"/>
            </a:solidFill>
            <a:prstDash val="solid"/>
          </a:ln>
        </p:spPr>
        <p:txBody>
          <a:bodyPr wrap="square" rtlCol="0" anchor="ctr"/>
          <a:lstStyle/>
          <a:p>
            <a:pPr indent="0" marL="0">
              <a:buNone/>
            </a:pPr>
            <a:endParaRPr lang="en-US" dirty="0"/>
          </a:p>
        </p:txBody>
      </p:sp>
      <p:sp>
        <p:nvSpPr>
          <p:cNvPr id="28" name="Text 25"/>
          <p:cNvSpPr/>
          <p:nvPr/>
        </p:nvSpPr>
        <p:spPr>
          <a:xfrm>
            <a:off x="6877087" y="1959843"/>
            <a:ext cx="1645407" cy="133302"/>
          </a:xfrm>
          <a:prstGeom prst="rect">
            <a:avLst/>
          </a:prstGeom>
          <a:noFill/>
          <a:ln/>
        </p:spPr>
        <p:txBody>
          <a:bodyPr wrap="none" lIns="0" tIns="0" rIns="0" bIns="0" rtlCol="0" anchor="t">
            <a:normAutofit/>
          </a:bodyPr>
          <a:lstStyle/>
          <a:p>
            <a:pPr algn="l" indent="0" marL="0">
              <a:lnSpc>
                <a:spcPts val="928"/>
              </a:lnSpc>
              <a:buNone/>
            </a:pPr>
            <a:r>
              <a:rPr lang="en-US" sz="800" spc="136" kern="0" dirty="0">
                <a:solidFill>
                  <a:srgbClr val="71717A"/>
                </a:solidFill>
                <a:latin typeface="Courier New" pitchFamily="34" charset="0"/>
                <a:ea typeface="Courier New" pitchFamily="34" charset="-122"/>
                <a:cs typeface="Courier New" pitchFamily="34" charset="-120"/>
              </a:rPr>
              <a:t>FLAVOR B</a:t>
            </a:r>
            <a:endParaRPr lang="en-US" sz="800" dirty="0"/>
          </a:p>
        </p:txBody>
      </p:sp>
      <p:sp>
        <p:nvSpPr>
          <p:cNvPr id="29" name="Text 26"/>
          <p:cNvSpPr/>
          <p:nvPr/>
        </p:nvSpPr>
        <p:spPr>
          <a:xfrm>
            <a:off x="6877087" y="2120578"/>
            <a:ext cx="1645407" cy="185166"/>
          </a:xfrm>
          <a:prstGeom prst="rect">
            <a:avLst/>
          </a:prstGeom>
          <a:noFill/>
          <a:ln/>
        </p:spPr>
        <p:txBody>
          <a:bodyPr wrap="none" lIns="0" tIns="0" rIns="0" bIns="0" rtlCol="0" anchor="t"/>
          <a:lstStyle/>
          <a:p>
            <a:pPr algn="l" indent="0" marL="0">
              <a:lnSpc>
                <a:spcPts val="1350"/>
              </a:lnSpc>
              <a:buNone/>
            </a:pPr>
            <a:r>
              <a:rPr lang="en-US" sz="900" b="1" dirty="0">
                <a:solidFill>
                  <a:srgbClr val="F4F4F5"/>
                </a:solidFill>
                <a:latin typeface="Carlito" pitchFamily="34" charset="0"/>
                <a:ea typeface="Carlito" pitchFamily="34" charset="-122"/>
                <a:cs typeface="Carlito" pitchFamily="34" charset="-120"/>
              </a:rPr>
              <a:t>Local</a:t>
            </a:r>
            <a:endParaRPr lang="en-US" sz="900" dirty="0"/>
          </a:p>
        </p:txBody>
      </p:sp>
      <p:sp>
        <p:nvSpPr>
          <p:cNvPr id="30" name="Text 27"/>
          <p:cNvSpPr/>
          <p:nvPr/>
        </p:nvSpPr>
        <p:spPr>
          <a:xfrm>
            <a:off x="6877087" y="2334890"/>
            <a:ext cx="1645407" cy="318106"/>
          </a:xfrm>
          <a:prstGeom prst="rect">
            <a:avLst/>
          </a:prstGeom>
          <a:noFill/>
          <a:ln/>
        </p:spPr>
        <p:txBody>
          <a:bodyPr wrap="square" lIns="0" tIns="0" rIns="0" bIns="0" rtlCol="0" anchor="t"/>
          <a:lstStyle/>
          <a:p>
            <a:pPr algn="l" indent="0" marL="0">
              <a:lnSpc>
                <a:spcPts val="1060"/>
              </a:lnSpc>
              <a:buNone/>
            </a:pPr>
            <a:r>
              <a:rPr lang="en-US" sz="800" dirty="0">
                <a:solidFill>
                  <a:srgbClr val="A1A1AA"/>
                </a:solidFill>
                <a:latin typeface="Carlito" pitchFamily="34" charset="0"/>
                <a:ea typeface="Carlito" pitchFamily="34" charset="-122"/>
                <a:cs typeface="Carlito" pitchFamily="34" charset="-120"/>
              </a:rPr>
              <a:t>Self-run, usually via Docker. Reads token from your env.</a:t>
            </a:r>
            <a:endParaRPr lang="en-US" sz="800" dirty="0"/>
          </a:p>
        </p:txBody>
      </p:sp>
      <p:sp>
        <p:nvSpPr>
          <p:cNvPr id="31" name="Text 28"/>
          <p:cNvSpPr/>
          <p:nvPr/>
        </p:nvSpPr>
        <p:spPr>
          <a:xfrm>
            <a:off x="4810311" y="3061320"/>
            <a:ext cx="3819339" cy="1357313"/>
          </a:xfrm>
          <a:prstGeom prst="rect">
            <a:avLst/>
          </a:prstGeom>
          <a:solidFill>
            <a:srgbClr val="15151A"/>
          </a:solidFill>
          <a:ln/>
        </p:spPr>
        <p:txBody>
          <a:bodyPr wrap="square" rtlCol="0" anchor="ctr"/>
          <a:lstStyle/>
          <a:p>
            <a:pPr indent="0" marL="0">
              <a:buNone/>
            </a:pPr>
            <a:endParaRPr lang="en-US" dirty="0"/>
          </a:p>
        </p:txBody>
      </p:sp>
      <p:sp>
        <p:nvSpPr>
          <p:cNvPr id="32" name="Shape 29"/>
          <p:cNvSpPr/>
          <p:nvPr/>
        </p:nvSpPr>
        <p:spPr>
          <a:xfrm>
            <a:off x="4810311" y="3064892"/>
            <a:ext cx="3819339" cy="0"/>
          </a:xfrm>
          <a:prstGeom prst="line">
            <a:avLst/>
          </a:prstGeom>
          <a:noFill/>
          <a:ln w="7144">
            <a:solidFill>
              <a:srgbClr val="2A2A33"/>
            </a:solidFill>
            <a:prstDash val="solid"/>
          </a:ln>
        </p:spPr>
      </p:sp>
      <p:sp>
        <p:nvSpPr>
          <p:cNvPr id="33" name="Shape 30"/>
          <p:cNvSpPr/>
          <p:nvPr/>
        </p:nvSpPr>
        <p:spPr>
          <a:xfrm>
            <a:off x="8626078" y="3061320"/>
            <a:ext cx="0" cy="1357313"/>
          </a:xfrm>
          <a:prstGeom prst="line">
            <a:avLst/>
          </a:prstGeom>
          <a:noFill/>
          <a:ln w="7144">
            <a:solidFill>
              <a:srgbClr val="2A2A33"/>
            </a:solidFill>
            <a:prstDash val="solid"/>
          </a:ln>
        </p:spPr>
      </p:sp>
      <p:sp>
        <p:nvSpPr>
          <p:cNvPr id="34" name="Shape 31"/>
          <p:cNvSpPr/>
          <p:nvPr/>
        </p:nvSpPr>
        <p:spPr>
          <a:xfrm>
            <a:off x="4810311" y="4415061"/>
            <a:ext cx="3819339" cy="0"/>
          </a:xfrm>
          <a:prstGeom prst="line">
            <a:avLst/>
          </a:prstGeom>
          <a:noFill/>
          <a:ln w="7144">
            <a:solidFill>
              <a:srgbClr val="2A2A33"/>
            </a:solidFill>
            <a:prstDash val="solid"/>
          </a:ln>
        </p:spPr>
      </p:sp>
      <p:sp>
        <p:nvSpPr>
          <p:cNvPr id="35" name="Shape 32"/>
          <p:cNvSpPr/>
          <p:nvPr/>
        </p:nvSpPr>
        <p:spPr>
          <a:xfrm>
            <a:off x="4821027" y="3061320"/>
            <a:ext cx="0" cy="1357313"/>
          </a:xfrm>
          <a:prstGeom prst="line">
            <a:avLst/>
          </a:prstGeom>
          <a:noFill/>
          <a:ln w="21431">
            <a:solidFill>
              <a:srgbClr val="FF7A1A"/>
            </a:solidFill>
            <a:prstDash val="solid"/>
          </a:ln>
        </p:spPr>
      </p:sp>
      <p:sp>
        <p:nvSpPr>
          <p:cNvPr id="36" name="Text 33"/>
          <p:cNvSpPr/>
          <p:nvPr/>
        </p:nvSpPr>
        <p:spPr>
          <a:xfrm>
            <a:off x="4988905" y="3211339"/>
            <a:ext cx="3476439" cy="164592"/>
          </a:xfrm>
          <a:prstGeom prst="rect">
            <a:avLst/>
          </a:prstGeom>
          <a:noFill/>
          <a:ln/>
        </p:spPr>
        <p:txBody>
          <a:bodyPr wrap="none" lIns="0" tIns="0" rIns="0" bIns="0" rtlCol="0" anchor="t"/>
          <a:lstStyle/>
          <a:p>
            <a:pPr algn="l" indent="0" marL="0">
              <a:lnSpc>
                <a:spcPts val="928"/>
              </a:lnSpc>
              <a:buNone/>
            </a:pPr>
            <a:r>
              <a:rPr lang="en-US" sz="800" spc="149" kern="0" dirty="0">
                <a:solidFill>
                  <a:srgbClr val="FF7A1A"/>
                </a:solidFill>
                <a:latin typeface="Courier New" pitchFamily="34" charset="0"/>
                <a:ea typeface="Courier New" pitchFamily="34" charset="-122"/>
                <a:cs typeface="Courier New" pitchFamily="34" charset="-120"/>
              </a:rPr>
              <a:t>KEY FACT</a:t>
            </a:r>
            <a:endParaRPr lang="en-US" sz="800" dirty="0"/>
          </a:p>
        </p:txBody>
      </p:sp>
      <p:sp>
        <p:nvSpPr>
          <p:cNvPr id="37" name="Text 34"/>
          <p:cNvSpPr/>
          <p:nvPr/>
        </p:nvSpPr>
        <p:spPr>
          <a:xfrm>
            <a:off x="4988905" y="3414936"/>
            <a:ext cx="3476439" cy="358759"/>
          </a:xfrm>
          <a:prstGeom prst="rect">
            <a:avLst/>
          </a:prstGeom>
          <a:noFill/>
          <a:ln/>
        </p:spPr>
        <p:txBody>
          <a:bodyPr wrap="square" lIns="0" tIns="0" rIns="0" bIns="0" rtlCol="0" anchor="t"/>
          <a:lstStyle/>
          <a:p>
            <a:pPr algn="l" indent="0" marL="0">
              <a:lnSpc>
                <a:spcPts val="1308"/>
              </a:lnSpc>
              <a:buNone/>
            </a:pPr>
            <a:r>
              <a:rPr lang="en-US" sz="844" dirty="0">
                <a:solidFill>
                  <a:srgbClr val="F4F4F5"/>
                </a:solidFill>
                <a:latin typeface="Carlito" pitchFamily="34" charset="0"/>
                <a:ea typeface="Carlito" pitchFamily="34" charset="-122"/>
                <a:cs typeface="Carlito" pitchFamily="34" charset="-120"/>
              </a:rPr>
              <a:t>The official remote endpoint is </a:t>
            </a:r>
            <a:pPr algn="l" indent="0" marL="0">
              <a:lnSpc>
                <a:spcPts val="1308"/>
              </a:lnSpc>
              <a:buNone/>
            </a:pPr>
            <a:r>
              <a:rPr lang="en-US" sz="844" dirty="0">
                <a:solidFill>
                  <a:srgbClr val="FF7A1A"/>
                </a:solidFill>
                <a:latin typeface="Courier New" pitchFamily="34" charset="0"/>
                <a:ea typeface="Courier New" pitchFamily="34" charset="-122"/>
                <a:cs typeface="Courier New" pitchFamily="34" charset="-120"/>
              </a:rPr>
              <a:t>https://api.githubcopilot.com/mcp/</a:t>
            </a:r>
            <a:pPr algn="l" indent="0" marL="0">
              <a:lnSpc>
                <a:spcPts val="1308"/>
              </a:lnSpc>
              <a:buNone/>
            </a:pPr>
            <a:r>
              <a:rPr lang="en-US" sz="844" dirty="0">
                <a:solidFill>
                  <a:srgbClr val="F4F4F5"/>
                </a:solidFill>
                <a:latin typeface="Carlito" pitchFamily="34" charset="0"/>
                <a:ea typeface="Carlito" pitchFamily="34" charset="-122"/>
                <a:cs typeface="Carlito" pitchFamily="34" charset="-120"/>
              </a:rPr>
              <a:t> — note it's </a:t>
            </a:r>
            <a:pPr algn="l" indent="0" marL="0">
              <a:lnSpc>
                <a:spcPts val="1308"/>
              </a:lnSpc>
              <a:buNone/>
            </a:pPr>
            <a:r>
              <a:rPr lang="en-US" sz="844" dirty="0">
                <a:solidFill>
                  <a:srgbClr val="FF7A1A"/>
                </a:solidFill>
                <a:latin typeface="Courier New" pitchFamily="34" charset="0"/>
                <a:ea typeface="Courier New" pitchFamily="34" charset="-122"/>
                <a:cs typeface="Courier New" pitchFamily="34" charset="-120"/>
              </a:rPr>
              <a:t>githubcopilot.com</a:t>
            </a:r>
            <a:pPr algn="l" indent="0" marL="0">
              <a:lnSpc>
                <a:spcPts val="1308"/>
              </a:lnSpc>
              <a:buNone/>
            </a:pPr>
            <a:r>
              <a:rPr lang="en-US" sz="844" dirty="0">
                <a:solidFill>
                  <a:srgbClr val="F4F4F5"/>
                </a:solidFill>
                <a:latin typeface="Carlito" pitchFamily="34" charset="0"/>
                <a:ea typeface="Carlito" pitchFamily="34" charset="-122"/>
                <a:cs typeface="Carlito" pitchFamily="34" charset="-120"/>
              </a:rPr>
              <a:t>, </a:t>
            </a:r>
            <a:pPr algn="l" indent="0" marL="0">
              <a:lnSpc>
                <a:spcPts val="1308"/>
              </a:lnSpc>
              <a:buNone/>
            </a:pPr>
            <a:r>
              <a:rPr lang="en-US" sz="844" b="1" dirty="0">
                <a:solidFill>
                  <a:srgbClr val="F4F4F5"/>
                </a:solidFill>
                <a:latin typeface="Carlito" pitchFamily="34" charset="0"/>
                <a:ea typeface="Carlito" pitchFamily="34" charset="-122"/>
                <a:cs typeface="Carlito" pitchFamily="34" charset="-120"/>
              </a:rPr>
              <a:t>not</a:t>
            </a:r>
            <a:pPr algn="l" indent="0" marL="0">
              <a:lnSpc>
                <a:spcPts val="1308"/>
              </a:lnSpc>
              <a:buNone/>
            </a:pPr>
            <a:r>
              <a:rPr lang="en-US" sz="844" dirty="0">
                <a:solidFill>
                  <a:srgbClr val="F4F4F5"/>
                </a:solidFill>
                <a:latin typeface="Carlito" pitchFamily="34" charset="0"/>
                <a:ea typeface="Carlito" pitchFamily="34" charset="-122"/>
                <a:cs typeface="Carlito" pitchFamily="34" charset="-120"/>
              </a:rPr>
              <a:t> </a:t>
            </a:r>
            <a:pPr algn="l" indent="0" marL="0">
              <a:lnSpc>
                <a:spcPts val="1308"/>
              </a:lnSpc>
              <a:buNone/>
            </a:pPr>
            <a:r>
              <a:rPr lang="en-US" sz="844" dirty="0">
                <a:solidFill>
                  <a:srgbClr val="FF7A1A"/>
                </a:solidFill>
                <a:latin typeface="Courier New" pitchFamily="34" charset="0"/>
                <a:ea typeface="Courier New" pitchFamily="34" charset="-122"/>
                <a:cs typeface="Courier New" pitchFamily="34" charset="-120"/>
              </a:rPr>
              <a:t>github.com</a:t>
            </a:r>
            <a:pPr algn="l" indent="0" marL="0">
              <a:lnSpc>
                <a:spcPts val="1308"/>
              </a:lnSpc>
              <a:buNone/>
            </a:pPr>
            <a:r>
              <a:rPr lang="en-US" sz="844" dirty="0">
                <a:solidFill>
                  <a:srgbClr val="F4F4F5"/>
                </a:solidFill>
                <a:latin typeface="Carlito" pitchFamily="34" charset="0"/>
                <a:ea typeface="Carlito" pitchFamily="34" charset="-122"/>
                <a:cs typeface="Carlito" pitchFamily="34" charset="-120"/>
              </a:rPr>
              <a:t>. That trips people up.</a:t>
            </a:r>
            <a:endParaRPr lang="en-US" sz="844" dirty="0"/>
          </a:p>
        </p:txBody>
      </p:sp>
      <p:sp>
        <p:nvSpPr>
          <p:cNvPr id="38" name="Text 35"/>
          <p:cNvSpPr/>
          <p:nvPr/>
        </p:nvSpPr>
        <p:spPr>
          <a:xfrm>
            <a:off x="4992477" y="3836417"/>
            <a:ext cx="3469295" cy="428625"/>
          </a:xfrm>
          <a:prstGeom prst="roundRect">
            <a:avLst>
              <a:gd name="adj" fmla="val 13333"/>
            </a:avLst>
          </a:prstGeom>
          <a:solidFill>
            <a:srgbClr val="0B0B0D"/>
          </a:solidFill>
          <a:ln w="7144">
            <a:solidFill>
              <a:srgbClr val="2A2A33"/>
            </a:solidFill>
            <a:prstDash val="solid"/>
          </a:ln>
        </p:spPr>
        <p:txBody>
          <a:bodyPr wrap="square" rtlCol="0" anchor="ctr"/>
          <a:lstStyle/>
          <a:p>
            <a:pPr indent="0" marL="0">
              <a:buNone/>
            </a:pPr>
            <a:endParaRPr lang="en-US" dirty="0"/>
          </a:p>
        </p:txBody>
      </p:sp>
      <p:sp>
        <p:nvSpPr>
          <p:cNvPr id="39" name="Text 36"/>
          <p:cNvSpPr/>
          <p:nvPr/>
        </p:nvSpPr>
        <p:spPr>
          <a:xfrm>
            <a:off x="4988905" y="3832845"/>
            <a:ext cx="3476439" cy="435769"/>
          </a:xfrm>
          <a:prstGeom prst="rect">
            <a:avLst/>
          </a:prstGeom>
          <a:noFill/>
          <a:ln/>
        </p:spPr>
        <p:txBody>
          <a:bodyPr wrap="square" lIns="85725" tIns="71438" rIns="85725" bIns="71438" rtlCol="0" anchor="t"/>
          <a:lstStyle/>
          <a:p>
            <a:pPr algn="l" indent="0" marL="0">
              <a:lnSpc>
                <a:spcPts val="1097"/>
              </a:lnSpc>
              <a:buNone/>
            </a:pPr>
            <a:r>
              <a:rPr lang="en-US" sz="800" dirty="0">
                <a:solidFill>
                  <a:srgbClr val="B6E3A1"/>
                </a:solidFill>
                <a:latin typeface="Courier New" pitchFamily="34" charset="0"/>
                <a:ea typeface="Courier New" pitchFamily="34" charset="-122"/>
                <a:cs typeface="Courier New" pitchFamily="34" charset="-120"/>
              </a:rPr>
              <a:t>https://api.githubcopilot.com/mcp/ ← correct</a:t>
            </a:r>
            <a:endParaRPr lang="en-US" sz="800" dirty="0"/>
          </a:p>
          <a:p>
            <a:pPr algn="l" indent="0" marL="0">
              <a:lnSpc>
                <a:spcPts val="1097"/>
              </a:lnSpc>
              <a:buNone/>
            </a:pPr>
            <a:r>
              <a:rPr lang="en-US" sz="800" strike="sngStrike" dirty="0">
                <a:solidFill>
                  <a:srgbClr val="71717A"/>
                </a:solidFill>
                <a:latin typeface="Courier New" pitchFamily="34" charset="0"/>
                <a:ea typeface="Courier New" pitchFamily="34" charset="-122"/>
                <a:cs typeface="Courier New" pitchFamily="34" charset="-120"/>
              </a:rPr>
              <a:t>https://api.github.com/mcp/</a:t>
            </a:r>
            <a:pPr algn="l" indent="0" marL="0">
              <a:lnSpc>
                <a:spcPts val="1097"/>
              </a:lnSpc>
              <a:buNone/>
            </a:pPr>
            <a:r>
              <a:rPr lang="en-US" sz="800" dirty="0">
                <a:solidFill>
                  <a:srgbClr val="B6E3A1"/>
                </a:solidFill>
                <a:latin typeface="Courier New" pitchFamily="34" charset="0"/>
                <a:ea typeface="Courier New" pitchFamily="34" charset="-122"/>
                <a:cs typeface="Courier New" pitchFamily="34" charset="-120"/>
              </a:rPr>
              <a:t> ← wrong host</a:t>
            </a:r>
            <a:endParaRPr lang="en-US" sz="800" dirty="0"/>
          </a:p>
        </p:txBody>
      </p:sp>
      <p:sp>
        <p:nvSpPr>
          <p:cNvPr id="40" name="Text 37"/>
          <p:cNvSpPr/>
          <p:nvPr/>
        </p:nvSpPr>
        <p:spPr>
          <a:xfrm>
            <a:off x="514350" y="4868466"/>
            <a:ext cx="6772945"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EP09 · MCP IN THE REAL WORLD</a:t>
            </a:r>
            <a:endParaRPr lang="en-US" sz="800" dirty="0"/>
          </a:p>
        </p:txBody>
      </p:sp>
      <p:sp>
        <p:nvSpPr>
          <p:cNvPr id="41" name="Text 38"/>
          <p:cNvSpPr/>
          <p:nvPr/>
        </p:nvSpPr>
        <p:spPr>
          <a:xfrm>
            <a:off x="7301582" y="4868466"/>
            <a:ext cx="1625223" cy="164592"/>
          </a:xfrm>
          <a:prstGeom prst="rect">
            <a:avLst/>
          </a:prstGeom>
          <a:noFill/>
          <a:ln/>
        </p:spPr>
        <p:txBody>
          <a:bodyPr wrap="none" lIns="0" tIns="0" rIns="0" bIns="0" rtlCol="0" anchor="t"/>
          <a:lstStyle/>
          <a:p>
            <a:pPr algn="l" indent="0" marL="0">
              <a:lnSpc>
                <a:spcPts val="928"/>
              </a:lnSpc>
              <a:buNone/>
            </a:pPr>
            <a:r>
              <a:rPr lang="en-US" sz="619" spc="99" kern="0" dirty="0">
                <a:solidFill>
                  <a:srgbClr val="71717A"/>
                </a:solidFill>
                <a:latin typeface="Liberation Sans Narrow" pitchFamily="34" charset="0"/>
                <a:ea typeface="Liberation Sans Narrow" pitchFamily="34" charset="-122"/>
                <a:cs typeface="Liberation Sans Narrow" pitchFamily="34" charset="-120"/>
              </a:rPr>
              <a:t>PATTERN 03 · GITHUB REMOTE</a:t>
            </a:r>
            <a:endParaRPr lang="en-US" sz="619"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257175" y="200025"/>
            <a:ext cx="2232705"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71717A"/>
                </a:solidFill>
                <a:latin typeface="Liberation Sans Narrow" pitchFamily="34" charset="0"/>
                <a:ea typeface="Liberation Sans Narrow" pitchFamily="34" charset="-122"/>
                <a:cs typeface="Liberation Sans Narrow" pitchFamily="34" charset="-120"/>
              </a:rPr>
              <a:t>EP09 </a:t>
            </a:r>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a:t>
            </a:r>
            <a:pPr algn="l" indent="0" marL="0">
              <a:lnSpc>
                <a:spcPts val="928"/>
              </a:lnSpc>
              <a:buNone/>
            </a:pPr>
            <a:r>
              <a:rPr lang="en-US" sz="800" spc="173" kern="0" dirty="0">
                <a:solidFill>
                  <a:srgbClr val="71717A"/>
                </a:solidFill>
                <a:latin typeface="Courier New" pitchFamily="34" charset="0"/>
                <a:ea typeface="Courier New" pitchFamily="34" charset="-122"/>
                <a:cs typeface="Courier New" pitchFamily="34" charset="-120"/>
              </a:rPr>
              <a:t> MCP IN THE REAL WORLD</a:t>
            </a:r>
            <a:endParaRPr lang="en-US" sz="800" dirty="0"/>
          </a:p>
        </p:txBody>
      </p:sp>
      <p:sp>
        <p:nvSpPr>
          <p:cNvPr id="3" name="Text 1"/>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10 / 30</a:t>
            </a:r>
            <a:endParaRPr lang="en-US" sz="800" dirty="0"/>
          </a:p>
        </p:txBody>
      </p:sp>
      <p:sp>
        <p:nvSpPr>
          <p:cNvPr id="4" name="Text 2"/>
          <p:cNvSpPr/>
          <p:nvPr/>
        </p:nvSpPr>
        <p:spPr>
          <a:xfrm>
            <a:off x="514350" y="600075"/>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CONFIG</a:t>
            </a:r>
            <a:endParaRPr lang="en-US" sz="800" dirty="0"/>
          </a:p>
        </p:txBody>
      </p:sp>
      <p:sp>
        <p:nvSpPr>
          <p:cNvPr id="5" name="Text 3"/>
          <p:cNvSpPr/>
          <p:nvPr/>
        </p:nvSpPr>
        <p:spPr>
          <a:xfrm>
            <a:off x="1493602" y="825326"/>
            <a:ext cx="1200820" cy="357188"/>
          </a:xfrm>
          <a:prstGeom prst="roundRect">
            <a:avLst>
              <a:gd name="adj" fmla="val 10667"/>
            </a:avLst>
          </a:prstGeom>
          <a:solidFill>
            <a:srgbClr val="1D1D24"/>
          </a:solidFill>
          <a:ln/>
        </p:spPr>
        <p:txBody>
          <a:bodyPr wrap="square" rtlCol="0" anchor="ctr"/>
          <a:lstStyle/>
          <a:p>
            <a:pPr indent="0" marL="0">
              <a:buNone/>
            </a:pPr>
            <a:endParaRPr lang="en-US" dirty="0"/>
          </a:p>
        </p:txBody>
      </p:sp>
      <p:sp>
        <p:nvSpPr>
          <p:cNvPr id="6" name="Text 4"/>
          <p:cNvSpPr/>
          <p:nvPr/>
        </p:nvSpPr>
        <p:spPr>
          <a:xfrm>
            <a:off x="514350" y="817959"/>
            <a:ext cx="8629650" cy="373346"/>
          </a:xfrm>
          <a:prstGeom prst="rect">
            <a:avLst/>
          </a:prstGeom>
          <a:noFill/>
          <a:ln/>
        </p:spPr>
        <p:txBody>
          <a:bodyPr wrap="squar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Writing </a:t>
            </a:r>
            <a:pPr algn="l" indent="0" marL="0">
              <a:lnSpc>
                <a:spcPts val="2723"/>
              </a:lnSpc>
              <a:buNone/>
            </a:pPr>
            <a:r>
              <a:rPr lang="en-US" sz="2025" b="1" spc="-49" kern="0" dirty="0">
                <a:solidFill>
                  <a:srgbClr val="FF7A1A"/>
                </a:solidFill>
                <a:highlight>
                  <a:srgbClr val="1D1D24"/>
                </a:highlight>
                <a:latin typeface="Courier New" pitchFamily="34" charset="0"/>
                <a:ea typeface="Courier New" pitchFamily="34" charset="-122"/>
                <a:cs typeface="Courier New" pitchFamily="34" charset="-120"/>
              </a:rPr>
              <a:t>.mcp.json</a:t>
            </a:r>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 — The </a:t>
            </a:r>
            <a:pPr algn="l" indent="0" marL="0">
              <a:lnSpc>
                <a:spcPts val="2723"/>
              </a:lnSpc>
              <a:buNone/>
            </a:pPr>
            <a:r>
              <a:rPr lang="en-US" sz="2475" b="1" spc="-49" kern="0" dirty="0">
                <a:solidFill>
                  <a:srgbClr val="FF7A1A"/>
                </a:solidFill>
                <a:latin typeface="Carlito" pitchFamily="34" charset="0"/>
                <a:ea typeface="Carlito" pitchFamily="34" charset="-122"/>
                <a:cs typeface="Carlito" pitchFamily="34" charset="-120"/>
              </a:rPr>
              <a:t>GitHub Entry</a:t>
            </a:r>
            <a:endParaRPr lang="en-US" sz="2475" dirty="0"/>
          </a:p>
        </p:txBody>
      </p:sp>
      <p:sp>
        <p:nvSpPr>
          <p:cNvPr id="7" name="Shape 5"/>
          <p:cNvSpPr/>
          <p:nvPr/>
        </p:nvSpPr>
        <p:spPr>
          <a:xfrm>
            <a:off x="514350" y="1317241"/>
            <a:ext cx="400050" cy="0"/>
          </a:xfrm>
          <a:prstGeom prst="line">
            <a:avLst/>
          </a:prstGeom>
          <a:noFill/>
          <a:ln w="7144">
            <a:solidFill>
              <a:srgbClr val="F4F4F5"/>
            </a:solidFill>
            <a:prstDash val="solid"/>
          </a:ln>
        </p:spPr>
      </p:sp>
      <p:sp>
        <p:nvSpPr>
          <p:cNvPr id="8" name="Text 6"/>
          <p:cNvSpPr/>
          <p:nvPr/>
        </p:nvSpPr>
        <p:spPr>
          <a:xfrm>
            <a:off x="514350" y="1456544"/>
            <a:ext cx="8115300" cy="343597"/>
          </a:xfrm>
          <a:prstGeom prst="rect">
            <a:avLst/>
          </a:prstGeom>
          <a:noFill/>
          <a:ln/>
        </p:spPr>
        <p:txBody>
          <a:bodyPr wrap="square" lIns="0" tIns="0" rIns="0" bIns="0" rtlCol="0" anchor="t"/>
          <a:lstStyle/>
          <a:p>
            <a:pPr algn="l" indent="0" marL="0">
              <a:lnSpc>
                <a:spcPts val="1266"/>
              </a:lnSpc>
              <a:buNone/>
            </a:pPr>
            <a:r>
              <a:rPr lang="en-US" sz="600" dirty="0">
                <a:solidFill>
                  <a:srgbClr val="F4F4F5"/>
                </a:solidFill>
                <a:latin typeface="Carlito" pitchFamily="34" charset="0"/>
                <a:ea typeface="Carlito" pitchFamily="34" charset="-122"/>
                <a:cs typeface="Carlito" pitchFamily="34" charset="-120"/>
              </a:rPr>
              <a:t>●  </a:t>
            </a:r>
            <a:pPr algn="l" indent="0" marL="0">
              <a:lnSpc>
                <a:spcPts val="1266"/>
              </a:lnSpc>
              <a:buNone/>
            </a:pPr>
            <a:r>
              <a:rPr lang="en-US" sz="844" dirty="0">
                <a:solidFill>
                  <a:srgbClr val="F4F4F5"/>
                </a:solidFill>
                <a:latin typeface="Carlito" pitchFamily="34" charset="0"/>
                <a:ea typeface="Carlito" pitchFamily="34" charset="-122"/>
                <a:cs typeface="Carlito" pitchFamily="34" charset="-120"/>
              </a:rPr>
              <a:t>Pure configuration — no Python, no import, no function</a:t>
            </a:r>
            <a:endParaRPr lang="en-US" sz="844" dirty="0"/>
          </a:p>
          <a:p>
            <a:pPr algn="l" indent="0" marL="0">
              <a:lnSpc>
                <a:spcPts val="1266"/>
              </a:lnSpc>
              <a:buNone/>
            </a:pPr>
            <a:r>
              <a:rPr lang="en-US" sz="600" dirty="0">
                <a:solidFill>
                  <a:srgbClr val="F4F4F5"/>
                </a:solidFill>
                <a:latin typeface="Carlito" pitchFamily="34" charset="0"/>
                <a:ea typeface="Carlito" pitchFamily="34" charset="-122"/>
                <a:cs typeface="Carlito" pitchFamily="34" charset="-120"/>
              </a:rPr>
              <a:t>●  </a:t>
            </a:r>
            <a:pPr algn="l" indent="0" marL="0">
              <a:lnSpc>
                <a:spcPts val="1266"/>
              </a:lnSpc>
              <a:buNone/>
            </a:pPr>
            <a:r>
              <a:rPr lang="en-US" sz="844" dirty="0">
                <a:solidFill>
                  <a:srgbClr val="F4F4F5"/>
                </a:solidFill>
                <a:latin typeface="Carlito" pitchFamily="34" charset="0"/>
                <a:ea typeface="Carlito" pitchFamily="34" charset="-122"/>
                <a:cs typeface="Carlito" pitchFamily="34" charset="-120"/>
              </a:rPr>
              <a:t>Server name </a:t>
            </a:r>
            <a:pPr algn="l" indent="0" marL="0">
              <a:lnSpc>
                <a:spcPts val="1266"/>
              </a:lnSpc>
              <a:buNone/>
            </a:pPr>
            <a:r>
              <a:rPr lang="en-US" sz="800" dirty="0">
                <a:solidFill>
                  <a:srgbClr val="FF7A1A"/>
                </a:solidFill>
                <a:highlight>
                  <a:srgbClr val="1D1D24"/>
                </a:highlight>
                <a:latin typeface="Courier New" pitchFamily="34" charset="0"/>
                <a:ea typeface="Courier New" pitchFamily="34" charset="-122"/>
                <a:cs typeface="Courier New" pitchFamily="34" charset="-120"/>
              </a:rPr>
              <a:t>"github"</a:t>
            </a:r>
            <a:pPr algn="l" indent="0" marL="0">
              <a:lnSpc>
                <a:spcPts val="1266"/>
              </a:lnSpc>
              <a:buNone/>
            </a:pPr>
            <a:r>
              <a:rPr lang="en-US" sz="844" dirty="0">
                <a:solidFill>
                  <a:srgbClr val="F4F4F5"/>
                </a:solidFill>
                <a:latin typeface="Carlito" pitchFamily="34" charset="0"/>
                <a:ea typeface="Carlito" pitchFamily="34" charset="-122"/>
                <a:cs typeface="Carlito" pitchFamily="34" charset="-120"/>
              </a:rPr>
              <a:t> becomes the </a:t>
            </a:r>
            <a:pPr algn="l" indent="0" marL="0">
              <a:lnSpc>
                <a:spcPts val="1266"/>
              </a:lnSpc>
              <a:buNone/>
            </a:pPr>
            <a:r>
              <a:rPr lang="en-US" sz="800" dirty="0">
                <a:solidFill>
                  <a:srgbClr val="FF7A1A"/>
                </a:solidFill>
                <a:highlight>
                  <a:srgbClr val="1D1D24"/>
                </a:highlight>
                <a:latin typeface="Courier New" pitchFamily="34" charset="0"/>
                <a:ea typeface="Courier New" pitchFamily="34" charset="-122"/>
                <a:cs typeface="Courier New" pitchFamily="34" charset="-120"/>
              </a:rPr>
              <a:t>mcp__github__…</a:t>
            </a:r>
            <a:pPr algn="l" indent="0" marL="0">
              <a:lnSpc>
                <a:spcPts val="1266"/>
              </a:lnSpc>
              <a:buNone/>
            </a:pPr>
            <a:r>
              <a:rPr lang="en-US" sz="844" dirty="0">
                <a:solidFill>
                  <a:srgbClr val="F4F4F5"/>
                </a:solidFill>
                <a:latin typeface="Carlito" pitchFamily="34" charset="0"/>
                <a:ea typeface="Carlito" pitchFamily="34" charset="-122"/>
                <a:cs typeface="Carlito" pitchFamily="34" charset="-120"/>
              </a:rPr>
              <a:t> prefix later</a:t>
            </a:r>
            <a:endParaRPr lang="en-US" sz="844" dirty="0"/>
          </a:p>
          <a:p>
            <a:pPr algn="l" indent="0" marL="0">
              <a:lnSpc>
                <a:spcPts val="1266"/>
              </a:lnSpc>
              <a:buNone/>
            </a:pPr>
            <a:r>
              <a:rPr lang="en-US" sz="600" dirty="0">
                <a:solidFill>
                  <a:srgbClr val="F4F4F5"/>
                </a:solidFill>
                <a:latin typeface="Carlito" pitchFamily="34" charset="0"/>
                <a:ea typeface="Carlito" pitchFamily="34" charset="-122"/>
                <a:cs typeface="Carlito" pitchFamily="34" charset="-120"/>
              </a:rPr>
              <a:t>●  </a:t>
            </a:r>
            <a:pPr algn="l" indent="0" marL="0">
              <a:lnSpc>
                <a:spcPts val="1266"/>
              </a:lnSpc>
              <a:buNone/>
            </a:pPr>
            <a:r>
              <a:rPr lang="en-US" sz="844" dirty="0">
                <a:solidFill>
                  <a:srgbClr val="F4F4F5"/>
                </a:solidFill>
                <a:latin typeface="Carlito" pitchFamily="34" charset="0"/>
                <a:ea typeface="Carlito" pitchFamily="34" charset="-122"/>
                <a:cs typeface="Carlito" pitchFamily="34" charset="-120"/>
              </a:rPr>
              <a:t>Type </a:t>
            </a:r>
            <a:pPr algn="l" indent="0" marL="0">
              <a:lnSpc>
                <a:spcPts val="1266"/>
              </a:lnSpc>
              <a:buNone/>
            </a:pPr>
            <a:r>
              <a:rPr lang="en-US" sz="800" dirty="0">
                <a:solidFill>
                  <a:srgbClr val="FF7A1A"/>
                </a:solidFill>
                <a:highlight>
                  <a:srgbClr val="1D1D24"/>
                </a:highlight>
                <a:latin typeface="Courier New" pitchFamily="34" charset="0"/>
                <a:ea typeface="Courier New" pitchFamily="34" charset="-122"/>
                <a:cs typeface="Courier New" pitchFamily="34" charset="-120"/>
              </a:rPr>
              <a:t>"http"</a:t>
            </a:r>
            <a:pPr algn="l" indent="0" marL="0">
              <a:lnSpc>
                <a:spcPts val="1266"/>
              </a:lnSpc>
              <a:buNone/>
            </a:pPr>
            <a:r>
              <a:rPr lang="en-US" sz="844" dirty="0">
                <a:solidFill>
                  <a:srgbClr val="F4F4F5"/>
                </a:solidFill>
                <a:latin typeface="Carlito" pitchFamily="34" charset="0"/>
                <a:ea typeface="Carlito" pitchFamily="34" charset="-122"/>
                <a:cs typeface="Carlito" pitchFamily="34" charset="-120"/>
              </a:rPr>
              <a:t>, the real URL, and two headers</a:t>
            </a:r>
            <a:endParaRPr lang="en-US" sz="844" dirty="0"/>
          </a:p>
        </p:txBody>
      </p:sp>
      <p:sp>
        <p:nvSpPr>
          <p:cNvPr id="9" name="Text 7"/>
          <p:cNvSpPr/>
          <p:nvPr/>
        </p:nvSpPr>
        <p:spPr>
          <a:xfrm>
            <a:off x="514350" y="1909279"/>
            <a:ext cx="8629650" cy="196739"/>
          </a:xfrm>
          <a:prstGeom prst="rect">
            <a:avLst/>
          </a:prstGeom>
          <a:noFill/>
          <a:ln/>
        </p:spPr>
        <p:txBody>
          <a:bodyPr wrap="none" lIns="0" tIns="0" rIns="0" bIns="0" rtlCol="0" anchor="t"/>
          <a:lstStyle/>
          <a:p>
            <a:pPr algn="l" indent="0" marL="0">
              <a:lnSpc>
                <a:spcPts val="1434"/>
              </a:lnSpc>
              <a:buNone/>
            </a:pPr>
            <a:r>
              <a:rPr lang="en-US" sz="956" dirty="0">
                <a:solidFill>
                  <a:srgbClr val="F4F4F5"/>
                </a:solidFill>
                <a:latin typeface="Carlito" pitchFamily="34" charset="0"/>
                <a:ea typeface="Carlito" pitchFamily="34" charset="-122"/>
                <a:cs typeface="Carlito" pitchFamily="34" charset="-120"/>
              </a:rPr>
              <a:t>.mcp.json</a:t>
            </a:r>
            <a:endParaRPr lang="en-US" sz="956" dirty="0"/>
          </a:p>
        </p:txBody>
      </p:sp>
      <p:sp>
        <p:nvSpPr>
          <p:cNvPr id="10" name="Text 8"/>
          <p:cNvSpPr/>
          <p:nvPr/>
        </p:nvSpPr>
        <p:spPr>
          <a:xfrm>
            <a:off x="819781" y="2530785"/>
            <a:ext cx="821460" cy="138875"/>
          </a:xfrm>
          <a:prstGeom prst="rect">
            <a:avLst/>
          </a:prstGeom>
          <a:noFill/>
          <a:ln/>
        </p:spPr>
        <p:txBody>
          <a:bodyPr wrap="none" lIns="0" tIns="0" rIns="0" bIns="0" rtlCol="0" anchor="t"/>
          <a:lstStyle/>
          <a:p>
            <a:pPr algn="l" indent="0" marL="0">
              <a:lnSpc>
                <a:spcPts val="1434"/>
              </a:lnSpc>
              <a:buNone/>
            </a:pPr>
            <a:r>
              <a:rPr lang="en-US" sz="844" dirty="0">
                <a:solidFill>
                  <a:srgbClr val="FFD29E"/>
                </a:solidFill>
                <a:latin typeface="Courier New" pitchFamily="34" charset="0"/>
                <a:ea typeface="Courier New" pitchFamily="34" charset="-122"/>
                <a:cs typeface="Courier New" pitchFamily="34" charset="-120"/>
              </a:rPr>
              <a:t>"mcpServers"</a:t>
            </a:r>
            <a:endParaRPr lang="en-US" sz="844" dirty="0"/>
          </a:p>
        </p:txBody>
      </p:sp>
      <p:sp>
        <p:nvSpPr>
          <p:cNvPr id="11" name="Text 9"/>
          <p:cNvSpPr/>
          <p:nvPr/>
        </p:nvSpPr>
        <p:spPr>
          <a:xfrm>
            <a:off x="1471613" y="2530785"/>
            <a:ext cx="91440" cy="138875"/>
          </a:xfrm>
          <a:prstGeom prst="rect">
            <a:avLst/>
          </a:prstGeom>
          <a:noFill/>
          <a:ln/>
        </p:spPr>
        <p:txBody>
          <a:bodyPr wrap="none" lIns="0" tIns="0" rIns="0" bIns="0" rtlCol="0" anchor="t"/>
          <a:lstStyle/>
          <a:p>
            <a:pPr algn="l" indent="0" marL="0">
              <a:lnSpc>
                <a:spcPts val="1434"/>
              </a:lnSpc>
              <a:buNone/>
            </a:pPr>
            <a:r>
              <a:rPr lang="en-US" sz="844" dirty="0">
                <a:solidFill>
                  <a:srgbClr val="A1A1AA"/>
                </a:solidFill>
                <a:latin typeface="Courier New" pitchFamily="34" charset="0"/>
                <a:ea typeface="Courier New" pitchFamily="34" charset="-122"/>
                <a:cs typeface="Courier New" pitchFamily="34" charset="-120"/>
              </a:rPr>
              <a:t>:</a:t>
            </a:r>
            <a:endParaRPr lang="en-US" sz="844" dirty="0"/>
          </a:p>
        </p:txBody>
      </p:sp>
      <p:sp>
        <p:nvSpPr>
          <p:cNvPr id="12" name="Text 10"/>
          <p:cNvSpPr/>
          <p:nvPr/>
        </p:nvSpPr>
        <p:spPr>
          <a:xfrm>
            <a:off x="935831" y="2712951"/>
            <a:ext cx="612934" cy="138875"/>
          </a:xfrm>
          <a:prstGeom prst="rect">
            <a:avLst/>
          </a:prstGeom>
          <a:noFill/>
          <a:ln/>
        </p:spPr>
        <p:txBody>
          <a:bodyPr wrap="none" lIns="0" tIns="0" rIns="0" bIns="0" rtlCol="0" anchor="t"/>
          <a:lstStyle/>
          <a:p>
            <a:pPr algn="l" indent="0" marL="0">
              <a:lnSpc>
                <a:spcPts val="1434"/>
              </a:lnSpc>
              <a:buNone/>
            </a:pPr>
            <a:r>
              <a:rPr lang="en-US" sz="844" dirty="0">
                <a:solidFill>
                  <a:srgbClr val="FFD29E"/>
                </a:solidFill>
                <a:latin typeface="Courier New" pitchFamily="34" charset="0"/>
                <a:ea typeface="Courier New" pitchFamily="34" charset="-122"/>
                <a:cs typeface="Courier New" pitchFamily="34" charset="-120"/>
              </a:rPr>
              <a:t>"github"</a:t>
            </a:r>
            <a:endParaRPr lang="en-US" sz="844" dirty="0"/>
          </a:p>
        </p:txBody>
      </p:sp>
      <p:sp>
        <p:nvSpPr>
          <p:cNvPr id="13" name="Text 11"/>
          <p:cNvSpPr/>
          <p:nvPr/>
        </p:nvSpPr>
        <p:spPr>
          <a:xfrm>
            <a:off x="1364456" y="2712951"/>
            <a:ext cx="91440" cy="138875"/>
          </a:xfrm>
          <a:prstGeom prst="rect">
            <a:avLst/>
          </a:prstGeom>
          <a:noFill/>
          <a:ln/>
        </p:spPr>
        <p:txBody>
          <a:bodyPr wrap="none" lIns="0" tIns="0" rIns="0" bIns="0" rtlCol="0" anchor="t"/>
          <a:lstStyle/>
          <a:p>
            <a:pPr algn="l" indent="0" marL="0">
              <a:lnSpc>
                <a:spcPts val="1434"/>
              </a:lnSpc>
              <a:buNone/>
            </a:pPr>
            <a:r>
              <a:rPr lang="en-US" sz="844" dirty="0">
                <a:solidFill>
                  <a:srgbClr val="A1A1AA"/>
                </a:solidFill>
                <a:latin typeface="Courier New" pitchFamily="34" charset="0"/>
                <a:ea typeface="Courier New" pitchFamily="34" charset="-122"/>
                <a:cs typeface="Courier New" pitchFamily="34" charset="-120"/>
              </a:rPr>
              <a:t>:</a:t>
            </a:r>
            <a:endParaRPr lang="en-US" sz="844" dirty="0"/>
          </a:p>
        </p:txBody>
      </p:sp>
      <p:sp>
        <p:nvSpPr>
          <p:cNvPr id="14" name="Text 12"/>
          <p:cNvSpPr/>
          <p:nvPr/>
        </p:nvSpPr>
        <p:spPr>
          <a:xfrm>
            <a:off x="1042988" y="2895116"/>
            <a:ext cx="459700" cy="138875"/>
          </a:xfrm>
          <a:prstGeom prst="rect">
            <a:avLst/>
          </a:prstGeom>
          <a:noFill/>
          <a:ln/>
        </p:spPr>
        <p:txBody>
          <a:bodyPr wrap="none" lIns="0" tIns="0" rIns="0" bIns="0" rtlCol="0" anchor="t"/>
          <a:lstStyle/>
          <a:p>
            <a:pPr algn="l" indent="0" marL="0">
              <a:lnSpc>
                <a:spcPts val="1434"/>
              </a:lnSpc>
              <a:buNone/>
            </a:pPr>
            <a:r>
              <a:rPr lang="en-US" sz="844" dirty="0">
                <a:solidFill>
                  <a:srgbClr val="FFD29E"/>
                </a:solidFill>
                <a:latin typeface="Courier New" pitchFamily="34" charset="0"/>
                <a:ea typeface="Courier New" pitchFamily="34" charset="-122"/>
                <a:cs typeface="Courier New" pitchFamily="34" charset="-120"/>
              </a:rPr>
              <a:t>"type"</a:t>
            </a:r>
            <a:endParaRPr lang="en-US" sz="844" dirty="0"/>
          </a:p>
        </p:txBody>
      </p:sp>
      <p:sp>
        <p:nvSpPr>
          <p:cNvPr id="15" name="Text 13"/>
          <p:cNvSpPr/>
          <p:nvPr/>
        </p:nvSpPr>
        <p:spPr>
          <a:xfrm>
            <a:off x="1364456" y="2895116"/>
            <a:ext cx="91440" cy="138875"/>
          </a:xfrm>
          <a:prstGeom prst="rect">
            <a:avLst/>
          </a:prstGeom>
          <a:noFill/>
          <a:ln/>
        </p:spPr>
        <p:txBody>
          <a:bodyPr wrap="none" lIns="0" tIns="0" rIns="0" bIns="0" rtlCol="0" anchor="t"/>
          <a:lstStyle/>
          <a:p>
            <a:pPr algn="l" indent="0" marL="0">
              <a:lnSpc>
                <a:spcPts val="1434"/>
              </a:lnSpc>
              <a:buNone/>
            </a:pPr>
            <a:r>
              <a:rPr lang="en-US" sz="844" dirty="0">
                <a:solidFill>
                  <a:srgbClr val="A1A1AA"/>
                </a:solidFill>
                <a:latin typeface="Courier New" pitchFamily="34" charset="0"/>
                <a:ea typeface="Courier New" pitchFamily="34" charset="-122"/>
                <a:cs typeface="Courier New" pitchFamily="34" charset="-120"/>
              </a:rPr>
              <a:t>:</a:t>
            </a:r>
            <a:endParaRPr lang="en-US" sz="844" dirty="0"/>
          </a:p>
        </p:txBody>
      </p:sp>
      <p:sp>
        <p:nvSpPr>
          <p:cNvPr id="16" name="Text 14"/>
          <p:cNvSpPr/>
          <p:nvPr/>
        </p:nvSpPr>
        <p:spPr>
          <a:xfrm>
            <a:off x="1471613" y="2895116"/>
            <a:ext cx="459700" cy="138875"/>
          </a:xfrm>
          <a:prstGeom prst="rect">
            <a:avLst/>
          </a:prstGeom>
          <a:noFill/>
          <a:ln/>
        </p:spPr>
        <p:txBody>
          <a:bodyPr wrap="none" lIns="0" tIns="0" rIns="0" bIns="0" rtlCol="0" anchor="t"/>
          <a:lstStyle/>
          <a:p>
            <a:pPr algn="l" indent="0" marL="0">
              <a:lnSpc>
                <a:spcPts val="1434"/>
              </a:lnSpc>
              <a:buNone/>
            </a:pPr>
            <a:r>
              <a:rPr lang="en-US" sz="844" dirty="0">
                <a:solidFill>
                  <a:srgbClr val="B6E3A1"/>
                </a:solidFill>
                <a:latin typeface="Courier New" pitchFamily="34" charset="0"/>
                <a:ea typeface="Courier New" pitchFamily="34" charset="-122"/>
                <a:cs typeface="Courier New" pitchFamily="34" charset="-120"/>
              </a:rPr>
              <a:t>"http"</a:t>
            </a:r>
            <a:endParaRPr lang="en-US" sz="844" dirty="0"/>
          </a:p>
        </p:txBody>
      </p:sp>
      <p:sp>
        <p:nvSpPr>
          <p:cNvPr id="17" name="Text 15"/>
          <p:cNvSpPr/>
          <p:nvPr/>
        </p:nvSpPr>
        <p:spPr>
          <a:xfrm>
            <a:off x="1042988" y="3077282"/>
            <a:ext cx="428625" cy="138875"/>
          </a:xfrm>
          <a:prstGeom prst="rect">
            <a:avLst/>
          </a:prstGeom>
          <a:noFill/>
          <a:ln/>
        </p:spPr>
        <p:txBody>
          <a:bodyPr wrap="none" lIns="0" tIns="0" rIns="0" bIns="0" rtlCol="0" anchor="t"/>
          <a:lstStyle/>
          <a:p>
            <a:pPr algn="l" indent="0" marL="0">
              <a:lnSpc>
                <a:spcPts val="1434"/>
              </a:lnSpc>
              <a:buNone/>
            </a:pPr>
            <a:r>
              <a:rPr lang="en-US" sz="844" dirty="0">
                <a:solidFill>
                  <a:srgbClr val="FFD29E"/>
                </a:solidFill>
                <a:latin typeface="Courier New" pitchFamily="34" charset="0"/>
                <a:ea typeface="Courier New" pitchFamily="34" charset="-122"/>
                <a:cs typeface="Courier New" pitchFamily="34" charset="-120"/>
              </a:rPr>
              <a:t>"url"</a:t>
            </a:r>
            <a:endParaRPr lang="en-US" sz="844" dirty="0"/>
          </a:p>
        </p:txBody>
      </p:sp>
      <p:sp>
        <p:nvSpPr>
          <p:cNvPr id="18" name="Text 16"/>
          <p:cNvSpPr/>
          <p:nvPr/>
        </p:nvSpPr>
        <p:spPr>
          <a:xfrm>
            <a:off x="1310878" y="3077282"/>
            <a:ext cx="91440" cy="138875"/>
          </a:xfrm>
          <a:prstGeom prst="rect">
            <a:avLst/>
          </a:prstGeom>
          <a:noFill/>
          <a:ln/>
        </p:spPr>
        <p:txBody>
          <a:bodyPr wrap="none" lIns="0" tIns="0" rIns="0" bIns="0" rtlCol="0" anchor="t"/>
          <a:lstStyle/>
          <a:p>
            <a:pPr algn="l" indent="0" marL="0">
              <a:lnSpc>
                <a:spcPts val="1434"/>
              </a:lnSpc>
              <a:buNone/>
            </a:pPr>
            <a:r>
              <a:rPr lang="en-US" sz="844" dirty="0">
                <a:solidFill>
                  <a:srgbClr val="A1A1AA"/>
                </a:solidFill>
                <a:latin typeface="Courier New" pitchFamily="34" charset="0"/>
                <a:ea typeface="Courier New" pitchFamily="34" charset="-122"/>
                <a:cs typeface="Courier New" pitchFamily="34" charset="-120"/>
              </a:rPr>
              <a:t>:</a:t>
            </a:r>
            <a:endParaRPr lang="en-US" sz="844" dirty="0"/>
          </a:p>
        </p:txBody>
      </p:sp>
      <p:sp>
        <p:nvSpPr>
          <p:cNvPr id="19" name="Text 17"/>
          <p:cNvSpPr/>
          <p:nvPr/>
        </p:nvSpPr>
        <p:spPr>
          <a:xfrm>
            <a:off x="1418034" y="3077282"/>
            <a:ext cx="2083118" cy="138875"/>
          </a:xfrm>
          <a:prstGeom prst="rect">
            <a:avLst/>
          </a:prstGeom>
          <a:noFill/>
          <a:ln/>
        </p:spPr>
        <p:txBody>
          <a:bodyPr wrap="none" lIns="0" tIns="0" rIns="0" bIns="0" rtlCol="0" anchor="t"/>
          <a:lstStyle/>
          <a:p>
            <a:pPr algn="l" indent="0" marL="0">
              <a:lnSpc>
                <a:spcPts val="1434"/>
              </a:lnSpc>
              <a:buNone/>
            </a:pPr>
            <a:r>
              <a:rPr lang="en-US" sz="844" dirty="0">
                <a:solidFill>
                  <a:srgbClr val="B6E3A1"/>
                </a:solidFill>
                <a:latin typeface="Courier New" pitchFamily="34" charset="0"/>
                <a:ea typeface="Courier New" pitchFamily="34" charset="-122"/>
                <a:cs typeface="Courier New" pitchFamily="34" charset="-120"/>
              </a:rPr>
              <a:t>"https://api.githubcopilot.com/mcp/"</a:t>
            </a:r>
            <a:endParaRPr lang="en-US" sz="844" dirty="0"/>
          </a:p>
        </p:txBody>
      </p:sp>
      <p:sp>
        <p:nvSpPr>
          <p:cNvPr id="20" name="Text 18"/>
          <p:cNvSpPr/>
          <p:nvPr/>
        </p:nvSpPr>
        <p:spPr>
          <a:xfrm>
            <a:off x="1042988" y="3259448"/>
            <a:ext cx="689550" cy="138875"/>
          </a:xfrm>
          <a:prstGeom prst="rect">
            <a:avLst/>
          </a:prstGeom>
          <a:noFill/>
          <a:ln/>
        </p:spPr>
        <p:txBody>
          <a:bodyPr wrap="none" lIns="0" tIns="0" rIns="0" bIns="0" rtlCol="0" anchor="t"/>
          <a:lstStyle/>
          <a:p>
            <a:pPr algn="l" indent="0" marL="0">
              <a:lnSpc>
                <a:spcPts val="1434"/>
              </a:lnSpc>
              <a:buNone/>
            </a:pPr>
            <a:r>
              <a:rPr lang="en-US" sz="844" dirty="0">
                <a:solidFill>
                  <a:srgbClr val="FFD29E"/>
                </a:solidFill>
                <a:latin typeface="Courier New" pitchFamily="34" charset="0"/>
                <a:ea typeface="Courier New" pitchFamily="34" charset="-122"/>
                <a:cs typeface="Courier New" pitchFamily="34" charset="-120"/>
              </a:rPr>
              <a:t>"headers"</a:t>
            </a:r>
            <a:endParaRPr lang="en-US" sz="844" dirty="0"/>
          </a:p>
        </p:txBody>
      </p:sp>
      <p:sp>
        <p:nvSpPr>
          <p:cNvPr id="21" name="Text 19"/>
          <p:cNvSpPr/>
          <p:nvPr/>
        </p:nvSpPr>
        <p:spPr>
          <a:xfrm>
            <a:off x="1525191" y="3259448"/>
            <a:ext cx="91440" cy="138875"/>
          </a:xfrm>
          <a:prstGeom prst="rect">
            <a:avLst/>
          </a:prstGeom>
          <a:noFill/>
          <a:ln/>
        </p:spPr>
        <p:txBody>
          <a:bodyPr wrap="none" lIns="0" tIns="0" rIns="0" bIns="0" rtlCol="0" anchor="t"/>
          <a:lstStyle/>
          <a:p>
            <a:pPr algn="l" indent="0" marL="0">
              <a:lnSpc>
                <a:spcPts val="1434"/>
              </a:lnSpc>
              <a:buNone/>
            </a:pPr>
            <a:r>
              <a:rPr lang="en-US" sz="844" dirty="0">
                <a:solidFill>
                  <a:srgbClr val="A1A1AA"/>
                </a:solidFill>
                <a:latin typeface="Courier New" pitchFamily="34" charset="0"/>
                <a:ea typeface="Courier New" pitchFamily="34" charset="-122"/>
                <a:cs typeface="Courier New" pitchFamily="34" charset="-120"/>
              </a:rPr>
              <a:t>:</a:t>
            </a:r>
            <a:endParaRPr lang="en-US" sz="844" dirty="0"/>
          </a:p>
        </p:txBody>
      </p:sp>
      <p:sp>
        <p:nvSpPr>
          <p:cNvPr id="22" name="Text 20"/>
          <p:cNvSpPr/>
          <p:nvPr/>
        </p:nvSpPr>
        <p:spPr>
          <a:xfrm>
            <a:off x="1150144" y="3441613"/>
            <a:ext cx="1004590" cy="138875"/>
          </a:xfrm>
          <a:prstGeom prst="rect">
            <a:avLst/>
          </a:prstGeom>
          <a:noFill/>
          <a:ln/>
        </p:spPr>
        <p:txBody>
          <a:bodyPr wrap="none" lIns="0" tIns="0" rIns="0" bIns="0" rtlCol="0" anchor="t"/>
          <a:lstStyle/>
          <a:p>
            <a:pPr algn="l" indent="0" marL="0">
              <a:lnSpc>
                <a:spcPts val="1434"/>
              </a:lnSpc>
              <a:buNone/>
            </a:pPr>
            <a:r>
              <a:rPr lang="en-US" sz="844" dirty="0">
                <a:solidFill>
                  <a:srgbClr val="FFD29E"/>
                </a:solidFill>
                <a:latin typeface="Courier New" pitchFamily="34" charset="0"/>
                <a:ea typeface="Courier New" pitchFamily="34" charset="-122"/>
                <a:cs typeface="Courier New" pitchFamily="34" charset="-120"/>
              </a:rPr>
              <a:t>"Authorization"</a:t>
            </a:r>
            <a:endParaRPr lang="en-US" sz="844" dirty="0"/>
          </a:p>
        </p:txBody>
      </p:sp>
      <p:sp>
        <p:nvSpPr>
          <p:cNvPr id="23" name="Text 21"/>
          <p:cNvSpPr/>
          <p:nvPr/>
        </p:nvSpPr>
        <p:spPr>
          <a:xfrm>
            <a:off x="1953816" y="3441613"/>
            <a:ext cx="91440" cy="138875"/>
          </a:xfrm>
          <a:prstGeom prst="rect">
            <a:avLst/>
          </a:prstGeom>
          <a:noFill/>
          <a:ln/>
        </p:spPr>
        <p:txBody>
          <a:bodyPr wrap="none" lIns="0" tIns="0" rIns="0" bIns="0" rtlCol="0" anchor="t"/>
          <a:lstStyle/>
          <a:p>
            <a:pPr algn="l" indent="0" marL="0">
              <a:lnSpc>
                <a:spcPts val="1434"/>
              </a:lnSpc>
              <a:buNone/>
            </a:pPr>
            <a:r>
              <a:rPr lang="en-US" sz="844" dirty="0">
                <a:solidFill>
                  <a:srgbClr val="A1A1AA"/>
                </a:solidFill>
                <a:latin typeface="Courier New" pitchFamily="34" charset="0"/>
                <a:ea typeface="Courier New" pitchFamily="34" charset="-122"/>
                <a:cs typeface="Courier New" pitchFamily="34" charset="-120"/>
              </a:rPr>
              <a:t>:</a:t>
            </a:r>
            <a:endParaRPr lang="en-US" sz="844" dirty="0"/>
          </a:p>
        </p:txBody>
      </p:sp>
      <p:sp>
        <p:nvSpPr>
          <p:cNvPr id="24" name="Text 22"/>
          <p:cNvSpPr/>
          <p:nvPr/>
        </p:nvSpPr>
        <p:spPr>
          <a:xfrm>
            <a:off x="2060972" y="3441613"/>
            <a:ext cx="1473398" cy="138875"/>
          </a:xfrm>
          <a:prstGeom prst="rect">
            <a:avLst/>
          </a:prstGeom>
          <a:noFill/>
          <a:ln/>
        </p:spPr>
        <p:txBody>
          <a:bodyPr wrap="none" lIns="0" tIns="0" rIns="0" bIns="0" rtlCol="0" anchor="t"/>
          <a:lstStyle/>
          <a:p>
            <a:pPr algn="l" indent="0" marL="0">
              <a:lnSpc>
                <a:spcPts val="1434"/>
              </a:lnSpc>
              <a:buNone/>
            </a:pPr>
            <a:r>
              <a:rPr lang="en-US" sz="844" dirty="0">
                <a:solidFill>
                  <a:srgbClr val="B6E3A1"/>
                </a:solidFill>
                <a:latin typeface="Courier New" pitchFamily="34" charset="0"/>
                <a:ea typeface="Courier New" pitchFamily="34" charset="-122"/>
                <a:cs typeface="Courier New" pitchFamily="34" charset="-120"/>
              </a:rPr>
              <a:t>"Bearer ${GITHUB_PAT}"</a:t>
            </a:r>
            <a:endParaRPr lang="en-US" sz="844" dirty="0"/>
          </a:p>
        </p:txBody>
      </p:sp>
      <p:sp>
        <p:nvSpPr>
          <p:cNvPr id="25" name="Text 23"/>
          <p:cNvSpPr/>
          <p:nvPr/>
        </p:nvSpPr>
        <p:spPr>
          <a:xfrm>
            <a:off x="1150144" y="3623779"/>
            <a:ext cx="1071563" cy="138875"/>
          </a:xfrm>
          <a:prstGeom prst="rect">
            <a:avLst/>
          </a:prstGeom>
          <a:noFill/>
          <a:ln/>
        </p:spPr>
        <p:txBody>
          <a:bodyPr wrap="none" lIns="0" tIns="0" rIns="0" bIns="0" rtlCol="0" anchor="t"/>
          <a:lstStyle/>
          <a:p>
            <a:pPr algn="l" indent="0" marL="0">
              <a:lnSpc>
                <a:spcPts val="1434"/>
              </a:lnSpc>
              <a:buNone/>
            </a:pPr>
            <a:r>
              <a:rPr lang="en-US" sz="844" dirty="0">
                <a:solidFill>
                  <a:srgbClr val="FFD29E"/>
                </a:solidFill>
                <a:latin typeface="Courier New" pitchFamily="34" charset="0"/>
                <a:ea typeface="Courier New" pitchFamily="34" charset="-122"/>
                <a:cs typeface="Courier New" pitchFamily="34" charset="-120"/>
              </a:rPr>
              <a:t>"X-MCP-Toolsets"</a:t>
            </a:r>
            <a:endParaRPr lang="en-US" sz="844" dirty="0"/>
          </a:p>
        </p:txBody>
      </p:sp>
      <p:sp>
        <p:nvSpPr>
          <p:cNvPr id="26" name="Text 24"/>
          <p:cNvSpPr/>
          <p:nvPr/>
        </p:nvSpPr>
        <p:spPr>
          <a:xfrm>
            <a:off x="2007394" y="3623779"/>
            <a:ext cx="91440" cy="138875"/>
          </a:xfrm>
          <a:prstGeom prst="rect">
            <a:avLst/>
          </a:prstGeom>
          <a:noFill/>
          <a:ln/>
        </p:spPr>
        <p:txBody>
          <a:bodyPr wrap="none" lIns="0" tIns="0" rIns="0" bIns="0" rtlCol="0" anchor="t"/>
          <a:lstStyle/>
          <a:p>
            <a:pPr algn="l" indent="0" marL="0">
              <a:lnSpc>
                <a:spcPts val="1434"/>
              </a:lnSpc>
              <a:buNone/>
            </a:pPr>
            <a:r>
              <a:rPr lang="en-US" sz="844" dirty="0">
                <a:solidFill>
                  <a:srgbClr val="A1A1AA"/>
                </a:solidFill>
                <a:latin typeface="Courier New" pitchFamily="34" charset="0"/>
                <a:ea typeface="Courier New" pitchFamily="34" charset="-122"/>
                <a:cs typeface="Courier New" pitchFamily="34" charset="-120"/>
              </a:rPr>
              <a:t>:</a:t>
            </a:r>
            <a:endParaRPr lang="en-US" sz="844" dirty="0"/>
          </a:p>
        </p:txBody>
      </p:sp>
      <p:sp>
        <p:nvSpPr>
          <p:cNvPr id="27" name="Text 25"/>
          <p:cNvSpPr/>
          <p:nvPr/>
        </p:nvSpPr>
        <p:spPr>
          <a:xfrm>
            <a:off x="2114550" y="3623779"/>
            <a:ext cx="1004590" cy="138875"/>
          </a:xfrm>
          <a:prstGeom prst="rect">
            <a:avLst/>
          </a:prstGeom>
          <a:noFill/>
          <a:ln/>
        </p:spPr>
        <p:txBody>
          <a:bodyPr wrap="none" lIns="0" tIns="0" rIns="0" bIns="0" rtlCol="0" anchor="t"/>
          <a:lstStyle/>
          <a:p>
            <a:pPr algn="l" indent="0" marL="0">
              <a:lnSpc>
                <a:spcPts val="1434"/>
              </a:lnSpc>
              <a:buNone/>
            </a:pPr>
            <a:r>
              <a:rPr lang="en-US" sz="844" dirty="0">
                <a:solidFill>
                  <a:srgbClr val="B6E3A1"/>
                </a:solidFill>
                <a:latin typeface="Courier New" pitchFamily="34" charset="0"/>
                <a:ea typeface="Courier New" pitchFamily="34" charset="-122"/>
                <a:cs typeface="Courier New" pitchFamily="34" charset="-120"/>
              </a:rPr>
              <a:t>"pull_requests"</a:t>
            </a:r>
            <a:endParaRPr lang="en-US" sz="844" dirty="0"/>
          </a:p>
        </p:txBody>
      </p:sp>
      <p:sp>
        <p:nvSpPr>
          <p:cNvPr id="28" name="Text 26"/>
          <p:cNvSpPr/>
          <p:nvPr/>
        </p:nvSpPr>
        <p:spPr>
          <a:xfrm>
            <a:off x="514350" y="4189698"/>
            <a:ext cx="2638388" cy="553752"/>
          </a:xfrm>
          <a:prstGeom prst="rect">
            <a:avLst/>
          </a:prstGeom>
          <a:solidFill>
            <a:srgbClr val="15151A"/>
          </a:solidFill>
          <a:ln/>
        </p:spPr>
        <p:txBody>
          <a:bodyPr wrap="square" rtlCol="0" anchor="ctr"/>
          <a:lstStyle/>
          <a:p>
            <a:pPr indent="0" marL="0">
              <a:buNone/>
            </a:pPr>
            <a:endParaRPr lang="en-US" dirty="0"/>
          </a:p>
        </p:txBody>
      </p:sp>
      <p:sp>
        <p:nvSpPr>
          <p:cNvPr id="29" name="Shape 27"/>
          <p:cNvSpPr/>
          <p:nvPr/>
        </p:nvSpPr>
        <p:spPr>
          <a:xfrm>
            <a:off x="514350" y="4193270"/>
            <a:ext cx="2638388" cy="0"/>
          </a:xfrm>
          <a:prstGeom prst="line">
            <a:avLst/>
          </a:prstGeom>
          <a:noFill/>
          <a:ln w="7144">
            <a:solidFill>
              <a:srgbClr val="2A2A33"/>
            </a:solidFill>
            <a:prstDash val="solid"/>
          </a:ln>
        </p:spPr>
      </p:sp>
      <p:sp>
        <p:nvSpPr>
          <p:cNvPr id="30" name="Shape 28"/>
          <p:cNvSpPr/>
          <p:nvPr/>
        </p:nvSpPr>
        <p:spPr>
          <a:xfrm>
            <a:off x="3149166" y="4189698"/>
            <a:ext cx="0" cy="553752"/>
          </a:xfrm>
          <a:prstGeom prst="line">
            <a:avLst/>
          </a:prstGeom>
          <a:noFill/>
          <a:ln w="7144">
            <a:solidFill>
              <a:srgbClr val="2A2A33"/>
            </a:solidFill>
            <a:prstDash val="solid"/>
          </a:ln>
        </p:spPr>
      </p:sp>
      <p:sp>
        <p:nvSpPr>
          <p:cNvPr id="31" name="Shape 29"/>
          <p:cNvSpPr/>
          <p:nvPr/>
        </p:nvSpPr>
        <p:spPr>
          <a:xfrm>
            <a:off x="514350" y="4739878"/>
            <a:ext cx="2638388" cy="0"/>
          </a:xfrm>
          <a:prstGeom prst="line">
            <a:avLst/>
          </a:prstGeom>
          <a:noFill/>
          <a:ln w="7144">
            <a:solidFill>
              <a:srgbClr val="2A2A33"/>
            </a:solidFill>
            <a:prstDash val="solid"/>
          </a:ln>
        </p:spPr>
      </p:sp>
      <p:sp>
        <p:nvSpPr>
          <p:cNvPr id="32" name="Shape 30"/>
          <p:cNvSpPr/>
          <p:nvPr/>
        </p:nvSpPr>
        <p:spPr>
          <a:xfrm>
            <a:off x="525066" y="4189698"/>
            <a:ext cx="0" cy="553752"/>
          </a:xfrm>
          <a:prstGeom prst="line">
            <a:avLst/>
          </a:prstGeom>
          <a:noFill/>
          <a:ln w="21431">
            <a:solidFill>
              <a:srgbClr val="FF7A1A"/>
            </a:solidFill>
            <a:prstDash val="solid"/>
          </a:ln>
        </p:spPr>
      </p:sp>
      <p:sp>
        <p:nvSpPr>
          <p:cNvPr id="33" name="Text 31"/>
          <p:cNvSpPr/>
          <p:nvPr/>
        </p:nvSpPr>
        <p:spPr>
          <a:xfrm>
            <a:off x="635794" y="4268279"/>
            <a:ext cx="2409788" cy="108299"/>
          </a:xfrm>
          <a:prstGeom prst="rect">
            <a:avLst/>
          </a:prstGeom>
          <a:noFill/>
          <a:ln/>
        </p:spPr>
        <p:txBody>
          <a:bodyPr wrap="none" lIns="0" tIns="0" rIns="0" bIns="0" rtlCol="0" anchor="t">
            <a:normAutofit/>
          </a:bodyPr>
          <a:lstStyle/>
          <a:p>
            <a:pPr algn="l" indent="0" marL="0">
              <a:lnSpc>
                <a:spcPts val="844"/>
              </a:lnSpc>
              <a:buNone/>
            </a:pPr>
            <a:r>
              <a:rPr lang="en-US" sz="800" spc="124" kern="0" dirty="0">
                <a:solidFill>
                  <a:srgbClr val="FF7A1A"/>
                </a:solidFill>
                <a:latin typeface="Courier New" pitchFamily="34" charset="0"/>
                <a:ea typeface="Courier New" pitchFamily="34" charset="-122"/>
                <a:cs typeface="Courier New" pitchFamily="34" charset="-120"/>
              </a:rPr>
              <a:t>SERVER NAME</a:t>
            </a:r>
            <a:endParaRPr lang="en-US" sz="800" dirty="0"/>
          </a:p>
        </p:txBody>
      </p:sp>
      <p:sp>
        <p:nvSpPr>
          <p:cNvPr id="34" name="Text 32"/>
          <p:cNvSpPr/>
          <p:nvPr/>
        </p:nvSpPr>
        <p:spPr>
          <a:xfrm>
            <a:off x="635794" y="4404010"/>
            <a:ext cx="2409788" cy="260858"/>
          </a:xfrm>
          <a:prstGeom prst="rect">
            <a:avLst/>
          </a:prstGeom>
          <a:noFill/>
          <a:ln/>
        </p:spPr>
        <p:txBody>
          <a:bodyPr wrap="square" lIns="0" tIns="0" rIns="0" bIns="0" rtlCol="0" anchor="t"/>
          <a:lstStyle/>
          <a:p>
            <a:pPr algn="l" indent="0" marL="0">
              <a:lnSpc>
                <a:spcPts val="1020"/>
              </a:lnSpc>
              <a:buNone/>
            </a:pPr>
            <a:r>
              <a:rPr lang="en-US" sz="800" dirty="0">
                <a:solidFill>
                  <a:srgbClr val="FF7A1A"/>
                </a:solidFill>
                <a:latin typeface="Courier New" pitchFamily="34" charset="0"/>
                <a:ea typeface="Courier New" pitchFamily="34" charset="-122"/>
                <a:cs typeface="Courier New" pitchFamily="34" charset="-120"/>
              </a:rPr>
              <a:t>"github"</a:t>
            </a:r>
            <a:pPr algn="l" indent="0" marL="0">
              <a:lnSpc>
                <a:spcPts val="1020"/>
              </a:lnSpc>
              <a:buNone/>
            </a:pPr>
            <a:r>
              <a:rPr lang="en-US" sz="800" dirty="0">
                <a:solidFill>
                  <a:srgbClr val="A1A1AA"/>
                </a:solidFill>
                <a:latin typeface="Carlito" pitchFamily="34" charset="0"/>
                <a:ea typeface="Carlito" pitchFamily="34" charset="-122"/>
                <a:cs typeface="Carlito" pitchFamily="34" charset="-120"/>
              </a:rPr>
              <a:t> → becomes the </a:t>
            </a:r>
            <a:pPr algn="l" indent="0" marL="0">
              <a:lnSpc>
                <a:spcPts val="1020"/>
              </a:lnSpc>
              <a:buNone/>
            </a:pPr>
            <a:r>
              <a:rPr lang="en-US" sz="800" dirty="0">
                <a:solidFill>
                  <a:srgbClr val="FF7A1A"/>
                </a:solidFill>
                <a:latin typeface="Courier New" pitchFamily="34" charset="0"/>
                <a:ea typeface="Courier New" pitchFamily="34" charset="-122"/>
                <a:cs typeface="Courier New" pitchFamily="34" charset="-120"/>
              </a:rPr>
              <a:t>mcp__github__…</a:t>
            </a:r>
            <a:pPr algn="l" indent="0" marL="0">
              <a:lnSpc>
                <a:spcPts val="1020"/>
              </a:lnSpc>
              <a:buNone/>
            </a:pPr>
            <a:r>
              <a:rPr lang="en-US" sz="800" dirty="0">
                <a:solidFill>
                  <a:srgbClr val="A1A1AA"/>
                </a:solidFill>
                <a:latin typeface="Carlito" pitchFamily="34" charset="0"/>
                <a:ea typeface="Carlito" pitchFamily="34" charset="-122"/>
                <a:cs typeface="Carlito" pitchFamily="34" charset="-120"/>
              </a:rPr>
              <a:t> tool prefix the agent sees.</a:t>
            </a:r>
            <a:endParaRPr lang="en-US" sz="800" dirty="0"/>
          </a:p>
        </p:txBody>
      </p:sp>
      <p:sp>
        <p:nvSpPr>
          <p:cNvPr id="35" name="Text 33"/>
          <p:cNvSpPr/>
          <p:nvPr/>
        </p:nvSpPr>
        <p:spPr>
          <a:xfrm>
            <a:off x="3252750" y="4189698"/>
            <a:ext cx="2638388" cy="553752"/>
          </a:xfrm>
          <a:prstGeom prst="rect">
            <a:avLst/>
          </a:prstGeom>
          <a:solidFill>
            <a:srgbClr val="15151A"/>
          </a:solidFill>
          <a:ln/>
        </p:spPr>
        <p:txBody>
          <a:bodyPr wrap="square" rtlCol="0" anchor="ctr"/>
          <a:lstStyle/>
          <a:p>
            <a:pPr indent="0" marL="0">
              <a:buNone/>
            </a:pPr>
            <a:endParaRPr lang="en-US" dirty="0"/>
          </a:p>
        </p:txBody>
      </p:sp>
      <p:sp>
        <p:nvSpPr>
          <p:cNvPr id="36" name="Shape 34"/>
          <p:cNvSpPr/>
          <p:nvPr/>
        </p:nvSpPr>
        <p:spPr>
          <a:xfrm>
            <a:off x="3252750" y="4193270"/>
            <a:ext cx="2638388" cy="0"/>
          </a:xfrm>
          <a:prstGeom prst="line">
            <a:avLst/>
          </a:prstGeom>
          <a:noFill/>
          <a:ln w="7144">
            <a:solidFill>
              <a:srgbClr val="2A2A33"/>
            </a:solidFill>
            <a:prstDash val="solid"/>
          </a:ln>
        </p:spPr>
      </p:sp>
      <p:sp>
        <p:nvSpPr>
          <p:cNvPr id="37" name="Shape 35"/>
          <p:cNvSpPr/>
          <p:nvPr/>
        </p:nvSpPr>
        <p:spPr>
          <a:xfrm>
            <a:off x="5887566" y="4189698"/>
            <a:ext cx="0" cy="553752"/>
          </a:xfrm>
          <a:prstGeom prst="line">
            <a:avLst/>
          </a:prstGeom>
          <a:noFill/>
          <a:ln w="7144">
            <a:solidFill>
              <a:srgbClr val="2A2A33"/>
            </a:solidFill>
            <a:prstDash val="solid"/>
          </a:ln>
        </p:spPr>
      </p:sp>
      <p:sp>
        <p:nvSpPr>
          <p:cNvPr id="38" name="Shape 36"/>
          <p:cNvSpPr/>
          <p:nvPr/>
        </p:nvSpPr>
        <p:spPr>
          <a:xfrm>
            <a:off x="3252750" y="4739878"/>
            <a:ext cx="2638388" cy="0"/>
          </a:xfrm>
          <a:prstGeom prst="line">
            <a:avLst/>
          </a:prstGeom>
          <a:noFill/>
          <a:ln w="7144">
            <a:solidFill>
              <a:srgbClr val="2A2A33"/>
            </a:solidFill>
            <a:prstDash val="solid"/>
          </a:ln>
        </p:spPr>
      </p:sp>
      <p:sp>
        <p:nvSpPr>
          <p:cNvPr id="39" name="Shape 37"/>
          <p:cNvSpPr/>
          <p:nvPr/>
        </p:nvSpPr>
        <p:spPr>
          <a:xfrm>
            <a:off x="3263466" y="4189698"/>
            <a:ext cx="0" cy="553752"/>
          </a:xfrm>
          <a:prstGeom prst="line">
            <a:avLst/>
          </a:prstGeom>
          <a:noFill/>
          <a:ln w="21431">
            <a:solidFill>
              <a:srgbClr val="FF7A1A"/>
            </a:solidFill>
            <a:prstDash val="solid"/>
          </a:ln>
        </p:spPr>
      </p:sp>
      <p:sp>
        <p:nvSpPr>
          <p:cNvPr id="40" name="Text 38"/>
          <p:cNvSpPr/>
          <p:nvPr/>
        </p:nvSpPr>
        <p:spPr>
          <a:xfrm>
            <a:off x="3374194" y="4268279"/>
            <a:ext cx="2409788" cy="108299"/>
          </a:xfrm>
          <a:prstGeom prst="rect">
            <a:avLst/>
          </a:prstGeom>
          <a:noFill/>
          <a:ln/>
        </p:spPr>
        <p:txBody>
          <a:bodyPr wrap="none" lIns="0" tIns="0" rIns="0" bIns="0" rtlCol="0" anchor="t">
            <a:normAutofit/>
          </a:bodyPr>
          <a:lstStyle/>
          <a:p>
            <a:pPr algn="l" indent="0" marL="0">
              <a:lnSpc>
                <a:spcPts val="844"/>
              </a:lnSpc>
              <a:buNone/>
            </a:pPr>
            <a:r>
              <a:rPr lang="en-US" sz="800" spc="124" kern="0" dirty="0">
                <a:solidFill>
                  <a:srgbClr val="FF7A1A"/>
                </a:solidFill>
                <a:latin typeface="Liberation Sans Narrow" pitchFamily="34" charset="0"/>
                <a:ea typeface="Liberation Sans Narrow" pitchFamily="34" charset="-122"/>
                <a:cs typeface="Liberation Sans Narrow" pitchFamily="34" charset="-120"/>
              </a:rPr>
              <a:t>HEADER 1 · AUTH</a:t>
            </a:r>
            <a:endParaRPr lang="en-US" sz="800" dirty="0"/>
          </a:p>
        </p:txBody>
      </p:sp>
      <p:sp>
        <p:nvSpPr>
          <p:cNvPr id="41" name="Text 39"/>
          <p:cNvSpPr/>
          <p:nvPr/>
        </p:nvSpPr>
        <p:spPr>
          <a:xfrm>
            <a:off x="3374194" y="4404010"/>
            <a:ext cx="2409788" cy="260858"/>
          </a:xfrm>
          <a:prstGeom prst="rect">
            <a:avLst/>
          </a:prstGeom>
          <a:noFill/>
          <a:ln/>
        </p:spPr>
        <p:txBody>
          <a:bodyPr wrap="square" lIns="0" tIns="0" rIns="0" bIns="0" rtlCol="0" anchor="t"/>
          <a:lstStyle/>
          <a:p>
            <a:pPr algn="l" indent="0" marL="0">
              <a:lnSpc>
                <a:spcPts val="1020"/>
              </a:lnSpc>
              <a:buNone/>
            </a:pPr>
            <a:r>
              <a:rPr lang="en-US" sz="800" dirty="0">
                <a:solidFill>
                  <a:srgbClr val="FF7A1A"/>
                </a:solidFill>
                <a:latin typeface="Courier New" pitchFamily="34" charset="0"/>
                <a:ea typeface="Courier New" pitchFamily="34" charset="-122"/>
                <a:cs typeface="Courier New" pitchFamily="34" charset="-120"/>
              </a:rPr>
              <a:t>Authorization: Bearer ${GITHUB_PAT}</a:t>
            </a:r>
            <a:pPr algn="l" indent="0" marL="0">
              <a:lnSpc>
                <a:spcPts val="1020"/>
              </a:lnSpc>
              <a:buNone/>
            </a:pPr>
            <a:r>
              <a:rPr lang="en-US" sz="800" dirty="0">
                <a:solidFill>
                  <a:srgbClr val="A1A1AA"/>
                </a:solidFill>
                <a:latin typeface="Carlito" pitchFamily="34" charset="0"/>
                <a:ea typeface="Carlito" pitchFamily="34" charset="-122"/>
                <a:cs typeface="Carlito" pitchFamily="34" charset="-120"/>
              </a:rPr>
              <a:t> — interpolated from your env at runtime.</a:t>
            </a:r>
            <a:endParaRPr lang="en-US" sz="800" dirty="0"/>
          </a:p>
        </p:txBody>
      </p:sp>
      <p:sp>
        <p:nvSpPr>
          <p:cNvPr id="42" name="Text 40"/>
          <p:cNvSpPr/>
          <p:nvPr/>
        </p:nvSpPr>
        <p:spPr>
          <a:xfrm>
            <a:off x="5991151" y="4189698"/>
            <a:ext cx="2638499" cy="553752"/>
          </a:xfrm>
          <a:prstGeom prst="rect">
            <a:avLst/>
          </a:prstGeom>
          <a:solidFill>
            <a:srgbClr val="15151A"/>
          </a:solidFill>
          <a:ln/>
        </p:spPr>
        <p:txBody>
          <a:bodyPr wrap="square" rtlCol="0" anchor="ctr"/>
          <a:lstStyle/>
          <a:p>
            <a:pPr indent="0" marL="0">
              <a:buNone/>
            </a:pPr>
            <a:endParaRPr lang="en-US" dirty="0"/>
          </a:p>
        </p:txBody>
      </p:sp>
      <p:sp>
        <p:nvSpPr>
          <p:cNvPr id="43" name="Shape 41"/>
          <p:cNvSpPr/>
          <p:nvPr/>
        </p:nvSpPr>
        <p:spPr>
          <a:xfrm>
            <a:off x="5991151" y="4193270"/>
            <a:ext cx="2638499" cy="0"/>
          </a:xfrm>
          <a:prstGeom prst="line">
            <a:avLst/>
          </a:prstGeom>
          <a:noFill/>
          <a:ln w="7144">
            <a:solidFill>
              <a:srgbClr val="2A2A33"/>
            </a:solidFill>
            <a:prstDash val="solid"/>
          </a:ln>
        </p:spPr>
      </p:sp>
      <p:sp>
        <p:nvSpPr>
          <p:cNvPr id="44" name="Shape 42"/>
          <p:cNvSpPr/>
          <p:nvPr/>
        </p:nvSpPr>
        <p:spPr>
          <a:xfrm>
            <a:off x="8626078" y="4189698"/>
            <a:ext cx="0" cy="553752"/>
          </a:xfrm>
          <a:prstGeom prst="line">
            <a:avLst/>
          </a:prstGeom>
          <a:noFill/>
          <a:ln w="7144">
            <a:solidFill>
              <a:srgbClr val="2A2A33"/>
            </a:solidFill>
            <a:prstDash val="solid"/>
          </a:ln>
        </p:spPr>
      </p:sp>
      <p:sp>
        <p:nvSpPr>
          <p:cNvPr id="45" name="Shape 43"/>
          <p:cNvSpPr/>
          <p:nvPr/>
        </p:nvSpPr>
        <p:spPr>
          <a:xfrm>
            <a:off x="5991151" y="4739878"/>
            <a:ext cx="2638499" cy="0"/>
          </a:xfrm>
          <a:prstGeom prst="line">
            <a:avLst/>
          </a:prstGeom>
          <a:noFill/>
          <a:ln w="7144">
            <a:solidFill>
              <a:srgbClr val="2A2A33"/>
            </a:solidFill>
            <a:prstDash val="solid"/>
          </a:ln>
        </p:spPr>
      </p:sp>
      <p:sp>
        <p:nvSpPr>
          <p:cNvPr id="46" name="Shape 44"/>
          <p:cNvSpPr/>
          <p:nvPr/>
        </p:nvSpPr>
        <p:spPr>
          <a:xfrm>
            <a:off x="6001866" y="4189698"/>
            <a:ext cx="0" cy="553752"/>
          </a:xfrm>
          <a:prstGeom prst="line">
            <a:avLst/>
          </a:prstGeom>
          <a:noFill/>
          <a:ln w="21431">
            <a:solidFill>
              <a:srgbClr val="FF7A1A"/>
            </a:solidFill>
            <a:prstDash val="solid"/>
          </a:ln>
        </p:spPr>
      </p:sp>
      <p:sp>
        <p:nvSpPr>
          <p:cNvPr id="47" name="Text 45"/>
          <p:cNvSpPr/>
          <p:nvPr/>
        </p:nvSpPr>
        <p:spPr>
          <a:xfrm>
            <a:off x="6112594" y="4268279"/>
            <a:ext cx="2519627" cy="108299"/>
          </a:xfrm>
          <a:prstGeom prst="rect">
            <a:avLst/>
          </a:prstGeom>
          <a:noFill/>
          <a:ln/>
        </p:spPr>
        <p:txBody>
          <a:bodyPr wrap="square" lIns="0" tIns="0" rIns="0" bIns="0" rtlCol="0" anchor="t">
            <a:normAutofit/>
          </a:bodyPr>
          <a:lstStyle/>
          <a:p>
            <a:pPr algn="l" indent="0" marL="0">
              <a:lnSpc>
                <a:spcPts val="844"/>
              </a:lnSpc>
              <a:buNone/>
            </a:pPr>
            <a:r>
              <a:rPr lang="en-US" sz="800" spc="124" kern="0" dirty="0">
                <a:solidFill>
                  <a:srgbClr val="FF7A1A"/>
                </a:solidFill>
                <a:latin typeface="Liberation Sans Narrow" pitchFamily="34" charset="0"/>
                <a:ea typeface="Liberation Sans Narrow" pitchFamily="34" charset="-122"/>
                <a:cs typeface="Liberation Sans Narrow" pitchFamily="34" charset="-120"/>
              </a:rPr>
              <a:t>HEADER 2 · GITHUB-SPECIFIC</a:t>
            </a:r>
            <a:endParaRPr lang="en-US" sz="800" dirty="0"/>
          </a:p>
        </p:txBody>
      </p:sp>
      <p:sp>
        <p:nvSpPr>
          <p:cNvPr id="48" name="Text 46"/>
          <p:cNvSpPr/>
          <p:nvPr/>
        </p:nvSpPr>
        <p:spPr>
          <a:xfrm>
            <a:off x="6112594" y="4404010"/>
            <a:ext cx="2409899" cy="260858"/>
          </a:xfrm>
          <a:prstGeom prst="rect">
            <a:avLst/>
          </a:prstGeom>
          <a:noFill/>
          <a:ln/>
        </p:spPr>
        <p:txBody>
          <a:bodyPr wrap="square" lIns="0" tIns="0" rIns="0" bIns="0" rtlCol="0" anchor="t"/>
          <a:lstStyle/>
          <a:p>
            <a:pPr algn="l" indent="0" marL="0">
              <a:lnSpc>
                <a:spcPts val="1020"/>
              </a:lnSpc>
              <a:buNone/>
            </a:pPr>
            <a:r>
              <a:rPr lang="en-US" sz="800" dirty="0">
                <a:solidFill>
                  <a:srgbClr val="FF7A1A"/>
                </a:solidFill>
                <a:latin typeface="Courier New" pitchFamily="34" charset="0"/>
                <a:ea typeface="Courier New" pitchFamily="34" charset="-122"/>
                <a:cs typeface="Courier New" pitchFamily="34" charset="-120"/>
              </a:rPr>
              <a:t>X-MCP-Toolsets: pull_requests</a:t>
            </a:r>
            <a:pPr algn="l" indent="0" marL="0">
              <a:lnSpc>
                <a:spcPts val="1020"/>
              </a:lnSpc>
              <a:buNone/>
            </a:pPr>
            <a:r>
              <a:rPr lang="en-US" sz="800" dirty="0">
                <a:solidFill>
                  <a:srgbClr val="A1A1AA"/>
                </a:solidFill>
                <a:latin typeface="Carlito" pitchFamily="34" charset="0"/>
                <a:ea typeface="Carlito" pitchFamily="34" charset="-122"/>
                <a:cs typeface="Carlito" pitchFamily="34" charset="-120"/>
              </a:rPr>
              <a:t> — scopes the surfaced tools. More on this shortly.</a:t>
            </a:r>
            <a:endParaRPr lang="en-US" sz="800" dirty="0"/>
          </a:p>
        </p:txBody>
      </p:sp>
      <p:sp>
        <p:nvSpPr>
          <p:cNvPr id="49" name="Text 47"/>
          <p:cNvSpPr/>
          <p:nvPr/>
        </p:nvSpPr>
        <p:spPr>
          <a:xfrm>
            <a:off x="514350" y="4868466"/>
            <a:ext cx="6378587"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EP09 · MCP IN THE REAL WORLD</a:t>
            </a:r>
            <a:endParaRPr lang="en-US" sz="800" dirty="0"/>
          </a:p>
        </p:txBody>
      </p:sp>
      <p:sp>
        <p:nvSpPr>
          <p:cNvPr id="50" name="Text 48"/>
          <p:cNvSpPr/>
          <p:nvPr/>
        </p:nvSpPr>
        <p:spPr>
          <a:xfrm>
            <a:off x="6907225" y="4868466"/>
            <a:ext cx="1971811" cy="164592"/>
          </a:xfrm>
          <a:prstGeom prst="rect">
            <a:avLst/>
          </a:prstGeom>
          <a:noFill/>
          <a:ln/>
        </p:spPr>
        <p:txBody>
          <a:bodyPr wrap="square" lIns="0" tIns="0" rIns="0" bIns="0" rtlCol="0" anchor="t"/>
          <a:lstStyle/>
          <a:p>
            <a:pPr algn="l" indent="0" marL="0">
              <a:lnSpc>
                <a:spcPts val="928"/>
              </a:lnSpc>
              <a:buNone/>
            </a:pPr>
            <a:r>
              <a:rPr lang="en-US" sz="619" spc="99" kern="0" dirty="0">
                <a:solidFill>
                  <a:srgbClr val="71717A"/>
                </a:solidFill>
                <a:latin typeface="Courier New" pitchFamily="34" charset="0"/>
                <a:ea typeface="Courier New" pitchFamily="34" charset="-122"/>
                <a:cs typeface="Courier New" pitchFamily="34" charset="-120"/>
              </a:rPr>
              <a:t>CONFIG · NO PYTHON · ZERO INSTALLS</a:t>
            </a:r>
            <a:endParaRPr lang="en-US" sz="619"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11 / 30</a:t>
            </a:r>
            <a:endParaRPr lang="en-US" sz="800" dirty="0"/>
          </a:p>
        </p:txBody>
      </p:sp>
      <p:sp>
        <p:nvSpPr>
          <p:cNvPr id="3" name="Text 1"/>
          <p:cNvSpPr/>
          <p:nvPr/>
        </p:nvSpPr>
        <p:spPr>
          <a:xfrm>
            <a:off x="514350" y="400050"/>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SECURITY</a:t>
            </a:r>
            <a:endParaRPr lang="en-US" sz="800" dirty="0"/>
          </a:p>
        </p:txBody>
      </p:sp>
      <p:sp>
        <p:nvSpPr>
          <p:cNvPr id="4" name="Text 2"/>
          <p:cNvSpPr/>
          <p:nvPr/>
        </p:nvSpPr>
        <p:spPr>
          <a:xfrm>
            <a:off x="514350" y="617934"/>
            <a:ext cx="8629650" cy="373346"/>
          </a:xfrm>
          <a:prstGeom prst="rect">
            <a:avLst/>
          </a:prstGeom>
          <a:noFill/>
          <a:ln/>
        </p:spPr>
        <p:txBody>
          <a:bodyPr wrap="squar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Never Hardcode A Token — </a:t>
            </a:r>
            <a:pPr algn="l" indent="0" marL="0">
              <a:lnSpc>
                <a:spcPts val="2723"/>
              </a:lnSpc>
              <a:buNone/>
            </a:pPr>
            <a:r>
              <a:rPr lang="en-US" sz="2475" b="1" spc="-49" kern="0" dirty="0">
                <a:solidFill>
                  <a:srgbClr val="FF7A1A"/>
                </a:solidFill>
                <a:latin typeface="Courier New" pitchFamily="34" charset="0"/>
                <a:ea typeface="Courier New" pitchFamily="34" charset="-122"/>
                <a:cs typeface="Courier New" pitchFamily="34" charset="-120"/>
              </a:rPr>
              <a:t>${VAR}</a:t>
            </a:r>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 Expansion</a:t>
            </a:r>
            <a:endParaRPr lang="en-US" sz="2475" dirty="0"/>
          </a:p>
        </p:txBody>
      </p:sp>
      <p:sp>
        <p:nvSpPr>
          <p:cNvPr id="5" name="Shape 3"/>
          <p:cNvSpPr/>
          <p:nvPr/>
        </p:nvSpPr>
        <p:spPr>
          <a:xfrm>
            <a:off x="514350" y="1145791"/>
            <a:ext cx="400050" cy="0"/>
          </a:xfrm>
          <a:prstGeom prst="line">
            <a:avLst/>
          </a:prstGeom>
          <a:noFill/>
          <a:ln w="7144">
            <a:solidFill>
              <a:srgbClr val="F4F4F5"/>
            </a:solidFill>
            <a:prstDash val="solid"/>
          </a:ln>
        </p:spPr>
      </p:sp>
      <p:sp>
        <p:nvSpPr>
          <p:cNvPr id="6" name="Text 4"/>
          <p:cNvSpPr/>
          <p:nvPr/>
        </p:nvSpPr>
        <p:spPr>
          <a:xfrm>
            <a:off x="514350" y="1356531"/>
            <a:ext cx="6572250" cy="910493"/>
          </a:xfrm>
          <a:prstGeom prst="rect">
            <a:avLst/>
          </a:prstGeom>
          <a:noFill/>
          <a:ln/>
        </p:spPr>
        <p:txBody>
          <a:bodyPr wrap="square" lIns="0" tIns="0" rIns="0" bIns="0" rtlCol="0" anchor="t"/>
          <a:lstStyle/>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.mcp.json</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 supports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${VAR_NAME}</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 environment variable expansion</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The token lives in your shell — never in the committed file</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Recommendation: a fine-grained, read-only PAT scoped to Pull requests on one repo</a:t>
            </a:r>
            <a:endParaRPr lang="en-US" sz="956" dirty="0"/>
          </a:p>
        </p:txBody>
      </p:sp>
      <p:sp>
        <p:nvSpPr>
          <p:cNvPr id="7" name="Text 5"/>
          <p:cNvSpPr/>
          <p:nvPr/>
        </p:nvSpPr>
        <p:spPr>
          <a:xfrm>
            <a:off x="514350" y="2421173"/>
            <a:ext cx="2011872" cy="140446"/>
          </a:xfrm>
          <a:prstGeom prst="rect">
            <a:avLst/>
          </a:prstGeom>
          <a:noFill/>
          <a:ln/>
        </p:spPr>
        <p:txBody>
          <a:bodyPr wrap="square" lIns="0" tIns="0" rIns="0" bIns="0" rtlCol="0" anchor="t">
            <a:normAutofit/>
          </a:bodyPr>
          <a:lstStyle/>
          <a:p>
            <a:pPr algn="l" indent="0" marL="0">
              <a:lnSpc>
                <a:spcPts val="1434"/>
              </a:lnSpc>
              <a:buNone/>
            </a:pPr>
            <a:r>
              <a:rPr lang="en-US" sz="956" dirty="0">
                <a:solidFill>
                  <a:srgbClr val="F4F4F5"/>
                </a:solidFill>
                <a:latin typeface="Carlito" pitchFamily="34" charset="0"/>
                <a:ea typeface="Carlito" pitchFamily="34" charset="-122"/>
                <a:cs typeface="Carlito" pitchFamily="34" charset="-120"/>
              </a:rPr>
              <a:t>shell — set once, never committed</a:t>
            </a:r>
            <a:endParaRPr lang="en-US" sz="956" dirty="0"/>
          </a:p>
        </p:txBody>
      </p:sp>
      <p:sp>
        <p:nvSpPr>
          <p:cNvPr id="8" name="Text 6"/>
          <p:cNvSpPr/>
          <p:nvPr/>
        </p:nvSpPr>
        <p:spPr>
          <a:xfrm>
            <a:off x="678656" y="2739070"/>
            <a:ext cx="91440" cy="133241"/>
          </a:xfrm>
          <a:prstGeom prst="rect">
            <a:avLst/>
          </a:prstGeom>
          <a:noFill/>
          <a:ln/>
        </p:spPr>
        <p:txBody>
          <a:bodyPr wrap="none" lIns="0" tIns="0" rIns="0" bIns="0" rtlCol="0" anchor="t"/>
          <a:lstStyle/>
          <a:p>
            <a:pPr algn="l" indent="0" marL="0">
              <a:lnSpc>
                <a:spcPts val="1260"/>
              </a:lnSpc>
              <a:buNone/>
            </a:pPr>
            <a:r>
              <a:rPr lang="en-US" sz="800" dirty="0">
                <a:solidFill>
                  <a:srgbClr val="71717A"/>
                </a:solidFill>
                <a:latin typeface="Courier New" pitchFamily="34" charset="0"/>
                <a:ea typeface="Courier New" pitchFamily="34" charset="-122"/>
                <a:cs typeface="Courier New" pitchFamily="34" charset="-120"/>
              </a:rPr>
              <a:t>$</a:t>
            </a:r>
            <a:endParaRPr lang="en-US" sz="800" dirty="0"/>
          </a:p>
        </p:txBody>
      </p:sp>
      <p:sp>
        <p:nvSpPr>
          <p:cNvPr id="9" name="Text 7"/>
          <p:cNvSpPr/>
          <p:nvPr/>
        </p:nvSpPr>
        <p:spPr>
          <a:xfrm>
            <a:off x="778669" y="2739070"/>
            <a:ext cx="429054" cy="133241"/>
          </a:xfrm>
          <a:prstGeom prst="rect">
            <a:avLst/>
          </a:prstGeom>
          <a:noFill/>
          <a:ln/>
        </p:spPr>
        <p:txBody>
          <a:bodyPr wrap="none" lIns="0" tIns="0" rIns="0" bIns="0" rtlCol="0" anchor="t"/>
          <a:lstStyle/>
          <a:p>
            <a:pPr algn="l" indent="0" marL="0">
              <a:lnSpc>
                <a:spcPts val="1260"/>
              </a:lnSpc>
              <a:buNone/>
            </a:pPr>
            <a:r>
              <a:rPr lang="en-US" sz="800" dirty="0">
                <a:solidFill>
                  <a:srgbClr val="FF7A1A"/>
                </a:solidFill>
                <a:latin typeface="Courier New" pitchFamily="34" charset="0"/>
                <a:ea typeface="Courier New" pitchFamily="34" charset="-122"/>
                <a:cs typeface="Courier New" pitchFamily="34" charset="-120"/>
              </a:rPr>
              <a:t>export</a:t>
            </a:r>
            <a:endParaRPr lang="en-US" sz="800" dirty="0"/>
          </a:p>
        </p:txBody>
      </p:sp>
      <p:sp>
        <p:nvSpPr>
          <p:cNvPr id="10" name="Text 8"/>
          <p:cNvSpPr/>
          <p:nvPr/>
        </p:nvSpPr>
        <p:spPr>
          <a:xfrm>
            <a:off x="1067935" y="2739070"/>
            <a:ext cx="746633" cy="133241"/>
          </a:xfrm>
          <a:prstGeom prst="rect">
            <a:avLst/>
          </a:prstGeom>
          <a:noFill/>
          <a:ln/>
        </p:spPr>
        <p:txBody>
          <a:bodyPr wrap="none" lIns="0" tIns="0" rIns="0" bIns="0" rtlCol="0" anchor="t"/>
          <a:lstStyle/>
          <a:p>
            <a:pPr algn="l" indent="0" marL="0">
              <a:lnSpc>
                <a:spcPts val="1260"/>
              </a:lnSpc>
              <a:buNone/>
            </a:pPr>
            <a:r>
              <a:rPr lang="en-US" sz="788" dirty="0">
                <a:solidFill>
                  <a:srgbClr val="FFD29E"/>
                </a:solidFill>
                <a:latin typeface="Courier New" pitchFamily="34" charset="0"/>
                <a:ea typeface="Courier New" pitchFamily="34" charset="-122"/>
                <a:cs typeface="Courier New" pitchFamily="34" charset="-120"/>
              </a:rPr>
              <a:t>GITHUB_PAT</a:t>
            </a:r>
            <a:endParaRPr lang="en-US" sz="788" dirty="0"/>
          </a:p>
        </p:txBody>
      </p:sp>
      <p:sp>
        <p:nvSpPr>
          <p:cNvPr id="11" name="Text 9"/>
          <p:cNvSpPr/>
          <p:nvPr/>
        </p:nvSpPr>
        <p:spPr>
          <a:xfrm>
            <a:off x="1628775" y="2739070"/>
            <a:ext cx="91440" cy="133241"/>
          </a:xfrm>
          <a:prstGeom prst="rect">
            <a:avLst/>
          </a:prstGeom>
          <a:noFill/>
          <a:ln/>
        </p:spPr>
        <p:txBody>
          <a:bodyPr wrap="none" lIns="0" tIns="0" rIns="0" bIns="0" rtlCol="0" anchor="t"/>
          <a:lstStyle/>
          <a:p>
            <a:pPr algn="l" indent="0" marL="0">
              <a:lnSpc>
                <a:spcPts val="1260"/>
              </a:lnSpc>
              <a:buNone/>
            </a:pPr>
            <a:r>
              <a:rPr lang="en-US" sz="800" dirty="0">
                <a:solidFill>
                  <a:srgbClr val="71717A"/>
                </a:solidFill>
                <a:latin typeface="Courier New" pitchFamily="34" charset="0"/>
                <a:ea typeface="Courier New" pitchFamily="34" charset="-122"/>
                <a:cs typeface="Courier New" pitchFamily="34" charset="-120"/>
              </a:rPr>
              <a:t>=</a:t>
            </a:r>
            <a:endParaRPr lang="en-US" sz="800" dirty="0"/>
          </a:p>
        </p:txBody>
      </p:sp>
      <p:sp>
        <p:nvSpPr>
          <p:cNvPr id="12" name="Text 10"/>
          <p:cNvSpPr/>
          <p:nvPr/>
        </p:nvSpPr>
        <p:spPr>
          <a:xfrm>
            <a:off x="1678781" y="2739070"/>
            <a:ext cx="1350169" cy="133241"/>
          </a:xfrm>
          <a:prstGeom prst="rect">
            <a:avLst/>
          </a:prstGeom>
          <a:noFill/>
          <a:ln/>
        </p:spPr>
        <p:txBody>
          <a:bodyPr wrap="none" lIns="0" tIns="0" rIns="0" bIns="0" rtlCol="0" anchor="t"/>
          <a:lstStyle/>
          <a:p>
            <a:pPr algn="l" indent="0" marL="0">
              <a:lnSpc>
                <a:spcPts val="1260"/>
              </a:lnSpc>
              <a:buNone/>
            </a:pPr>
            <a:r>
              <a:rPr lang="en-US" sz="788" dirty="0">
                <a:solidFill>
                  <a:srgbClr val="B6E3A1"/>
                </a:solidFill>
                <a:latin typeface="Courier New" pitchFamily="34" charset="0"/>
                <a:ea typeface="Courier New" pitchFamily="34" charset="-122"/>
                <a:cs typeface="Courier New" pitchFamily="34" charset="-120"/>
              </a:rPr>
              <a:t>"[REDACTED:github_token]"</a:t>
            </a:r>
            <a:endParaRPr lang="en-US" sz="788" dirty="0"/>
          </a:p>
        </p:txBody>
      </p:sp>
      <p:sp>
        <p:nvSpPr>
          <p:cNvPr id="13" name="Text 11"/>
          <p:cNvSpPr/>
          <p:nvPr/>
        </p:nvSpPr>
        <p:spPr>
          <a:xfrm>
            <a:off x="514350" y="3177629"/>
            <a:ext cx="6572250" cy="169980"/>
          </a:xfrm>
          <a:prstGeom prst="rect">
            <a:avLst/>
          </a:prstGeom>
          <a:noFill/>
          <a:ln/>
        </p:spPr>
        <p:txBody>
          <a:bodyPr wrap="square" lIns="0" tIns="0" rIns="0" bIns="0" rtlCol="0" anchor="t"/>
          <a:lstStyle/>
          <a:p>
            <a:pPr algn="l" indent="0" marL="0">
              <a:lnSpc>
                <a:spcPts val="1221"/>
              </a:lnSpc>
              <a:buNone/>
            </a:pPr>
            <a:r>
              <a:rPr lang="en-US" sz="788" i="1" dirty="0">
                <a:solidFill>
                  <a:srgbClr val="71717A"/>
                </a:solidFill>
                <a:latin typeface="Carlito" pitchFamily="34" charset="0"/>
                <a:ea typeface="Carlito" pitchFamily="34" charset="-122"/>
                <a:cs typeface="Carlito" pitchFamily="34" charset="-120"/>
              </a:rPr>
              <a:t>Least-privilege PAT — read-only, scoped to pull requests on a single repo. Not a broad classic token. Same hygiene as every hook since Episode 4.</a:t>
            </a:r>
            <a:endParaRPr lang="en-US" sz="788"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12 / 30</a:t>
            </a:r>
            <a:endParaRPr lang="en-US" sz="800" dirty="0"/>
          </a:p>
        </p:txBody>
      </p:sp>
      <p:sp>
        <p:nvSpPr>
          <p:cNvPr id="3" name="Text 1"/>
          <p:cNvSpPr/>
          <p:nvPr/>
        </p:nvSpPr>
        <p:spPr>
          <a:xfrm>
            <a:off x="514350" y="400050"/>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GOTCHA</a:t>
            </a:r>
            <a:endParaRPr lang="en-US" sz="800" dirty="0"/>
          </a:p>
        </p:txBody>
      </p:sp>
      <p:sp>
        <p:nvSpPr>
          <p:cNvPr id="4" name="Text 2"/>
          <p:cNvSpPr/>
          <p:nvPr/>
        </p:nvSpPr>
        <p:spPr>
          <a:xfrm>
            <a:off x="514350" y="617934"/>
            <a:ext cx="8629650" cy="373346"/>
          </a:xfrm>
          <a:prstGeom prst="rect">
            <a:avLst/>
          </a:prstGeom>
          <a:noFill/>
          <a:ln/>
        </p:spPr>
        <p:txBody>
          <a:bodyPr wrap="squar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Gotcha: The Headers Expansion Bug</a:t>
            </a:r>
            <a:endParaRPr lang="en-US" sz="2475" dirty="0"/>
          </a:p>
        </p:txBody>
      </p:sp>
      <p:sp>
        <p:nvSpPr>
          <p:cNvPr id="5" name="Shape 3"/>
          <p:cNvSpPr/>
          <p:nvPr/>
        </p:nvSpPr>
        <p:spPr>
          <a:xfrm>
            <a:off x="514350" y="1145791"/>
            <a:ext cx="400050" cy="0"/>
          </a:xfrm>
          <a:prstGeom prst="line">
            <a:avLst/>
          </a:prstGeom>
          <a:noFill/>
          <a:ln w="7144">
            <a:solidFill>
              <a:srgbClr val="F4F4F5"/>
            </a:solidFill>
            <a:prstDash val="solid"/>
          </a:ln>
        </p:spPr>
      </p:sp>
      <p:sp>
        <p:nvSpPr>
          <p:cNvPr id="6" name="Text 4"/>
          <p:cNvSpPr/>
          <p:nvPr/>
        </p:nvSpPr>
        <p:spPr>
          <a:xfrm>
            <a:off x="514350" y="1356531"/>
            <a:ext cx="7715250" cy="1215991"/>
          </a:xfrm>
          <a:prstGeom prst="rect">
            <a:avLst/>
          </a:prstGeom>
          <a:noFill/>
          <a:ln/>
        </p:spPr>
        <p:txBody>
          <a:bodyPr wrap="square" lIns="0" tIns="0" rIns="0" bIns="0" rtlCol="0" anchor="t"/>
          <a:lstStyle/>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Docs say: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${VAR}</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 expansion works in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headers</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 for HTTP-type servers</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Open bug reports say: it doesn't always reach HTTP-transport headers in practice</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Same syntax works reliably in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env</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 for stdio servers</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Test it on your own machine before recording</a:t>
            </a:r>
            <a:endParaRPr lang="en-US" sz="956" dirty="0"/>
          </a:p>
        </p:txBody>
      </p:sp>
      <p:sp>
        <p:nvSpPr>
          <p:cNvPr id="7" name="Text 5"/>
          <p:cNvSpPr/>
          <p:nvPr/>
        </p:nvSpPr>
        <p:spPr>
          <a:xfrm>
            <a:off x="514350" y="2680804"/>
            <a:ext cx="7715250" cy="1012850"/>
          </a:xfrm>
          <a:prstGeom prst="rect">
            <a:avLst/>
          </a:prstGeom>
          <a:solidFill>
            <a:srgbClr val="15151A"/>
          </a:solidFill>
          <a:ln/>
          <a:effectLst>
            <a:outerShdw sx="100000" sy="100000" kx="0" ky="0" algn="bl" rotWithShape="0" blurRad="101600" dist="50800" dir="16200000">
              <a:srgbClr val="FF4D4D">
                <a:alpha val="18000"/>
              </a:srgbClr>
            </a:outerShdw>
          </a:effectLst>
        </p:spPr>
        <p:txBody>
          <a:bodyPr wrap="square" rtlCol="0" anchor="ctr"/>
          <a:lstStyle/>
          <a:p>
            <a:pPr indent="0" marL="0">
              <a:buNone/>
            </a:pPr>
            <a:endParaRPr lang="en-US" dirty="0"/>
          </a:p>
        </p:txBody>
      </p:sp>
      <p:sp>
        <p:nvSpPr>
          <p:cNvPr id="8" name="Shape 6"/>
          <p:cNvSpPr/>
          <p:nvPr/>
        </p:nvSpPr>
        <p:spPr>
          <a:xfrm>
            <a:off x="525066" y="2680804"/>
            <a:ext cx="0" cy="1012850"/>
          </a:xfrm>
          <a:prstGeom prst="line">
            <a:avLst/>
          </a:prstGeom>
          <a:noFill/>
          <a:ln w="21431">
            <a:solidFill>
              <a:srgbClr val="FF4D4D"/>
            </a:solidFill>
            <a:prstDash val="solid"/>
          </a:ln>
        </p:spPr>
      </p:sp>
      <p:sp>
        <p:nvSpPr>
          <p:cNvPr id="9" name="Text 7"/>
          <p:cNvSpPr/>
          <p:nvPr/>
        </p:nvSpPr>
        <p:spPr>
          <a:xfrm>
            <a:off x="764381" y="2880829"/>
            <a:ext cx="7236619" cy="168812"/>
          </a:xfrm>
          <a:prstGeom prst="rect">
            <a:avLst/>
          </a:prstGeom>
          <a:noFill/>
          <a:ln/>
        </p:spPr>
        <p:txBody>
          <a:bodyPr wrap="none" lIns="0" tIns="0" rIns="0" bIns="0" rtlCol="0" anchor="t"/>
          <a:lstStyle/>
          <a:p>
            <a:pPr algn="l" indent="0" marL="0">
              <a:lnSpc>
                <a:spcPts val="1097"/>
              </a:lnSpc>
              <a:buNone/>
            </a:pPr>
            <a:r>
              <a:rPr lang="en-US" sz="800" spc="205" kern="0" dirty="0">
                <a:solidFill>
                  <a:srgbClr val="FF7878"/>
                </a:solidFill>
                <a:latin typeface="Segoe UI Symbol" pitchFamily="34" charset="0"/>
                <a:ea typeface="Segoe UI Symbol" pitchFamily="34" charset="-122"/>
                <a:cs typeface="Segoe UI Symbol" pitchFamily="34" charset="-120"/>
              </a:rPr>
              <a:t>⚠</a:t>
            </a:r>
            <a:pPr algn="l" indent="0" marL="0">
              <a:lnSpc>
                <a:spcPts val="1097"/>
              </a:lnSpc>
              <a:buNone/>
            </a:pPr>
            <a:r>
              <a:rPr lang="en-US" sz="800" spc="205" kern="0" dirty="0">
                <a:solidFill>
                  <a:srgbClr val="FF7878"/>
                </a:solidFill>
                <a:latin typeface="Courier New" pitchFamily="34" charset="0"/>
                <a:ea typeface="Courier New" pitchFamily="34" charset="-122"/>
                <a:cs typeface="Courier New" pitchFamily="34" charset="-120"/>
              </a:rPr>
              <a:t> GOTCHA</a:t>
            </a:r>
            <a:endParaRPr lang="en-US" sz="800" dirty="0"/>
          </a:p>
        </p:txBody>
      </p:sp>
      <p:sp>
        <p:nvSpPr>
          <p:cNvPr id="10" name="Text 8"/>
          <p:cNvSpPr/>
          <p:nvPr/>
        </p:nvSpPr>
        <p:spPr>
          <a:xfrm>
            <a:off x="764381" y="3095141"/>
            <a:ext cx="7236619" cy="398487"/>
          </a:xfrm>
          <a:prstGeom prst="rect">
            <a:avLst/>
          </a:prstGeom>
          <a:noFill/>
          <a:ln/>
        </p:spPr>
        <p:txBody>
          <a:bodyPr wrap="square" lIns="0" tIns="0" rIns="0" bIns="0" rtlCol="0" anchor="t"/>
          <a:lstStyle/>
          <a:p>
            <a:pPr algn="l" indent="0" marL="0">
              <a:lnSpc>
                <a:spcPts val="1569"/>
              </a:lnSpc>
              <a:buNone/>
            </a:pPr>
            <a:r>
              <a:rPr lang="en-US" sz="1013" dirty="0">
                <a:solidFill>
                  <a:srgbClr val="F4F4F5"/>
                </a:solidFill>
                <a:latin typeface="Carlito" pitchFamily="34" charset="0"/>
                <a:ea typeface="Carlito" pitchFamily="34" charset="-122"/>
                <a:cs typeface="Carlito" pitchFamily="34" charset="-120"/>
              </a:rPr>
              <a:t>Docs say </a:t>
            </a:r>
            <a:pPr algn="l" indent="0" marL="0">
              <a:lnSpc>
                <a:spcPts val="1569"/>
              </a:lnSpc>
              <a:buNone/>
            </a:pPr>
            <a:r>
              <a:rPr lang="en-US" sz="1013" dirty="0">
                <a:solidFill>
                  <a:srgbClr val="FF7878"/>
                </a:solidFill>
                <a:latin typeface="Courier New" pitchFamily="34" charset="0"/>
                <a:ea typeface="Courier New" pitchFamily="34" charset="-122"/>
                <a:cs typeface="Courier New" pitchFamily="34" charset="-120"/>
              </a:rPr>
              <a:t>headers</a:t>
            </a:r>
            <a:pPr algn="l" indent="0" marL="0">
              <a:lnSpc>
                <a:spcPts val="1569"/>
              </a:lnSpc>
              <a:buNone/>
            </a:pPr>
            <a:r>
              <a:rPr lang="en-US" sz="1013" dirty="0">
                <a:solidFill>
                  <a:srgbClr val="F4F4F5"/>
                </a:solidFill>
                <a:latin typeface="Carlito" pitchFamily="34" charset="0"/>
                <a:ea typeface="Carlito" pitchFamily="34" charset="-122"/>
                <a:cs typeface="Carlito" pitchFamily="34" charset="-120"/>
              </a:rPr>
              <a:t> support </a:t>
            </a:r>
            <a:pPr algn="l" indent="0" marL="0">
              <a:lnSpc>
                <a:spcPts val="1569"/>
              </a:lnSpc>
              <a:buNone/>
            </a:pPr>
            <a:r>
              <a:rPr lang="en-US" sz="1013" dirty="0">
                <a:solidFill>
                  <a:srgbClr val="FF7878"/>
                </a:solidFill>
                <a:latin typeface="Courier New" pitchFamily="34" charset="0"/>
                <a:ea typeface="Courier New" pitchFamily="34" charset="-122"/>
                <a:cs typeface="Courier New" pitchFamily="34" charset="-120"/>
              </a:rPr>
              <a:t>${VAR}</a:t>
            </a:r>
            <a:pPr algn="l" indent="0" marL="0">
              <a:lnSpc>
                <a:spcPts val="1569"/>
              </a:lnSpc>
              <a:buNone/>
            </a:pPr>
            <a:r>
              <a:rPr lang="en-US" sz="1013" dirty="0">
                <a:solidFill>
                  <a:srgbClr val="F4F4F5"/>
                </a:solidFill>
                <a:latin typeface="Carlito" pitchFamily="34" charset="0"/>
                <a:ea typeface="Carlito" pitchFamily="34" charset="-122"/>
                <a:cs typeface="Carlito" pitchFamily="34" charset="-120"/>
              </a:rPr>
              <a:t> expansion. Open bug reports say it doesn't always reach HTTP-transport headers in practice. Test it on your machine before you trust it on camera.</a:t>
            </a:r>
            <a:endParaRPr lang="en-US" sz="1013"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13 / 30</a:t>
            </a:r>
            <a:endParaRPr lang="en-US" sz="800" dirty="0"/>
          </a:p>
        </p:txBody>
      </p:sp>
      <p:sp>
        <p:nvSpPr>
          <p:cNvPr id="3" name="Text 1"/>
          <p:cNvSpPr/>
          <p:nvPr/>
        </p:nvSpPr>
        <p:spPr>
          <a:xfrm>
            <a:off x="514350" y="400050"/>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RECALL</a:t>
            </a:r>
            <a:endParaRPr lang="en-US" sz="800" dirty="0"/>
          </a:p>
        </p:txBody>
      </p:sp>
      <p:sp>
        <p:nvSpPr>
          <p:cNvPr id="4" name="Text 2"/>
          <p:cNvSpPr/>
          <p:nvPr/>
        </p:nvSpPr>
        <p:spPr>
          <a:xfrm>
            <a:off x="514350" y="617934"/>
            <a:ext cx="8629650" cy="746692"/>
          </a:xfrm>
          <a:prstGeom prst="rect">
            <a:avLst/>
          </a:prstGeom>
          <a:noFill/>
          <a:ln/>
        </p:spPr>
        <p:txBody>
          <a:bodyPr wrap="squar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The Quiet Unlock — </a:t>
            </a:r>
            <a:pPr algn="l" indent="0" marL="0">
              <a:lnSpc>
                <a:spcPts val="2723"/>
              </a:lnSpc>
              <a:buNone/>
            </a:pPr>
            <a:r>
              <a:rPr lang="en-US" sz="2475" b="1" spc="-49" kern="0" dirty="0">
                <a:solidFill>
                  <a:srgbClr val="FF7A1A"/>
                </a:solidFill>
                <a:latin typeface="Courier New" pitchFamily="34" charset="0"/>
                <a:ea typeface="Courier New" pitchFamily="34" charset="-122"/>
                <a:cs typeface="Courier New" pitchFamily="34" charset="-120"/>
              </a:rPr>
              <a:t>setting_sources=["project"]</a:t>
            </a:r>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 Strikes Again</a:t>
            </a:r>
            <a:endParaRPr lang="en-US" sz="2475" dirty="0"/>
          </a:p>
        </p:txBody>
      </p:sp>
      <p:sp>
        <p:nvSpPr>
          <p:cNvPr id="5" name="Shape 3"/>
          <p:cNvSpPr/>
          <p:nvPr/>
        </p:nvSpPr>
        <p:spPr>
          <a:xfrm>
            <a:off x="514350" y="1491481"/>
            <a:ext cx="400050" cy="0"/>
          </a:xfrm>
          <a:prstGeom prst="line">
            <a:avLst/>
          </a:prstGeom>
          <a:noFill/>
          <a:ln w="7144">
            <a:solidFill>
              <a:srgbClr val="F4F4F5"/>
            </a:solidFill>
            <a:prstDash val="solid"/>
          </a:ln>
        </p:spPr>
      </p:sp>
      <p:sp>
        <p:nvSpPr>
          <p:cNvPr id="6" name="Text 4"/>
          <p:cNvSpPr/>
          <p:nvPr/>
        </p:nvSpPr>
        <p:spPr>
          <a:xfrm>
            <a:off x="700088" y="1709365"/>
            <a:ext cx="1044643" cy="139654"/>
          </a:xfrm>
          <a:prstGeom prst="rect">
            <a:avLst/>
          </a:prstGeom>
          <a:noFill/>
          <a:ln/>
        </p:spPr>
        <p:txBody>
          <a:bodyPr wrap="none" lIns="0" tIns="0" rIns="0" bIns="0" rtlCol="0" anchor="t"/>
          <a:lstStyle/>
          <a:p>
            <a:pPr algn="l" indent="0" marL="0">
              <a:lnSpc>
                <a:spcPts val="928"/>
              </a:lnSpc>
              <a:buNone/>
            </a:pPr>
            <a:r>
              <a:rPr lang="en-US" sz="800" spc="136" kern="0" dirty="0">
                <a:solidFill>
                  <a:srgbClr val="71717A"/>
                </a:solidFill>
                <a:latin typeface="Liberation Sans Narrow" pitchFamily="34" charset="0"/>
                <a:ea typeface="Liberation Sans Narrow" pitchFamily="34" charset="-122"/>
                <a:cs typeface="Liberation Sans Narrow" pitchFamily="34" charset="-120"/>
              </a:rPr>
              <a:t>EP06 CALLBACK</a:t>
            </a:r>
            <a:endParaRPr lang="en-US" sz="800" dirty="0"/>
          </a:p>
        </p:txBody>
      </p:sp>
      <p:sp>
        <p:nvSpPr>
          <p:cNvPr id="7" name="Text 5"/>
          <p:cNvSpPr/>
          <p:nvPr/>
        </p:nvSpPr>
        <p:spPr>
          <a:xfrm>
            <a:off x="514350" y="1711151"/>
            <a:ext cx="100013" cy="100013"/>
          </a:xfrm>
          <a:prstGeom prst="rect">
            <a:avLst/>
          </a:prstGeom>
          <a:noFill/>
          <a:ln/>
        </p:spPr>
        <p:txBody>
          <a:bodyPr wrap="none" lIns="0" tIns="0" rIns="0" bIns="0" rtlCol="0" anchor="ctr"/>
          <a:lstStyle/>
          <a:p>
            <a:pPr algn="ctr" indent="0" marL="0">
              <a:buNone/>
            </a:pPr>
            <a:r>
              <a:rPr lang="en-US" sz="984" dirty="0">
                <a:solidFill>
                  <a:srgbClr val="FF7A1A"/>
                </a:solidFill>
                <a:latin typeface="Segoe UI Symbol" pitchFamily="34" charset="0"/>
                <a:ea typeface="Segoe UI Symbol" pitchFamily="34" charset="-122"/>
                <a:cs typeface="Segoe UI Symbol" pitchFamily="34" charset="-120"/>
              </a:rPr>
              <a:t>▶</a:t>
            </a:r>
            <a:endParaRPr lang="en-US" sz="984" dirty="0"/>
          </a:p>
        </p:txBody>
      </p:sp>
      <p:sp>
        <p:nvSpPr>
          <p:cNvPr id="8" name="Text 6"/>
          <p:cNvSpPr/>
          <p:nvPr/>
        </p:nvSpPr>
        <p:spPr>
          <a:xfrm>
            <a:off x="514350" y="1977256"/>
            <a:ext cx="7429500" cy="910493"/>
          </a:xfrm>
          <a:prstGeom prst="rect">
            <a:avLst/>
          </a:prstGeom>
          <a:noFill/>
          <a:ln/>
        </p:spPr>
        <p:txBody>
          <a:bodyPr wrap="square" lIns="0" tIns="0" rIns="0" bIns="0" rtlCol="0" anchor="t"/>
          <a:lstStyle/>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Liberation Sans Narrow" pitchFamily="34" charset="0"/>
                <a:ea typeface="Liberation Sans Narrow" pitchFamily="34" charset="-122"/>
                <a:cs typeface="Liberation Sans Narrow" pitchFamily="34" charset="-120"/>
              </a:rPr>
              <a:t>Ep06 added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setting_sources=["project"]</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 so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CLAUDE.md</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 would load</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That exact same switch also gates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.mcp.json</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 loading — confirmed in official docs</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Nothing new to add to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build_options()</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 — it already works</a:t>
            </a:r>
            <a:endParaRPr lang="en-US" sz="956" dirty="0"/>
          </a:p>
        </p:txBody>
      </p:sp>
      <p:sp>
        <p:nvSpPr>
          <p:cNvPr id="9" name="Text 7"/>
          <p:cNvSpPr/>
          <p:nvPr/>
        </p:nvSpPr>
        <p:spPr>
          <a:xfrm>
            <a:off x="514350" y="3027611"/>
            <a:ext cx="7429500" cy="677540"/>
          </a:xfrm>
          <a:prstGeom prst="rect">
            <a:avLst/>
          </a:prstGeom>
          <a:solidFill>
            <a:srgbClr val="15151A"/>
          </a:solidFill>
          <a:ln/>
        </p:spPr>
        <p:txBody>
          <a:bodyPr wrap="square" rtlCol="0" anchor="ctr"/>
          <a:lstStyle/>
          <a:p>
            <a:pPr indent="0" marL="0">
              <a:buNone/>
            </a:pPr>
            <a:endParaRPr lang="en-US" dirty="0"/>
          </a:p>
        </p:txBody>
      </p:sp>
      <p:sp>
        <p:nvSpPr>
          <p:cNvPr id="10" name="Shape 8"/>
          <p:cNvSpPr/>
          <p:nvPr/>
        </p:nvSpPr>
        <p:spPr>
          <a:xfrm>
            <a:off x="525066" y="3027611"/>
            <a:ext cx="0" cy="677540"/>
          </a:xfrm>
          <a:prstGeom prst="line">
            <a:avLst/>
          </a:prstGeom>
          <a:noFill/>
          <a:ln w="21431">
            <a:solidFill>
              <a:srgbClr val="FF7A1A"/>
            </a:solidFill>
            <a:prstDash val="solid"/>
          </a:ln>
        </p:spPr>
      </p:sp>
      <p:sp>
        <p:nvSpPr>
          <p:cNvPr id="11" name="Text 9"/>
          <p:cNvSpPr/>
          <p:nvPr/>
        </p:nvSpPr>
        <p:spPr>
          <a:xfrm>
            <a:off x="735806" y="3184773"/>
            <a:ext cx="7008019" cy="147590"/>
          </a:xfrm>
          <a:prstGeom prst="rect">
            <a:avLst/>
          </a:prstGeom>
          <a:noFill/>
          <a:ln/>
        </p:spPr>
        <p:txBody>
          <a:bodyPr wrap="none" lIns="0" tIns="0" rIns="0" bIns="0" rtlCol="0" anchor="t">
            <a:normAutofit/>
          </a:bodyPr>
          <a:lstStyle/>
          <a:p>
            <a:pPr algn="l" indent="0" marL="0">
              <a:lnSpc>
                <a:spcPts val="928"/>
              </a:lnSpc>
              <a:buNone/>
            </a:pPr>
            <a:r>
              <a:rPr lang="en-US" sz="800" spc="149" kern="0" dirty="0">
                <a:solidFill>
                  <a:srgbClr val="FF7A1A"/>
                </a:solidFill>
                <a:latin typeface="Courier New" pitchFamily="34" charset="0"/>
                <a:ea typeface="Courier New" pitchFamily="34" charset="-122"/>
                <a:cs typeface="Courier New" pitchFamily="34" charset="-120"/>
              </a:rPr>
              <a:t>KEY FACT</a:t>
            </a:r>
            <a:endParaRPr lang="en-US" sz="800" dirty="0"/>
          </a:p>
        </p:txBody>
      </p:sp>
      <p:sp>
        <p:nvSpPr>
          <p:cNvPr id="12" name="Text 10"/>
          <p:cNvSpPr/>
          <p:nvPr/>
        </p:nvSpPr>
        <p:spPr>
          <a:xfrm>
            <a:off x="735806" y="3359795"/>
            <a:ext cx="7008019" cy="188193"/>
          </a:xfrm>
          <a:prstGeom prst="rect">
            <a:avLst/>
          </a:prstGeom>
          <a:noFill/>
          <a:ln/>
        </p:spPr>
        <p:txBody>
          <a:bodyPr wrap="square" lIns="0" tIns="0" rIns="0" bIns="0" rtlCol="0" anchor="t"/>
          <a:lstStyle/>
          <a:p>
            <a:pPr algn="l" indent="0" marL="0">
              <a:lnSpc>
                <a:spcPts val="1482"/>
              </a:lnSpc>
              <a:buNone/>
            </a:pPr>
            <a:r>
              <a:rPr lang="en-US" sz="956" dirty="0">
                <a:solidFill>
                  <a:srgbClr val="FF7A1A"/>
                </a:solidFill>
                <a:latin typeface="Courier New" pitchFamily="34" charset="0"/>
                <a:ea typeface="Courier New" pitchFamily="34" charset="-122"/>
                <a:cs typeface="Courier New" pitchFamily="34" charset="-120"/>
              </a:rPr>
              <a:t>setting_sources=["project"]</a:t>
            </a:r>
            <a:pPr algn="l" indent="0" marL="0">
              <a:lnSpc>
                <a:spcPts val="1482"/>
              </a:lnSpc>
              <a:buNone/>
            </a:pPr>
            <a:r>
              <a:rPr lang="en-US" sz="956" dirty="0">
                <a:solidFill>
                  <a:srgbClr val="F4F4F5"/>
                </a:solidFill>
                <a:latin typeface="Carlito" pitchFamily="34" charset="0"/>
                <a:ea typeface="Carlito" pitchFamily="34" charset="-122"/>
                <a:cs typeface="Carlito" pitchFamily="34" charset="-120"/>
              </a:rPr>
              <a:t> gates both </a:t>
            </a:r>
            <a:pPr algn="l" indent="0" marL="0">
              <a:lnSpc>
                <a:spcPts val="1482"/>
              </a:lnSpc>
              <a:buNone/>
            </a:pPr>
            <a:r>
              <a:rPr lang="en-US" sz="956" dirty="0">
                <a:solidFill>
                  <a:srgbClr val="FF7A1A"/>
                </a:solidFill>
                <a:latin typeface="Courier New" pitchFamily="34" charset="0"/>
                <a:ea typeface="Courier New" pitchFamily="34" charset="-122"/>
                <a:cs typeface="Courier New" pitchFamily="34" charset="-120"/>
              </a:rPr>
              <a:t>CLAUDE.md</a:t>
            </a:r>
            <a:pPr algn="l" indent="0" marL="0">
              <a:lnSpc>
                <a:spcPts val="1482"/>
              </a:lnSpc>
              <a:buNone/>
            </a:pPr>
            <a:r>
              <a:rPr lang="en-US" sz="956" dirty="0">
                <a:solidFill>
                  <a:srgbClr val="F4F4F5"/>
                </a:solidFill>
                <a:latin typeface="Liberation Sans Narrow" pitchFamily="34" charset="0"/>
                <a:ea typeface="Liberation Sans Narrow" pitchFamily="34" charset="-122"/>
                <a:cs typeface="Liberation Sans Narrow" pitchFamily="34" charset="-120"/>
              </a:rPr>
              <a:t> loading (Ep06) and </a:t>
            </a:r>
            <a:pPr algn="l" indent="0" marL="0">
              <a:lnSpc>
                <a:spcPts val="1482"/>
              </a:lnSpc>
              <a:buNone/>
            </a:pPr>
            <a:r>
              <a:rPr lang="en-US" sz="956" dirty="0">
                <a:solidFill>
                  <a:srgbClr val="FF7A1A"/>
                </a:solidFill>
                <a:latin typeface="Courier New" pitchFamily="34" charset="0"/>
                <a:ea typeface="Courier New" pitchFamily="34" charset="-122"/>
                <a:cs typeface="Courier New" pitchFamily="34" charset="-120"/>
              </a:rPr>
              <a:t>.mcp.json</a:t>
            </a:r>
            <a:pPr algn="l" indent="0" marL="0">
              <a:lnSpc>
                <a:spcPts val="1482"/>
              </a:lnSpc>
              <a:buNone/>
            </a:pPr>
            <a:r>
              <a:rPr lang="en-US" sz="956" dirty="0">
                <a:solidFill>
                  <a:srgbClr val="F4F4F5"/>
                </a:solidFill>
                <a:latin typeface="Carlito" pitchFamily="34" charset="0"/>
                <a:ea typeface="Carlito" pitchFamily="34" charset="-122"/>
                <a:cs typeface="Carlito" pitchFamily="34" charset="-120"/>
              </a:rPr>
              <a:t> loading (today). One switch, two jobs.</a:t>
            </a:r>
            <a:endParaRPr lang="en-US" sz="956"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14 / 30</a:t>
            </a:r>
            <a:endParaRPr lang="en-US" sz="800" dirty="0"/>
          </a:p>
        </p:txBody>
      </p:sp>
      <p:sp>
        <p:nvSpPr>
          <p:cNvPr id="3" name="Text 1"/>
          <p:cNvSpPr/>
          <p:nvPr/>
        </p:nvSpPr>
        <p:spPr>
          <a:xfrm>
            <a:off x="514350" y="400050"/>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TWO LAYERS</a:t>
            </a:r>
            <a:endParaRPr lang="en-US" sz="800" dirty="0"/>
          </a:p>
        </p:txBody>
      </p:sp>
      <p:sp>
        <p:nvSpPr>
          <p:cNvPr id="4" name="Text 2"/>
          <p:cNvSpPr/>
          <p:nvPr/>
        </p:nvSpPr>
        <p:spPr>
          <a:xfrm>
            <a:off x="514350" y="617934"/>
            <a:ext cx="8629650" cy="746692"/>
          </a:xfrm>
          <a:prstGeom prst="rect">
            <a:avLst/>
          </a:prstGeom>
          <a:noFill/>
          <a:ln/>
        </p:spPr>
        <p:txBody>
          <a:bodyPr wrap="squar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Scoping Down — </a:t>
            </a:r>
            <a:pPr algn="l" indent="0" marL="0">
              <a:lnSpc>
                <a:spcPts val="2723"/>
              </a:lnSpc>
              <a:buNone/>
            </a:pPr>
            <a:r>
              <a:rPr lang="en-US" sz="2475" b="1" spc="-49" kern="0" dirty="0">
                <a:solidFill>
                  <a:srgbClr val="FF7A1A"/>
                </a:solidFill>
                <a:latin typeface="Courier New" pitchFamily="34" charset="0"/>
                <a:ea typeface="Courier New" pitchFamily="34" charset="-122"/>
                <a:cs typeface="Courier New" pitchFamily="34" charset="-120"/>
              </a:rPr>
              <a:t>allowed_tools</a:t>
            </a:r>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 And GitHub's Own Toolset Header</a:t>
            </a:r>
            <a:endParaRPr lang="en-US" sz="2475" dirty="0"/>
          </a:p>
        </p:txBody>
      </p:sp>
      <p:sp>
        <p:nvSpPr>
          <p:cNvPr id="5" name="Shape 3"/>
          <p:cNvSpPr/>
          <p:nvPr/>
        </p:nvSpPr>
        <p:spPr>
          <a:xfrm>
            <a:off x="514350" y="1491481"/>
            <a:ext cx="400050" cy="0"/>
          </a:xfrm>
          <a:prstGeom prst="line">
            <a:avLst/>
          </a:prstGeom>
          <a:noFill/>
          <a:ln w="7144">
            <a:solidFill>
              <a:srgbClr val="F4F4F5"/>
            </a:solidFill>
            <a:prstDash val="solid"/>
          </a:ln>
        </p:spPr>
      </p:sp>
      <p:sp>
        <p:nvSpPr>
          <p:cNvPr id="6" name="Text 4"/>
          <p:cNvSpPr/>
          <p:nvPr/>
        </p:nvSpPr>
        <p:spPr>
          <a:xfrm>
            <a:off x="514350" y="1702222"/>
            <a:ext cx="7715250" cy="1215991"/>
          </a:xfrm>
          <a:prstGeom prst="rect">
            <a:avLst/>
          </a:prstGeom>
          <a:noFill/>
          <a:ln/>
        </p:spPr>
        <p:txBody>
          <a:bodyPr wrap="square" lIns="0" tIns="0" rIns="0" bIns="0" rtlCol="0" anchor="t"/>
          <a:lstStyle/>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GitHub's server exposes dozens of tools across many toolsets</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Ep06's lesson: too many available tools degrades selection reliability</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Layer one: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X-MCP-Toolsets</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 header scopes what GitHub's server even exposes</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Layer two: our own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allowed_tools</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 narrows it to exactly one tool</a:t>
            </a:r>
            <a:endParaRPr lang="en-US" sz="956" dirty="0"/>
          </a:p>
        </p:txBody>
      </p:sp>
      <p:sp>
        <p:nvSpPr>
          <p:cNvPr id="7" name="Text 5"/>
          <p:cNvSpPr/>
          <p:nvPr/>
        </p:nvSpPr>
        <p:spPr>
          <a:xfrm>
            <a:off x="487292" y="2969344"/>
            <a:ext cx="628617" cy="140446"/>
          </a:xfrm>
          <a:prstGeom prst="rect">
            <a:avLst/>
          </a:prstGeom>
          <a:noFill/>
          <a:ln/>
        </p:spPr>
        <p:txBody>
          <a:bodyPr wrap="none" lIns="0" tIns="0" rIns="0" bIns="0" rtlCol="0" anchor="t">
            <a:normAutofit/>
          </a:bodyPr>
          <a:lstStyle/>
          <a:p>
            <a:pPr algn="l" indent="0" marL="0">
              <a:lnSpc>
                <a:spcPts val="1434"/>
              </a:lnSpc>
              <a:buNone/>
            </a:pPr>
            <a:r>
              <a:rPr lang="en-US" sz="956" dirty="0">
                <a:solidFill>
                  <a:srgbClr val="F4F4F5"/>
                </a:solidFill>
                <a:latin typeface="Carlito" pitchFamily="34" charset="0"/>
                <a:ea typeface="Carlito" pitchFamily="34" charset="-122"/>
                <a:cs typeface="Carlito" pitchFamily="34" charset="-120"/>
              </a:rPr>
              <a:t>agent.py</a:t>
            </a:r>
            <a:endParaRPr lang="en-US" sz="956" dirty="0"/>
          </a:p>
        </p:txBody>
      </p:sp>
      <p:sp>
        <p:nvSpPr>
          <p:cNvPr id="8" name="Text 6"/>
          <p:cNvSpPr/>
          <p:nvPr/>
        </p:nvSpPr>
        <p:spPr>
          <a:xfrm>
            <a:off x="678656" y="3287241"/>
            <a:ext cx="160020" cy="133241"/>
          </a:xfrm>
          <a:prstGeom prst="rect">
            <a:avLst/>
          </a:prstGeom>
          <a:noFill/>
          <a:ln/>
        </p:spPr>
        <p:txBody>
          <a:bodyPr wrap="none" lIns="0" tIns="0" rIns="0" bIns="0" rtlCol="0" anchor="t"/>
          <a:lstStyle/>
          <a:p>
            <a:pPr algn="l" indent="0" marL="0">
              <a:lnSpc>
                <a:spcPts val="1260"/>
              </a:lnSpc>
              <a:buNone/>
            </a:pPr>
            <a:r>
              <a:rPr lang="en-US" sz="800" dirty="0">
                <a:solidFill>
                  <a:srgbClr val="FF7A1A"/>
                </a:solidFill>
                <a:latin typeface="Courier New" pitchFamily="34" charset="0"/>
                <a:ea typeface="Courier New" pitchFamily="34" charset="-122"/>
                <a:cs typeface="Courier New" pitchFamily="34" charset="-120"/>
              </a:rPr>
              <a:t>if</a:t>
            </a:r>
            <a:endParaRPr lang="en-US" sz="800" dirty="0"/>
          </a:p>
        </p:txBody>
      </p:sp>
      <p:sp>
        <p:nvSpPr>
          <p:cNvPr id="9" name="Text 7"/>
          <p:cNvSpPr/>
          <p:nvPr/>
        </p:nvSpPr>
        <p:spPr>
          <a:xfrm>
            <a:off x="828675" y="3287241"/>
            <a:ext cx="875109" cy="132521"/>
          </a:xfrm>
          <a:prstGeom prst="rect">
            <a:avLst/>
          </a:prstGeom>
          <a:noFill/>
          <a:ln/>
        </p:spPr>
        <p:txBody>
          <a:bodyPr wrap="none" lIns="0" tIns="0" rIns="0" bIns="0" rtlCol="0" anchor="t"/>
          <a:lstStyle/>
          <a:p>
            <a:pPr algn="l" indent="0" marL="0">
              <a:lnSpc>
                <a:spcPts val="1260"/>
              </a:lnSpc>
              <a:buNone/>
            </a:pPr>
            <a:r>
              <a:rPr lang="en-US" sz="800" dirty="0">
                <a:solidFill>
                  <a:srgbClr val="FFD29E"/>
                </a:solidFill>
                <a:latin typeface="Courier New" pitchFamily="34" charset="0"/>
                <a:ea typeface="Courier New" pitchFamily="34" charset="-122"/>
                <a:cs typeface="Courier New" pitchFamily="34" charset="-120"/>
              </a:rPr>
              <a:t>include_github</a:t>
            </a:r>
            <a:endParaRPr lang="en-US" sz="800" dirty="0"/>
          </a:p>
        </p:txBody>
      </p:sp>
      <p:sp>
        <p:nvSpPr>
          <p:cNvPr id="10" name="Text 8"/>
          <p:cNvSpPr/>
          <p:nvPr/>
        </p:nvSpPr>
        <p:spPr>
          <a:xfrm>
            <a:off x="878681" y="3447194"/>
            <a:ext cx="3150394" cy="132521"/>
          </a:xfrm>
          <a:prstGeom prst="rect">
            <a:avLst/>
          </a:prstGeom>
          <a:noFill/>
          <a:ln/>
        </p:spPr>
        <p:txBody>
          <a:bodyPr wrap="none" lIns="0" tIns="0" rIns="0" bIns="0" rtlCol="0" anchor="t"/>
          <a:lstStyle/>
          <a:p>
            <a:pPr algn="l" indent="0" marL="0">
              <a:lnSpc>
                <a:spcPts val="1260"/>
              </a:lnSpc>
              <a:buNone/>
            </a:pPr>
            <a:r>
              <a:rPr lang="en-US" sz="788" i="1" dirty="0">
                <a:solidFill>
                  <a:srgbClr val="71717A"/>
                </a:solidFill>
                <a:latin typeface="Courier New" pitchFamily="34" charset="0"/>
                <a:ea typeface="Courier New" pitchFamily="34" charset="-122"/>
                <a:cs typeface="Courier New" pitchFamily="34" charset="-120"/>
              </a:rPr>
              <a:t># Ep09 -- scoped to exactly one read-only tool. GitHub's server</a:t>
            </a:r>
            <a:endParaRPr lang="en-US" sz="788" dirty="0"/>
          </a:p>
        </p:txBody>
      </p:sp>
      <p:sp>
        <p:nvSpPr>
          <p:cNvPr id="11" name="Text 9"/>
          <p:cNvSpPr/>
          <p:nvPr/>
        </p:nvSpPr>
        <p:spPr>
          <a:xfrm>
            <a:off x="878681" y="3607147"/>
            <a:ext cx="3250406" cy="132521"/>
          </a:xfrm>
          <a:prstGeom prst="rect">
            <a:avLst/>
          </a:prstGeom>
          <a:noFill/>
          <a:ln/>
        </p:spPr>
        <p:txBody>
          <a:bodyPr wrap="none" lIns="0" tIns="0" rIns="0" bIns="0" rtlCol="0" anchor="t"/>
          <a:lstStyle/>
          <a:p>
            <a:pPr algn="l" indent="0" marL="0">
              <a:lnSpc>
                <a:spcPts val="1260"/>
              </a:lnSpc>
              <a:buNone/>
            </a:pPr>
            <a:r>
              <a:rPr lang="en-US" sz="788" i="1" dirty="0">
                <a:solidFill>
                  <a:srgbClr val="71717A"/>
                </a:solidFill>
                <a:latin typeface="Courier New" pitchFamily="34" charset="0"/>
                <a:ea typeface="Courier New" pitchFamily="34" charset="-122"/>
                <a:cs typeface="Courier New" pitchFamily="34" charset="-120"/>
              </a:rPr>
              <a:t># exposes dozens of tools across toolsets; Ep06 already taught us</a:t>
            </a:r>
            <a:endParaRPr lang="en-US" sz="788" dirty="0"/>
          </a:p>
        </p:txBody>
      </p:sp>
      <p:sp>
        <p:nvSpPr>
          <p:cNvPr id="12" name="Text 10"/>
          <p:cNvSpPr/>
          <p:nvPr/>
        </p:nvSpPr>
        <p:spPr>
          <a:xfrm>
            <a:off x="878681" y="3767100"/>
            <a:ext cx="3300413" cy="132521"/>
          </a:xfrm>
          <a:prstGeom prst="rect">
            <a:avLst/>
          </a:prstGeom>
          <a:noFill/>
          <a:ln/>
        </p:spPr>
        <p:txBody>
          <a:bodyPr wrap="none" lIns="0" tIns="0" rIns="0" bIns="0" rtlCol="0" anchor="t"/>
          <a:lstStyle/>
          <a:p>
            <a:pPr algn="l" indent="0" marL="0">
              <a:lnSpc>
                <a:spcPts val="1260"/>
              </a:lnSpc>
              <a:buNone/>
            </a:pPr>
            <a:r>
              <a:rPr lang="en-US" sz="788" i="1" dirty="0">
                <a:solidFill>
                  <a:srgbClr val="71717A"/>
                </a:solidFill>
                <a:latin typeface="Courier New" pitchFamily="34" charset="0"/>
                <a:ea typeface="Courier New" pitchFamily="34" charset="-122"/>
                <a:cs typeface="Courier New" pitchFamily="34" charset="-120"/>
              </a:rPr>
              <a:t># why we don't hand the model all of them just because they exist.</a:t>
            </a:r>
            <a:endParaRPr lang="en-US" sz="788" dirty="0"/>
          </a:p>
        </p:txBody>
      </p:sp>
      <p:sp>
        <p:nvSpPr>
          <p:cNvPr id="13" name="Text 11"/>
          <p:cNvSpPr/>
          <p:nvPr/>
        </p:nvSpPr>
        <p:spPr>
          <a:xfrm>
            <a:off x="878681" y="3927053"/>
            <a:ext cx="812602" cy="133241"/>
          </a:xfrm>
          <a:prstGeom prst="rect">
            <a:avLst/>
          </a:prstGeom>
          <a:noFill/>
          <a:ln/>
        </p:spPr>
        <p:txBody>
          <a:bodyPr wrap="none" lIns="0" tIns="0" rIns="0" bIns="0" rtlCol="0" anchor="t"/>
          <a:lstStyle/>
          <a:p>
            <a:pPr algn="l" indent="0" marL="0">
              <a:lnSpc>
                <a:spcPts val="1260"/>
              </a:lnSpc>
              <a:buNone/>
            </a:pPr>
            <a:r>
              <a:rPr lang="en-US" sz="800" dirty="0">
                <a:solidFill>
                  <a:srgbClr val="FFD29E"/>
                </a:solidFill>
                <a:latin typeface="Courier New" pitchFamily="34" charset="0"/>
                <a:ea typeface="Courier New" pitchFamily="34" charset="-122"/>
                <a:cs typeface="Courier New" pitchFamily="34" charset="-120"/>
              </a:rPr>
              <a:t>allowed_tools</a:t>
            </a:r>
            <a:endParaRPr lang="en-US" sz="800" dirty="0"/>
          </a:p>
        </p:txBody>
      </p:sp>
      <p:sp>
        <p:nvSpPr>
          <p:cNvPr id="14" name="Text 12"/>
          <p:cNvSpPr/>
          <p:nvPr/>
        </p:nvSpPr>
        <p:spPr>
          <a:xfrm>
            <a:off x="1578769" y="3927053"/>
            <a:ext cx="429054" cy="133241"/>
          </a:xfrm>
          <a:prstGeom prst="rect">
            <a:avLst/>
          </a:prstGeom>
          <a:noFill/>
          <a:ln/>
        </p:spPr>
        <p:txBody>
          <a:bodyPr wrap="none" lIns="0" tIns="0" rIns="0" bIns="0" rtlCol="0" anchor="t"/>
          <a:lstStyle/>
          <a:p>
            <a:pPr algn="l" indent="0" marL="0">
              <a:lnSpc>
                <a:spcPts val="1260"/>
              </a:lnSpc>
              <a:buNone/>
            </a:pPr>
            <a:r>
              <a:rPr lang="en-US" sz="800" dirty="0">
                <a:solidFill>
                  <a:srgbClr val="FFD29E"/>
                </a:solidFill>
                <a:latin typeface="Courier New" pitchFamily="34" charset="0"/>
                <a:ea typeface="Courier New" pitchFamily="34" charset="-122"/>
                <a:cs typeface="Courier New" pitchFamily="34" charset="-120"/>
              </a:rPr>
              <a:t>append</a:t>
            </a:r>
            <a:endParaRPr lang="en-US" sz="800" dirty="0"/>
          </a:p>
        </p:txBody>
      </p:sp>
      <p:sp>
        <p:nvSpPr>
          <p:cNvPr id="15" name="Text 13"/>
          <p:cNvSpPr/>
          <p:nvPr/>
        </p:nvSpPr>
        <p:spPr>
          <a:xfrm>
            <a:off x="1928813" y="3927053"/>
            <a:ext cx="1728216" cy="133241"/>
          </a:xfrm>
          <a:prstGeom prst="rect">
            <a:avLst/>
          </a:prstGeom>
          <a:noFill/>
          <a:ln/>
        </p:spPr>
        <p:txBody>
          <a:bodyPr wrap="none" lIns="0" tIns="0" rIns="0" bIns="0" rtlCol="0" anchor="t"/>
          <a:lstStyle/>
          <a:p>
            <a:pPr algn="l" indent="0" marL="0">
              <a:lnSpc>
                <a:spcPts val="1260"/>
              </a:lnSpc>
              <a:buNone/>
            </a:pPr>
            <a:r>
              <a:rPr lang="en-US" sz="788" dirty="0">
                <a:solidFill>
                  <a:srgbClr val="B6E3A1"/>
                </a:solidFill>
                <a:latin typeface="Courier New" pitchFamily="34" charset="0"/>
                <a:ea typeface="Courier New" pitchFamily="34" charset="-122"/>
                <a:cs typeface="Courier New" pitchFamily="34" charset="-120"/>
              </a:rPr>
              <a:t>"mcp__github__pull_request_read"</a:t>
            </a:r>
            <a:endParaRPr lang="en-US" sz="788"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15 / 30</a:t>
            </a:r>
            <a:endParaRPr lang="en-US" sz="800" dirty="0"/>
          </a:p>
        </p:txBody>
      </p:sp>
      <p:sp>
        <p:nvSpPr>
          <p:cNvPr id="3" name="Text 1"/>
          <p:cNvSpPr/>
          <p:nvPr/>
        </p:nvSpPr>
        <p:spPr>
          <a:xfrm>
            <a:off x="514350" y="400050"/>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GOTCHA</a:t>
            </a:r>
            <a:endParaRPr lang="en-US" sz="800" dirty="0"/>
          </a:p>
        </p:txBody>
      </p:sp>
      <p:sp>
        <p:nvSpPr>
          <p:cNvPr id="4" name="Text 2"/>
          <p:cNvSpPr/>
          <p:nvPr/>
        </p:nvSpPr>
        <p:spPr>
          <a:xfrm>
            <a:off x="514350" y="617934"/>
            <a:ext cx="8629650" cy="373346"/>
          </a:xfrm>
          <a:prstGeom prst="rect">
            <a:avLst/>
          </a:prstGeom>
          <a:noFill/>
          <a:ln/>
        </p:spPr>
        <p:txBody>
          <a:bodyPr wrap="squar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Gotcha: </a:t>
            </a:r>
            <a:pPr algn="l" indent="0" marL="0">
              <a:lnSpc>
                <a:spcPts val="2723"/>
              </a:lnSpc>
              <a:buNone/>
            </a:pPr>
            <a:r>
              <a:rPr lang="en-US" sz="2475" b="1" spc="-49" kern="0" dirty="0">
                <a:solidFill>
                  <a:srgbClr val="FF7A1A"/>
                </a:solidFill>
                <a:latin typeface="Courier New" pitchFamily="34" charset="0"/>
                <a:ea typeface="Courier New" pitchFamily="34" charset="-122"/>
                <a:cs typeface="Courier New" pitchFamily="34" charset="-120"/>
              </a:rPr>
              <a:t>get_pull_request</a:t>
            </a:r>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 Became </a:t>
            </a:r>
            <a:pPr algn="l" indent="0" marL="0">
              <a:lnSpc>
                <a:spcPts val="2723"/>
              </a:lnSpc>
              <a:buNone/>
            </a:pPr>
            <a:r>
              <a:rPr lang="en-US" sz="2475" b="1" spc="-49" kern="0" dirty="0">
                <a:solidFill>
                  <a:srgbClr val="FF7A1A"/>
                </a:solidFill>
                <a:latin typeface="Courier New" pitchFamily="34" charset="0"/>
                <a:ea typeface="Courier New" pitchFamily="34" charset="-122"/>
                <a:cs typeface="Courier New" pitchFamily="34" charset="-120"/>
              </a:rPr>
              <a:t>pull_request_read</a:t>
            </a:r>
            <a:endParaRPr lang="en-US" sz="2475" dirty="0"/>
          </a:p>
        </p:txBody>
      </p:sp>
      <p:sp>
        <p:nvSpPr>
          <p:cNvPr id="5" name="Shape 3"/>
          <p:cNvSpPr/>
          <p:nvPr/>
        </p:nvSpPr>
        <p:spPr>
          <a:xfrm>
            <a:off x="514350" y="1145791"/>
            <a:ext cx="400050" cy="0"/>
          </a:xfrm>
          <a:prstGeom prst="line">
            <a:avLst/>
          </a:prstGeom>
          <a:noFill/>
          <a:ln w="7144">
            <a:solidFill>
              <a:srgbClr val="F4F4F5"/>
            </a:solidFill>
            <a:prstDash val="solid"/>
          </a:ln>
        </p:spPr>
      </p:sp>
      <p:sp>
        <p:nvSpPr>
          <p:cNvPr id="6" name="Text 4"/>
          <p:cNvSpPr/>
          <p:nvPr/>
        </p:nvSpPr>
        <p:spPr>
          <a:xfrm>
            <a:off x="514350" y="1356531"/>
            <a:ext cx="7715250" cy="910493"/>
          </a:xfrm>
          <a:prstGeom prst="rect">
            <a:avLst/>
          </a:prstGeom>
          <a:noFill/>
          <a:ln/>
        </p:spPr>
        <p:txBody>
          <a:bodyPr wrap="square" lIns="0" tIns="0" rIns="0" bIns="0" rtlCol="0" anchor="t"/>
          <a:lstStyle/>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Older tutorials reference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get_pull_request</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get_pull_request_files</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 etc.</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GitHub consolidated these into one tool: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pull_request_read</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 + a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method</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 parameter</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Liberation Sans Narrow" pitchFamily="34" charset="0"/>
                <a:ea typeface="Liberation Sans Narrow" pitchFamily="34" charset="-122"/>
                <a:cs typeface="Liberation Sans Narrow" pitchFamily="34" charset="-120"/>
              </a:rPr>
              <a:t>Same shape as Ep05's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Task→Agent</a:t>
            </a:r>
            <a:pPr algn="l" indent="0" marL="0">
              <a:lnSpc>
                <a:spcPts val="1482"/>
              </a:lnSpc>
              <a:spcAft>
                <a:spcPts val="788"/>
              </a:spcAft>
              <a:buNone/>
            </a:pPr>
            <a:r>
              <a:rPr lang="en-US" sz="956" dirty="0">
                <a:solidFill>
                  <a:srgbClr val="F4F4F5"/>
                </a:solidFill>
                <a:latin typeface="Liberation Sans Narrow" pitchFamily="34" charset="0"/>
                <a:ea typeface="Liberation Sans Narrow" pitchFamily="34" charset="-122"/>
                <a:cs typeface="Liberation Sans Narrow" pitchFamily="34" charset="-120"/>
              </a:rPr>
              <a:t> rename, or Ep02's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ClaudeCodeOptions→ClaudeAgentOptions</a:t>
            </a:r>
            <a:endParaRPr lang="en-US" sz="956" dirty="0"/>
          </a:p>
        </p:txBody>
      </p:sp>
      <p:sp>
        <p:nvSpPr>
          <p:cNvPr id="7" name="Text 5"/>
          <p:cNvSpPr/>
          <p:nvPr/>
        </p:nvSpPr>
        <p:spPr>
          <a:xfrm>
            <a:off x="517922" y="2339020"/>
            <a:ext cx="3564731" cy="667941"/>
          </a:xfrm>
          <a:prstGeom prst="roundRect">
            <a:avLst>
              <a:gd name="adj" fmla="val 14260"/>
            </a:avLst>
          </a:prstGeom>
          <a:solidFill>
            <a:srgbClr val="15151A"/>
          </a:solidFill>
          <a:ln w="7144">
            <a:solidFill>
              <a:srgbClr val="2A2A33"/>
            </a:solidFill>
            <a:prstDash val="solid"/>
          </a:ln>
        </p:spPr>
        <p:txBody>
          <a:bodyPr wrap="square" rtlCol="0" anchor="ctr"/>
          <a:lstStyle/>
          <a:p>
            <a:pPr indent="0" marL="0">
              <a:buNone/>
            </a:pPr>
            <a:endParaRPr lang="en-US" dirty="0"/>
          </a:p>
        </p:txBody>
      </p:sp>
      <p:sp>
        <p:nvSpPr>
          <p:cNvPr id="8" name="Text 6"/>
          <p:cNvSpPr/>
          <p:nvPr/>
        </p:nvSpPr>
        <p:spPr>
          <a:xfrm>
            <a:off x="678656" y="2471179"/>
            <a:ext cx="3243263" cy="161877"/>
          </a:xfrm>
          <a:prstGeom prst="rect">
            <a:avLst/>
          </a:prstGeom>
          <a:noFill/>
          <a:ln/>
        </p:spPr>
        <p:txBody>
          <a:bodyPr wrap="none" lIns="0" tIns="0" rIns="0" bIns="0" rtlCol="0" anchor="t">
            <a:normAutofit/>
          </a:bodyPr>
          <a:lstStyle/>
          <a:p>
            <a:pPr algn="ctr" indent="0" marL="0">
              <a:lnSpc>
                <a:spcPts val="928"/>
              </a:lnSpc>
              <a:buNone/>
            </a:pPr>
            <a:r>
              <a:rPr lang="en-US" sz="800" spc="136" kern="0" dirty="0">
                <a:solidFill>
                  <a:srgbClr val="71717A"/>
                </a:solidFill>
                <a:latin typeface="Courier New" pitchFamily="34" charset="0"/>
                <a:ea typeface="Courier New" pitchFamily="34" charset="-122"/>
                <a:cs typeface="Courier New" pitchFamily="34" charset="-120"/>
              </a:rPr>
              <a:t>OLD NAME</a:t>
            </a:r>
            <a:endParaRPr lang="en-US" sz="800" dirty="0"/>
          </a:p>
        </p:txBody>
      </p:sp>
      <p:sp>
        <p:nvSpPr>
          <p:cNvPr id="9" name="Text 7"/>
          <p:cNvSpPr/>
          <p:nvPr/>
        </p:nvSpPr>
        <p:spPr>
          <a:xfrm>
            <a:off x="678656" y="2660489"/>
            <a:ext cx="3243263" cy="214313"/>
          </a:xfrm>
          <a:prstGeom prst="rect">
            <a:avLst/>
          </a:prstGeom>
          <a:noFill/>
          <a:ln/>
        </p:spPr>
        <p:txBody>
          <a:bodyPr wrap="none" lIns="0" tIns="0" rIns="0" bIns="0" rtlCol="0" anchor="t"/>
          <a:lstStyle/>
          <a:p>
            <a:pPr algn="ctr" indent="0" marL="0">
              <a:lnSpc>
                <a:spcPts val="1688"/>
              </a:lnSpc>
              <a:buNone/>
            </a:pPr>
            <a:r>
              <a:rPr lang="en-US" sz="1125" strike="sngStrike" dirty="0">
                <a:solidFill>
                  <a:srgbClr val="71717A"/>
                </a:solidFill>
                <a:latin typeface="Courier New" pitchFamily="34" charset="0"/>
                <a:ea typeface="Courier New" pitchFamily="34" charset="-122"/>
                <a:cs typeface="Courier New" pitchFamily="34" charset="-120"/>
              </a:rPr>
              <a:t>get_pull_request</a:t>
            </a:r>
            <a:endParaRPr lang="en-US" sz="1125" dirty="0"/>
          </a:p>
        </p:txBody>
      </p:sp>
      <p:sp>
        <p:nvSpPr>
          <p:cNvPr id="10" name="Text 8"/>
          <p:cNvSpPr/>
          <p:nvPr/>
        </p:nvSpPr>
        <p:spPr>
          <a:xfrm>
            <a:off x="4257675" y="2558690"/>
            <a:ext cx="228600" cy="228600"/>
          </a:xfrm>
          <a:prstGeom prst="rect">
            <a:avLst/>
          </a:prstGeom>
          <a:noFill/>
          <a:ln/>
        </p:spPr>
        <p:txBody>
          <a:bodyPr wrap="none" lIns="0" tIns="0" rIns="0" bIns="0" rtlCol="0" anchor="ctr"/>
          <a:lstStyle/>
          <a:p>
            <a:pPr algn="ctr" indent="0" marL="0">
              <a:buNone/>
            </a:pPr>
            <a:r>
              <a:rPr lang="en-US" sz="2250" dirty="0">
                <a:solidFill>
                  <a:srgbClr val="FF7A1A"/>
                </a:solidFill>
                <a:latin typeface="Segoe UI Symbol" pitchFamily="34" charset="0"/>
                <a:ea typeface="Segoe UI Symbol" pitchFamily="34" charset="-122"/>
                <a:cs typeface="Segoe UI Symbol" pitchFamily="34" charset="-120"/>
              </a:rPr>
              <a:t>→</a:t>
            </a:r>
            <a:endParaRPr lang="en-US" sz="2250" dirty="0"/>
          </a:p>
        </p:txBody>
      </p:sp>
      <p:sp>
        <p:nvSpPr>
          <p:cNvPr id="11" name="Text 9"/>
          <p:cNvSpPr/>
          <p:nvPr/>
        </p:nvSpPr>
        <p:spPr>
          <a:xfrm>
            <a:off x="4661297" y="2339020"/>
            <a:ext cx="3564731" cy="667941"/>
          </a:xfrm>
          <a:prstGeom prst="roundRect">
            <a:avLst>
              <a:gd name="adj" fmla="val 14260"/>
            </a:avLst>
          </a:prstGeom>
          <a:solidFill>
            <a:srgbClr val="15151A"/>
          </a:solidFill>
          <a:ln w="7144">
            <a:solidFill>
              <a:srgbClr val="FF7A1A"/>
            </a:solidFill>
            <a:prstDash val="solid"/>
          </a:ln>
          <a:effectLst>
            <a:outerShdw sx="100000" sy="100000" kx="0" ky="0" algn="bl" rotWithShape="0" blurRad="285750" dist="50800" dir="16200000">
              <a:srgbClr val="FF7A1A">
                <a:alpha val="18000"/>
              </a:srgbClr>
            </a:outerShdw>
          </a:effectLst>
        </p:spPr>
        <p:txBody>
          <a:bodyPr wrap="square" rtlCol="0" anchor="ctr"/>
          <a:lstStyle/>
          <a:p>
            <a:pPr indent="0" marL="0">
              <a:buNone/>
            </a:pPr>
            <a:endParaRPr lang="en-US" dirty="0"/>
          </a:p>
        </p:txBody>
      </p:sp>
      <p:sp>
        <p:nvSpPr>
          <p:cNvPr id="12" name="Text 10"/>
          <p:cNvSpPr/>
          <p:nvPr/>
        </p:nvSpPr>
        <p:spPr>
          <a:xfrm>
            <a:off x="4822031" y="2471179"/>
            <a:ext cx="3243263" cy="161877"/>
          </a:xfrm>
          <a:prstGeom prst="rect">
            <a:avLst/>
          </a:prstGeom>
          <a:noFill/>
          <a:ln/>
        </p:spPr>
        <p:txBody>
          <a:bodyPr wrap="none" lIns="0" tIns="0" rIns="0" bIns="0" rtlCol="0" anchor="t">
            <a:normAutofit/>
          </a:bodyPr>
          <a:lstStyle/>
          <a:p>
            <a:pPr algn="ctr" indent="0" marL="0">
              <a:lnSpc>
                <a:spcPts val="928"/>
              </a:lnSpc>
              <a:buNone/>
            </a:pPr>
            <a:r>
              <a:rPr lang="en-US" sz="800" spc="136" kern="0" dirty="0">
                <a:solidFill>
                  <a:srgbClr val="FF7A1A"/>
                </a:solidFill>
                <a:latin typeface="Courier New" pitchFamily="34" charset="0"/>
                <a:ea typeface="Courier New" pitchFamily="34" charset="-122"/>
                <a:cs typeface="Courier New" pitchFamily="34" charset="-120"/>
              </a:rPr>
              <a:t>CURRENT NAME</a:t>
            </a:r>
            <a:endParaRPr lang="en-US" sz="800" dirty="0"/>
          </a:p>
        </p:txBody>
      </p:sp>
      <p:sp>
        <p:nvSpPr>
          <p:cNvPr id="13" name="Text 11"/>
          <p:cNvSpPr/>
          <p:nvPr/>
        </p:nvSpPr>
        <p:spPr>
          <a:xfrm>
            <a:off x="4822031" y="2660489"/>
            <a:ext cx="3243263" cy="214313"/>
          </a:xfrm>
          <a:prstGeom prst="rect">
            <a:avLst/>
          </a:prstGeom>
          <a:noFill/>
          <a:ln/>
        </p:spPr>
        <p:txBody>
          <a:bodyPr wrap="none" lIns="0" tIns="0" rIns="0" bIns="0" rtlCol="0" anchor="t"/>
          <a:lstStyle/>
          <a:p>
            <a:pPr algn="ctr" indent="0" marL="0">
              <a:lnSpc>
                <a:spcPts val="1688"/>
              </a:lnSpc>
              <a:buNone/>
            </a:pPr>
            <a:r>
              <a:rPr lang="en-US" sz="1125" b="1" dirty="0">
                <a:solidFill>
                  <a:srgbClr val="FF7A1A"/>
                </a:solidFill>
                <a:latin typeface="Courier New" pitchFamily="34" charset="0"/>
                <a:ea typeface="Courier New" pitchFamily="34" charset="-122"/>
                <a:cs typeface="Courier New" pitchFamily="34" charset="-120"/>
              </a:rPr>
              <a:t>pull_request_read</a:t>
            </a:r>
            <a:endParaRPr lang="en-US" sz="1125" dirty="0"/>
          </a:p>
        </p:txBody>
      </p:sp>
      <p:sp>
        <p:nvSpPr>
          <p:cNvPr id="14" name="Text 12"/>
          <p:cNvSpPr/>
          <p:nvPr/>
        </p:nvSpPr>
        <p:spPr>
          <a:xfrm>
            <a:off x="514350" y="3196270"/>
            <a:ext cx="7715250" cy="710803"/>
          </a:xfrm>
          <a:prstGeom prst="rect">
            <a:avLst/>
          </a:prstGeom>
          <a:solidFill>
            <a:srgbClr val="15151A"/>
          </a:solidFill>
          <a:ln/>
        </p:spPr>
        <p:txBody>
          <a:bodyPr wrap="square" rtlCol="0" anchor="ctr"/>
          <a:lstStyle/>
          <a:p>
            <a:pPr indent="0" marL="0">
              <a:buNone/>
            </a:pPr>
            <a:endParaRPr lang="en-US" dirty="0"/>
          </a:p>
        </p:txBody>
      </p:sp>
      <p:sp>
        <p:nvSpPr>
          <p:cNvPr id="15" name="Shape 13"/>
          <p:cNvSpPr/>
          <p:nvPr/>
        </p:nvSpPr>
        <p:spPr>
          <a:xfrm>
            <a:off x="525066" y="3196270"/>
            <a:ext cx="0" cy="710803"/>
          </a:xfrm>
          <a:prstGeom prst="line">
            <a:avLst/>
          </a:prstGeom>
          <a:noFill/>
          <a:ln w="21431">
            <a:solidFill>
              <a:srgbClr val="FF4D4D"/>
            </a:solidFill>
            <a:prstDash val="solid"/>
          </a:ln>
        </p:spPr>
      </p:sp>
      <p:sp>
        <p:nvSpPr>
          <p:cNvPr id="16" name="Text 14"/>
          <p:cNvSpPr/>
          <p:nvPr/>
        </p:nvSpPr>
        <p:spPr>
          <a:xfrm>
            <a:off x="692944" y="3310570"/>
            <a:ext cx="7379494" cy="133302"/>
          </a:xfrm>
          <a:prstGeom prst="rect">
            <a:avLst/>
          </a:prstGeom>
          <a:noFill/>
          <a:ln/>
        </p:spPr>
        <p:txBody>
          <a:bodyPr wrap="none" lIns="0" tIns="0" rIns="0" bIns="0" rtlCol="0" anchor="t">
            <a:normAutofit/>
          </a:bodyPr>
          <a:lstStyle/>
          <a:p>
            <a:pPr algn="l" indent="0" marL="0">
              <a:lnSpc>
                <a:spcPts val="928"/>
              </a:lnSpc>
              <a:buNone/>
            </a:pPr>
            <a:r>
              <a:rPr lang="en-US" sz="800" spc="149" kern="0" dirty="0">
                <a:solidFill>
                  <a:srgbClr val="FF7878"/>
                </a:solidFill>
                <a:latin typeface="Courier New" pitchFamily="34" charset="0"/>
                <a:ea typeface="Courier New" pitchFamily="34" charset="-122"/>
                <a:cs typeface="Courier New" pitchFamily="34" charset="-120"/>
              </a:rPr>
              <a:t>GOTCHA</a:t>
            </a:r>
            <a:endParaRPr lang="en-US" sz="800" dirty="0"/>
          </a:p>
        </p:txBody>
      </p:sp>
      <p:sp>
        <p:nvSpPr>
          <p:cNvPr id="17" name="Text 15"/>
          <p:cNvSpPr/>
          <p:nvPr/>
        </p:nvSpPr>
        <p:spPr>
          <a:xfrm>
            <a:off x="692944" y="3471304"/>
            <a:ext cx="7379494" cy="321469"/>
          </a:xfrm>
          <a:prstGeom prst="rect">
            <a:avLst/>
          </a:prstGeom>
          <a:noFill/>
          <a:ln/>
        </p:spPr>
        <p:txBody>
          <a:bodyPr wrap="square" lIns="0" tIns="0" rIns="0" bIns="0" rtlCol="0" anchor="t"/>
          <a:lstStyle/>
          <a:p>
            <a:pPr algn="l" indent="0" marL="0">
              <a:lnSpc>
                <a:spcPts val="1266"/>
              </a:lnSpc>
              <a:buNone/>
            </a:pPr>
            <a:r>
              <a:rPr lang="en-US" sz="844" dirty="0">
                <a:solidFill>
                  <a:srgbClr val="F4F4F5"/>
                </a:solidFill>
                <a:latin typeface="Carlito" pitchFamily="34" charset="0"/>
                <a:ea typeface="Carlito" pitchFamily="34" charset="-122"/>
                <a:cs typeface="Carlito" pitchFamily="34" charset="-120"/>
              </a:rPr>
              <a:t>Old name: </a:t>
            </a:r>
            <a:pPr algn="l" indent="0" marL="0">
              <a:lnSpc>
                <a:spcPts val="1266"/>
              </a:lnSpc>
              <a:buNone/>
            </a:pPr>
            <a:r>
              <a:rPr lang="en-US" sz="844" dirty="0">
                <a:solidFill>
                  <a:srgbClr val="FF7A1A"/>
                </a:solidFill>
                <a:latin typeface="Courier New" pitchFamily="34" charset="0"/>
                <a:ea typeface="Courier New" pitchFamily="34" charset="-122"/>
                <a:cs typeface="Courier New" pitchFamily="34" charset="-120"/>
              </a:rPr>
              <a:t>get_pull_request</a:t>
            </a:r>
            <a:pPr algn="l" indent="0" marL="0">
              <a:lnSpc>
                <a:spcPts val="1266"/>
              </a:lnSpc>
              <a:buNone/>
            </a:pPr>
            <a:r>
              <a:rPr lang="en-US" sz="844" dirty="0">
                <a:solidFill>
                  <a:srgbClr val="F4F4F5"/>
                </a:solidFill>
                <a:latin typeface="Carlito" pitchFamily="34" charset="0"/>
                <a:ea typeface="Carlito" pitchFamily="34" charset="-122"/>
                <a:cs typeface="Carlito" pitchFamily="34" charset="-120"/>
              </a:rPr>
              <a:t>. Current name: </a:t>
            </a:r>
            <a:pPr algn="l" indent="0" marL="0">
              <a:lnSpc>
                <a:spcPts val="1266"/>
              </a:lnSpc>
              <a:buNone/>
            </a:pPr>
            <a:r>
              <a:rPr lang="en-US" sz="844" dirty="0">
                <a:solidFill>
                  <a:srgbClr val="FF7A1A"/>
                </a:solidFill>
                <a:latin typeface="Courier New" pitchFamily="34" charset="0"/>
                <a:ea typeface="Courier New" pitchFamily="34" charset="-122"/>
                <a:cs typeface="Courier New" pitchFamily="34" charset="-120"/>
              </a:rPr>
              <a:t>pull_request_read</a:t>
            </a:r>
            <a:pPr algn="l" indent="0" marL="0">
              <a:lnSpc>
                <a:spcPts val="1266"/>
              </a:lnSpc>
              <a:buNone/>
            </a:pPr>
            <a:r>
              <a:rPr lang="en-US" sz="844" dirty="0">
                <a:solidFill>
                  <a:srgbClr val="F4F4F5"/>
                </a:solidFill>
                <a:latin typeface="Carlito" pitchFamily="34" charset="0"/>
                <a:ea typeface="Carlito" pitchFamily="34" charset="-122"/>
                <a:cs typeface="Carlito" pitchFamily="34" charset="-120"/>
              </a:rPr>
              <a:t> with a </a:t>
            </a:r>
            <a:pPr algn="l" indent="0" marL="0">
              <a:lnSpc>
                <a:spcPts val="1266"/>
              </a:lnSpc>
              <a:buNone/>
            </a:pPr>
            <a:r>
              <a:rPr lang="en-US" sz="844" dirty="0">
                <a:solidFill>
                  <a:srgbClr val="FF7A1A"/>
                </a:solidFill>
                <a:latin typeface="Courier New" pitchFamily="34" charset="0"/>
                <a:ea typeface="Courier New" pitchFamily="34" charset="-122"/>
                <a:cs typeface="Courier New" pitchFamily="34" charset="-120"/>
              </a:rPr>
              <a:t>method</a:t>
            </a:r>
            <a:pPr algn="l" indent="0" marL="0">
              <a:lnSpc>
                <a:spcPts val="1266"/>
              </a:lnSpc>
              <a:buNone/>
            </a:pPr>
            <a:r>
              <a:rPr lang="en-US" sz="844" dirty="0">
                <a:solidFill>
                  <a:srgbClr val="F4F4F5"/>
                </a:solidFill>
                <a:latin typeface="Carlito" pitchFamily="34" charset="0"/>
                <a:ea typeface="Carlito" pitchFamily="34" charset="-122"/>
                <a:cs typeface="Carlito" pitchFamily="34" charset="-120"/>
              </a:rPr>
              <a:t> argument. Same tool family, consolidated, per GitHub's own MCP server changelog.</a:t>
            </a:r>
            <a:endParaRPr lang="en-US" sz="844"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16 / 30</a:t>
            </a:r>
            <a:endParaRPr lang="en-US" sz="800" dirty="0"/>
          </a:p>
        </p:txBody>
      </p:sp>
      <p:sp>
        <p:nvSpPr>
          <p:cNvPr id="3" name="Text 1"/>
          <p:cNvSpPr/>
          <p:nvPr/>
        </p:nvSpPr>
        <p:spPr>
          <a:xfrm>
            <a:off x="514350" y="400050"/>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DRILL</a:t>
            </a:r>
            <a:endParaRPr lang="en-US" sz="800" dirty="0"/>
          </a:p>
        </p:txBody>
      </p:sp>
      <p:sp>
        <p:nvSpPr>
          <p:cNvPr id="4" name="Text 2"/>
          <p:cNvSpPr/>
          <p:nvPr/>
        </p:nvSpPr>
        <p:spPr>
          <a:xfrm>
            <a:off x="514350" y="617934"/>
            <a:ext cx="8629650" cy="373346"/>
          </a:xfrm>
          <a:prstGeom prst="rect">
            <a:avLst/>
          </a:prstGeom>
          <a:noFill/>
          <a:ln/>
        </p:spPr>
        <p:txBody>
          <a:bodyPr wrap="squar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Interactive Drill — Predict The </a:t>
            </a:r>
            <a:pPr algn="l" indent="0" marL="0">
              <a:lnSpc>
                <a:spcPts val="2723"/>
              </a:lnSpc>
              <a:buNone/>
            </a:pPr>
            <a:r>
              <a:rPr lang="en-US" sz="2475" b="1" spc="-49" kern="0" dirty="0">
                <a:solidFill>
                  <a:srgbClr val="FF7A1A"/>
                </a:solidFill>
                <a:latin typeface="Courier New" pitchFamily="34" charset="0"/>
                <a:ea typeface="Courier New" pitchFamily="34" charset="-122"/>
                <a:cs typeface="Courier New" pitchFamily="34" charset="-120"/>
              </a:rPr>
              <a:t>allowed_tools</a:t>
            </a:r>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 Entry</a:t>
            </a:r>
            <a:endParaRPr lang="en-US" sz="2475" dirty="0"/>
          </a:p>
        </p:txBody>
      </p:sp>
      <p:sp>
        <p:nvSpPr>
          <p:cNvPr id="5" name="Shape 3"/>
          <p:cNvSpPr/>
          <p:nvPr/>
        </p:nvSpPr>
        <p:spPr>
          <a:xfrm>
            <a:off x="514350" y="1145791"/>
            <a:ext cx="400050" cy="0"/>
          </a:xfrm>
          <a:prstGeom prst="line">
            <a:avLst/>
          </a:prstGeom>
          <a:noFill/>
          <a:ln w="7144">
            <a:solidFill>
              <a:srgbClr val="F4F4F5"/>
            </a:solidFill>
            <a:prstDash val="solid"/>
          </a:ln>
        </p:spPr>
      </p:sp>
      <p:sp>
        <p:nvSpPr>
          <p:cNvPr id="6" name="Text 4"/>
          <p:cNvSpPr/>
          <p:nvPr/>
        </p:nvSpPr>
        <p:spPr>
          <a:xfrm>
            <a:off x="514350" y="1442256"/>
            <a:ext cx="640080" cy="339471"/>
          </a:xfrm>
          <a:prstGeom prst="rect">
            <a:avLst/>
          </a:prstGeom>
          <a:noFill/>
          <a:ln/>
        </p:spPr>
        <p:txBody>
          <a:bodyPr wrap="none" lIns="0" tIns="0" rIns="0" bIns="0" rtlCol="0" anchor="t"/>
          <a:lstStyle/>
          <a:p>
            <a:pPr algn="l" indent="0" marL="0">
              <a:lnSpc>
                <a:spcPts val="2475"/>
              </a:lnSpc>
              <a:buNone/>
            </a:pPr>
            <a:r>
              <a:rPr lang="en-US" sz="2475" b="1" dirty="0">
                <a:solidFill>
                  <a:srgbClr val="FF7A1A"/>
                </a:solidFill>
                <a:latin typeface="Courier New" pitchFamily="34" charset="0"/>
                <a:ea typeface="Courier New" pitchFamily="34" charset="-122"/>
                <a:cs typeface="Courier New" pitchFamily="34" charset="-120"/>
              </a:rPr>
              <a:t>Q:</a:t>
            </a:r>
            <a:endParaRPr lang="en-US" sz="2475" dirty="0"/>
          </a:p>
        </p:txBody>
      </p:sp>
      <p:sp>
        <p:nvSpPr>
          <p:cNvPr id="7" name="Text 5"/>
          <p:cNvSpPr/>
          <p:nvPr/>
        </p:nvSpPr>
        <p:spPr>
          <a:xfrm>
            <a:off x="2069678" y="1492262"/>
            <a:ext cx="678210" cy="207169"/>
          </a:xfrm>
          <a:prstGeom prst="roundRect">
            <a:avLst>
              <a:gd name="adj" fmla="val 18391"/>
            </a:avLst>
          </a:prstGeom>
          <a:solidFill>
            <a:srgbClr val="1D1D24"/>
          </a:solidFill>
          <a:ln/>
        </p:spPr>
        <p:txBody>
          <a:bodyPr wrap="square" rtlCol="0" anchor="ctr"/>
          <a:lstStyle/>
          <a:p>
            <a:pPr indent="0" marL="0">
              <a:buNone/>
            </a:pPr>
            <a:endParaRPr lang="en-US" dirty="0"/>
          </a:p>
        </p:txBody>
      </p:sp>
      <p:sp>
        <p:nvSpPr>
          <p:cNvPr id="8" name="Text 6"/>
          <p:cNvSpPr/>
          <p:nvPr/>
        </p:nvSpPr>
        <p:spPr>
          <a:xfrm>
            <a:off x="3146487" y="1492262"/>
            <a:ext cx="1328738" cy="207169"/>
          </a:xfrm>
          <a:prstGeom prst="roundRect">
            <a:avLst>
              <a:gd name="adj" fmla="val 18391"/>
            </a:avLst>
          </a:prstGeom>
          <a:solidFill>
            <a:srgbClr val="1D1D24"/>
          </a:solidFill>
          <a:ln/>
        </p:spPr>
        <p:txBody>
          <a:bodyPr wrap="square" rtlCol="0" anchor="ctr"/>
          <a:lstStyle/>
          <a:p>
            <a:pPr indent="0" marL="0">
              <a:buNone/>
            </a:pPr>
            <a:endParaRPr lang="en-US" dirty="0"/>
          </a:p>
        </p:txBody>
      </p:sp>
      <p:sp>
        <p:nvSpPr>
          <p:cNvPr id="9" name="Text 7"/>
          <p:cNvSpPr/>
          <p:nvPr/>
        </p:nvSpPr>
        <p:spPr>
          <a:xfrm>
            <a:off x="6073304" y="1492262"/>
            <a:ext cx="1039639" cy="207169"/>
          </a:xfrm>
          <a:prstGeom prst="roundRect">
            <a:avLst>
              <a:gd name="adj" fmla="val 18391"/>
            </a:avLst>
          </a:prstGeom>
          <a:solidFill>
            <a:srgbClr val="1D1D24"/>
          </a:solidFill>
          <a:ln/>
        </p:spPr>
        <p:txBody>
          <a:bodyPr wrap="square" rtlCol="0" anchor="ctr"/>
          <a:lstStyle/>
          <a:p>
            <a:pPr indent="0" marL="0">
              <a:buNone/>
            </a:pPr>
            <a:endParaRPr lang="en-US" dirty="0"/>
          </a:p>
        </p:txBody>
      </p:sp>
      <p:sp>
        <p:nvSpPr>
          <p:cNvPr id="10" name="Text 8"/>
          <p:cNvSpPr/>
          <p:nvPr/>
        </p:nvSpPr>
        <p:spPr>
          <a:xfrm>
            <a:off x="1071563" y="1442256"/>
            <a:ext cx="7300913" cy="292336"/>
          </a:xfrm>
          <a:prstGeom prst="rect">
            <a:avLst/>
          </a:prstGeom>
          <a:noFill/>
          <a:ln/>
        </p:spPr>
        <p:txBody>
          <a:bodyPr wrap="square" lIns="0" tIns="42863" rIns="0" bIns="0" rtlCol="0" anchor="t"/>
          <a:lstStyle/>
          <a:p>
            <a:pPr algn="l" indent="0" marL="0">
              <a:lnSpc>
                <a:spcPts val="1794"/>
              </a:lnSpc>
              <a:buNone/>
            </a:pPr>
            <a:r>
              <a:rPr lang="en-US" sz="1238" dirty="0">
                <a:solidFill>
                  <a:srgbClr val="F4F4F5"/>
                </a:solidFill>
                <a:latin typeface="Carlito" pitchFamily="34" charset="0"/>
                <a:ea typeface="Carlito" pitchFamily="34" charset="-122"/>
                <a:cs typeface="Carlito" pitchFamily="34" charset="-120"/>
              </a:rPr>
              <a:t>Server named </a:t>
            </a:r>
            <a:pPr algn="l" indent="0" marL="0">
              <a:lnSpc>
                <a:spcPts val="1794"/>
              </a:lnSpc>
              <a:buNone/>
            </a:pPr>
            <a:r>
              <a:rPr lang="en-US" sz="1139" dirty="0">
                <a:solidFill>
                  <a:srgbClr val="FF7A1A"/>
                </a:solidFill>
                <a:highlight>
                  <a:srgbClr val="1D1D24"/>
                </a:highlight>
                <a:latin typeface="Courier New" pitchFamily="34" charset="0"/>
                <a:ea typeface="Courier New" pitchFamily="34" charset="-122"/>
                <a:cs typeface="Courier New" pitchFamily="34" charset="-120"/>
              </a:rPr>
              <a:t>"github"</a:t>
            </a:r>
            <a:pPr algn="l" indent="0" marL="0">
              <a:lnSpc>
                <a:spcPts val="1794"/>
              </a:lnSpc>
              <a:buNone/>
            </a:pPr>
            <a:r>
              <a:rPr lang="en-US" sz="1238" dirty="0">
                <a:solidFill>
                  <a:srgbClr val="F4F4F5"/>
                </a:solidFill>
                <a:latin typeface="Carlito" pitchFamily="34" charset="0"/>
                <a:ea typeface="Carlito" pitchFamily="34" charset="-122"/>
                <a:cs typeface="Carlito" pitchFamily="34" charset="-120"/>
              </a:rPr>
              <a:t>, tool </a:t>
            </a:r>
            <a:pPr algn="l" indent="0" marL="0">
              <a:lnSpc>
                <a:spcPts val="1794"/>
              </a:lnSpc>
              <a:buNone/>
            </a:pPr>
            <a:r>
              <a:rPr lang="en-US" sz="1139" dirty="0">
                <a:solidFill>
                  <a:srgbClr val="FF7A1A"/>
                </a:solidFill>
                <a:highlight>
                  <a:srgbClr val="1D1D24"/>
                </a:highlight>
                <a:latin typeface="Courier New" pitchFamily="34" charset="0"/>
                <a:ea typeface="Courier New" pitchFamily="34" charset="-122"/>
                <a:cs typeface="Courier New" pitchFamily="34" charset="-120"/>
              </a:rPr>
              <a:t>pull_request_read</a:t>
            </a:r>
            <a:pPr algn="l" indent="0" marL="0">
              <a:lnSpc>
                <a:spcPts val="1794"/>
              </a:lnSpc>
              <a:buNone/>
            </a:pPr>
            <a:r>
              <a:rPr lang="en-US" sz="1238" dirty="0">
                <a:solidFill>
                  <a:srgbClr val="F4F4F5"/>
                </a:solidFill>
                <a:latin typeface="Carlito" pitchFamily="34" charset="0"/>
                <a:ea typeface="Carlito" pitchFamily="34" charset="-122"/>
                <a:cs typeface="Carlito" pitchFamily="34" charset="-120"/>
              </a:rPr>
              <a:t> — what string goes in </a:t>
            </a:r>
            <a:pPr algn="l" indent="0" marL="0">
              <a:lnSpc>
                <a:spcPts val="1794"/>
              </a:lnSpc>
              <a:buNone/>
            </a:pPr>
            <a:r>
              <a:rPr lang="en-US" sz="1139" dirty="0">
                <a:solidFill>
                  <a:srgbClr val="FF7A1A"/>
                </a:solidFill>
                <a:highlight>
                  <a:srgbClr val="1D1D24"/>
                </a:highlight>
                <a:latin typeface="Courier New" pitchFamily="34" charset="0"/>
                <a:ea typeface="Courier New" pitchFamily="34" charset="-122"/>
                <a:cs typeface="Courier New" pitchFamily="34" charset="-120"/>
              </a:rPr>
              <a:t>allowed_tools</a:t>
            </a:r>
            <a:pPr algn="l" indent="0" marL="0">
              <a:lnSpc>
                <a:spcPts val="1794"/>
              </a:lnSpc>
              <a:buNone/>
            </a:pPr>
            <a:r>
              <a:rPr lang="en-US" sz="1238" dirty="0">
                <a:solidFill>
                  <a:srgbClr val="F4F4F5"/>
                </a:solidFill>
                <a:latin typeface="Carlito" pitchFamily="34" charset="0"/>
                <a:ea typeface="Carlito" pitchFamily="34" charset="-122"/>
                <a:cs typeface="Carlito" pitchFamily="34" charset="-120"/>
              </a:rPr>
              <a:t>?</a:t>
            </a:r>
            <a:endParaRPr lang="en-US" sz="1238" dirty="0"/>
          </a:p>
        </p:txBody>
      </p:sp>
      <p:sp>
        <p:nvSpPr>
          <p:cNvPr id="11" name="Text 9"/>
          <p:cNvSpPr/>
          <p:nvPr/>
        </p:nvSpPr>
        <p:spPr>
          <a:xfrm>
            <a:off x="514350" y="1942319"/>
            <a:ext cx="640080" cy="339471"/>
          </a:xfrm>
          <a:prstGeom prst="rect">
            <a:avLst/>
          </a:prstGeom>
          <a:noFill/>
          <a:ln/>
        </p:spPr>
        <p:txBody>
          <a:bodyPr wrap="none" lIns="0" tIns="0" rIns="0" bIns="0" rtlCol="0" anchor="t"/>
          <a:lstStyle/>
          <a:p>
            <a:pPr algn="l" indent="0" marL="0">
              <a:lnSpc>
                <a:spcPts val="2475"/>
              </a:lnSpc>
              <a:buNone/>
            </a:pPr>
            <a:r>
              <a:rPr lang="en-US" sz="2475" b="1" dirty="0">
                <a:solidFill>
                  <a:srgbClr val="FF7A1A"/>
                </a:solidFill>
                <a:latin typeface="Courier New" pitchFamily="34" charset="0"/>
                <a:ea typeface="Courier New" pitchFamily="34" charset="-122"/>
                <a:cs typeface="Courier New" pitchFamily="34" charset="-120"/>
              </a:rPr>
              <a:t>A:</a:t>
            </a:r>
            <a:endParaRPr lang="en-US" sz="2475" dirty="0"/>
          </a:p>
        </p:txBody>
      </p:sp>
      <p:sp>
        <p:nvSpPr>
          <p:cNvPr id="12" name="Text 10"/>
          <p:cNvSpPr/>
          <p:nvPr/>
        </p:nvSpPr>
        <p:spPr>
          <a:xfrm>
            <a:off x="1075134" y="2003041"/>
            <a:ext cx="3681933" cy="528638"/>
          </a:xfrm>
          <a:prstGeom prst="roundRect">
            <a:avLst>
              <a:gd name="adj" fmla="val 18018"/>
            </a:avLst>
          </a:prstGeom>
          <a:solidFill>
            <a:srgbClr val="15151A"/>
          </a:solidFill>
          <a:ln w="7144">
            <a:solidFill>
              <a:srgbClr val="FF7A1A"/>
            </a:solidFill>
            <a:prstDash val="solid"/>
          </a:ln>
          <a:effectLst>
            <a:outerShdw sx="100000" sy="100000" kx="0" ky="0" algn="bl" rotWithShape="0" blurRad="285750" dist="50800" dir="16200000">
              <a:srgbClr val="FF7A1A">
                <a:alpha val="18000"/>
              </a:srgbClr>
            </a:outerShdw>
          </a:effectLst>
        </p:spPr>
        <p:txBody>
          <a:bodyPr wrap="square" rtlCol="0" anchor="ctr"/>
          <a:lstStyle/>
          <a:p>
            <a:pPr indent="0" marL="0">
              <a:buNone/>
            </a:pPr>
            <a:endParaRPr lang="en-US" dirty="0"/>
          </a:p>
        </p:txBody>
      </p:sp>
      <p:sp>
        <p:nvSpPr>
          <p:cNvPr id="13" name="Text 11"/>
          <p:cNvSpPr/>
          <p:nvPr/>
        </p:nvSpPr>
        <p:spPr>
          <a:xfrm>
            <a:off x="1071563" y="1999469"/>
            <a:ext cx="3689077" cy="578644"/>
          </a:xfrm>
          <a:prstGeom prst="rect">
            <a:avLst/>
          </a:prstGeom>
          <a:noFill/>
          <a:ln/>
        </p:spPr>
        <p:txBody>
          <a:bodyPr wrap="square" lIns="157163" tIns="100013" rIns="157163" bIns="100013" rtlCol="0" anchor="t"/>
          <a:lstStyle/>
          <a:p>
            <a:pPr algn="l" indent="0" marL="0">
              <a:lnSpc>
                <a:spcPts val="2531"/>
              </a:lnSpc>
              <a:buNone/>
            </a:pPr>
            <a:r>
              <a:rPr lang="en-US" sz="1688" b="1" spc="-17" kern="0" dirty="0">
                <a:solidFill>
                  <a:srgbClr val="FF7A1A"/>
                </a:solidFill>
                <a:latin typeface="Courier New" pitchFamily="34" charset="0"/>
                <a:ea typeface="Courier New" pitchFamily="34" charset="-122"/>
                <a:cs typeface="Courier New" pitchFamily="34" charset="-120"/>
              </a:rPr>
              <a:t>"mcp__github__pull_request_read"</a:t>
            </a:r>
            <a:endParaRPr lang="en-US" sz="1688" dirty="0"/>
          </a:p>
        </p:txBody>
      </p:sp>
      <p:sp>
        <p:nvSpPr>
          <p:cNvPr id="14" name="Shape 12"/>
          <p:cNvSpPr/>
          <p:nvPr/>
        </p:nvSpPr>
        <p:spPr>
          <a:xfrm>
            <a:off x="514350" y="4459039"/>
            <a:ext cx="8115300" cy="0"/>
          </a:xfrm>
          <a:prstGeom prst="line">
            <a:avLst/>
          </a:prstGeom>
          <a:noFill/>
          <a:ln w="7144">
            <a:solidFill>
              <a:srgbClr val="2A2A33"/>
            </a:solidFill>
            <a:prstDash val="solid"/>
          </a:ln>
        </p:spPr>
      </p:sp>
      <p:sp>
        <p:nvSpPr>
          <p:cNvPr id="15" name="Text 13"/>
          <p:cNvSpPr/>
          <p:nvPr/>
        </p:nvSpPr>
        <p:spPr>
          <a:xfrm>
            <a:off x="514350" y="4603031"/>
            <a:ext cx="128588" cy="128588"/>
          </a:xfrm>
          <a:prstGeom prst="rect">
            <a:avLst/>
          </a:prstGeom>
          <a:noFill/>
          <a:ln/>
        </p:spPr>
        <p:txBody>
          <a:bodyPr wrap="none" lIns="0" tIns="0" rIns="0" bIns="0" rtlCol="0" anchor="ctr"/>
          <a:lstStyle/>
          <a:p>
            <a:pPr algn="ctr" indent="0" marL="0">
              <a:buNone/>
            </a:pPr>
            <a:r>
              <a:rPr lang="en-US" sz="1266" dirty="0">
                <a:solidFill>
                  <a:srgbClr val="FF7A1A"/>
                </a:solidFill>
                <a:latin typeface="Segoe UI Symbol" pitchFamily="34" charset="0"/>
                <a:ea typeface="Segoe UI Symbol" pitchFamily="34" charset="-122"/>
                <a:cs typeface="Segoe UI Symbol" pitchFamily="34" charset="-120"/>
              </a:rPr>
              <a:t>✦</a:t>
            </a:r>
            <a:endParaRPr lang="en-US" sz="1266" dirty="0"/>
          </a:p>
        </p:txBody>
      </p:sp>
      <p:sp>
        <p:nvSpPr>
          <p:cNvPr id="16" name="Text 14"/>
          <p:cNvSpPr/>
          <p:nvPr/>
        </p:nvSpPr>
        <p:spPr>
          <a:xfrm>
            <a:off x="1102147" y="4598343"/>
            <a:ext cx="1525637" cy="142875"/>
          </a:xfrm>
          <a:prstGeom prst="roundRect">
            <a:avLst>
              <a:gd name="adj" fmla="val 26667"/>
            </a:avLst>
          </a:prstGeom>
          <a:solidFill>
            <a:srgbClr val="1D1D24"/>
          </a:solidFill>
          <a:ln/>
        </p:spPr>
        <p:txBody>
          <a:bodyPr wrap="square" rtlCol="0" anchor="ctr"/>
          <a:lstStyle/>
          <a:p>
            <a:pPr indent="0" marL="0">
              <a:buNone/>
            </a:pPr>
            <a:endParaRPr lang="en-US" dirty="0"/>
          </a:p>
        </p:txBody>
      </p:sp>
      <p:sp>
        <p:nvSpPr>
          <p:cNvPr id="17" name="Text 15"/>
          <p:cNvSpPr/>
          <p:nvPr/>
        </p:nvSpPr>
        <p:spPr>
          <a:xfrm>
            <a:off x="728663" y="4591199"/>
            <a:ext cx="7900988" cy="152251"/>
          </a:xfrm>
          <a:prstGeom prst="rect">
            <a:avLst/>
          </a:prstGeom>
          <a:noFill/>
          <a:ln/>
        </p:spPr>
        <p:txBody>
          <a:bodyPr wrap="square" lIns="0" tIns="0" rIns="0" bIns="0" rtlCol="0" anchor="t"/>
          <a:lstStyle/>
          <a:p>
            <a:pPr algn="l" indent="0" marL="0">
              <a:lnSpc>
                <a:spcPts val="1181"/>
              </a:lnSpc>
              <a:buNone/>
            </a:pPr>
            <a:r>
              <a:rPr lang="en-US" sz="800" dirty="0">
                <a:solidFill>
                  <a:srgbClr val="A1A1AA"/>
                </a:solidFill>
                <a:latin typeface="Carlito" pitchFamily="34" charset="0"/>
                <a:ea typeface="Carlito" pitchFamily="34" charset="-122"/>
                <a:cs typeface="Carlito" pitchFamily="34" charset="-120"/>
              </a:rPr>
              <a:t>Pattern: </a:t>
            </a:r>
            <a:pPr algn="l" indent="0" marL="0">
              <a:lnSpc>
                <a:spcPts val="1181"/>
              </a:lnSpc>
              <a:buNone/>
            </a:pPr>
            <a:r>
              <a:rPr lang="en-US" sz="800" dirty="0">
                <a:solidFill>
                  <a:srgbClr val="FF7A1A"/>
                </a:solidFill>
                <a:highlight>
                  <a:srgbClr val="1D1D24"/>
                </a:highlight>
                <a:latin typeface="Courier New" pitchFamily="34" charset="0"/>
                <a:ea typeface="Courier New" pitchFamily="34" charset="-122"/>
                <a:cs typeface="Courier New" pitchFamily="34" charset="-120"/>
              </a:rPr>
              <a:t>mcp__&lt;server-name&gt;__&lt;tool-name&gt;</a:t>
            </a:r>
            <a:pPr algn="l" indent="0" marL="0">
              <a:lnSpc>
                <a:spcPts val="1181"/>
              </a:lnSpc>
              <a:buNone/>
            </a:pPr>
            <a:r>
              <a:rPr lang="en-US" sz="800" dirty="0">
                <a:solidFill>
                  <a:srgbClr val="A1A1AA"/>
                </a:solidFill>
                <a:latin typeface="Liberation Sans Narrow" pitchFamily="34" charset="0"/>
                <a:ea typeface="Liberation Sans Narrow" pitchFamily="34" charset="-122"/>
                <a:cs typeface="Liberation Sans Narrow" pitchFamily="34" charset="-120"/>
              </a:rPr>
              <a:t> — same since Episode 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17 / 30</a:t>
            </a:r>
            <a:endParaRPr lang="en-US" sz="800" dirty="0"/>
          </a:p>
        </p:txBody>
      </p:sp>
      <p:sp>
        <p:nvSpPr>
          <p:cNvPr id="3" name="Text 1"/>
          <p:cNvSpPr/>
          <p:nvPr/>
        </p:nvSpPr>
        <p:spPr>
          <a:xfrm>
            <a:off x="514350" y="400050"/>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DECISION</a:t>
            </a:r>
            <a:endParaRPr lang="en-US" sz="800" dirty="0"/>
          </a:p>
        </p:txBody>
      </p:sp>
      <p:sp>
        <p:nvSpPr>
          <p:cNvPr id="4" name="Text 2"/>
          <p:cNvSpPr/>
          <p:nvPr/>
        </p:nvSpPr>
        <p:spPr>
          <a:xfrm>
            <a:off x="514350" y="617934"/>
            <a:ext cx="8629650" cy="373346"/>
          </a:xfrm>
          <a:prstGeom prst="rect">
            <a:avLst/>
          </a:prstGeom>
          <a:noFill/>
          <a:ln/>
        </p:spPr>
        <p:txBody>
          <a:bodyPr wrap="squar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Wiring GitHub Into </a:t>
            </a:r>
            <a:pPr algn="l" indent="0" marL="0">
              <a:lnSpc>
                <a:spcPts val="2723"/>
              </a:lnSpc>
              <a:buNone/>
            </a:pPr>
            <a:r>
              <a:rPr lang="en-US" sz="2475" b="1" spc="-49" kern="0" dirty="0">
                <a:solidFill>
                  <a:srgbClr val="FF7A1A"/>
                </a:solidFill>
                <a:latin typeface="Courier New" pitchFamily="34" charset="0"/>
                <a:ea typeface="Courier New" pitchFamily="34" charset="-122"/>
                <a:cs typeface="Courier New" pitchFamily="34" charset="-120"/>
              </a:rPr>
              <a:t>agent.py</a:t>
            </a:r>
            <a:endParaRPr lang="en-US" sz="2475" dirty="0"/>
          </a:p>
        </p:txBody>
      </p:sp>
      <p:sp>
        <p:nvSpPr>
          <p:cNvPr id="5" name="Shape 3"/>
          <p:cNvSpPr/>
          <p:nvPr/>
        </p:nvSpPr>
        <p:spPr>
          <a:xfrm>
            <a:off x="514350" y="1145791"/>
            <a:ext cx="400050" cy="0"/>
          </a:xfrm>
          <a:prstGeom prst="line">
            <a:avLst/>
          </a:prstGeom>
          <a:noFill/>
          <a:ln w="7144">
            <a:solidFill>
              <a:srgbClr val="F4F4F5"/>
            </a:solidFill>
            <a:prstDash val="solid"/>
          </a:ln>
        </p:spPr>
      </p:sp>
      <p:sp>
        <p:nvSpPr>
          <p:cNvPr id="6" name="Text 4"/>
          <p:cNvSpPr/>
          <p:nvPr/>
        </p:nvSpPr>
        <p:spPr>
          <a:xfrm>
            <a:off x="514350" y="1356531"/>
            <a:ext cx="7715250" cy="910493"/>
          </a:xfrm>
          <a:prstGeom prst="rect">
            <a:avLst/>
          </a:prstGeom>
          <a:noFill/>
          <a:ln/>
        </p:spPr>
        <p:txBody>
          <a:bodyPr wrap="square" lIns="0" tIns="0" rIns="0" bIns="0" rtlCol="0" anchor="t"/>
          <a:lstStyle/>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Decision: keep GitHub OUT of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review_pr()</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 — that path stays offline and reliable</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GitHub access is opt-in, off by default, one keyword-only flag: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include_github</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review_pr()</a:t>
            </a:r>
            <a:pPr algn="l" indent="0" marL="0">
              <a:lnSpc>
                <a:spcPts val="1482"/>
              </a:lnSpc>
              <a:spcAft>
                <a:spcPts val="788"/>
              </a:spcAft>
              <a:buNone/>
            </a:pPr>
            <a:r>
              <a:rPr lang="en-US" sz="956" dirty="0">
                <a:solidFill>
                  <a:srgbClr val="F4F4F5"/>
                </a:solidFill>
                <a:latin typeface="Liberation Sans Narrow" pitchFamily="34" charset="0"/>
                <a:ea typeface="Liberation Sans Narrow" pitchFamily="34" charset="-122"/>
                <a:cs typeface="Liberation Sans Narrow" pitchFamily="34" charset="-120"/>
              </a:rPr>
              <a:t> itself: unchanged since Episode 8</a:t>
            </a:r>
            <a:endParaRPr lang="en-US" sz="956" dirty="0"/>
          </a:p>
        </p:txBody>
      </p:sp>
      <p:sp>
        <p:nvSpPr>
          <p:cNvPr id="7" name="Text 5"/>
          <p:cNvSpPr/>
          <p:nvPr/>
        </p:nvSpPr>
        <p:spPr>
          <a:xfrm>
            <a:off x="487292" y="2306873"/>
            <a:ext cx="628617" cy="140446"/>
          </a:xfrm>
          <a:prstGeom prst="rect">
            <a:avLst/>
          </a:prstGeom>
          <a:noFill/>
          <a:ln/>
        </p:spPr>
        <p:txBody>
          <a:bodyPr wrap="none" lIns="0" tIns="0" rIns="0" bIns="0" rtlCol="0" anchor="t">
            <a:normAutofit/>
          </a:bodyPr>
          <a:lstStyle/>
          <a:p>
            <a:pPr algn="l" indent="0" marL="0">
              <a:lnSpc>
                <a:spcPts val="1434"/>
              </a:lnSpc>
              <a:buNone/>
            </a:pPr>
            <a:r>
              <a:rPr lang="en-US" sz="956" dirty="0">
                <a:solidFill>
                  <a:srgbClr val="F4F4F5"/>
                </a:solidFill>
                <a:latin typeface="Carlito" pitchFamily="34" charset="0"/>
                <a:ea typeface="Carlito" pitchFamily="34" charset="-122"/>
                <a:cs typeface="Carlito" pitchFamily="34" charset="-120"/>
              </a:rPr>
              <a:t>agent.py</a:t>
            </a:r>
            <a:endParaRPr lang="en-US" sz="956" dirty="0"/>
          </a:p>
        </p:txBody>
      </p:sp>
      <p:sp>
        <p:nvSpPr>
          <p:cNvPr id="8" name="Text 6"/>
          <p:cNvSpPr/>
          <p:nvPr/>
        </p:nvSpPr>
        <p:spPr>
          <a:xfrm>
            <a:off x="678656" y="2617626"/>
            <a:ext cx="222885" cy="143490"/>
          </a:xfrm>
          <a:prstGeom prst="rect">
            <a:avLst/>
          </a:prstGeom>
          <a:noFill/>
          <a:ln/>
        </p:spPr>
        <p:txBody>
          <a:bodyPr wrap="none" lIns="0" tIns="0" rIns="0" bIns="0" rtlCol="0" anchor="t"/>
          <a:lstStyle/>
          <a:p>
            <a:pPr algn="l" indent="0" marL="0">
              <a:lnSpc>
                <a:spcPts val="1133"/>
              </a:lnSpc>
              <a:buNone/>
            </a:pPr>
            <a:r>
              <a:rPr lang="en-US" sz="800" dirty="0">
                <a:solidFill>
                  <a:srgbClr val="FF7A1A"/>
                </a:solidFill>
                <a:latin typeface="Courier New" pitchFamily="34" charset="0"/>
                <a:ea typeface="Courier New" pitchFamily="34" charset="-122"/>
                <a:cs typeface="Courier New" pitchFamily="34" charset="-120"/>
              </a:rPr>
              <a:t>def</a:t>
            </a:r>
            <a:endParaRPr lang="en-US" sz="800" dirty="0"/>
          </a:p>
        </p:txBody>
      </p:sp>
      <p:sp>
        <p:nvSpPr>
          <p:cNvPr id="9" name="Text 7"/>
          <p:cNvSpPr/>
          <p:nvPr/>
        </p:nvSpPr>
        <p:spPr>
          <a:xfrm>
            <a:off x="864394" y="2617626"/>
            <a:ext cx="754559" cy="116448"/>
          </a:xfrm>
          <a:prstGeom prst="rect">
            <a:avLst/>
          </a:prstGeom>
          <a:noFill/>
          <a:ln/>
        </p:spPr>
        <p:txBody>
          <a:bodyPr wrap="none" lIns="0" tIns="0" rIns="0" bIns="0" rtlCol="0" anchor="t">
            <a:normAutofit/>
          </a:bodyPr>
          <a:lstStyle/>
          <a:p>
            <a:pPr algn="l" indent="0" marL="0">
              <a:lnSpc>
                <a:spcPts val="1133"/>
              </a:lnSpc>
              <a:buNone/>
            </a:pPr>
            <a:r>
              <a:rPr lang="en-US" sz="731" dirty="0">
                <a:solidFill>
                  <a:srgbClr val="FFD29E"/>
                </a:solidFill>
                <a:latin typeface="Courier New" pitchFamily="34" charset="0"/>
                <a:ea typeface="Courier New" pitchFamily="34" charset="-122"/>
                <a:cs typeface="Courier New" pitchFamily="34" charset="-120"/>
              </a:rPr>
              <a:t>build_options</a:t>
            </a:r>
            <a:endParaRPr lang="en-US" sz="731" dirty="0"/>
          </a:p>
        </p:txBody>
      </p:sp>
      <p:sp>
        <p:nvSpPr>
          <p:cNvPr id="10" name="Text 8"/>
          <p:cNvSpPr/>
          <p:nvPr/>
        </p:nvSpPr>
        <p:spPr>
          <a:xfrm>
            <a:off x="864394" y="2761506"/>
            <a:ext cx="597610" cy="143490"/>
          </a:xfrm>
          <a:prstGeom prst="rect">
            <a:avLst/>
          </a:prstGeom>
          <a:noFill/>
          <a:ln/>
        </p:spPr>
        <p:txBody>
          <a:bodyPr wrap="none" lIns="0" tIns="0" rIns="0" bIns="0" rtlCol="0" anchor="t"/>
          <a:lstStyle/>
          <a:p>
            <a:pPr algn="l" indent="0" marL="0">
              <a:lnSpc>
                <a:spcPts val="1133"/>
              </a:lnSpc>
              <a:buNone/>
            </a:pPr>
            <a:r>
              <a:rPr lang="en-US" sz="800" dirty="0">
                <a:solidFill>
                  <a:srgbClr val="FFD29E"/>
                </a:solidFill>
                <a:latin typeface="Courier New" pitchFamily="34" charset="0"/>
                <a:ea typeface="Courier New" pitchFamily="34" charset="-122"/>
                <a:cs typeface="Courier New" pitchFamily="34" charset="-120"/>
              </a:rPr>
              <a:t>resume_id</a:t>
            </a:r>
            <a:endParaRPr lang="en-US" sz="800" dirty="0"/>
          </a:p>
        </p:txBody>
      </p:sp>
      <p:sp>
        <p:nvSpPr>
          <p:cNvPr id="11" name="Text 9"/>
          <p:cNvSpPr/>
          <p:nvPr/>
        </p:nvSpPr>
        <p:spPr>
          <a:xfrm>
            <a:off x="1362873" y="2761506"/>
            <a:ext cx="605028" cy="143490"/>
          </a:xfrm>
          <a:prstGeom prst="rect">
            <a:avLst/>
          </a:prstGeom>
          <a:noFill/>
          <a:ln/>
        </p:spPr>
        <p:txBody>
          <a:bodyPr wrap="none" lIns="0" tIns="0" rIns="0" bIns="0" rtlCol="0" anchor="t"/>
          <a:lstStyle/>
          <a:p>
            <a:pPr algn="l" indent="0" marL="0">
              <a:lnSpc>
                <a:spcPts val="1133"/>
              </a:lnSpc>
              <a:buNone/>
            </a:pPr>
            <a:r>
              <a:rPr lang="en-US" sz="800" dirty="0">
                <a:solidFill>
                  <a:srgbClr val="71717A"/>
                </a:solidFill>
                <a:latin typeface="Courier New" pitchFamily="34" charset="0"/>
                <a:ea typeface="Courier New" pitchFamily="34" charset="-122"/>
                <a:cs typeface="Courier New" pitchFamily="34" charset="-120"/>
              </a:rPr>
              <a:t>str | None</a:t>
            </a:r>
            <a:endParaRPr lang="en-US" sz="800" dirty="0"/>
          </a:p>
        </p:txBody>
      </p:sp>
      <p:sp>
        <p:nvSpPr>
          <p:cNvPr id="12" name="Text 10"/>
          <p:cNvSpPr/>
          <p:nvPr/>
        </p:nvSpPr>
        <p:spPr>
          <a:xfrm>
            <a:off x="1978819" y="2761506"/>
            <a:ext cx="297180" cy="116448"/>
          </a:xfrm>
          <a:prstGeom prst="rect">
            <a:avLst/>
          </a:prstGeom>
          <a:noFill/>
          <a:ln/>
        </p:spPr>
        <p:txBody>
          <a:bodyPr wrap="none" lIns="0" tIns="0" rIns="0" bIns="0" rtlCol="0" anchor="t">
            <a:normAutofit/>
          </a:bodyPr>
          <a:lstStyle/>
          <a:p>
            <a:pPr algn="l" indent="0" marL="0">
              <a:lnSpc>
                <a:spcPts val="1133"/>
              </a:lnSpc>
              <a:buNone/>
            </a:pPr>
            <a:r>
              <a:rPr lang="en-US" sz="800" dirty="0">
                <a:solidFill>
                  <a:srgbClr val="FF7A1A"/>
                </a:solidFill>
                <a:latin typeface="Courier New" pitchFamily="34" charset="0"/>
                <a:ea typeface="Courier New" pitchFamily="34" charset="-122"/>
                <a:cs typeface="Courier New" pitchFamily="34" charset="-120"/>
              </a:rPr>
              <a:t>None</a:t>
            </a:r>
            <a:endParaRPr lang="en-US" sz="800" dirty="0"/>
          </a:p>
        </p:txBody>
      </p:sp>
      <p:sp>
        <p:nvSpPr>
          <p:cNvPr id="13" name="Text 11"/>
          <p:cNvSpPr/>
          <p:nvPr/>
        </p:nvSpPr>
        <p:spPr>
          <a:xfrm>
            <a:off x="864394" y="2905385"/>
            <a:ext cx="297180" cy="143490"/>
          </a:xfrm>
          <a:prstGeom prst="rect">
            <a:avLst/>
          </a:prstGeom>
          <a:noFill/>
          <a:ln/>
        </p:spPr>
        <p:txBody>
          <a:bodyPr wrap="none" lIns="0" tIns="0" rIns="0" bIns="0" rtlCol="0" anchor="t"/>
          <a:lstStyle/>
          <a:p>
            <a:pPr algn="l" indent="0" marL="0">
              <a:lnSpc>
                <a:spcPts val="1133"/>
              </a:lnSpc>
              <a:buNone/>
            </a:pPr>
            <a:r>
              <a:rPr lang="en-US" sz="800" dirty="0">
                <a:solidFill>
                  <a:srgbClr val="FFD29E"/>
                </a:solidFill>
                <a:latin typeface="Courier New" pitchFamily="34" charset="0"/>
                <a:ea typeface="Courier New" pitchFamily="34" charset="-122"/>
                <a:cs typeface="Courier New" pitchFamily="34" charset="-120"/>
              </a:rPr>
              <a:t>fork</a:t>
            </a:r>
            <a:endParaRPr lang="en-US" sz="800" dirty="0"/>
          </a:p>
        </p:txBody>
      </p:sp>
      <p:sp>
        <p:nvSpPr>
          <p:cNvPr id="14" name="Text 12"/>
          <p:cNvSpPr/>
          <p:nvPr/>
        </p:nvSpPr>
        <p:spPr>
          <a:xfrm>
            <a:off x="1143000" y="2905385"/>
            <a:ext cx="297180" cy="143490"/>
          </a:xfrm>
          <a:prstGeom prst="rect">
            <a:avLst/>
          </a:prstGeom>
          <a:noFill/>
          <a:ln/>
        </p:spPr>
        <p:txBody>
          <a:bodyPr wrap="none" lIns="0" tIns="0" rIns="0" bIns="0" rtlCol="0" anchor="t"/>
          <a:lstStyle/>
          <a:p>
            <a:pPr algn="l" indent="0" marL="0">
              <a:lnSpc>
                <a:spcPts val="1133"/>
              </a:lnSpc>
              <a:buNone/>
            </a:pPr>
            <a:r>
              <a:rPr lang="en-US" sz="800" dirty="0">
                <a:solidFill>
                  <a:srgbClr val="71717A"/>
                </a:solidFill>
                <a:latin typeface="Courier New" pitchFamily="34" charset="0"/>
                <a:ea typeface="Courier New" pitchFamily="34" charset="-122"/>
                <a:cs typeface="Courier New" pitchFamily="34" charset="-120"/>
              </a:rPr>
              <a:t>bool</a:t>
            </a:r>
            <a:endParaRPr lang="en-US" sz="800" dirty="0"/>
          </a:p>
        </p:txBody>
      </p:sp>
      <p:sp>
        <p:nvSpPr>
          <p:cNvPr id="15" name="Text 13"/>
          <p:cNvSpPr/>
          <p:nvPr/>
        </p:nvSpPr>
        <p:spPr>
          <a:xfrm>
            <a:off x="1468041" y="2905385"/>
            <a:ext cx="371475" cy="143490"/>
          </a:xfrm>
          <a:prstGeom prst="rect">
            <a:avLst/>
          </a:prstGeom>
          <a:noFill/>
          <a:ln/>
        </p:spPr>
        <p:txBody>
          <a:bodyPr wrap="none" lIns="0" tIns="0" rIns="0" bIns="0" rtlCol="0" anchor="t"/>
          <a:lstStyle/>
          <a:p>
            <a:pPr algn="l" indent="0" marL="0">
              <a:lnSpc>
                <a:spcPts val="1133"/>
              </a:lnSpc>
              <a:buNone/>
            </a:pPr>
            <a:r>
              <a:rPr lang="en-US" sz="800" dirty="0">
                <a:solidFill>
                  <a:srgbClr val="FF7A1A"/>
                </a:solidFill>
                <a:latin typeface="Courier New" pitchFamily="34" charset="0"/>
                <a:ea typeface="Courier New" pitchFamily="34" charset="-122"/>
                <a:cs typeface="Courier New" pitchFamily="34" charset="-120"/>
              </a:rPr>
              <a:t>False</a:t>
            </a:r>
            <a:endParaRPr lang="en-US" sz="800" dirty="0"/>
          </a:p>
        </p:txBody>
      </p:sp>
      <p:sp>
        <p:nvSpPr>
          <p:cNvPr id="16" name="Text 14"/>
          <p:cNvSpPr/>
          <p:nvPr/>
        </p:nvSpPr>
        <p:spPr>
          <a:xfrm>
            <a:off x="864394" y="3193145"/>
            <a:ext cx="812602" cy="143490"/>
          </a:xfrm>
          <a:prstGeom prst="rect">
            <a:avLst/>
          </a:prstGeom>
          <a:noFill/>
          <a:ln/>
        </p:spPr>
        <p:txBody>
          <a:bodyPr wrap="none" lIns="0" tIns="0" rIns="0" bIns="0" rtlCol="0" anchor="t"/>
          <a:lstStyle/>
          <a:p>
            <a:pPr algn="l" indent="0" marL="0">
              <a:lnSpc>
                <a:spcPts val="1133"/>
              </a:lnSpc>
              <a:buNone/>
            </a:pPr>
            <a:r>
              <a:rPr lang="en-US" sz="731" dirty="0">
                <a:solidFill>
                  <a:srgbClr val="FFD29E"/>
                </a:solidFill>
                <a:latin typeface="Courier New" pitchFamily="34" charset="0"/>
                <a:ea typeface="Courier New" pitchFamily="34" charset="-122"/>
                <a:cs typeface="Courier New" pitchFamily="34" charset="-120"/>
              </a:rPr>
              <a:t>include_github</a:t>
            </a:r>
            <a:endParaRPr lang="en-US" sz="731" dirty="0"/>
          </a:p>
        </p:txBody>
      </p:sp>
      <p:sp>
        <p:nvSpPr>
          <p:cNvPr id="17" name="Text 15"/>
          <p:cNvSpPr/>
          <p:nvPr/>
        </p:nvSpPr>
        <p:spPr>
          <a:xfrm>
            <a:off x="1607344" y="3193145"/>
            <a:ext cx="297180" cy="143490"/>
          </a:xfrm>
          <a:prstGeom prst="rect">
            <a:avLst/>
          </a:prstGeom>
          <a:noFill/>
          <a:ln/>
        </p:spPr>
        <p:txBody>
          <a:bodyPr wrap="none" lIns="0" tIns="0" rIns="0" bIns="0" rtlCol="0" anchor="t"/>
          <a:lstStyle/>
          <a:p>
            <a:pPr algn="l" indent="0" marL="0">
              <a:lnSpc>
                <a:spcPts val="1133"/>
              </a:lnSpc>
              <a:buNone/>
            </a:pPr>
            <a:r>
              <a:rPr lang="en-US" sz="800" dirty="0">
                <a:solidFill>
                  <a:srgbClr val="71717A"/>
                </a:solidFill>
                <a:latin typeface="Courier New" pitchFamily="34" charset="0"/>
                <a:ea typeface="Courier New" pitchFamily="34" charset="-122"/>
                <a:cs typeface="Courier New" pitchFamily="34" charset="-120"/>
              </a:rPr>
              <a:t>bool</a:t>
            </a:r>
            <a:endParaRPr lang="en-US" sz="800" dirty="0"/>
          </a:p>
        </p:txBody>
      </p:sp>
      <p:sp>
        <p:nvSpPr>
          <p:cNvPr id="18" name="Text 16"/>
          <p:cNvSpPr/>
          <p:nvPr/>
        </p:nvSpPr>
        <p:spPr>
          <a:xfrm>
            <a:off x="1932384" y="3193145"/>
            <a:ext cx="371475" cy="116448"/>
          </a:xfrm>
          <a:prstGeom prst="rect">
            <a:avLst/>
          </a:prstGeom>
          <a:noFill/>
          <a:ln/>
        </p:spPr>
        <p:txBody>
          <a:bodyPr wrap="none" lIns="0" tIns="0" rIns="0" bIns="0" rtlCol="0" anchor="t">
            <a:normAutofit/>
          </a:bodyPr>
          <a:lstStyle/>
          <a:p>
            <a:pPr algn="l" indent="0" marL="0">
              <a:lnSpc>
                <a:spcPts val="1133"/>
              </a:lnSpc>
              <a:buNone/>
            </a:pPr>
            <a:r>
              <a:rPr lang="en-US" sz="800" dirty="0">
                <a:solidFill>
                  <a:srgbClr val="FF7A1A"/>
                </a:solidFill>
                <a:latin typeface="Courier New" pitchFamily="34" charset="0"/>
                <a:ea typeface="Courier New" pitchFamily="34" charset="-122"/>
                <a:cs typeface="Courier New" pitchFamily="34" charset="-120"/>
              </a:rPr>
              <a:t>False</a:t>
            </a:r>
            <a:endParaRPr lang="en-US" sz="800" dirty="0"/>
          </a:p>
        </p:txBody>
      </p:sp>
      <p:sp>
        <p:nvSpPr>
          <p:cNvPr id="19" name="Text 17"/>
          <p:cNvSpPr/>
          <p:nvPr/>
        </p:nvSpPr>
        <p:spPr>
          <a:xfrm>
            <a:off x="910828" y="3337024"/>
            <a:ext cx="1044773" cy="116448"/>
          </a:xfrm>
          <a:prstGeom prst="rect">
            <a:avLst/>
          </a:prstGeom>
          <a:noFill/>
          <a:ln/>
        </p:spPr>
        <p:txBody>
          <a:bodyPr wrap="none" lIns="0" tIns="0" rIns="0" bIns="0" rtlCol="0" anchor="t">
            <a:normAutofit/>
          </a:bodyPr>
          <a:lstStyle/>
          <a:p>
            <a:pPr algn="l" indent="0" marL="0">
              <a:lnSpc>
                <a:spcPts val="1133"/>
              </a:lnSpc>
              <a:buNone/>
            </a:pPr>
            <a:r>
              <a:rPr lang="en-US" sz="731" dirty="0">
                <a:solidFill>
                  <a:srgbClr val="FFD29E"/>
                </a:solidFill>
                <a:latin typeface="Courier New" pitchFamily="34" charset="0"/>
                <a:ea typeface="Courier New" pitchFamily="34" charset="-122"/>
                <a:cs typeface="Courier New" pitchFamily="34" charset="-120"/>
              </a:rPr>
              <a:t>ClaudeAgentOptions</a:t>
            </a:r>
            <a:endParaRPr lang="en-US" sz="731" dirty="0"/>
          </a:p>
        </p:txBody>
      </p:sp>
      <p:sp>
        <p:nvSpPr>
          <p:cNvPr id="20" name="Text 18"/>
          <p:cNvSpPr/>
          <p:nvPr/>
        </p:nvSpPr>
        <p:spPr>
          <a:xfrm>
            <a:off x="678656" y="3480904"/>
            <a:ext cx="3343275" cy="1000013"/>
          </a:xfrm>
          <a:prstGeom prst="rect">
            <a:avLst/>
          </a:prstGeom>
          <a:noFill/>
          <a:ln/>
        </p:spPr>
        <p:txBody>
          <a:bodyPr wrap="none" lIns="0" tIns="0" rIns="0" bIns="0" rtlCol="0" anchor="t"/>
          <a:lstStyle/>
          <a:p>
            <a:pPr algn="l" indent="0" marL="0">
              <a:lnSpc>
                <a:spcPts val="1133"/>
              </a:lnSpc>
              <a:buNone/>
            </a:pPr>
            <a:r>
              <a:rPr lang="en-US" sz="800" dirty="0">
                <a:solidFill>
                  <a:srgbClr val="B6E3A1"/>
                </a:solidFill>
                <a:latin typeface="Courier New" pitchFamily="34" charset="0"/>
                <a:ea typeface="Courier New" pitchFamily="34" charset="-122"/>
                <a:cs typeface="Courier New" pitchFamily="34" charset="-120"/>
              </a:rPr>
              <a:t>"""Everything Ep01-08 built, plus this episode's two MCP servers.</a:t>
            </a:r>
            <a:endParaRPr lang="en-US" sz="800" dirty="0"/>
          </a:p>
          <a:p>
            <a:pPr algn="l" indent="0" marL="0">
              <a:lnSpc>
                <a:spcPts val="1133"/>
              </a:lnSpc>
              <a:buNone/>
            </a:pPr>
            <a:endParaRPr lang="en-US" sz="800" dirty="0"/>
          </a:p>
          <a:p>
            <a:pPr algn="l" indent="0" marL="0">
              <a:lnSpc>
                <a:spcPts val="1133"/>
              </a:lnSpc>
              <a:buNone/>
            </a:pPr>
            <a:r>
              <a:rPr lang="en-US" sz="800" dirty="0">
                <a:solidFill>
                  <a:srgbClr val="B6E3A1"/>
                </a:solidFill>
                <a:latin typeface="Courier New" pitchFamily="34" charset="0"/>
                <a:ea typeface="Courier New" pitchFamily="34" charset="-122"/>
                <a:cs typeface="Courier New" pitchFamily="34" charset="-120"/>
              </a:rPr>
              <a:t>    include_github defaults to False on purpose. review_pr() below never</a:t>
            </a:r>
            <a:endParaRPr lang="en-US" sz="800" dirty="0"/>
          </a:p>
          <a:p>
            <a:pPr algn="l" indent="0" marL="0">
              <a:lnSpc>
                <a:spcPts val="1133"/>
              </a:lnSpc>
              <a:buNone/>
            </a:pPr>
            <a:r>
              <a:rPr lang="en-US" sz="800" dirty="0">
                <a:solidFill>
                  <a:srgbClr val="B6E3A1"/>
                </a:solidFill>
                <a:latin typeface="Courier New" pitchFamily="34" charset="0"/>
                <a:ea typeface="Courier New" pitchFamily="34" charset="-122"/>
                <a:cs typeface="Courier New" pitchFamily="34" charset="-120"/>
              </a:rPr>
              <a:t>    passes True -- a normal PR review has no business depending on</a:t>
            </a:r>
            <a:endParaRPr lang="en-US" sz="800" dirty="0"/>
          </a:p>
          <a:p>
            <a:pPr algn="l" indent="0" marL="0">
              <a:lnSpc>
                <a:spcPts val="1133"/>
              </a:lnSpc>
              <a:buNone/>
            </a:pPr>
            <a:r>
              <a:rPr lang="en-US" sz="800" dirty="0">
                <a:solidFill>
                  <a:srgbClr val="B6E3A1"/>
                </a:solidFill>
                <a:latin typeface="Courier New" pitchFamily="34" charset="0"/>
                <a:ea typeface="Courier New" pitchFamily="34" charset="-122"/>
                <a:cs typeface="Courier New" pitchFamily="34" charset="-120"/>
              </a:rPr>
              <a:t>    network access or a GitHub token being present. Only the ad-hoc,</a:t>
            </a:r>
            <a:endParaRPr lang="en-US" sz="800" dirty="0"/>
          </a:p>
          <a:p>
            <a:pPr algn="l" indent="0" marL="0">
              <a:lnSpc>
                <a:spcPts val="1133"/>
              </a:lnSpc>
              <a:buNone/>
            </a:pPr>
            <a:r>
              <a:rPr lang="en-US" sz="800" dirty="0">
                <a:solidFill>
                  <a:srgbClr val="B6E3A1"/>
                </a:solidFill>
                <a:latin typeface="Courier New" pitchFamily="34" charset="0"/>
                <a:ea typeface="Courier New" pitchFamily="34" charset="-122"/>
                <a:cs typeface="Courier New" pitchFamily="34" charset="-120"/>
              </a:rPr>
              <a:t>    ask-a-real-question path in main() turns it on.</a:t>
            </a:r>
            <a:endParaRPr lang="en-US" sz="800" dirty="0"/>
          </a:p>
          <a:p>
            <a:pPr algn="l" indent="0" marL="0">
              <a:lnSpc>
                <a:spcPts val="1133"/>
              </a:lnSpc>
              <a:buNone/>
            </a:pPr>
            <a:r>
              <a:rPr lang="en-US" sz="800" dirty="0">
                <a:solidFill>
                  <a:srgbClr val="B6E3A1"/>
                </a:solidFill>
                <a:latin typeface="Courier New" pitchFamily="34" charset="0"/>
                <a:ea typeface="Courier New" pitchFamily="34" charset="-122"/>
                <a:cs typeface="Courier New" pitchFamily="34" charset="-120"/>
              </a:rPr>
              <a:t>    """</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18 / 30</a:t>
            </a:r>
            <a:endParaRPr lang="en-US" sz="800" dirty="0"/>
          </a:p>
        </p:txBody>
      </p:sp>
      <p:sp>
        <p:nvSpPr>
          <p:cNvPr id="3" name="Text 1"/>
          <p:cNvSpPr/>
          <p:nvPr/>
        </p:nvSpPr>
        <p:spPr>
          <a:xfrm>
            <a:off x="514350" y="400050"/>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LIVE DEMO</a:t>
            </a:r>
            <a:endParaRPr lang="en-US" sz="800" dirty="0"/>
          </a:p>
        </p:txBody>
      </p:sp>
      <p:sp>
        <p:nvSpPr>
          <p:cNvPr id="4" name="Text 2"/>
          <p:cNvSpPr/>
          <p:nvPr/>
        </p:nvSpPr>
        <p:spPr>
          <a:xfrm>
            <a:off x="514350" y="617934"/>
            <a:ext cx="8629650" cy="373346"/>
          </a:xfrm>
          <a:prstGeom prst="rect">
            <a:avLst/>
          </a:prstGeom>
          <a:noFill/>
          <a:ln/>
        </p:spPr>
        <p:txBody>
          <a:bodyPr wrap="squar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Demo — Asking The Coordinator A Real, Live Question</a:t>
            </a:r>
            <a:endParaRPr lang="en-US" sz="2475" dirty="0"/>
          </a:p>
        </p:txBody>
      </p:sp>
      <p:sp>
        <p:nvSpPr>
          <p:cNvPr id="5" name="Shape 3"/>
          <p:cNvSpPr/>
          <p:nvPr/>
        </p:nvSpPr>
        <p:spPr>
          <a:xfrm>
            <a:off x="514350" y="1145791"/>
            <a:ext cx="400050" cy="0"/>
          </a:xfrm>
          <a:prstGeom prst="line">
            <a:avLst/>
          </a:prstGeom>
          <a:noFill/>
          <a:ln w="7144">
            <a:solidFill>
              <a:srgbClr val="F4F4F5"/>
            </a:solidFill>
            <a:prstDash val="solid"/>
          </a:ln>
        </p:spPr>
      </p:sp>
      <p:sp>
        <p:nvSpPr>
          <p:cNvPr id="6" name="Text 4"/>
          <p:cNvSpPr/>
          <p:nvPr/>
        </p:nvSpPr>
        <p:spPr>
          <a:xfrm>
            <a:off x="514350" y="1356531"/>
            <a:ext cx="3957638" cy="927116"/>
          </a:xfrm>
          <a:prstGeom prst="rect">
            <a:avLst/>
          </a:prstGeom>
          <a:noFill/>
          <a:ln/>
        </p:spPr>
        <p:txBody>
          <a:bodyPr wrap="square" lIns="0" tIns="0" rIns="0" bIns="0" rtlCol="0" anchor="t"/>
          <a:lstStyle/>
          <a:p>
            <a:pPr algn="l" indent="0" marL="0">
              <a:lnSpc>
                <a:spcPts val="1308"/>
              </a:lnSpc>
              <a:spcAft>
                <a:spcPts val="563"/>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08"/>
              </a:lnSpc>
              <a:spcAft>
                <a:spcPts val="563"/>
              </a:spcAft>
              <a:buNone/>
            </a:pPr>
            <a:r>
              <a:rPr lang="en-US" sz="844" dirty="0">
                <a:solidFill>
                  <a:srgbClr val="F4F4F5"/>
                </a:solidFill>
                <a:latin typeface="Carlito" pitchFamily="34" charset="0"/>
                <a:ea typeface="Carlito" pitchFamily="34" charset="-122"/>
                <a:cs typeface="Carlito" pitchFamily="34" charset="-120"/>
              </a:rPr>
              <a:t>New entry point: </a:t>
            </a:r>
            <a:pPr algn="l" indent="0" marL="0">
              <a:lnSpc>
                <a:spcPts val="1308"/>
              </a:lnSpc>
              <a:spcAft>
                <a:spcPts val="563"/>
              </a:spcAft>
              <a:buNone/>
            </a:pPr>
            <a:r>
              <a:rPr lang="en-US" sz="800" dirty="0">
                <a:solidFill>
                  <a:srgbClr val="FF7A1A"/>
                </a:solidFill>
                <a:highlight>
                  <a:srgbClr val="1D1D24"/>
                </a:highlight>
                <a:latin typeface="Courier New" pitchFamily="34" charset="0"/>
                <a:ea typeface="Courier New" pitchFamily="34" charset="-122"/>
                <a:cs typeface="Courier New" pitchFamily="34" charset="-120"/>
              </a:rPr>
              <a:t>ask_about_live_repo()</a:t>
            </a:r>
            <a:pPr algn="l" indent="0" marL="0">
              <a:lnSpc>
                <a:spcPts val="1308"/>
              </a:lnSpc>
              <a:spcAft>
                <a:spcPts val="563"/>
              </a:spcAft>
              <a:buNone/>
            </a:pPr>
            <a:r>
              <a:rPr lang="en-US" sz="844" dirty="0">
                <a:solidFill>
                  <a:srgbClr val="F4F4F5"/>
                </a:solidFill>
                <a:latin typeface="Carlito" pitchFamily="34" charset="0"/>
                <a:ea typeface="Carlito" pitchFamily="34" charset="-122"/>
                <a:cs typeface="Carlito" pitchFamily="34" charset="-120"/>
              </a:rPr>
              <a:t> — no PR number, no session resume</a:t>
            </a:r>
            <a:endParaRPr lang="en-US" sz="844" dirty="0"/>
          </a:p>
          <a:p>
            <a:pPr algn="l" indent="0" marL="0">
              <a:lnSpc>
                <a:spcPts val="1308"/>
              </a:lnSpc>
              <a:spcAft>
                <a:spcPts val="563"/>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08"/>
              </a:lnSpc>
              <a:spcAft>
                <a:spcPts val="563"/>
              </a:spcAft>
              <a:buNone/>
            </a:pPr>
            <a:r>
              <a:rPr lang="en-US" sz="844" dirty="0">
                <a:solidFill>
                  <a:srgbClr val="F4F4F5"/>
                </a:solidFill>
                <a:latin typeface="Carlito" pitchFamily="34" charset="0"/>
                <a:ea typeface="Carlito" pitchFamily="34" charset="-122"/>
                <a:cs typeface="Carlito" pitchFamily="34" charset="-120"/>
              </a:rPr>
              <a:t>Turns GitHub on, asks one real question, prints the answer</a:t>
            </a:r>
            <a:endParaRPr lang="en-US" sz="844" dirty="0"/>
          </a:p>
          <a:p>
            <a:pPr algn="l" indent="0" marL="0">
              <a:lnSpc>
                <a:spcPts val="1308"/>
              </a:lnSpc>
              <a:spcAft>
                <a:spcPts val="563"/>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08"/>
              </a:lnSpc>
              <a:spcAft>
                <a:spcPts val="563"/>
              </a:spcAft>
              <a:buNone/>
            </a:pPr>
            <a:r>
              <a:rPr lang="en-US" sz="844" dirty="0">
                <a:solidFill>
                  <a:srgbClr val="F4F4F5"/>
                </a:solidFill>
                <a:latin typeface="Carlito" pitchFamily="34" charset="0"/>
                <a:ea typeface="Carlito" pitchFamily="34" charset="-122"/>
                <a:cs typeface="Carlito" pitchFamily="34" charset="-120"/>
              </a:rPr>
              <a:t>Producer note: pre-capture this segment, same reasoning as Ep05/12's Opus demos</a:t>
            </a:r>
            <a:endParaRPr lang="en-US" sz="844" dirty="0"/>
          </a:p>
        </p:txBody>
      </p:sp>
      <p:sp>
        <p:nvSpPr>
          <p:cNvPr id="7" name="Text 5"/>
          <p:cNvSpPr/>
          <p:nvPr/>
        </p:nvSpPr>
        <p:spPr>
          <a:xfrm>
            <a:off x="487292" y="2335225"/>
            <a:ext cx="628617" cy="140446"/>
          </a:xfrm>
          <a:prstGeom prst="rect">
            <a:avLst/>
          </a:prstGeom>
          <a:noFill/>
          <a:ln/>
        </p:spPr>
        <p:txBody>
          <a:bodyPr wrap="none" lIns="0" tIns="0" rIns="0" bIns="0" rtlCol="0" anchor="t">
            <a:normAutofit/>
          </a:bodyPr>
          <a:lstStyle/>
          <a:p>
            <a:pPr algn="l" indent="0" marL="0">
              <a:lnSpc>
                <a:spcPts val="1434"/>
              </a:lnSpc>
              <a:buNone/>
            </a:pPr>
            <a:r>
              <a:rPr lang="en-US" sz="956" dirty="0">
                <a:solidFill>
                  <a:srgbClr val="F4F4F5"/>
                </a:solidFill>
                <a:latin typeface="Carlito" pitchFamily="34" charset="0"/>
                <a:ea typeface="Carlito" pitchFamily="34" charset="-122"/>
                <a:cs typeface="Carlito" pitchFamily="34" charset="-120"/>
              </a:rPr>
              <a:t>agent.py</a:t>
            </a:r>
            <a:endParaRPr lang="en-US" sz="956" dirty="0"/>
          </a:p>
        </p:txBody>
      </p:sp>
      <p:sp>
        <p:nvSpPr>
          <p:cNvPr id="8" name="Text 6"/>
          <p:cNvSpPr/>
          <p:nvPr/>
        </p:nvSpPr>
        <p:spPr>
          <a:xfrm>
            <a:off x="627683" y="2617403"/>
            <a:ext cx="567863" cy="146304"/>
          </a:xfrm>
          <a:prstGeom prst="rect">
            <a:avLst/>
          </a:prstGeom>
          <a:noFill/>
          <a:ln/>
        </p:spPr>
        <p:txBody>
          <a:bodyPr wrap="none" lIns="0" tIns="0" rIns="0" bIns="0" rtlCol="0" anchor="t"/>
          <a:lstStyle/>
          <a:p>
            <a:pPr algn="l" indent="0" marL="0">
              <a:lnSpc>
                <a:spcPts val="1046"/>
              </a:lnSpc>
              <a:buNone/>
            </a:pPr>
            <a:r>
              <a:rPr lang="en-US" sz="800" dirty="0">
                <a:solidFill>
                  <a:srgbClr val="FF7A1A"/>
                </a:solidFill>
                <a:latin typeface="Courier New" pitchFamily="34" charset="0"/>
                <a:ea typeface="Courier New" pitchFamily="34" charset="-122"/>
                <a:cs typeface="Courier New" pitchFamily="34" charset="-120"/>
              </a:rPr>
              <a:t>async def</a:t>
            </a:r>
            <a:endParaRPr lang="en-US" sz="800" dirty="0"/>
          </a:p>
        </p:txBody>
      </p:sp>
      <p:sp>
        <p:nvSpPr>
          <p:cNvPr id="9" name="Text 7"/>
          <p:cNvSpPr/>
          <p:nvPr/>
        </p:nvSpPr>
        <p:spPr>
          <a:xfrm>
            <a:off x="1064419" y="2617403"/>
            <a:ext cx="1017984" cy="146304"/>
          </a:xfrm>
          <a:prstGeom prst="rect">
            <a:avLst/>
          </a:prstGeom>
          <a:noFill/>
          <a:ln/>
        </p:spPr>
        <p:txBody>
          <a:bodyPr wrap="none" lIns="0" tIns="0" rIns="0" bIns="0" rtlCol="0" anchor="t"/>
          <a:lstStyle/>
          <a:p>
            <a:pPr algn="l" indent="0" marL="0">
              <a:lnSpc>
                <a:spcPts val="1046"/>
              </a:lnSpc>
              <a:buNone/>
            </a:pPr>
            <a:r>
              <a:rPr lang="en-US" sz="675" dirty="0">
                <a:solidFill>
                  <a:srgbClr val="FFD29E"/>
                </a:solidFill>
                <a:latin typeface="Courier New" pitchFamily="34" charset="0"/>
                <a:ea typeface="Courier New" pitchFamily="34" charset="-122"/>
                <a:cs typeface="Courier New" pitchFamily="34" charset="-120"/>
              </a:rPr>
              <a:t>ask_about_live_repo</a:t>
            </a:r>
            <a:endParaRPr lang="en-US" sz="675" dirty="0"/>
          </a:p>
        </p:txBody>
      </p:sp>
      <p:sp>
        <p:nvSpPr>
          <p:cNvPr id="10" name="Text 8"/>
          <p:cNvSpPr/>
          <p:nvPr/>
        </p:nvSpPr>
        <p:spPr>
          <a:xfrm>
            <a:off x="1899695" y="2617403"/>
            <a:ext cx="534294" cy="146304"/>
          </a:xfrm>
          <a:prstGeom prst="rect">
            <a:avLst/>
          </a:prstGeom>
          <a:noFill/>
          <a:ln/>
        </p:spPr>
        <p:txBody>
          <a:bodyPr wrap="none" lIns="0" tIns="0" rIns="0" bIns="0" rtlCol="0" anchor="t"/>
          <a:lstStyle/>
          <a:p>
            <a:pPr algn="l" indent="0" marL="0">
              <a:lnSpc>
                <a:spcPts val="1046"/>
              </a:lnSpc>
              <a:buNone/>
            </a:pPr>
            <a:r>
              <a:rPr lang="en-US" sz="800" dirty="0">
                <a:solidFill>
                  <a:srgbClr val="FFD29E"/>
                </a:solidFill>
                <a:latin typeface="Courier New" pitchFamily="34" charset="0"/>
                <a:ea typeface="Courier New" pitchFamily="34" charset="-122"/>
                <a:cs typeface="Courier New" pitchFamily="34" charset="-120"/>
              </a:rPr>
              <a:t>question</a:t>
            </a:r>
            <a:endParaRPr lang="en-US" sz="800" dirty="0"/>
          </a:p>
        </p:txBody>
      </p:sp>
      <p:sp>
        <p:nvSpPr>
          <p:cNvPr id="11" name="Text 9"/>
          <p:cNvSpPr/>
          <p:nvPr/>
        </p:nvSpPr>
        <p:spPr>
          <a:xfrm>
            <a:off x="2341871" y="2617403"/>
            <a:ext cx="222585" cy="146304"/>
          </a:xfrm>
          <a:prstGeom prst="rect">
            <a:avLst/>
          </a:prstGeom>
          <a:noFill/>
          <a:ln/>
        </p:spPr>
        <p:txBody>
          <a:bodyPr wrap="none" lIns="0" tIns="0" rIns="0" bIns="0" rtlCol="0" anchor="t"/>
          <a:lstStyle/>
          <a:p>
            <a:pPr algn="l" indent="0" marL="0">
              <a:lnSpc>
                <a:spcPts val="1046"/>
              </a:lnSpc>
              <a:buNone/>
            </a:pPr>
            <a:r>
              <a:rPr lang="en-US" sz="800" dirty="0">
                <a:solidFill>
                  <a:srgbClr val="71717A"/>
                </a:solidFill>
                <a:latin typeface="Courier New" pitchFamily="34" charset="0"/>
                <a:ea typeface="Courier New" pitchFamily="34" charset="-122"/>
                <a:cs typeface="Courier New" pitchFamily="34" charset="-120"/>
              </a:rPr>
              <a:t>str</a:t>
            </a:r>
            <a:endParaRPr lang="en-US" sz="800" dirty="0"/>
          </a:p>
        </p:txBody>
      </p:sp>
      <p:sp>
        <p:nvSpPr>
          <p:cNvPr id="12" name="Text 10"/>
          <p:cNvSpPr/>
          <p:nvPr/>
        </p:nvSpPr>
        <p:spPr>
          <a:xfrm>
            <a:off x="2681896" y="2617403"/>
            <a:ext cx="296916" cy="105397"/>
          </a:xfrm>
          <a:prstGeom prst="rect">
            <a:avLst/>
          </a:prstGeom>
          <a:noFill/>
          <a:ln/>
        </p:spPr>
        <p:txBody>
          <a:bodyPr wrap="none" lIns="0" tIns="0" rIns="0" bIns="0" rtlCol="0" anchor="t">
            <a:normAutofit/>
          </a:bodyPr>
          <a:lstStyle/>
          <a:p>
            <a:pPr algn="l" indent="0" marL="0">
              <a:lnSpc>
                <a:spcPts val="1046"/>
              </a:lnSpc>
              <a:buNone/>
            </a:pPr>
            <a:r>
              <a:rPr lang="en-US" sz="800" dirty="0">
                <a:solidFill>
                  <a:srgbClr val="71717A"/>
                </a:solidFill>
                <a:latin typeface="Courier New" pitchFamily="34" charset="0"/>
                <a:ea typeface="Courier New" pitchFamily="34" charset="-122"/>
                <a:cs typeface="Courier New" pitchFamily="34" charset="-120"/>
              </a:rPr>
              <a:t>None</a:t>
            </a:r>
            <a:endParaRPr lang="en-US" sz="800" dirty="0"/>
          </a:p>
        </p:txBody>
      </p:sp>
      <p:sp>
        <p:nvSpPr>
          <p:cNvPr id="13" name="Text 11"/>
          <p:cNvSpPr/>
          <p:nvPr/>
        </p:nvSpPr>
        <p:spPr>
          <a:xfrm>
            <a:off x="807244" y="2750232"/>
            <a:ext cx="2871788" cy="105397"/>
          </a:xfrm>
          <a:prstGeom prst="rect">
            <a:avLst/>
          </a:prstGeom>
          <a:noFill/>
          <a:ln/>
        </p:spPr>
        <p:txBody>
          <a:bodyPr wrap="none" lIns="0" tIns="0" rIns="0" bIns="0" rtlCol="0" anchor="t">
            <a:normAutofit/>
          </a:bodyPr>
          <a:lstStyle/>
          <a:p>
            <a:pPr algn="l" indent="0" marL="0">
              <a:lnSpc>
                <a:spcPts val="1046"/>
              </a:lnSpc>
              <a:buNone/>
            </a:pPr>
            <a:r>
              <a:rPr lang="en-US" sz="675" dirty="0">
                <a:solidFill>
                  <a:srgbClr val="B6E3A1"/>
                </a:solidFill>
                <a:latin typeface="Courier New" pitchFamily="34" charset="0"/>
                <a:ea typeface="Courier New" pitchFamily="34" charset="-122"/>
                <a:cs typeface="Courier New" pitchFamily="34" charset="-120"/>
              </a:rPr>
              <a:t>"""Ep09 -- a separate, one-off entry point that turns GitHub ON."""</a:t>
            </a:r>
            <a:endParaRPr lang="en-US" sz="675" dirty="0"/>
          </a:p>
        </p:txBody>
      </p:sp>
      <p:sp>
        <p:nvSpPr>
          <p:cNvPr id="14" name="Text 12"/>
          <p:cNvSpPr/>
          <p:nvPr/>
        </p:nvSpPr>
        <p:spPr>
          <a:xfrm>
            <a:off x="785794" y="2883061"/>
            <a:ext cx="471952" cy="146304"/>
          </a:xfrm>
          <a:prstGeom prst="rect">
            <a:avLst/>
          </a:prstGeom>
          <a:noFill/>
          <a:ln/>
        </p:spPr>
        <p:txBody>
          <a:bodyPr wrap="none" lIns="0" tIns="0" rIns="0" bIns="0" rtlCol="0" anchor="t"/>
          <a:lstStyle/>
          <a:p>
            <a:pPr algn="l" indent="0" marL="0">
              <a:lnSpc>
                <a:spcPts val="1046"/>
              </a:lnSpc>
              <a:buNone/>
            </a:pPr>
            <a:r>
              <a:rPr lang="en-US" sz="800" dirty="0">
                <a:solidFill>
                  <a:srgbClr val="FFD29E"/>
                </a:solidFill>
                <a:latin typeface="Courier New" pitchFamily="34" charset="0"/>
                <a:ea typeface="Courier New" pitchFamily="34" charset="-122"/>
                <a:cs typeface="Courier New" pitchFamily="34" charset="-120"/>
              </a:rPr>
              <a:t>options</a:t>
            </a:r>
            <a:endParaRPr lang="en-US" sz="800" dirty="0"/>
          </a:p>
        </p:txBody>
      </p:sp>
      <p:sp>
        <p:nvSpPr>
          <p:cNvPr id="15" name="Text 13"/>
          <p:cNvSpPr/>
          <p:nvPr/>
        </p:nvSpPr>
        <p:spPr>
          <a:xfrm>
            <a:off x="1235869" y="2883061"/>
            <a:ext cx="696516" cy="146304"/>
          </a:xfrm>
          <a:prstGeom prst="rect">
            <a:avLst/>
          </a:prstGeom>
          <a:noFill/>
          <a:ln/>
        </p:spPr>
        <p:txBody>
          <a:bodyPr wrap="none" lIns="0" tIns="0" rIns="0" bIns="0" rtlCol="0" anchor="t"/>
          <a:lstStyle/>
          <a:p>
            <a:pPr algn="l" indent="0" marL="0">
              <a:lnSpc>
                <a:spcPts val="1046"/>
              </a:lnSpc>
              <a:buNone/>
            </a:pPr>
            <a:r>
              <a:rPr lang="en-US" sz="675" dirty="0">
                <a:solidFill>
                  <a:srgbClr val="FFD29E"/>
                </a:solidFill>
                <a:latin typeface="Courier New" pitchFamily="34" charset="0"/>
                <a:ea typeface="Courier New" pitchFamily="34" charset="-122"/>
                <a:cs typeface="Courier New" pitchFamily="34" charset="-120"/>
              </a:rPr>
              <a:t>build_options</a:t>
            </a:r>
            <a:endParaRPr lang="en-US" sz="675" dirty="0"/>
          </a:p>
        </p:txBody>
      </p:sp>
      <p:sp>
        <p:nvSpPr>
          <p:cNvPr id="16" name="Text 14"/>
          <p:cNvSpPr/>
          <p:nvPr/>
        </p:nvSpPr>
        <p:spPr>
          <a:xfrm>
            <a:off x="1835944" y="2883061"/>
            <a:ext cx="750094" cy="146304"/>
          </a:xfrm>
          <a:prstGeom prst="rect">
            <a:avLst/>
          </a:prstGeom>
          <a:noFill/>
          <a:ln/>
        </p:spPr>
        <p:txBody>
          <a:bodyPr wrap="none" lIns="0" tIns="0" rIns="0" bIns="0" rtlCol="0" anchor="t"/>
          <a:lstStyle/>
          <a:p>
            <a:pPr algn="l" indent="0" marL="0">
              <a:lnSpc>
                <a:spcPts val="1046"/>
              </a:lnSpc>
              <a:buNone/>
            </a:pPr>
            <a:r>
              <a:rPr lang="en-US" sz="675" dirty="0">
                <a:solidFill>
                  <a:srgbClr val="FFD29E"/>
                </a:solidFill>
                <a:latin typeface="Courier New" pitchFamily="34" charset="0"/>
                <a:ea typeface="Courier New" pitchFamily="34" charset="-122"/>
                <a:cs typeface="Courier New" pitchFamily="34" charset="-120"/>
              </a:rPr>
              <a:t>include_github</a:t>
            </a:r>
            <a:endParaRPr lang="en-US" sz="675" dirty="0"/>
          </a:p>
        </p:txBody>
      </p:sp>
      <p:sp>
        <p:nvSpPr>
          <p:cNvPr id="17" name="Text 15"/>
          <p:cNvSpPr/>
          <p:nvPr/>
        </p:nvSpPr>
        <p:spPr>
          <a:xfrm>
            <a:off x="2467583" y="2883061"/>
            <a:ext cx="296916" cy="105397"/>
          </a:xfrm>
          <a:prstGeom prst="rect">
            <a:avLst/>
          </a:prstGeom>
          <a:noFill/>
          <a:ln/>
        </p:spPr>
        <p:txBody>
          <a:bodyPr wrap="none" lIns="0" tIns="0" rIns="0" bIns="0" rtlCol="0" anchor="t">
            <a:normAutofit/>
          </a:bodyPr>
          <a:lstStyle/>
          <a:p>
            <a:pPr algn="l" indent="0" marL="0">
              <a:lnSpc>
                <a:spcPts val="1046"/>
              </a:lnSpc>
              <a:buNone/>
            </a:pPr>
            <a:r>
              <a:rPr lang="en-US" sz="800" dirty="0">
                <a:solidFill>
                  <a:srgbClr val="FF7A1A"/>
                </a:solidFill>
                <a:latin typeface="Courier New" pitchFamily="34" charset="0"/>
                <a:ea typeface="Courier New" pitchFamily="34" charset="-122"/>
                <a:cs typeface="Courier New" pitchFamily="34" charset="-120"/>
              </a:rPr>
              <a:t>True</a:t>
            </a:r>
            <a:endParaRPr lang="en-US" sz="800" dirty="0"/>
          </a:p>
        </p:txBody>
      </p:sp>
      <p:sp>
        <p:nvSpPr>
          <p:cNvPr id="18" name="Text 16"/>
          <p:cNvSpPr/>
          <p:nvPr/>
        </p:nvSpPr>
        <p:spPr>
          <a:xfrm>
            <a:off x="799133" y="3015890"/>
            <a:ext cx="567863" cy="146304"/>
          </a:xfrm>
          <a:prstGeom prst="rect">
            <a:avLst/>
          </a:prstGeom>
          <a:noFill/>
          <a:ln/>
        </p:spPr>
        <p:txBody>
          <a:bodyPr wrap="none" lIns="0" tIns="0" rIns="0" bIns="0" rtlCol="0" anchor="t"/>
          <a:lstStyle/>
          <a:p>
            <a:pPr algn="l" indent="0" marL="0">
              <a:lnSpc>
                <a:spcPts val="1046"/>
              </a:lnSpc>
              <a:buNone/>
            </a:pPr>
            <a:r>
              <a:rPr lang="en-US" sz="800" dirty="0">
                <a:solidFill>
                  <a:srgbClr val="FF7A1A"/>
                </a:solidFill>
                <a:latin typeface="Courier New" pitchFamily="34" charset="0"/>
                <a:ea typeface="Courier New" pitchFamily="34" charset="-122"/>
                <a:cs typeface="Courier New" pitchFamily="34" charset="-120"/>
              </a:rPr>
              <a:t>async for</a:t>
            </a:r>
            <a:endParaRPr lang="en-US" sz="800" dirty="0"/>
          </a:p>
        </p:txBody>
      </p:sp>
      <p:sp>
        <p:nvSpPr>
          <p:cNvPr id="19" name="Text 17"/>
          <p:cNvSpPr/>
          <p:nvPr/>
        </p:nvSpPr>
        <p:spPr>
          <a:xfrm>
            <a:off x="1214419" y="3015890"/>
            <a:ext cx="471952" cy="146304"/>
          </a:xfrm>
          <a:prstGeom prst="rect">
            <a:avLst/>
          </a:prstGeom>
          <a:noFill/>
          <a:ln/>
        </p:spPr>
        <p:txBody>
          <a:bodyPr wrap="none" lIns="0" tIns="0" rIns="0" bIns="0" rtlCol="0" anchor="t"/>
          <a:lstStyle/>
          <a:p>
            <a:pPr algn="l" indent="0" marL="0">
              <a:lnSpc>
                <a:spcPts val="1046"/>
              </a:lnSpc>
              <a:buNone/>
            </a:pPr>
            <a:r>
              <a:rPr lang="en-US" sz="800" dirty="0">
                <a:solidFill>
                  <a:srgbClr val="FFD29E"/>
                </a:solidFill>
                <a:latin typeface="Courier New" pitchFamily="34" charset="0"/>
                <a:ea typeface="Courier New" pitchFamily="34" charset="-122"/>
                <a:cs typeface="Courier New" pitchFamily="34" charset="-120"/>
              </a:rPr>
              <a:t>message</a:t>
            </a:r>
            <a:endParaRPr lang="en-US" sz="800" dirty="0"/>
          </a:p>
        </p:txBody>
      </p:sp>
      <p:sp>
        <p:nvSpPr>
          <p:cNvPr id="20" name="Text 18"/>
          <p:cNvSpPr/>
          <p:nvPr/>
        </p:nvSpPr>
        <p:spPr>
          <a:xfrm>
            <a:off x="1567227" y="3015890"/>
            <a:ext cx="160244" cy="146304"/>
          </a:xfrm>
          <a:prstGeom prst="rect">
            <a:avLst/>
          </a:prstGeom>
          <a:noFill/>
          <a:ln/>
        </p:spPr>
        <p:txBody>
          <a:bodyPr wrap="none" lIns="0" tIns="0" rIns="0" bIns="0" rtlCol="0" anchor="t"/>
          <a:lstStyle/>
          <a:p>
            <a:pPr algn="l" indent="0" marL="0">
              <a:lnSpc>
                <a:spcPts val="1046"/>
              </a:lnSpc>
              <a:buNone/>
            </a:pPr>
            <a:r>
              <a:rPr lang="en-US" sz="800" dirty="0">
                <a:solidFill>
                  <a:srgbClr val="FF7A1A"/>
                </a:solidFill>
                <a:latin typeface="Courier New" pitchFamily="34" charset="0"/>
                <a:ea typeface="Courier New" pitchFamily="34" charset="-122"/>
                <a:cs typeface="Courier New" pitchFamily="34" charset="-120"/>
              </a:rPr>
              <a:t>in</a:t>
            </a:r>
            <a:endParaRPr lang="en-US" sz="800" dirty="0"/>
          </a:p>
        </p:txBody>
      </p:sp>
      <p:sp>
        <p:nvSpPr>
          <p:cNvPr id="21" name="Text 19"/>
          <p:cNvSpPr/>
          <p:nvPr/>
        </p:nvSpPr>
        <p:spPr>
          <a:xfrm>
            <a:off x="1705172" y="3015890"/>
            <a:ext cx="347269" cy="146304"/>
          </a:xfrm>
          <a:prstGeom prst="rect">
            <a:avLst/>
          </a:prstGeom>
          <a:noFill/>
          <a:ln/>
        </p:spPr>
        <p:txBody>
          <a:bodyPr wrap="none" lIns="0" tIns="0" rIns="0" bIns="0" rtlCol="0" anchor="t"/>
          <a:lstStyle/>
          <a:p>
            <a:pPr algn="l" indent="0" marL="0">
              <a:lnSpc>
                <a:spcPts val="1046"/>
              </a:lnSpc>
              <a:buNone/>
            </a:pPr>
            <a:r>
              <a:rPr lang="en-US" sz="800" dirty="0">
                <a:solidFill>
                  <a:srgbClr val="FFD29E"/>
                </a:solidFill>
                <a:latin typeface="Courier New" pitchFamily="34" charset="0"/>
                <a:ea typeface="Courier New" pitchFamily="34" charset="-122"/>
                <a:cs typeface="Courier New" pitchFamily="34" charset="-120"/>
              </a:rPr>
              <a:t>query</a:t>
            </a:r>
            <a:endParaRPr lang="en-US" sz="800" dirty="0"/>
          </a:p>
        </p:txBody>
      </p:sp>
      <p:sp>
        <p:nvSpPr>
          <p:cNvPr id="22" name="Text 20"/>
          <p:cNvSpPr/>
          <p:nvPr/>
        </p:nvSpPr>
        <p:spPr>
          <a:xfrm>
            <a:off x="1943606" y="3015890"/>
            <a:ext cx="409611" cy="146304"/>
          </a:xfrm>
          <a:prstGeom prst="rect">
            <a:avLst/>
          </a:prstGeom>
          <a:noFill/>
          <a:ln/>
        </p:spPr>
        <p:txBody>
          <a:bodyPr wrap="none" lIns="0" tIns="0" rIns="0" bIns="0" rtlCol="0" anchor="t"/>
          <a:lstStyle/>
          <a:p>
            <a:pPr algn="l" indent="0" marL="0">
              <a:lnSpc>
                <a:spcPts val="1046"/>
              </a:lnSpc>
              <a:buNone/>
            </a:pPr>
            <a:r>
              <a:rPr lang="en-US" sz="800" dirty="0">
                <a:solidFill>
                  <a:srgbClr val="FFD29E"/>
                </a:solidFill>
                <a:latin typeface="Courier New" pitchFamily="34" charset="0"/>
                <a:ea typeface="Courier New" pitchFamily="34" charset="-122"/>
                <a:cs typeface="Courier New" pitchFamily="34" charset="-120"/>
              </a:rPr>
              <a:t>prompt</a:t>
            </a:r>
            <a:endParaRPr lang="en-US" sz="800" dirty="0"/>
          </a:p>
        </p:txBody>
      </p:sp>
      <p:sp>
        <p:nvSpPr>
          <p:cNvPr id="23" name="Text 21"/>
          <p:cNvSpPr/>
          <p:nvPr/>
        </p:nvSpPr>
        <p:spPr>
          <a:xfrm>
            <a:off x="2242595" y="3015890"/>
            <a:ext cx="534294" cy="146304"/>
          </a:xfrm>
          <a:prstGeom prst="rect">
            <a:avLst/>
          </a:prstGeom>
          <a:noFill/>
          <a:ln/>
        </p:spPr>
        <p:txBody>
          <a:bodyPr wrap="none" lIns="0" tIns="0" rIns="0" bIns="0" rtlCol="0" anchor="t"/>
          <a:lstStyle/>
          <a:p>
            <a:pPr algn="l" indent="0" marL="0">
              <a:lnSpc>
                <a:spcPts val="1046"/>
              </a:lnSpc>
              <a:buNone/>
            </a:pPr>
            <a:r>
              <a:rPr lang="en-US" sz="800" dirty="0">
                <a:solidFill>
                  <a:srgbClr val="FFD29E"/>
                </a:solidFill>
                <a:latin typeface="Courier New" pitchFamily="34" charset="0"/>
                <a:ea typeface="Courier New" pitchFamily="34" charset="-122"/>
                <a:cs typeface="Courier New" pitchFamily="34" charset="-120"/>
              </a:rPr>
              <a:t>question</a:t>
            </a:r>
            <a:endParaRPr lang="en-US" sz="800" dirty="0"/>
          </a:p>
        </p:txBody>
      </p:sp>
      <p:sp>
        <p:nvSpPr>
          <p:cNvPr id="24" name="Text 22"/>
          <p:cNvSpPr/>
          <p:nvPr/>
        </p:nvSpPr>
        <p:spPr>
          <a:xfrm>
            <a:off x="2671744" y="3015890"/>
            <a:ext cx="471952" cy="146304"/>
          </a:xfrm>
          <a:prstGeom prst="rect">
            <a:avLst/>
          </a:prstGeom>
          <a:noFill/>
          <a:ln/>
        </p:spPr>
        <p:txBody>
          <a:bodyPr wrap="none" lIns="0" tIns="0" rIns="0" bIns="0" rtlCol="0" anchor="t"/>
          <a:lstStyle/>
          <a:p>
            <a:pPr algn="l" indent="0" marL="0">
              <a:lnSpc>
                <a:spcPts val="1046"/>
              </a:lnSpc>
              <a:buNone/>
            </a:pPr>
            <a:r>
              <a:rPr lang="en-US" sz="800" dirty="0">
                <a:solidFill>
                  <a:srgbClr val="FFD29E"/>
                </a:solidFill>
                <a:latin typeface="Courier New" pitchFamily="34" charset="0"/>
                <a:ea typeface="Courier New" pitchFamily="34" charset="-122"/>
                <a:cs typeface="Courier New" pitchFamily="34" charset="-120"/>
              </a:rPr>
              <a:t>options</a:t>
            </a:r>
            <a:endParaRPr lang="en-US" sz="800" dirty="0"/>
          </a:p>
        </p:txBody>
      </p:sp>
      <p:sp>
        <p:nvSpPr>
          <p:cNvPr id="25" name="Text 23"/>
          <p:cNvSpPr/>
          <p:nvPr/>
        </p:nvSpPr>
        <p:spPr>
          <a:xfrm>
            <a:off x="3014644" y="3015890"/>
            <a:ext cx="471952" cy="105397"/>
          </a:xfrm>
          <a:prstGeom prst="rect">
            <a:avLst/>
          </a:prstGeom>
          <a:noFill/>
          <a:ln/>
        </p:spPr>
        <p:txBody>
          <a:bodyPr wrap="none" lIns="0" tIns="0" rIns="0" bIns="0" rtlCol="0" anchor="t">
            <a:normAutofit/>
          </a:bodyPr>
          <a:lstStyle/>
          <a:p>
            <a:pPr algn="l" indent="0" marL="0">
              <a:lnSpc>
                <a:spcPts val="1046"/>
              </a:lnSpc>
              <a:buNone/>
            </a:pPr>
            <a:r>
              <a:rPr lang="en-US" sz="800" dirty="0">
                <a:solidFill>
                  <a:srgbClr val="FFD29E"/>
                </a:solidFill>
                <a:latin typeface="Courier New" pitchFamily="34" charset="0"/>
                <a:ea typeface="Courier New" pitchFamily="34" charset="-122"/>
                <a:cs typeface="Courier New" pitchFamily="34" charset="-120"/>
              </a:rPr>
              <a:t>options</a:t>
            </a:r>
            <a:endParaRPr lang="en-US" sz="800" dirty="0"/>
          </a:p>
        </p:txBody>
      </p:sp>
      <p:sp>
        <p:nvSpPr>
          <p:cNvPr id="26" name="Text 24"/>
          <p:cNvSpPr/>
          <p:nvPr/>
        </p:nvSpPr>
        <p:spPr>
          <a:xfrm>
            <a:off x="967152" y="3148719"/>
            <a:ext cx="160244" cy="146304"/>
          </a:xfrm>
          <a:prstGeom prst="rect">
            <a:avLst/>
          </a:prstGeom>
          <a:noFill/>
          <a:ln/>
        </p:spPr>
        <p:txBody>
          <a:bodyPr wrap="none" lIns="0" tIns="0" rIns="0" bIns="0" rtlCol="0" anchor="t"/>
          <a:lstStyle/>
          <a:p>
            <a:pPr algn="l" indent="0" marL="0">
              <a:lnSpc>
                <a:spcPts val="1046"/>
              </a:lnSpc>
              <a:buNone/>
            </a:pPr>
            <a:r>
              <a:rPr lang="en-US" sz="800" dirty="0">
                <a:solidFill>
                  <a:srgbClr val="FF7A1A"/>
                </a:solidFill>
                <a:latin typeface="Courier New" pitchFamily="34" charset="0"/>
                <a:ea typeface="Courier New" pitchFamily="34" charset="-122"/>
                <a:cs typeface="Courier New" pitchFamily="34" charset="-120"/>
              </a:rPr>
              <a:t>if</a:t>
            </a:r>
            <a:endParaRPr lang="en-US" sz="800" dirty="0"/>
          </a:p>
        </p:txBody>
      </p:sp>
      <p:sp>
        <p:nvSpPr>
          <p:cNvPr id="27" name="Text 25"/>
          <p:cNvSpPr/>
          <p:nvPr/>
        </p:nvSpPr>
        <p:spPr>
          <a:xfrm>
            <a:off x="1097166" y="3148719"/>
            <a:ext cx="556012" cy="146304"/>
          </a:xfrm>
          <a:prstGeom prst="rect">
            <a:avLst/>
          </a:prstGeom>
          <a:noFill/>
          <a:ln/>
        </p:spPr>
        <p:txBody>
          <a:bodyPr wrap="none" lIns="0" tIns="0" rIns="0" bIns="0" rtlCol="0" anchor="t"/>
          <a:lstStyle/>
          <a:p>
            <a:pPr algn="l" indent="0" marL="0">
              <a:lnSpc>
                <a:spcPts val="1046"/>
              </a:lnSpc>
              <a:buNone/>
            </a:pPr>
            <a:r>
              <a:rPr lang="en-US" sz="675" dirty="0">
                <a:solidFill>
                  <a:srgbClr val="FFD29E"/>
                </a:solidFill>
                <a:latin typeface="Courier New" pitchFamily="34" charset="0"/>
                <a:ea typeface="Courier New" pitchFamily="34" charset="-122"/>
                <a:cs typeface="Courier New" pitchFamily="34" charset="-120"/>
              </a:rPr>
              <a:t>isinstance</a:t>
            </a:r>
            <a:endParaRPr lang="en-US" sz="675" dirty="0"/>
          </a:p>
        </p:txBody>
      </p:sp>
      <p:sp>
        <p:nvSpPr>
          <p:cNvPr id="28" name="Text 26"/>
          <p:cNvSpPr/>
          <p:nvPr/>
        </p:nvSpPr>
        <p:spPr>
          <a:xfrm>
            <a:off x="1557319" y="3148719"/>
            <a:ext cx="471952" cy="146304"/>
          </a:xfrm>
          <a:prstGeom prst="rect">
            <a:avLst/>
          </a:prstGeom>
          <a:noFill/>
          <a:ln/>
        </p:spPr>
        <p:txBody>
          <a:bodyPr wrap="none" lIns="0" tIns="0" rIns="0" bIns="0" rtlCol="0" anchor="t"/>
          <a:lstStyle/>
          <a:p>
            <a:pPr algn="l" indent="0" marL="0">
              <a:lnSpc>
                <a:spcPts val="1046"/>
              </a:lnSpc>
              <a:buNone/>
            </a:pPr>
            <a:r>
              <a:rPr lang="en-US" sz="800" dirty="0">
                <a:solidFill>
                  <a:srgbClr val="FFD29E"/>
                </a:solidFill>
                <a:latin typeface="Courier New" pitchFamily="34" charset="0"/>
                <a:ea typeface="Courier New" pitchFamily="34" charset="-122"/>
                <a:cs typeface="Courier New" pitchFamily="34" charset="-120"/>
              </a:rPr>
              <a:t>message</a:t>
            </a:r>
            <a:endParaRPr lang="en-US" sz="800" dirty="0"/>
          </a:p>
        </p:txBody>
      </p:sp>
      <p:sp>
        <p:nvSpPr>
          <p:cNvPr id="29" name="Text 27"/>
          <p:cNvSpPr/>
          <p:nvPr/>
        </p:nvSpPr>
        <p:spPr>
          <a:xfrm>
            <a:off x="1964531" y="3148719"/>
            <a:ext cx="857250" cy="105397"/>
          </a:xfrm>
          <a:prstGeom prst="rect">
            <a:avLst/>
          </a:prstGeom>
          <a:noFill/>
          <a:ln/>
        </p:spPr>
        <p:txBody>
          <a:bodyPr wrap="none" lIns="0" tIns="0" rIns="0" bIns="0" rtlCol="0" anchor="t">
            <a:normAutofit/>
          </a:bodyPr>
          <a:lstStyle/>
          <a:p>
            <a:pPr algn="l" indent="0" marL="0">
              <a:lnSpc>
                <a:spcPts val="1046"/>
              </a:lnSpc>
              <a:buNone/>
            </a:pPr>
            <a:r>
              <a:rPr lang="en-US" sz="675" dirty="0">
                <a:solidFill>
                  <a:srgbClr val="FFD29E"/>
                </a:solidFill>
                <a:latin typeface="Courier New" pitchFamily="34" charset="0"/>
                <a:ea typeface="Courier New" pitchFamily="34" charset="-122"/>
                <a:cs typeface="Courier New" pitchFamily="34" charset="-120"/>
              </a:rPr>
              <a:t>AssistantMessage</a:t>
            </a:r>
            <a:endParaRPr lang="en-US" sz="675" dirty="0"/>
          </a:p>
        </p:txBody>
      </p:sp>
      <p:sp>
        <p:nvSpPr>
          <p:cNvPr id="30" name="Text 28"/>
          <p:cNvSpPr/>
          <p:nvPr/>
        </p:nvSpPr>
        <p:spPr>
          <a:xfrm>
            <a:off x="1141721" y="3281549"/>
            <a:ext cx="222585" cy="146304"/>
          </a:xfrm>
          <a:prstGeom prst="rect">
            <a:avLst/>
          </a:prstGeom>
          <a:noFill/>
          <a:ln/>
        </p:spPr>
        <p:txBody>
          <a:bodyPr wrap="none" lIns="0" tIns="0" rIns="0" bIns="0" rtlCol="0" anchor="t"/>
          <a:lstStyle/>
          <a:p>
            <a:pPr algn="l" indent="0" marL="0">
              <a:lnSpc>
                <a:spcPts val="1046"/>
              </a:lnSpc>
              <a:buNone/>
            </a:pPr>
            <a:r>
              <a:rPr lang="en-US" sz="800" dirty="0">
                <a:solidFill>
                  <a:srgbClr val="FF7A1A"/>
                </a:solidFill>
                <a:latin typeface="Courier New" pitchFamily="34" charset="0"/>
                <a:ea typeface="Courier New" pitchFamily="34" charset="-122"/>
                <a:cs typeface="Courier New" pitchFamily="34" charset="-120"/>
              </a:rPr>
              <a:t>for</a:t>
            </a:r>
            <a:endParaRPr lang="en-US" sz="800" dirty="0"/>
          </a:p>
        </p:txBody>
      </p:sp>
      <p:sp>
        <p:nvSpPr>
          <p:cNvPr id="31" name="Text 29"/>
          <p:cNvSpPr/>
          <p:nvPr/>
        </p:nvSpPr>
        <p:spPr>
          <a:xfrm>
            <a:off x="1319409" y="3281549"/>
            <a:ext cx="347269" cy="146304"/>
          </a:xfrm>
          <a:prstGeom prst="rect">
            <a:avLst/>
          </a:prstGeom>
          <a:noFill/>
          <a:ln/>
        </p:spPr>
        <p:txBody>
          <a:bodyPr wrap="none" lIns="0" tIns="0" rIns="0" bIns="0" rtlCol="0" anchor="t"/>
          <a:lstStyle/>
          <a:p>
            <a:pPr algn="l" indent="0" marL="0">
              <a:lnSpc>
                <a:spcPts val="1046"/>
              </a:lnSpc>
              <a:buNone/>
            </a:pPr>
            <a:r>
              <a:rPr lang="en-US" sz="800" dirty="0">
                <a:solidFill>
                  <a:srgbClr val="FFD29E"/>
                </a:solidFill>
                <a:latin typeface="Courier New" pitchFamily="34" charset="0"/>
                <a:ea typeface="Courier New" pitchFamily="34" charset="-122"/>
                <a:cs typeface="Courier New" pitchFamily="34" charset="-120"/>
              </a:rPr>
              <a:t>block</a:t>
            </a:r>
            <a:endParaRPr lang="en-US" sz="800" dirty="0"/>
          </a:p>
        </p:txBody>
      </p:sp>
      <p:sp>
        <p:nvSpPr>
          <p:cNvPr id="32" name="Text 30"/>
          <p:cNvSpPr/>
          <p:nvPr/>
        </p:nvSpPr>
        <p:spPr>
          <a:xfrm>
            <a:off x="1567227" y="3281549"/>
            <a:ext cx="160244" cy="146304"/>
          </a:xfrm>
          <a:prstGeom prst="rect">
            <a:avLst/>
          </a:prstGeom>
          <a:noFill/>
          <a:ln/>
        </p:spPr>
        <p:txBody>
          <a:bodyPr wrap="none" lIns="0" tIns="0" rIns="0" bIns="0" rtlCol="0" anchor="t"/>
          <a:lstStyle/>
          <a:p>
            <a:pPr algn="l" indent="0" marL="0">
              <a:lnSpc>
                <a:spcPts val="1046"/>
              </a:lnSpc>
              <a:buNone/>
            </a:pPr>
            <a:r>
              <a:rPr lang="en-US" sz="800" dirty="0">
                <a:solidFill>
                  <a:srgbClr val="FF7A1A"/>
                </a:solidFill>
                <a:latin typeface="Courier New" pitchFamily="34" charset="0"/>
                <a:ea typeface="Courier New" pitchFamily="34" charset="-122"/>
                <a:cs typeface="Courier New" pitchFamily="34" charset="-120"/>
              </a:rPr>
              <a:t>in</a:t>
            </a:r>
            <a:endParaRPr lang="en-US" sz="800" dirty="0"/>
          </a:p>
        </p:txBody>
      </p:sp>
      <p:sp>
        <p:nvSpPr>
          <p:cNvPr id="33" name="Text 31"/>
          <p:cNvSpPr/>
          <p:nvPr/>
        </p:nvSpPr>
        <p:spPr>
          <a:xfrm>
            <a:off x="1685907" y="3281549"/>
            <a:ext cx="471952" cy="146304"/>
          </a:xfrm>
          <a:prstGeom prst="rect">
            <a:avLst/>
          </a:prstGeom>
          <a:noFill/>
          <a:ln/>
        </p:spPr>
        <p:txBody>
          <a:bodyPr wrap="none" lIns="0" tIns="0" rIns="0" bIns="0" rtlCol="0" anchor="t"/>
          <a:lstStyle/>
          <a:p>
            <a:pPr algn="l" indent="0" marL="0">
              <a:lnSpc>
                <a:spcPts val="1046"/>
              </a:lnSpc>
              <a:buNone/>
            </a:pPr>
            <a:r>
              <a:rPr lang="en-US" sz="800" dirty="0">
                <a:solidFill>
                  <a:srgbClr val="FFD29E"/>
                </a:solidFill>
                <a:latin typeface="Courier New" pitchFamily="34" charset="0"/>
                <a:ea typeface="Courier New" pitchFamily="34" charset="-122"/>
                <a:cs typeface="Courier New" pitchFamily="34" charset="-120"/>
              </a:rPr>
              <a:t>message</a:t>
            </a:r>
            <a:endParaRPr lang="en-US" sz="800" dirty="0"/>
          </a:p>
        </p:txBody>
      </p:sp>
      <p:sp>
        <p:nvSpPr>
          <p:cNvPr id="34" name="Text 32"/>
          <p:cNvSpPr/>
          <p:nvPr/>
        </p:nvSpPr>
        <p:spPr>
          <a:xfrm>
            <a:off x="2028807" y="3281549"/>
            <a:ext cx="471952" cy="105397"/>
          </a:xfrm>
          <a:prstGeom prst="rect">
            <a:avLst/>
          </a:prstGeom>
          <a:noFill/>
          <a:ln/>
        </p:spPr>
        <p:txBody>
          <a:bodyPr wrap="none" lIns="0" tIns="0" rIns="0" bIns="0" rtlCol="0" anchor="t">
            <a:normAutofit/>
          </a:bodyPr>
          <a:lstStyle/>
          <a:p>
            <a:pPr algn="l" indent="0" marL="0">
              <a:lnSpc>
                <a:spcPts val="1046"/>
              </a:lnSpc>
              <a:buNone/>
            </a:pPr>
            <a:r>
              <a:rPr lang="en-US" sz="800" dirty="0">
                <a:solidFill>
                  <a:srgbClr val="FFD29E"/>
                </a:solidFill>
                <a:latin typeface="Courier New" pitchFamily="34" charset="0"/>
                <a:ea typeface="Courier New" pitchFamily="34" charset="-122"/>
                <a:cs typeface="Courier New" pitchFamily="34" charset="-120"/>
              </a:rPr>
              <a:t>content</a:t>
            </a:r>
            <a:endParaRPr lang="en-US" sz="800" dirty="0"/>
          </a:p>
        </p:txBody>
      </p:sp>
      <p:sp>
        <p:nvSpPr>
          <p:cNvPr id="35" name="Text 33"/>
          <p:cNvSpPr/>
          <p:nvPr/>
        </p:nvSpPr>
        <p:spPr>
          <a:xfrm>
            <a:off x="1310052" y="3414378"/>
            <a:ext cx="160244" cy="146304"/>
          </a:xfrm>
          <a:prstGeom prst="rect">
            <a:avLst/>
          </a:prstGeom>
          <a:noFill/>
          <a:ln/>
        </p:spPr>
        <p:txBody>
          <a:bodyPr wrap="none" lIns="0" tIns="0" rIns="0" bIns="0" rtlCol="0" anchor="t"/>
          <a:lstStyle/>
          <a:p>
            <a:pPr algn="l" indent="0" marL="0">
              <a:lnSpc>
                <a:spcPts val="1046"/>
              </a:lnSpc>
              <a:buNone/>
            </a:pPr>
            <a:r>
              <a:rPr lang="en-US" sz="800" dirty="0">
                <a:solidFill>
                  <a:srgbClr val="FF7A1A"/>
                </a:solidFill>
                <a:latin typeface="Courier New" pitchFamily="34" charset="0"/>
                <a:ea typeface="Courier New" pitchFamily="34" charset="-122"/>
                <a:cs typeface="Courier New" pitchFamily="34" charset="-120"/>
              </a:rPr>
              <a:t>if</a:t>
            </a:r>
            <a:endParaRPr lang="en-US" sz="800" dirty="0"/>
          </a:p>
        </p:txBody>
      </p:sp>
      <p:sp>
        <p:nvSpPr>
          <p:cNvPr id="36" name="Text 34"/>
          <p:cNvSpPr/>
          <p:nvPr/>
        </p:nvSpPr>
        <p:spPr>
          <a:xfrm>
            <a:off x="1440066" y="3414378"/>
            <a:ext cx="556012" cy="146304"/>
          </a:xfrm>
          <a:prstGeom prst="rect">
            <a:avLst/>
          </a:prstGeom>
          <a:noFill/>
          <a:ln/>
        </p:spPr>
        <p:txBody>
          <a:bodyPr wrap="none" lIns="0" tIns="0" rIns="0" bIns="0" rtlCol="0" anchor="t"/>
          <a:lstStyle/>
          <a:p>
            <a:pPr algn="l" indent="0" marL="0">
              <a:lnSpc>
                <a:spcPts val="1046"/>
              </a:lnSpc>
              <a:buNone/>
            </a:pPr>
            <a:r>
              <a:rPr lang="en-US" sz="675" dirty="0">
                <a:solidFill>
                  <a:srgbClr val="FFD29E"/>
                </a:solidFill>
                <a:latin typeface="Courier New" pitchFamily="34" charset="0"/>
                <a:ea typeface="Courier New" pitchFamily="34" charset="-122"/>
                <a:cs typeface="Courier New" pitchFamily="34" charset="-120"/>
              </a:rPr>
              <a:t>isinstance</a:t>
            </a:r>
            <a:endParaRPr lang="en-US" sz="675" dirty="0"/>
          </a:p>
        </p:txBody>
      </p:sp>
      <p:sp>
        <p:nvSpPr>
          <p:cNvPr id="37" name="Text 35"/>
          <p:cNvSpPr/>
          <p:nvPr/>
        </p:nvSpPr>
        <p:spPr>
          <a:xfrm>
            <a:off x="1919484" y="3414378"/>
            <a:ext cx="347269" cy="146304"/>
          </a:xfrm>
          <a:prstGeom prst="rect">
            <a:avLst/>
          </a:prstGeom>
          <a:noFill/>
          <a:ln/>
        </p:spPr>
        <p:txBody>
          <a:bodyPr wrap="none" lIns="0" tIns="0" rIns="0" bIns="0" rtlCol="0" anchor="t"/>
          <a:lstStyle/>
          <a:p>
            <a:pPr algn="l" indent="0" marL="0">
              <a:lnSpc>
                <a:spcPts val="1046"/>
              </a:lnSpc>
              <a:buNone/>
            </a:pPr>
            <a:r>
              <a:rPr lang="en-US" sz="800" dirty="0">
                <a:solidFill>
                  <a:srgbClr val="FFD29E"/>
                </a:solidFill>
                <a:latin typeface="Courier New" pitchFamily="34" charset="0"/>
                <a:ea typeface="Courier New" pitchFamily="34" charset="-122"/>
                <a:cs typeface="Courier New" pitchFamily="34" charset="-120"/>
              </a:rPr>
              <a:t>block</a:t>
            </a:r>
            <a:endParaRPr lang="en-US" sz="800" dirty="0"/>
          </a:p>
        </p:txBody>
      </p:sp>
      <p:sp>
        <p:nvSpPr>
          <p:cNvPr id="38" name="Text 36"/>
          <p:cNvSpPr/>
          <p:nvPr/>
        </p:nvSpPr>
        <p:spPr>
          <a:xfrm>
            <a:off x="2221706" y="3414378"/>
            <a:ext cx="551640" cy="105397"/>
          </a:xfrm>
          <a:prstGeom prst="rect">
            <a:avLst/>
          </a:prstGeom>
          <a:noFill/>
          <a:ln/>
        </p:spPr>
        <p:txBody>
          <a:bodyPr wrap="none" lIns="0" tIns="0" rIns="0" bIns="0" rtlCol="0" anchor="t">
            <a:normAutofit/>
          </a:bodyPr>
          <a:lstStyle/>
          <a:p>
            <a:pPr algn="l" indent="0" marL="0">
              <a:lnSpc>
                <a:spcPts val="1046"/>
              </a:lnSpc>
              <a:buNone/>
            </a:pPr>
            <a:r>
              <a:rPr lang="en-US" sz="675" dirty="0">
                <a:solidFill>
                  <a:srgbClr val="FFD29E"/>
                </a:solidFill>
                <a:latin typeface="Courier New" pitchFamily="34" charset="0"/>
                <a:ea typeface="Courier New" pitchFamily="34" charset="-122"/>
                <a:cs typeface="Courier New" pitchFamily="34" charset="-120"/>
              </a:rPr>
              <a:t>TextBlock</a:t>
            </a:r>
            <a:endParaRPr lang="en-US" sz="675" dirty="0"/>
          </a:p>
        </p:txBody>
      </p:sp>
      <p:sp>
        <p:nvSpPr>
          <p:cNvPr id="39" name="Text 37"/>
          <p:cNvSpPr/>
          <p:nvPr/>
        </p:nvSpPr>
        <p:spPr>
          <a:xfrm>
            <a:off x="1490859" y="3547207"/>
            <a:ext cx="347269" cy="125685"/>
          </a:xfrm>
          <a:prstGeom prst="rect">
            <a:avLst/>
          </a:prstGeom>
          <a:noFill/>
          <a:ln/>
        </p:spPr>
        <p:txBody>
          <a:bodyPr wrap="none" lIns="0" tIns="0" rIns="0" bIns="0" rtlCol="0" anchor="t"/>
          <a:lstStyle/>
          <a:p>
            <a:pPr algn="l" indent="0" marL="0">
              <a:lnSpc>
                <a:spcPts val="1046"/>
              </a:lnSpc>
              <a:buNone/>
            </a:pPr>
            <a:r>
              <a:rPr lang="en-US" sz="800" dirty="0">
                <a:solidFill>
                  <a:srgbClr val="FFD29E"/>
                </a:solidFill>
                <a:latin typeface="Courier New" pitchFamily="34" charset="0"/>
                <a:ea typeface="Courier New" pitchFamily="34" charset="-122"/>
                <a:cs typeface="Courier New" pitchFamily="34" charset="-120"/>
              </a:rPr>
              <a:t>print</a:t>
            </a:r>
            <a:endParaRPr lang="en-US" sz="800" dirty="0"/>
          </a:p>
        </p:txBody>
      </p:sp>
      <p:sp>
        <p:nvSpPr>
          <p:cNvPr id="40" name="Text 38"/>
          <p:cNvSpPr/>
          <p:nvPr/>
        </p:nvSpPr>
        <p:spPr>
          <a:xfrm>
            <a:off x="1748034" y="3547207"/>
            <a:ext cx="347269" cy="125685"/>
          </a:xfrm>
          <a:prstGeom prst="rect">
            <a:avLst/>
          </a:prstGeom>
          <a:noFill/>
          <a:ln/>
        </p:spPr>
        <p:txBody>
          <a:bodyPr wrap="none" lIns="0" tIns="0" rIns="0" bIns="0" rtlCol="0" anchor="t"/>
          <a:lstStyle/>
          <a:p>
            <a:pPr algn="l" indent="0" marL="0">
              <a:lnSpc>
                <a:spcPts val="1046"/>
              </a:lnSpc>
              <a:buNone/>
            </a:pPr>
            <a:r>
              <a:rPr lang="en-US" sz="800" dirty="0">
                <a:solidFill>
                  <a:srgbClr val="FFD29E"/>
                </a:solidFill>
                <a:latin typeface="Courier New" pitchFamily="34" charset="0"/>
                <a:ea typeface="Courier New" pitchFamily="34" charset="-122"/>
                <a:cs typeface="Courier New" pitchFamily="34" charset="-120"/>
              </a:rPr>
              <a:t>block</a:t>
            </a:r>
            <a:endParaRPr lang="en-US" sz="800" dirty="0"/>
          </a:p>
        </p:txBody>
      </p:sp>
      <p:sp>
        <p:nvSpPr>
          <p:cNvPr id="41" name="Text 39"/>
          <p:cNvSpPr/>
          <p:nvPr/>
        </p:nvSpPr>
        <p:spPr>
          <a:xfrm>
            <a:off x="2002090" y="3547207"/>
            <a:ext cx="284927" cy="125685"/>
          </a:xfrm>
          <a:prstGeom prst="rect">
            <a:avLst/>
          </a:prstGeom>
          <a:noFill/>
          <a:ln/>
        </p:spPr>
        <p:txBody>
          <a:bodyPr wrap="none" lIns="0" tIns="0" rIns="0" bIns="0" rtlCol="0" anchor="t"/>
          <a:lstStyle/>
          <a:p>
            <a:pPr algn="l" indent="0" marL="0">
              <a:lnSpc>
                <a:spcPts val="1046"/>
              </a:lnSpc>
              <a:buNone/>
            </a:pPr>
            <a:r>
              <a:rPr lang="en-US" sz="800" dirty="0">
                <a:solidFill>
                  <a:srgbClr val="FFD29E"/>
                </a:solidFill>
                <a:latin typeface="Courier New" pitchFamily="34" charset="0"/>
                <a:ea typeface="Courier New" pitchFamily="34" charset="-122"/>
                <a:cs typeface="Courier New" pitchFamily="34" charset="-120"/>
              </a:rPr>
              <a:t>text</a:t>
            </a:r>
            <a:endParaRPr lang="en-US" sz="800" dirty="0"/>
          </a:p>
        </p:txBody>
      </p:sp>
      <p:sp>
        <p:nvSpPr>
          <p:cNvPr id="42" name="Text 40"/>
          <p:cNvSpPr/>
          <p:nvPr/>
        </p:nvSpPr>
        <p:spPr>
          <a:xfrm>
            <a:off x="4829175" y="1363675"/>
            <a:ext cx="440055" cy="139654"/>
          </a:xfrm>
          <a:prstGeom prst="rect">
            <a:avLst/>
          </a:prstGeom>
          <a:noFill/>
          <a:ln/>
        </p:spPr>
        <p:txBody>
          <a:bodyPr wrap="none" lIns="0" tIns="0" rIns="0" bIns="0" rtlCol="0" anchor="t"/>
          <a:lstStyle/>
          <a:p>
            <a:pPr algn="l" indent="0" marL="0">
              <a:lnSpc>
                <a:spcPts val="928"/>
              </a:lnSpc>
              <a:buNone/>
            </a:pPr>
            <a:r>
              <a:rPr lang="en-US" sz="800" spc="124" kern="0" dirty="0">
                <a:solidFill>
                  <a:srgbClr val="71717A"/>
                </a:solidFill>
                <a:latin typeface="Courier New" pitchFamily="34" charset="0"/>
                <a:ea typeface="Courier New" pitchFamily="34" charset="-122"/>
                <a:cs typeface="Courier New" pitchFamily="34" charset="-120"/>
              </a:rPr>
              <a:t>SHELL</a:t>
            </a:r>
            <a:endParaRPr lang="en-US" sz="800" dirty="0"/>
          </a:p>
        </p:txBody>
      </p:sp>
      <p:sp>
        <p:nvSpPr>
          <p:cNvPr id="43" name="Text 41"/>
          <p:cNvSpPr/>
          <p:nvPr/>
        </p:nvSpPr>
        <p:spPr>
          <a:xfrm>
            <a:off x="4672013" y="1365461"/>
            <a:ext cx="100013" cy="100013"/>
          </a:xfrm>
          <a:prstGeom prst="rect">
            <a:avLst/>
          </a:prstGeom>
          <a:noFill/>
          <a:ln/>
        </p:spPr>
        <p:txBody>
          <a:bodyPr wrap="none" lIns="0" tIns="0" rIns="0" bIns="0" rtlCol="0" anchor="ctr"/>
          <a:lstStyle/>
          <a:p>
            <a:pPr algn="ctr" indent="0" marL="0">
              <a:buNone/>
            </a:pPr>
            <a:r>
              <a:rPr lang="en-US" sz="984" dirty="0">
                <a:solidFill>
                  <a:srgbClr val="FF7A1A"/>
                </a:solidFill>
                <a:latin typeface="Segoe UI Symbol" pitchFamily="34" charset="0"/>
                <a:ea typeface="Segoe UI Symbol" pitchFamily="34" charset="-122"/>
                <a:cs typeface="Segoe UI Symbol" pitchFamily="34" charset="-120"/>
              </a:rPr>
              <a:t>✦</a:t>
            </a:r>
            <a:endParaRPr lang="en-US" sz="984" dirty="0"/>
          </a:p>
        </p:txBody>
      </p:sp>
      <p:sp>
        <p:nvSpPr>
          <p:cNvPr id="44" name="Text 42"/>
          <p:cNvSpPr/>
          <p:nvPr/>
        </p:nvSpPr>
        <p:spPr>
          <a:xfrm>
            <a:off x="4675584" y="1577987"/>
            <a:ext cx="3950494" cy="3161891"/>
          </a:xfrm>
          <a:prstGeom prst="roundRect">
            <a:avLst>
              <a:gd name="adj" fmla="val 3012"/>
            </a:avLst>
          </a:prstGeom>
          <a:solidFill>
            <a:srgbClr val="15151A"/>
          </a:solidFill>
          <a:ln w="7144">
            <a:solidFill>
              <a:srgbClr val="2A2A33"/>
            </a:solidFill>
            <a:prstDash val="solid"/>
          </a:ln>
        </p:spPr>
        <p:txBody>
          <a:bodyPr wrap="square" rtlCol="0" anchor="ctr"/>
          <a:lstStyle/>
          <a:p>
            <a:pPr indent="0" marL="0">
              <a:buNone/>
            </a:pPr>
            <a:endParaRPr lang="en-US" dirty="0"/>
          </a:p>
        </p:txBody>
      </p:sp>
      <p:sp>
        <p:nvSpPr>
          <p:cNvPr id="45" name="Text 43"/>
          <p:cNvSpPr/>
          <p:nvPr/>
        </p:nvSpPr>
        <p:spPr>
          <a:xfrm>
            <a:off x="4822031" y="1710147"/>
            <a:ext cx="78581" cy="78581"/>
          </a:xfrm>
          <a:prstGeom prst="ellipse">
            <a:avLst/>
          </a:prstGeom>
          <a:solidFill>
            <a:srgbClr val="FF5F56"/>
          </a:solidFill>
          <a:ln/>
        </p:spPr>
        <p:txBody>
          <a:bodyPr wrap="square" rtlCol="0" anchor="ctr"/>
          <a:lstStyle/>
          <a:p>
            <a:pPr indent="0" marL="0">
              <a:buNone/>
            </a:pPr>
            <a:endParaRPr lang="en-US" dirty="0"/>
          </a:p>
        </p:txBody>
      </p:sp>
      <p:sp>
        <p:nvSpPr>
          <p:cNvPr id="46" name="Text 44"/>
          <p:cNvSpPr/>
          <p:nvPr/>
        </p:nvSpPr>
        <p:spPr>
          <a:xfrm>
            <a:off x="4943475" y="1710147"/>
            <a:ext cx="78581" cy="78581"/>
          </a:xfrm>
          <a:prstGeom prst="ellipse">
            <a:avLst/>
          </a:prstGeom>
          <a:solidFill>
            <a:srgbClr val="FFBD2E"/>
          </a:solidFill>
          <a:ln/>
        </p:spPr>
        <p:txBody>
          <a:bodyPr wrap="square" rtlCol="0" anchor="ctr"/>
          <a:lstStyle/>
          <a:p>
            <a:pPr indent="0" marL="0">
              <a:buNone/>
            </a:pPr>
            <a:endParaRPr lang="en-US" dirty="0"/>
          </a:p>
        </p:txBody>
      </p:sp>
      <p:sp>
        <p:nvSpPr>
          <p:cNvPr id="47" name="Text 45"/>
          <p:cNvSpPr/>
          <p:nvPr/>
        </p:nvSpPr>
        <p:spPr>
          <a:xfrm>
            <a:off x="5064919" y="1710147"/>
            <a:ext cx="78581" cy="78581"/>
          </a:xfrm>
          <a:prstGeom prst="ellipse">
            <a:avLst/>
          </a:prstGeom>
          <a:solidFill>
            <a:srgbClr val="27C93F"/>
          </a:solidFill>
          <a:ln/>
        </p:spPr>
        <p:txBody>
          <a:bodyPr wrap="square" rtlCol="0" anchor="ctr"/>
          <a:lstStyle/>
          <a:p>
            <a:pPr indent="0" marL="0">
              <a:buNone/>
            </a:pPr>
            <a:endParaRPr lang="en-US" dirty="0"/>
          </a:p>
        </p:txBody>
      </p:sp>
      <p:sp>
        <p:nvSpPr>
          <p:cNvPr id="48" name="Text 46"/>
          <p:cNvSpPr/>
          <p:nvPr/>
        </p:nvSpPr>
        <p:spPr>
          <a:xfrm>
            <a:off x="4822031" y="1888741"/>
            <a:ext cx="3767328" cy="175538"/>
          </a:xfrm>
          <a:prstGeom prst="rect">
            <a:avLst/>
          </a:prstGeom>
          <a:noFill/>
          <a:ln/>
        </p:spPr>
        <p:txBody>
          <a:bodyPr wrap="square" lIns="0" tIns="0" rIns="0" bIns="0" rtlCol="0" anchor="t"/>
          <a:lstStyle/>
          <a:p>
            <a:pPr algn="l" indent="0" marL="0">
              <a:lnSpc>
                <a:spcPts val="1170"/>
              </a:lnSpc>
              <a:buNone/>
            </a:pPr>
            <a:r>
              <a:rPr lang="en-US" sz="800" dirty="0">
                <a:solidFill>
                  <a:srgbClr val="F4F4F5"/>
                </a:solidFill>
                <a:latin typeface="Courier New" pitchFamily="34" charset="0"/>
                <a:ea typeface="Courier New" pitchFamily="34" charset="-122"/>
                <a:cs typeface="Courier New" pitchFamily="34" charset="-120"/>
              </a:rPr>
              <a:t>$ python agent.py --live "..."</a:t>
            </a:r>
            <a:endParaRPr lang="en-US" sz="800" dirty="0"/>
          </a:p>
        </p:txBody>
      </p:sp>
      <p:sp>
        <p:nvSpPr>
          <p:cNvPr id="49" name="Text 47"/>
          <p:cNvSpPr/>
          <p:nvPr/>
        </p:nvSpPr>
        <p:spPr>
          <a:xfrm>
            <a:off x="4822031" y="2137321"/>
            <a:ext cx="3657600" cy="603897"/>
          </a:xfrm>
          <a:prstGeom prst="rect">
            <a:avLst/>
          </a:prstGeom>
          <a:noFill/>
          <a:ln/>
        </p:spPr>
        <p:txBody>
          <a:bodyPr wrap="square" lIns="0" tIns="0" rIns="0" bIns="0" rtlCol="0" anchor="t">
            <a:normAutofit/>
          </a:bodyPr>
          <a:lstStyle/>
          <a:p>
            <a:pPr algn="l" indent="0" marL="0">
              <a:lnSpc>
                <a:spcPts val="1046"/>
              </a:lnSpc>
              <a:buNone/>
            </a:pPr>
            <a:r>
              <a:rPr lang="en-US" sz="800" dirty="0">
                <a:solidFill>
                  <a:srgbClr val="71717A"/>
                </a:solidFill>
                <a:latin typeface="Courier New" pitchFamily="34" charset="0"/>
                <a:ea typeface="Courier New" pitchFamily="34" charset="-122"/>
                <a:cs typeface="Courier New" pitchFamily="34" charset="-120"/>
              </a:rPr>
              <a:t># one real question, real network, real token, real repo</a:t>
            </a:r>
            <a:endParaRPr lang="en-US" sz="800" dirty="0"/>
          </a:p>
          <a:p>
            <a:pPr algn="l" indent="0" marL="0">
              <a:lnSpc>
                <a:spcPts val="1046"/>
              </a:lnSpc>
              <a:buNone/>
            </a:pPr>
            <a:r>
              <a:rPr lang="en-US" sz="800" dirty="0">
                <a:solidFill>
                  <a:srgbClr val="FF7A1A"/>
                </a:solidFill>
                <a:latin typeface="Courier New" pitchFamily="34" charset="0"/>
                <a:ea typeface="Courier New" pitchFamily="34" charset="-122"/>
                <a:cs typeface="Courier New" pitchFamily="34" charset="-120"/>
              </a:rPr>
              <a:t>›</a:t>
            </a:r>
            <a:pPr algn="l" indent="0" marL="0">
              <a:lnSpc>
                <a:spcPts val="1046"/>
              </a:lnSpc>
              <a:buNone/>
            </a:pPr>
            <a:r>
              <a:rPr lang="en-US" sz="800" dirty="0">
                <a:solidFill>
                  <a:srgbClr val="A1A1AA"/>
                </a:solidFill>
                <a:latin typeface="Courier New" pitchFamily="34" charset="0"/>
                <a:ea typeface="Courier New" pitchFamily="34" charset="-122"/>
                <a:cs typeface="Courier New" pitchFamily="34" charset="-120"/>
              </a:rPr>
              <a:t> What are the 3 most recently updated open</a:t>
            </a:r>
            <a:endParaRPr lang="en-US" sz="800" dirty="0"/>
          </a:p>
          <a:p>
            <a:pPr algn="l" indent="0" marL="0">
              <a:lnSpc>
                <a:spcPts val="1046"/>
              </a:lnSpc>
              <a:buNone/>
            </a:pPr>
            <a:r>
              <a:rPr lang="en-US" sz="800" dirty="0">
                <a:solidFill>
                  <a:srgbClr val="A1A1AA"/>
                </a:solidFill>
                <a:latin typeface="Courier New" pitchFamily="34" charset="0"/>
                <a:ea typeface="Courier New" pitchFamily="34" charset="-122"/>
                <a:cs typeface="Courier New" pitchFamily="34" charset="-120"/>
              </a:rPr>
              <a:t>pull requests on anthropics/</a:t>
            </a:r>
            <a:endParaRPr lang="en-US" sz="800" dirty="0"/>
          </a:p>
          <a:p>
            <a:pPr algn="l" indent="0" marL="0">
              <a:lnSpc>
                <a:spcPts val="1046"/>
              </a:lnSpc>
              <a:buNone/>
            </a:pPr>
            <a:r>
              <a:rPr lang="en-US" sz="800" dirty="0">
                <a:solidFill>
                  <a:srgbClr val="A1A1AA"/>
                </a:solidFill>
                <a:latin typeface="Courier New" pitchFamily="34" charset="0"/>
                <a:ea typeface="Courier New" pitchFamily="34" charset="-122"/>
                <a:cs typeface="Courier New" pitchFamily="34" charset="-120"/>
              </a:rPr>
              <a:t>claude-agent-sdk-python?</a:t>
            </a:r>
            <a:endParaRPr lang="en-US" sz="800" dirty="0"/>
          </a:p>
        </p:txBody>
      </p:sp>
      <p:sp>
        <p:nvSpPr>
          <p:cNvPr id="50" name="Text 48"/>
          <p:cNvSpPr/>
          <p:nvPr/>
        </p:nvSpPr>
        <p:spPr>
          <a:xfrm>
            <a:off x="4822031" y="2768650"/>
            <a:ext cx="3657600" cy="175451"/>
          </a:xfrm>
          <a:prstGeom prst="rect">
            <a:avLst/>
          </a:prstGeom>
          <a:noFill/>
          <a:ln/>
        </p:spPr>
        <p:txBody>
          <a:bodyPr wrap="square" lIns="0" tIns="0" rIns="0" bIns="0" rtlCol="0" anchor="t"/>
          <a:lstStyle/>
          <a:p>
            <a:pPr algn="l" indent="0" marL="0">
              <a:lnSpc>
                <a:spcPts val="1080"/>
              </a:lnSpc>
              <a:buNone/>
            </a:pPr>
            <a:r>
              <a:rPr lang="en-US" sz="800" dirty="0">
                <a:solidFill>
                  <a:srgbClr val="FF7A1A"/>
                </a:solidFill>
                <a:latin typeface="Courier New" pitchFamily="34" charset="0"/>
                <a:ea typeface="Courier New" pitchFamily="34" charset="-122"/>
                <a:cs typeface="Courier New" pitchFamily="34" charset="-120"/>
              </a:rPr>
              <a:t>↳</a:t>
            </a:r>
            <a:pPr algn="l" indent="0" marL="0">
              <a:lnSpc>
                <a:spcPts val="1080"/>
              </a:lnSpc>
              <a:buNone/>
            </a:pPr>
            <a:r>
              <a:rPr lang="en-US" sz="800" dirty="0">
                <a:solidFill>
                  <a:srgbClr val="71717A"/>
                </a:solidFill>
                <a:latin typeface="Courier New" pitchFamily="34" charset="0"/>
                <a:ea typeface="Courier New" pitchFamily="34" charset="-122"/>
                <a:cs typeface="Courier New" pitchFamily="34" charset="-120"/>
              </a:rPr>
              <a:t> coordinator streams AssistantMessage / TextBlock → stdout</a:t>
            </a:r>
            <a:endParaRPr lang="en-US" sz="800" dirty="0"/>
          </a:p>
        </p:txBody>
      </p:sp>
      <p:sp>
        <p:nvSpPr>
          <p:cNvPr id="51" name="Shape 49"/>
          <p:cNvSpPr/>
          <p:nvPr/>
        </p:nvSpPr>
        <p:spPr>
          <a:xfrm>
            <a:off x="514350" y="4661297"/>
            <a:ext cx="8115300" cy="0"/>
          </a:xfrm>
          <a:prstGeom prst="line">
            <a:avLst/>
          </a:prstGeom>
          <a:noFill/>
          <a:ln w="7144">
            <a:solidFill>
              <a:srgbClr val="2A2A33"/>
            </a:solidFill>
            <a:prstDash val="solid"/>
          </a:ln>
        </p:spPr>
      </p:sp>
      <p:sp>
        <p:nvSpPr>
          <p:cNvPr id="52" name="Text 50"/>
          <p:cNvSpPr/>
          <p:nvPr/>
        </p:nvSpPr>
        <p:spPr>
          <a:xfrm>
            <a:off x="514350" y="4657725"/>
            <a:ext cx="8115300" cy="438912"/>
          </a:xfrm>
          <a:prstGeom prst="rect">
            <a:avLst/>
          </a:prstGeom>
          <a:noFill/>
          <a:ln/>
        </p:spPr>
        <p:txBody>
          <a:bodyPr wrap="square" lIns="0" tIns="71438" rIns="0" bIns="0" rtlCol="0" anchor="t"/>
          <a:lstStyle/>
          <a:p>
            <a:pPr algn="l" indent="0" marL="0">
              <a:lnSpc>
                <a:spcPts val="928"/>
              </a:lnSpc>
              <a:buNone/>
            </a:pPr>
            <a:r>
              <a:rPr lang="en-US" sz="800" i="1" spc="111" kern="0" dirty="0">
                <a:solidFill>
                  <a:srgbClr val="FF7A1A"/>
                </a:solidFill>
                <a:latin typeface="Courier New" pitchFamily="34" charset="0"/>
                <a:ea typeface="Courier New" pitchFamily="34" charset="-122"/>
                <a:cs typeface="Courier New" pitchFamily="34" charset="-120"/>
              </a:rPr>
              <a:t>PRODUCER NOTE:</a:t>
            </a:r>
            <a:pPr algn="l" indent="0" marL="0">
              <a:lnSpc>
                <a:spcPts val="928"/>
              </a:lnSpc>
              <a:buNone/>
            </a:pPr>
            <a:r>
              <a:rPr lang="en-US" sz="800" i="1" dirty="0">
                <a:solidFill>
                  <a:srgbClr val="71717A"/>
                </a:solidFill>
                <a:latin typeface="Carlito" pitchFamily="34" charset="0"/>
                <a:ea typeface="Carlito" pitchFamily="34" charset="-122"/>
                <a:cs typeface="Carlito" pitchFamily="34" charset="-120"/>
              </a:rPr>
              <a:t> Pre-capture this segment, same reasoning as the Opus demos back in Episode 5 and 12 — real network call, real token, real repo. Run it on your own machine first, confirm the header-expansion gotcha isn't biting you, then record the real output. Don't improvise this one live.</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19 / 30</a:t>
            </a:r>
            <a:endParaRPr lang="en-US" sz="800" dirty="0"/>
          </a:p>
        </p:txBody>
      </p:sp>
      <p:sp>
        <p:nvSpPr>
          <p:cNvPr id="3" name="Text 1"/>
          <p:cNvSpPr/>
          <p:nvPr/>
        </p:nvSpPr>
        <p:spPr>
          <a:xfrm>
            <a:off x="514350" y="400050"/>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Liberation Sans Narrow" pitchFamily="34" charset="0"/>
                <a:ea typeface="Liberation Sans Narrow" pitchFamily="34" charset="-122"/>
                <a:cs typeface="Liberation Sans Narrow" pitchFamily="34" charset="-120"/>
              </a:rPr>
              <a:t>PATTERN 4</a:t>
            </a:r>
            <a:endParaRPr lang="en-US" sz="800" dirty="0"/>
          </a:p>
        </p:txBody>
      </p:sp>
      <p:sp>
        <p:nvSpPr>
          <p:cNvPr id="4" name="Text 2"/>
          <p:cNvSpPr/>
          <p:nvPr/>
        </p:nvSpPr>
        <p:spPr>
          <a:xfrm>
            <a:off x="514350" y="1484114"/>
            <a:ext cx="5207794" cy="164592"/>
          </a:xfrm>
          <a:prstGeom prst="rect">
            <a:avLst/>
          </a:prstGeom>
          <a:noFill/>
          <a:ln/>
        </p:spPr>
        <p:txBody>
          <a:bodyPr wrap="none" lIns="0" tIns="0" rIns="0" bIns="0" rtlCol="0" anchor="t"/>
          <a:lstStyle/>
          <a:p>
            <a:pPr algn="l" indent="0" marL="0">
              <a:lnSpc>
                <a:spcPts val="1097"/>
              </a:lnSpc>
              <a:buNone/>
            </a:pPr>
            <a:r>
              <a:rPr lang="en-US" sz="800" spc="234" kern="0" dirty="0">
                <a:solidFill>
                  <a:srgbClr val="71717A"/>
                </a:solidFill>
                <a:latin typeface="Courier New" pitchFamily="34" charset="0"/>
                <a:ea typeface="Courier New" pitchFamily="34" charset="-122"/>
                <a:cs typeface="Courier New" pitchFamily="34" charset="-120"/>
              </a:rPr>
              <a:t>CHAPTER</a:t>
            </a:r>
            <a:endParaRPr lang="en-US" sz="800" dirty="0"/>
          </a:p>
        </p:txBody>
      </p:sp>
      <p:sp>
        <p:nvSpPr>
          <p:cNvPr id="5" name="Text 3"/>
          <p:cNvSpPr/>
          <p:nvPr/>
        </p:nvSpPr>
        <p:spPr>
          <a:xfrm>
            <a:off x="514350" y="1694855"/>
            <a:ext cx="3471863" cy="1357884"/>
          </a:xfrm>
          <a:prstGeom prst="rect">
            <a:avLst/>
          </a:prstGeom>
          <a:noFill/>
          <a:ln/>
        </p:spPr>
        <p:txBody>
          <a:bodyPr wrap="square" lIns="0" tIns="0" rIns="0" bIns="0" rtlCol="0" anchor="t"/>
          <a:lstStyle/>
          <a:p>
            <a:pPr algn="l" indent="0" marL="0">
              <a:lnSpc>
                <a:spcPts val="4950"/>
              </a:lnSpc>
              <a:buNone/>
            </a:pPr>
            <a:r>
              <a:rPr lang="en-US" sz="4950" b="1" spc="-99" kern="0" dirty="0">
                <a:solidFill>
                  <a:srgbClr val="FF7A1A"/>
                </a:solidFill>
                <a:latin typeface="Courier New" pitchFamily="34" charset="0"/>
                <a:ea typeface="Courier New" pitchFamily="34" charset="-122"/>
                <a:cs typeface="Courier New" pitchFamily="34" charset="-120"/>
              </a:rPr>
              <a:t>PATTERN</a:t>
            </a:r>
            <a:endParaRPr lang="en-US" sz="4950" dirty="0"/>
          </a:p>
          <a:p>
            <a:pPr algn="l" indent="0" marL="0">
              <a:lnSpc>
                <a:spcPts val="4950"/>
              </a:lnSpc>
              <a:buNone/>
            </a:pPr>
            <a:r>
              <a:rPr lang="en-US" sz="4950" b="1" spc="-99" kern="0" dirty="0">
                <a:solidFill>
                  <a:srgbClr val="F4F4F5"/>
                </a:solidFill>
                <a:latin typeface="Liberation Sans Narrow" pitchFamily="34" charset="0"/>
                <a:ea typeface="Liberation Sans Narrow" pitchFamily="34" charset="-122"/>
                <a:cs typeface="Liberation Sans Narrow" pitchFamily="34" charset="-120"/>
              </a:rPr>
              <a:t>04</a:t>
            </a:r>
            <a:endParaRPr lang="en-US" sz="4950" dirty="0"/>
          </a:p>
        </p:txBody>
      </p:sp>
      <p:sp>
        <p:nvSpPr>
          <p:cNvPr id="6" name="Text 4"/>
          <p:cNvSpPr/>
          <p:nvPr/>
        </p:nvSpPr>
        <p:spPr>
          <a:xfrm>
            <a:off x="514350" y="3152180"/>
            <a:ext cx="400050" cy="21431"/>
          </a:xfrm>
          <a:prstGeom prst="rect">
            <a:avLst/>
          </a:prstGeom>
          <a:solidFill>
            <a:srgbClr val="FF7A1A"/>
          </a:solidFill>
          <a:ln/>
        </p:spPr>
        <p:txBody>
          <a:bodyPr wrap="square" rtlCol="0" anchor="ctr"/>
          <a:lstStyle/>
          <a:p>
            <a:pPr indent="0" marL="0">
              <a:buNone/>
            </a:pPr>
            <a:endParaRPr lang="en-US" dirty="0"/>
          </a:p>
        </p:txBody>
      </p:sp>
      <p:sp>
        <p:nvSpPr>
          <p:cNvPr id="7" name="Text 5"/>
          <p:cNvSpPr/>
          <p:nvPr/>
        </p:nvSpPr>
        <p:spPr>
          <a:xfrm>
            <a:off x="514350" y="3330773"/>
            <a:ext cx="2571750" cy="590217"/>
          </a:xfrm>
          <a:prstGeom prst="rect">
            <a:avLst/>
          </a:prstGeom>
          <a:noFill/>
          <a:ln/>
        </p:spPr>
        <p:txBody>
          <a:bodyPr wrap="square" lIns="0" tIns="0" rIns="0" bIns="0" rtlCol="0" anchor="t"/>
          <a:lstStyle/>
          <a:p>
            <a:pPr algn="l" indent="0" marL="0">
              <a:lnSpc>
                <a:spcPts val="1434"/>
              </a:lnSpc>
              <a:buNone/>
            </a:pPr>
            <a:r>
              <a:rPr lang="en-US" sz="956" dirty="0">
                <a:solidFill>
                  <a:srgbClr val="A1A1AA"/>
                </a:solidFill>
                <a:latin typeface="Carlito" pitchFamily="34" charset="0"/>
                <a:ea typeface="Carlito" pitchFamily="34" charset="-122"/>
                <a:cs typeface="Carlito" pitchFamily="34" charset="-120"/>
              </a:rPr>
              <a:t>Nobody's built this specific thing yet — and it should be portable across every MCP client, not just this Python script.</a:t>
            </a:r>
            <a:endParaRPr lang="en-US" sz="956" dirty="0"/>
          </a:p>
        </p:txBody>
      </p:sp>
      <p:sp>
        <p:nvSpPr>
          <p:cNvPr id="8" name="Text 6"/>
          <p:cNvSpPr/>
          <p:nvPr/>
        </p:nvSpPr>
        <p:spPr>
          <a:xfrm>
            <a:off x="4386263" y="1480654"/>
            <a:ext cx="4243388" cy="656520"/>
          </a:xfrm>
          <a:prstGeom prst="rect">
            <a:avLst/>
          </a:prstGeom>
          <a:noFill/>
          <a:ln/>
        </p:spPr>
        <p:txBody>
          <a:bodyPr wrap="square" lIns="0" tIns="0" rIns="0" bIns="0" rtlCol="0" anchor="t"/>
          <a:lstStyle/>
          <a:p>
            <a:pPr algn="l" indent="0" marL="0">
              <a:lnSpc>
                <a:spcPts val="2394"/>
              </a:lnSpc>
              <a:buNone/>
            </a:pPr>
            <a:r>
              <a:rPr lang="en-US" sz="2138" b="1" spc="-43" kern="0" dirty="0">
                <a:solidFill>
                  <a:srgbClr val="F4F4F5"/>
                </a:solidFill>
                <a:latin typeface="Carlito" pitchFamily="34" charset="0"/>
                <a:ea typeface="Carlito" pitchFamily="34" charset="-122"/>
                <a:cs typeface="Carlito" pitchFamily="34" charset="-120"/>
              </a:rPr>
              <a:t>Build Your Own, </a:t>
            </a:r>
            <a:pPr algn="l" indent="0" marL="0">
              <a:lnSpc>
                <a:spcPts val="2394"/>
              </a:lnSpc>
              <a:buNone/>
            </a:pPr>
            <a:r>
              <a:rPr lang="en-US" sz="2138" b="1" spc="-43" kern="0" dirty="0">
                <a:solidFill>
                  <a:srgbClr val="FF7A1A"/>
                </a:solidFill>
                <a:latin typeface="Carlito" pitchFamily="34" charset="0"/>
                <a:ea typeface="Carlito" pitchFamily="34" charset="-122"/>
                <a:cs typeface="Carlito" pitchFamily="34" charset="-120"/>
              </a:rPr>
              <a:t>Truly Portable</a:t>
            </a:r>
            <a:pPr algn="l" indent="0" marL="0">
              <a:lnSpc>
                <a:spcPts val="2394"/>
              </a:lnSpc>
              <a:buNone/>
            </a:pPr>
            <a:r>
              <a:rPr lang="en-US" sz="2138" b="1" spc="-43" kern="0" dirty="0">
                <a:solidFill>
                  <a:srgbClr val="F4F4F5"/>
                </a:solidFill>
                <a:latin typeface="Carlito" pitchFamily="34" charset="0"/>
                <a:ea typeface="Carlito" pitchFamily="34" charset="-122"/>
                <a:cs typeface="Carlito" pitchFamily="34" charset="-120"/>
              </a:rPr>
              <a:t> MCP Server</a:t>
            </a:r>
            <a:endParaRPr lang="en-US" sz="2138" dirty="0"/>
          </a:p>
        </p:txBody>
      </p:sp>
      <p:sp>
        <p:nvSpPr>
          <p:cNvPr id="9" name="Text 7"/>
          <p:cNvSpPr/>
          <p:nvPr/>
        </p:nvSpPr>
        <p:spPr>
          <a:xfrm>
            <a:off x="4386263" y="2274280"/>
            <a:ext cx="4243388" cy="1065401"/>
          </a:xfrm>
          <a:prstGeom prst="rect">
            <a:avLst/>
          </a:prstGeom>
          <a:noFill/>
          <a:ln/>
        </p:spPr>
        <p:txBody>
          <a:bodyPr wrap="square" lIns="0" tIns="0" rIns="0" bIns="0" rtlCol="0" anchor="t"/>
          <a:lstStyle/>
          <a:p>
            <a:pPr algn="l" indent="0" marL="0">
              <a:lnSpc>
                <a:spcPts val="1482"/>
              </a:lnSpc>
              <a:spcAft>
                <a:spcPts val="675"/>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675"/>
              </a:spcAft>
              <a:buNone/>
            </a:pPr>
            <a:r>
              <a:rPr lang="en-US" sz="956" dirty="0">
                <a:solidFill>
                  <a:srgbClr val="F4F4F5"/>
                </a:solidFill>
                <a:latin typeface="Liberation Sans Narrow" pitchFamily="34" charset="0"/>
                <a:ea typeface="Liberation Sans Narrow" pitchFamily="34" charset="-122"/>
                <a:cs typeface="Liberation Sans Narrow" pitchFamily="34" charset="-120"/>
              </a:rPr>
              <a:t>Pattern 3 was </a:t>
            </a:r>
            <a:pPr algn="l" indent="0" marL="0">
              <a:lnSpc>
                <a:spcPts val="1482"/>
              </a:lnSpc>
              <a:spcAft>
                <a:spcPts val="675"/>
              </a:spcAft>
              <a:buNone/>
            </a:pPr>
            <a:r>
              <a:rPr lang="en-US" sz="956" dirty="0">
                <a:solidFill>
                  <a:srgbClr val="A1A1AA"/>
                </a:solidFill>
                <a:latin typeface="Carlito" pitchFamily="34" charset="0"/>
                <a:ea typeface="Carlito" pitchFamily="34" charset="-122"/>
                <a:cs typeface="Carlito" pitchFamily="34" charset="-120"/>
              </a:rPr>
              <a:t>"somebody else already built it"</a:t>
            </a:r>
            <a:endParaRPr lang="en-US" sz="956" dirty="0"/>
          </a:p>
          <a:p>
            <a:pPr algn="l" indent="0" marL="0">
              <a:lnSpc>
                <a:spcPts val="1482"/>
              </a:lnSpc>
              <a:spcAft>
                <a:spcPts val="675"/>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675"/>
              </a:spcAft>
              <a:buNone/>
            </a:pPr>
            <a:r>
              <a:rPr lang="en-US" sz="956" dirty="0">
                <a:solidFill>
                  <a:srgbClr val="F4F4F5"/>
                </a:solidFill>
                <a:latin typeface="Liberation Sans Narrow" pitchFamily="34" charset="0"/>
                <a:ea typeface="Liberation Sans Narrow" pitchFamily="34" charset="-122"/>
                <a:cs typeface="Liberation Sans Narrow" pitchFamily="34" charset="-120"/>
              </a:rPr>
              <a:t>Pattern 4 is </a:t>
            </a:r>
            <a:pPr algn="l" indent="0" marL="0">
              <a:lnSpc>
                <a:spcPts val="1482"/>
              </a:lnSpc>
              <a:spcAft>
                <a:spcPts val="675"/>
              </a:spcAft>
              <a:buNone/>
            </a:pPr>
            <a:r>
              <a:rPr lang="en-US" sz="956" dirty="0">
                <a:solidFill>
                  <a:srgbClr val="F4F4F5"/>
                </a:solidFill>
                <a:latin typeface="Carlito" pitchFamily="34" charset="0"/>
                <a:ea typeface="Carlito" pitchFamily="34" charset="-122"/>
                <a:cs typeface="Carlito" pitchFamily="34" charset="-120"/>
              </a:rPr>
              <a:t>"nobody's built this yet, and it should be portable"</a:t>
            </a:r>
            <a:endParaRPr lang="en-US" sz="956" dirty="0"/>
          </a:p>
          <a:p>
            <a:pPr algn="l" indent="0" marL="0">
              <a:lnSpc>
                <a:spcPts val="1482"/>
              </a:lnSpc>
              <a:spcAft>
                <a:spcPts val="675"/>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675"/>
              </a:spcAft>
              <a:buNone/>
            </a:pPr>
            <a:r>
              <a:rPr lang="en-US" sz="956" dirty="0">
                <a:solidFill>
                  <a:srgbClr val="F4F4F5"/>
                </a:solidFill>
                <a:latin typeface="Carlito" pitchFamily="34" charset="0"/>
                <a:ea typeface="Carlito" pitchFamily="34" charset="-122"/>
                <a:cs typeface="Carlito" pitchFamily="34" charset="-120"/>
              </a:rPr>
              <a:t>Today's build: one tool, counts </a:t>
            </a:r>
            <a:pPr algn="l" indent="0" marL="0">
              <a:lnSpc>
                <a:spcPts val="1482"/>
              </a:lnSpc>
              <a:spcAft>
                <a:spcPts val="675"/>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TODO/FIXME</a:t>
            </a:r>
            <a:pPr algn="l" indent="0" marL="0">
              <a:lnSpc>
                <a:spcPts val="1482"/>
              </a:lnSpc>
              <a:spcAft>
                <a:spcPts val="675"/>
              </a:spcAft>
              <a:buNone/>
            </a:pPr>
            <a:r>
              <a:rPr lang="en-US" sz="956" dirty="0">
                <a:solidFill>
                  <a:srgbClr val="F4F4F5"/>
                </a:solidFill>
                <a:latin typeface="Carlito" pitchFamily="34" charset="0"/>
                <a:ea typeface="Carlito" pitchFamily="34" charset="-122"/>
                <a:cs typeface="Carlito" pitchFamily="34" charset="-120"/>
              </a:rPr>
              <a:t> comments — deliberately simple</a:t>
            </a:r>
            <a:endParaRPr lang="en-US" sz="956" dirty="0"/>
          </a:p>
        </p:txBody>
      </p:sp>
      <p:sp>
        <p:nvSpPr>
          <p:cNvPr id="10" name="Text 8"/>
          <p:cNvSpPr/>
          <p:nvPr/>
        </p:nvSpPr>
        <p:spPr>
          <a:xfrm>
            <a:off x="4386263" y="3384240"/>
            <a:ext cx="3714750" cy="496491"/>
          </a:xfrm>
          <a:prstGeom prst="rect">
            <a:avLst/>
          </a:prstGeom>
          <a:solidFill>
            <a:srgbClr val="15151A"/>
          </a:solidFill>
          <a:ln/>
        </p:spPr>
        <p:txBody>
          <a:bodyPr wrap="square" rtlCol="0" anchor="ctr"/>
          <a:lstStyle/>
          <a:p>
            <a:pPr indent="0" marL="0">
              <a:buNone/>
            </a:pPr>
            <a:endParaRPr lang="en-US" dirty="0"/>
          </a:p>
        </p:txBody>
      </p:sp>
      <p:sp>
        <p:nvSpPr>
          <p:cNvPr id="11" name="Shape 9"/>
          <p:cNvSpPr/>
          <p:nvPr/>
        </p:nvSpPr>
        <p:spPr>
          <a:xfrm>
            <a:off x="4396978" y="3384240"/>
            <a:ext cx="0" cy="496491"/>
          </a:xfrm>
          <a:prstGeom prst="line">
            <a:avLst/>
          </a:prstGeom>
          <a:noFill/>
          <a:ln w="21431">
            <a:solidFill>
              <a:srgbClr val="C79BFF"/>
            </a:solidFill>
            <a:prstDash val="solid"/>
          </a:ln>
        </p:spPr>
      </p:sp>
      <p:sp>
        <p:nvSpPr>
          <p:cNvPr id="12" name="Text 10"/>
          <p:cNvSpPr/>
          <p:nvPr/>
        </p:nvSpPr>
        <p:spPr>
          <a:xfrm>
            <a:off x="4550569" y="3484252"/>
            <a:ext cx="3407569" cy="119015"/>
          </a:xfrm>
          <a:prstGeom prst="rect">
            <a:avLst/>
          </a:prstGeom>
          <a:noFill/>
          <a:ln/>
        </p:spPr>
        <p:txBody>
          <a:bodyPr wrap="none" lIns="0" tIns="0" rIns="0" bIns="0" rtlCol="0" anchor="t">
            <a:normAutofit/>
          </a:bodyPr>
          <a:lstStyle/>
          <a:p>
            <a:pPr algn="l" indent="0" marL="0">
              <a:lnSpc>
                <a:spcPts val="928"/>
              </a:lnSpc>
              <a:buNone/>
            </a:pPr>
            <a:r>
              <a:rPr lang="en-US" sz="800" spc="149" kern="0" dirty="0">
                <a:solidFill>
                  <a:srgbClr val="C79BFF"/>
                </a:solidFill>
                <a:latin typeface="Courier New" pitchFamily="34" charset="0"/>
                <a:ea typeface="Courier New" pitchFamily="34" charset="-122"/>
                <a:cs typeface="Courier New" pitchFamily="34" charset="-120"/>
              </a:rPr>
              <a:t>EXAM MAP</a:t>
            </a:r>
            <a:endParaRPr lang="en-US" sz="800" dirty="0"/>
          </a:p>
        </p:txBody>
      </p:sp>
      <p:sp>
        <p:nvSpPr>
          <p:cNvPr id="13" name="Text 11"/>
          <p:cNvSpPr/>
          <p:nvPr/>
        </p:nvSpPr>
        <p:spPr>
          <a:xfrm>
            <a:off x="4550569" y="3630699"/>
            <a:ext cx="3407569" cy="150019"/>
          </a:xfrm>
          <a:prstGeom prst="rect">
            <a:avLst/>
          </a:prstGeom>
          <a:noFill/>
          <a:ln/>
        </p:spPr>
        <p:txBody>
          <a:bodyPr wrap="square" lIns="0" tIns="0" rIns="0" bIns="0" rtlCol="0" anchor="t"/>
          <a:lstStyle/>
          <a:p>
            <a:pPr algn="l" indent="0" marL="0">
              <a:lnSpc>
                <a:spcPts val="1181"/>
              </a:lnSpc>
              <a:buNone/>
            </a:pPr>
            <a:r>
              <a:rPr lang="en-US" sz="788" dirty="0">
                <a:solidFill>
                  <a:srgbClr val="F4F4F5"/>
                </a:solidFill>
                <a:latin typeface="Liberation Sans Narrow" pitchFamily="34" charset="0"/>
                <a:ea typeface="Liberation Sans Narrow" pitchFamily="34" charset="-122"/>
                <a:cs typeface="Liberation Sans Narrow" pitchFamily="34" charset="-120"/>
              </a:rPr>
              <a:t>Domain 8 — Tools and MCPs (10.6%): </a:t>
            </a:r>
            <a:pPr algn="l" indent="0" marL="0">
              <a:lnSpc>
                <a:spcPts val="1181"/>
              </a:lnSpc>
              <a:buNone/>
            </a:pPr>
            <a:r>
              <a:rPr lang="en-US" sz="788" dirty="0">
                <a:solidFill>
                  <a:srgbClr val="FF7A1A"/>
                </a:solidFill>
                <a:latin typeface="Liberation Sans Narrow" pitchFamily="34" charset="0"/>
                <a:ea typeface="Liberation Sans Narrow" pitchFamily="34" charset="-122"/>
                <a:cs typeface="Liberation Sans Narrow" pitchFamily="34" charset="-120"/>
              </a:rPr>
              <a:t>MCP Server Development (2.1%)</a:t>
            </a:r>
            <a:pPr algn="l" indent="0" marL="0">
              <a:lnSpc>
                <a:spcPts val="1181"/>
              </a:lnSpc>
              <a:buNone/>
            </a:pPr>
            <a:r>
              <a:rPr lang="en-US" sz="788" dirty="0">
                <a:solidFill>
                  <a:srgbClr val="F4F4F5"/>
                </a:solidFill>
                <a:latin typeface="Carlito" pitchFamily="34" charset="0"/>
                <a:ea typeface="Carlito" pitchFamily="34" charset="-122"/>
                <a:cs typeface="Carlito" pitchFamily="34" charset="-120"/>
              </a:rPr>
              <a:t>.</a:t>
            </a:r>
            <a:endParaRPr lang="en-US" sz="788"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20 / 30</a:t>
            </a:r>
            <a:endParaRPr lang="en-US" sz="800" dirty="0"/>
          </a:p>
        </p:txBody>
      </p:sp>
      <p:sp>
        <p:nvSpPr>
          <p:cNvPr id="3" name="Text 1"/>
          <p:cNvSpPr/>
          <p:nvPr/>
        </p:nvSpPr>
        <p:spPr>
          <a:xfrm>
            <a:off x="514350" y="400050"/>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COMPARISON</a:t>
            </a:r>
            <a:endParaRPr lang="en-US" sz="800" dirty="0"/>
          </a:p>
        </p:txBody>
      </p:sp>
      <p:sp>
        <p:nvSpPr>
          <p:cNvPr id="4" name="Text 2"/>
          <p:cNvSpPr/>
          <p:nvPr/>
        </p:nvSpPr>
        <p:spPr>
          <a:xfrm>
            <a:off x="514350" y="617934"/>
            <a:ext cx="8629650" cy="373346"/>
          </a:xfrm>
          <a:prstGeom prst="rect">
            <a:avLst/>
          </a:prstGeom>
          <a:noFill/>
          <a:ln/>
        </p:spPr>
        <p:txBody>
          <a:bodyPr wrap="squar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In-Process vs Standalone — The Real Difference</a:t>
            </a:r>
            <a:endParaRPr lang="en-US" sz="2475" dirty="0"/>
          </a:p>
        </p:txBody>
      </p:sp>
      <p:sp>
        <p:nvSpPr>
          <p:cNvPr id="5" name="Shape 3"/>
          <p:cNvSpPr/>
          <p:nvPr/>
        </p:nvSpPr>
        <p:spPr>
          <a:xfrm>
            <a:off x="514350" y="1145791"/>
            <a:ext cx="400050" cy="0"/>
          </a:xfrm>
          <a:prstGeom prst="line">
            <a:avLst/>
          </a:prstGeom>
          <a:noFill/>
          <a:ln w="7144">
            <a:solidFill>
              <a:srgbClr val="F4F4F5"/>
            </a:solidFill>
            <a:prstDash val="solid"/>
          </a:ln>
        </p:spPr>
      </p:sp>
      <p:sp>
        <p:nvSpPr>
          <p:cNvPr id="6" name="Text 4"/>
          <p:cNvSpPr/>
          <p:nvPr/>
        </p:nvSpPr>
        <p:spPr>
          <a:xfrm>
            <a:off x="514350" y="1356531"/>
            <a:ext cx="7858125" cy="910493"/>
          </a:xfrm>
          <a:prstGeom prst="rect">
            <a:avLst/>
          </a:prstGeom>
          <a:noFill/>
          <a:ln/>
        </p:spPr>
        <p:txBody>
          <a:bodyPr wrap="square" lIns="0" tIns="0" rIns="0" bIns="0" rtlCol="0" anchor="t"/>
          <a:lstStyle/>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Liberation Sans Narrow" pitchFamily="34" charset="0"/>
                <a:ea typeface="Liberation Sans Narrow" pitchFamily="34" charset="-122"/>
                <a:cs typeface="Liberation Sans Narrow" pitchFamily="34" charset="-120"/>
              </a:rPr>
              <a:t>In-process (Ep03/04):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@tool</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 +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create_sdk_mcp_server()</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 lives in our process, usable only by this agent</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Standalone (today): the real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mcp</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 SDK's </a:t>
            </a:r>
            <a:pPr algn="l" indent="0" marL="0">
              <a:lnSpc>
                <a:spcPts val="1482"/>
              </a:lnSpc>
              <a:spcAft>
                <a:spcPts val="788"/>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FastMCP</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 its own process, usable by any MCP client</a:t>
            </a:r>
            <a:endParaRPr lang="en-US" sz="956" dirty="0"/>
          </a:p>
          <a:p>
            <a:pPr algn="l" indent="0" marL="0">
              <a:lnSpc>
                <a:spcPts val="148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788"/>
              </a:spcAft>
              <a:buNone/>
            </a:pPr>
            <a:r>
              <a:rPr lang="en-US" sz="956" dirty="0">
                <a:solidFill>
                  <a:srgbClr val="F4F4F5"/>
                </a:solidFill>
                <a:latin typeface="Carlito" pitchFamily="34" charset="0"/>
                <a:ea typeface="Carlito" pitchFamily="34" charset="-122"/>
                <a:cs typeface="Carlito" pitchFamily="34" charset="-120"/>
              </a:rPr>
              <a:t>Neither is "the upgrade" — different jobs</a:t>
            </a:r>
            <a:endParaRPr lang="en-US" sz="956" dirty="0"/>
          </a:p>
        </p:txBody>
      </p:sp>
      <p:sp>
        <p:nvSpPr>
          <p:cNvPr id="7" name="Text 5"/>
          <p:cNvSpPr/>
          <p:nvPr/>
        </p:nvSpPr>
        <p:spPr>
          <a:xfrm>
            <a:off x="517922" y="2339020"/>
            <a:ext cx="3821906" cy="1382316"/>
          </a:xfrm>
          <a:prstGeom prst="roundRect">
            <a:avLst>
              <a:gd name="adj" fmla="val 6891"/>
            </a:avLst>
          </a:prstGeom>
          <a:solidFill>
            <a:srgbClr val="15151A"/>
          </a:solidFill>
          <a:ln w="7144">
            <a:solidFill>
              <a:srgbClr val="2A2A33"/>
            </a:solidFill>
            <a:prstDash val="solid"/>
          </a:ln>
        </p:spPr>
        <p:txBody>
          <a:bodyPr wrap="square" rtlCol="0" anchor="ctr"/>
          <a:lstStyle/>
          <a:p>
            <a:pPr indent="0" marL="0">
              <a:buNone/>
            </a:pPr>
            <a:endParaRPr lang="en-US" dirty="0"/>
          </a:p>
        </p:txBody>
      </p:sp>
      <p:sp>
        <p:nvSpPr>
          <p:cNvPr id="8" name="Text 6"/>
          <p:cNvSpPr/>
          <p:nvPr/>
        </p:nvSpPr>
        <p:spPr>
          <a:xfrm>
            <a:off x="850106" y="2506898"/>
            <a:ext cx="1516656" cy="139654"/>
          </a:xfrm>
          <a:prstGeom prst="rect">
            <a:avLst/>
          </a:prstGeom>
          <a:noFill/>
          <a:ln/>
        </p:spPr>
        <p:txBody>
          <a:bodyPr wrap="none" lIns="0" tIns="0" rIns="0" bIns="0" rtlCol="0" anchor="t"/>
          <a:lstStyle/>
          <a:p>
            <a:pPr algn="l" indent="0" marL="0">
              <a:lnSpc>
                <a:spcPts val="928"/>
              </a:lnSpc>
              <a:buNone/>
            </a:pPr>
            <a:r>
              <a:rPr lang="en-US" sz="800" spc="124" kern="0" dirty="0">
                <a:solidFill>
                  <a:srgbClr val="FF7A1A"/>
                </a:solidFill>
                <a:latin typeface="Liberation Sans Narrow" pitchFamily="34" charset="0"/>
                <a:ea typeface="Liberation Sans Narrow" pitchFamily="34" charset="-122"/>
                <a:cs typeface="Liberation Sans Narrow" pitchFamily="34" charset="-120"/>
              </a:rPr>
              <a:t>IN-PROCESS · EP03/04</a:t>
            </a:r>
            <a:endParaRPr lang="en-US" sz="800" dirty="0"/>
          </a:p>
        </p:txBody>
      </p:sp>
      <p:sp>
        <p:nvSpPr>
          <p:cNvPr id="9" name="Text 7"/>
          <p:cNvSpPr/>
          <p:nvPr/>
        </p:nvSpPr>
        <p:spPr>
          <a:xfrm>
            <a:off x="692944" y="2508684"/>
            <a:ext cx="100013" cy="100013"/>
          </a:xfrm>
          <a:prstGeom prst="rect">
            <a:avLst/>
          </a:prstGeom>
          <a:noFill/>
          <a:ln/>
        </p:spPr>
        <p:txBody>
          <a:bodyPr wrap="none" lIns="0" tIns="0" rIns="0" bIns="0" rtlCol="0" anchor="ctr"/>
          <a:lstStyle/>
          <a:p>
            <a:pPr algn="ctr" indent="0" marL="0">
              <a:buNone/>
            </a:pPr>
            <a:r>
              <a:rPr lang="en-US" sz="984" dirty="0">
                <a:solidFill>
                  <a:srgbClr val="FF7A1A"/>
                </a:solidFill>
                <a:latin typeface="Segoe UI Symbol" pitchFamily="34" charset="0"/>
                <a:ea typeface="Segoe UI Symbol" pitchFamily="34" charset="-122"/>
                <a:cs typeface="Segoe UI Symbol" pitchFamily="34" charset="-120"/>
              </a:rPr>
              <a:t>▦</a:t>
            </a:r>
            <a:endParaRPr lang="en-US" sz="984" dirty="0"/>
          </a:p>
        </p:txBody>
      </p:sp>
      <p:sp>
        <p:nvSpPr>
          <p:cNvPr id="10" name="Text 8"/>
          <p:cNvSpPr/>
          <p:nvPr/>
        </p:nvSpPr>
        <p:spPr>
          <a:xfrm>
            <a:off x="692944" y="2674776"/>
            <a:ext cx="3471863" cy="208312"/>
          </a:xfrm>
          <a:prstGeom prst="rect">
            <a:avLst/>
          </a:prstGeom>
          <a:noFill/>
          <a:ln/>
        </p:spPr>
        <p:txBody>
          <a:bodyPr wrap="none" lIns="0" tIns="0" rIns="0" bIns="0" rtlCol="0" anchor="t"/>
          <a:lstStyle/>
          <a:p>
            <a:pPr algn="l" indent="0" marL="0">
              <a:lnSpc>
                <a:spcPts val="1519"/>
              </a:lnSpc>
              <a:buNone/>
            </a:pPr>
            <a:r>
              <a:rPr lang="en-US" sz="1013" dirty="0">
                <a:solidFill>
                  <a:srgbClr val="F4F4F5"/>
                </a:solidFill>
                <a:latin typeface="Carlito" pitchFamily="34" charset="0"/>
                <a:ea typeface="Carlito" pitchFamily="34" charset="-122"/>
                <a:cs typeface="Carlito" pitchFamily="34" charset="-120"/>
              </a:rPr>
              <a:t>lives inside our agent</a:t>
            </a:r>
            <a:endParaRPr lang="en-US" sz="1013" dirty="0"/>
          </a:p>
        </p:txBody>
      </p:sp>
      <p:sp>
        <p:nvSpPr>
          <p:cNvPr id="11" name="Text 9"/>
          <p:cNvSpPr/>
          <p:nvPr/>
        </p:nvSpPr>
        <p:spPr>
          <a:xfrm>
            <a:off x="692944" y="2967670"/>
            <a:ext cx="823141" cy="209481"/>
          </a:xfrm>
          <a:prstGeom prst="rect">
            <a:avLst/>
          </a:prstGeom>
          <a:noFill/>
          <a:ln/>
        </p:spPr>
        <p:txBody>
          <a:bodyPr wrap="none" lIns="0" tIns="14288" rIns="0" bIns="0" rtlCol="0" anchor="t"/>
          <a:lstStyle/>
          <a:p>
            <a:pPr algn="l" indent="0" marL="0">
              <a:lnSpc>
                <a:spcPts val="928"/>
              </a:lnSpc>
              <a:buNone/>
            </a:pPr>
            <a:r>
              <a:rPr lang="en-US" sz="800" spc="87" kern="0" dirty="0">
                <a:solidFill>
                  <a:srgbClr val="71717A"/>
                </a:solidFill>
                <a:latin typeface="Courier New" pitchFamily="34" charset="0"/>
                <a:ea typeface="Courier New" pitchFamily="34" charset="-122"/>
                <a:cs typeface="Courier New" pitchFamily="34" charset="-120"/>
              </a:rPr>
              <a:t>BUILT WITH</a:t>
            </a:r>
            <a:endParaRPr lang="en-US" sz="800" dirty="0"/>
          </a:p>
        </p:txBody>
      </p:sp>
      <p:sp>
        <p:nvSpPr>
          <p:cNvPr id="12" name="Text 10"/>
          <p:cNvSpPr/>
          <p:nvPr/>
        </p:nvSpPr>
        <p:spPr>
          <a:xfrm>
            <a:off x="1407319" y="2967670"/>
            <a:ext cx="2867216" cy="164592"/>
          </a:xfrm>
          <a:prstGeom prst="rect">
            <a:avLst/>
          </a:prstGeom>
          <a:noFill/>
          <a:ln/>
        </p:spPr>
        <p:txBody>
          <a:bodyPr wrap="square" lIns="0" tIns="0" rIns="0" bIns="0" rtlCol="0" anchor="t"/>
          <a:lstStyle/>
          <a:p>
            <a:pPr algn="l" indent="0" marL="0">
              <a:lnSpc>
                <a:spcPts val="1181"/>
              </a:lnSpc>
              <a:buNone/>
            </a:pPr>
            <a:r>
              <a:rPr lang="en-US" sz="800" dirty="0">
                <a:solidFill>
                  <a:srgbClr val="F4F4F5"/>
                </a:solidFill>
                <a:latin typeface="Courier New" pitchFamily="34" charset="0"/>
                <a:ea typeface="Courier New" pitchFamily="34" charset="-122"/>
                <a:cs typeface="Courier New" pitchFamily="34" charset="-120"/>
              </a:rPr>
              <a:t>@tool + create_sdk_mcp_server()</a:t>
            </a:r>
            <a:endParaRPr lang="en-US" sz="800" dirty="0"/>
          </a:p>
        </p:txBody>
      </p:sp>
      <p:sp>
        <p:nvSpPr>
          <p:cNvPr id="13" name="Text 11"/>
          <p:cNvSpPr/>
          <p:nvPr/>
        </p:nvSpPr>
        <p:spPr>
          <a:xfrm>
            <a:off x="692944" y="3189126"/>
            <a:ext cx="892578" cy="209481"/>
          </a:xfrm>
          <a:prstGeom prst="rect">
            <a:avLst/>
          </a:prstGeom>
          <a:noFill/>
          <a:ln/>
        </p:spPr>
        <p:txBody>
          <a:bodyPr wrap="none" lIns="0" tIns="14288" rIns="0" bIns="0" rtlCol="0" anchor="t"/>
          <a:lstStyle/>
          <a:p>
            <a:pPr algn="l" indent="0" marL="0">
              <a:lnSpc>
                <a:spcPts val="928"/>
              </a:lnSpc>
              <a:buNone/>
            </a:pPr>
            <a:r>
              <a:rPr lang="en-US" sz="800" spc="87" kern="0" dirty="0">
                <a:solidFill>
                  <a:srgbClr val="71717A"/>
                </a:solidFill>
                <a:latin typeface="Courier New" pitchFamily="34" charset="0"/>
                <a:ea typeface="Courier New" pitchFamily="34" charset="-122"/>
                <a:cs typeface="Courier New" pitchFamily="34" charset="-120"/>
              </a:rPr>
              <a:t>LIVES IN</a:t>
            </a:r>
            <a:endParaRPr lang="en-US" sz="800" dirty="0"/>
          </a:p>
        </p:txBody>
      </p:sp>
      <p:sp>
        <p:nvSpPr>
          <p:cNvPr id="14" name="Text 12"/>
          <p:cNvSpPr/>
          <p:nvPr/>
        </p:nvSpPr>
        <p:spPr>
          <a:xfrm>
            <a:off x="1407319" y="3189126"/>
            <a:ext cx="2757488" cy="164592"/>
          </a:xfrm>
          <a:prstGeom prst="rect">
            <a:avLst/>
          </a:prstGeom>
          <a:noFill/>
          <a:ln/>
        </p:spPr>
        <p:txBody>
          <a:bodyPr wrap="none" lIns="0" tIns="0" rIns="0" bIns="0" rtlCol="0" anchor="t"/>
          <a:lstStyle/>
          <a:p>
            <a:pPr algn="l" indent="0" marL="0">
              <a:lnSpc>
                <a:spcPts val="1181"/>
              </a:lnSpc>
              <a:buNone/>
            </a:pPr>
            <a:r>
              <a:rPr lang="en-US" sz="800" dirty="0">
                <a:solidFill>
                  <a:srgbClr val="F4F4F5"/>
                </a:solidFill>
                <a:latin typeface="Carlito" pitchFamily="34" charset="0"/>
                <a:ea typeface="Carlito" pitchFamily="34" charset="-122"/>
                <a:cs typeface="Carlito" pitchFamily="34" charset="-120"/>
              </a:rPr>
              <a:t>our agent's own process</a:t>
            </a:r>
            <a:endParaRPr lang="en-US" sz="800" dirty="0"/>
          </a:p>
        </p:txBody>
      </p:sp>
      <p:sp>
        <p:nvSpPr>
          <p:cNvPr id="15" name="Text 13"/>
          <p:cNvSpPr/>
          <p:nvPr/>
        </p:nvSpPr>
        <p:spPr>
          <a:xfrm>
            <a:off x="692944" y="3410583"/>
            <a:ext cx="892578" cy="150019"/>
          </a:xfrm>
          <a:prstGeom prst="rect">
            <a:avLst/>
          </a:prstGeom>
          <a:noFill/>
          <a:ln/>
        </p:spPr>
        <p:txBody>
          <a:bodyPr wrap="none" lIns="0" tIns="14288" rIns="0" bIns="0" rtlCol="0" anchor="t"/>
          <a:lstStyle/>
          <a:p>
            <a:pPr algn="l" indent="0" marL="0">
              <a:lnSpc>
                <a:spcPts val="928"/>
              </a:lnSpc>
              <a:buNone/>
            </a:pPr>
            <a:r>
              <a:rPr lang="en-US" sz="800" spc="87" kern="0" dirty="0">
                <a:solidFill>
                  <a:srgbClr val="71717A"/>
                </a:solidFill>
                <a:latin typeface="Courier New" pitchFamily="34" charset="0"/>
                <a:ea typeface="Courier New" pitchFamily="34" charset="-122"/>
                <a:cs typeface="Courier New" pitchFamily="34" charset="-120"/>
              </a:rPr>
              <a:t>USABLE BY</a:t>
            </a:r>
            <a:endParaRPr lang="en-US" sz="800" dirty="0"/>
          </a:p>
        </p:txBody>
      </p:sp>
      <p:sp>
        <p:nvSpPr>
          <p:cNvPr id="16" name="Text 14"/>
          <p:cNvSpPr/>
          <p:nvPr/>
        </p:nvSpPr>
        <p:spPr>
          <a:xfrm>
            <a:off x="1407319" y="3410583"/>
            <a:ext cx="2757488" cy="150019"/>
          </a:xfrm>
          <a:prstGeom prst="rect">
            <a:avLst/>
          </a:prstGeom>
          <a:noFill/>
          <a:ln/>
        </p:spPr>
        <p:txBody>
          <a:bodyPr wrap="none" lIns="0" tIns="0" rIns="0" bIns="0" rtlCol="0" anchor="t"/>
          <a:lstStyle/>
          <a:p>
            <a:pPr algn="l" indent="0" marL="0">
              <a:lnSpc>
                <a:spcPts val="1181"/>
              </a:lnSpc>
              <a:buNone/>
            </a:pPr>
            <a:r>
              <a:rPr lang="en-US" sz="800" dirty="0">
                <a:solidFill>
                  <a:srgbClr val="F4F4F5"/>
                </a:solidFill>
                <a:latin typeface="Carlito" pitchFamily="34" charset="0"/>
                <a:ea typeface="Carlito" pitchFamily="34" charset="-122"/>
                <a:cs typeface="Carlito" pitchFamily="34" charset="-120"/>
              </a:rPr>
              <a:t>this agent only</a:t>
            </a:r>
            <a:endParaRPr lang="en-US" sz="800" dirty="0"/>
          </a:p>
        </p:txBody>
      </p:sp>
      <p:sp>
        <p:nvSpPr>
          <p:cNvPr id="17" name="Text 15"/>
          <p:cNvSpPr/>
          <p:nvPr/>
        </p:nvSpPr>
        <p:spPr>
          <a:xfrm>
            <a:off x="4546997" y="2339020"/>
            <a:ext cx="3821906" cy="1382316"/>
          </a:xfrm>
          <a:prstGeom prst="roundRect">
            <a:avLst>
              <a:gd name="adj" fmla="val 6891"/>
            </a:avLst>
          </a:prstGeom>
          <a:solidFill>
            <a:srgbClr val="15151A"/>
          </a:solidFill>
          <a:ln w="7144">
            <a:solidFill>
              <a:srgbClr val="FF7A1A"/>
            </a:solidFill>
            <a:prstDash val="solid"/>
          </a:ln>
          <a:effectLst>
            <a:outerShdw sx="100000" sy="100000" kx="0" ky="0" algn="bl" rotWithShape="0" blurRad="285750" dist="50800" dir="16200000">
              <a:srgbClr val="FF7A1A">
                <a:alpha val="18000"/>
              </a:srgbClr>
            </a:outerShdw>
          </a:effectLst>
        </p:spPr>
        <p:txBody>
          <a:bodyPr wrap="square" rtlCol="0" anchor="ctr"/>
          <a:lstStyle/>
          <a:p>
            <a:pPr indent="0" marL="0">
              <a:buNone/>
            </a:pPr>
            <a:endParaRPr lang="en-US" dirty="0"/>
          </a:p>
        </p:txBody>
      </p:sp>
      <p:sp>
        <p:nvSpPr>
          <p:cNvPr id="18" name="Text 16"/>
          <p:cNvSpPr/>
          <p:nvPr/>
        </p:nvSpPr>
        <p:spPr>
          <a:xfrm>
            <a:off x="4879181" y="2506898"/>
            <a:ext cx="1362059" cy="139654"/>
          </a:xfrm>
          <a:prstGeom prst="rect">
            <a:avLst/>
          </a:prstGeom>
          <a:noFill/>
          <a:ln/>
        </p:spPr>
        <p:txBody>
          <a:bodyPr wrap="none" lIns="0" tIns="0" rIns="0" bIns="0" rtlCol="0" anchor="t"/>
          <a:lstStyle/>
          <a:p>
            <a:pPr algn="l" indent="0" marL="0">
              <a:lnSpc>
                <a:spcPts val="928"/>
              </a:lnSpc>
              <a:buNone/>
            </a:pPr>
            <a:r>
              <a:rPr lang="en-US" sz="800" spc="124" kern="0" dirty="0">
                <a:solidFill>
                  <a:srgbClr val="FF7A1A"/>
                </a:solidFill>
                <a:latin typeface="Courier New" pitchFamily="34" charset="0"/>
                <a:ea typeface="Courier New" pitchFamily="34" charset="-122"/>
                <a:cs typeface="Courier New" pitchFamily="34" charset="-120"/>
              </a:rPr>
              <a:t>STANDALONE · TODAY</a:t>
            </a:r>
            <a:endParaRPr lang="en-US" sz="800" dirty="0"/>
          </a:p>
        </p:txBody>
      </p:sp>
      <p:sp>
        <p:nvSpPr>
          <p:cNvPr id="19" name="Text 17"/>
          <p:cNvSpPr/>
          <p:nvPr/>
        </p:nvSpPr>
        <p:spPr>
          <a:xfrm>
            <a:off x="4722019" y="2508684"/>
            <a:ext cx="100013" cy="100013"/>
          </a:xfrm>
          <a:prstGeom prst="rect">
            <a:avLst/>
          </a:prstGeom>
          <a:noFill/>
          <a:ln/>
        </p:spPr>
        <p:txBody>
          <a:bodyPr wrap="none" lIns="0" tIns="0" rIns="0" bIns="0" rtlCol="0" anchor="ctr"/>
          <a:lstStyle/>
          <a:p>
            <a:pPr algn="ctr" indent="0" marL="0">
              <a:buNone/>
            </a:pPr>
            <a:r>
              <a:rPr lang="en-US" sz="984" dirty="0">
                <a:solidFill>
                  <a:srgbClr val="FF7A1A"/>
                </a:solidFill>
                <a:latin typeface="Segoe UI Symbol" pitchFamily="34" charset="0"/>
                <a:ea typeface="Segoe UI Symbol" pitchFamily="34" charset="-122"/>
                <a:cs typeface="Segoe UI Symbol" pitchFamily="34" charset="-120"/>
              </a:rPr>
              <a:t>✦</a:t>
            </a:r>
            <a:endParaRPr lang="en-US" sz="984" dirty="0"/>
          </a:p>
        </p:txBody>
      </p:sp>
      <p:sp>
        <p:nvSpPr>
          <p:cNvPr id="20" name="Text 18"/>
          <p:cNvSpPr/>
          <p:nvPr/>
        </p:nvSpPr>
        <p:spPr>
          <a:xfrm>
            <a:off x="4722019" y="2674776"/>
            <a:ext cx="3471863" cy="208312"/>
          </a:xfrm>
          <a:prstGeom prst="rect">
            <a:avLst/>
          </a:prstGeom>
          <a:noFill/>
          <a:ln/>
        </p:spPr>
        <p:txBody>
          <a:bodyPr wrap="none" lIns="0" tIns="0" rIns="0" bIns="0" rtlCol="0" anchor="t"/>
          <a:lstStyle/>
          <a:p>
            <a:pPr algn="l" indent="0" marL="0">
              <a:lnSpc>
                <a:spcPts val="1519"/>
              </a:lnSpc>
              <a:buNone/>
            </a:pPr>
            <a:r>
              <a:rPr lang="en-US" sz="1013" dirty="0">
                <a:solidFill>
                  <a:srgbClr val="F4F4F5"/>
                </a:solidFill>
                <a:latin typeface="Carlito" pitchFamily="34" charset="0"/>
                <a:ea typeface="Carlito" pitchFamily="34" charset="-122"/>
                <a:cs typeface="Carlito" pitchFamily="34" charset="-120"/>
              </a:rPr>
              <a:t>a separate program</a:t>
            </a:r>
            <a:endParaRPr lang="en-US" sz="1013" dirty="0"/>
          </a:p>
        </p:txBody>
      </p:sp>
      <p:sp>
        <p:nvSpPr>
          <p:cNvPr id="21" name="Text 19"/>
          <p:cNvSpPr/>
          <p:nvPr/>
        </p:nvSpPr>
        <p:spPr>
          <a:xfrm>
            <a:off x="4722019" y="2967670"/>
            <a:ext cx="823141" cy="209481"/>
          </a:xfrm>
          <a:prstGeom prst="rect">
            <a:avLst/>
          </a:prstGeom>
          <a:noFill/>
          <a:ln/>
        </p:spPr>
        <p:txBody>
          <a:bodyPr wrap="none" lIns="0" tIns="14288" rIns="0" bIns="0" rtlCol="0" anchor="t"/>
          <a:lstStyle/>
          <a:p>
            <a:pPr algn="l" indent="0" marL="0">
              <a:lnSpc>
                <a:spcPts val="928"/>
              </a:lnSpc>
              <a:buNone/>
            </a:pPr>
            <a:r>
              <a:rPr lang="en-US" sz="800" spc="87" kern="0" dirty="0">
                <a:solidFill>
                  <a:srgbClr val="71717A"/>
                </a:solidFill>
                <a:latin typeface="Courier New" pitchFamily="34" charset="0"/>
                <a:ea typeface="Courier New" pitchFamily="34" charset="-122"/>
                <a:cs typeface="Courier New" pitchFamily="34" charset="-120"/>
              </a:rPr>
              <a:t>BUILT WITH</a:t>
            </a:r>
            <a:endParaRPr lang="en-US" sz="800" dirty="0"/>
          </a:p>
        </p:txBody>
      </p:sp>
      <p:sp>
        <p:nvSpPr>
          <p:cNvPr id="22" name="Text 20"/>
          <p:cNvSpPr/>
          <p:nvPr/>
        </p:nvSpPr>
        <p:spPr>
          <a:xfrm>
            <a:off x="5436394" y="2967670"/>
            <a:ext cx="2757488" cy="164592"/>
          </a:xfrm>
          <a:prstGeom prst="rect">
            <a:avLst/>
          </a:prstGeom>
          <a:noFill/>
          <a:ln/>
        </p:spPr>
        <p:txBody>
          <a:bodyPr wrap="none" lIns="0" tIns="0" rIns="0" bIns="0" rtlCol="0" anchor="t"/>
          <a:lstStyle/>
          <a:p>
            <a:pPr algn="l" indent="0" marL="0">
              <a:lnSpc>
                <a:spcPts val="1181"/>
              </a:lnSpc>
              <a:buNone/>
            </a:pPr>
            <a:r>
              <a:rPr lang="en-US" sz="800" dirty="0">
                <a:solidFill>
                  <a:srgbClr val="FF7A1A"/>
                </a:solidFill>
                <a:latin typeface="Courier New" pitchFamily="34" charset="0"/>
                <a:ea typeface="Courier New" pitchFamily="34" charset="-122"/>
                <a:cs typeface="Courier New" pitchFamily="34" charset="-120"/>
              </a:rPr>
              <a:t>mcp SDK's FastMCP</a:t>
            </a:r>
            <a:endParaRPr lang="en-US" sz="800" dirty="0"/>
          </a:p>
        </p:txBody>
      </p:sp>
      <p:sp>
        <p:nvSpPr>
          <p:cNvPr id="23" name="Text 21"/>
          <p:cNvSpPr/>
          <p:nvPr/>
        </p:nvSpPr>
        <p:spPr>
          <a:xfrm>
            <a:off x="4722019" y="3189126"/>
            <a:ext cx="892578" cy="209481"/>
          </a:xfrm>
          <a:prstGeom prst="rect">
            <a:avLst/>
          </a:prstGeom>
          <a:noFill/>
          <a:ln/>
        </p:spPr>
        <p:txBody>
          <a:bodyPr wrap="none" lIns="0" tIns="14288" rIns="0" bIns="0" rtlCol="0" anchor="t"/>
          <a:lstStyle/>
          <a:p>
            <a:pPr algn="l" indent="0" marL="0">
              <a:lnSpc>
                <a:spcPts val="928"/>
              </a:lnSpc>
              <a:buNone/>
            </a:pPr>
            <a:r>
              <a:rPr lang="en-US" sz="800" spc="87" kern="0" dirty="0">
                <a:solidFill>
                  <a:srgbClr val="71717A"/>
                </a:solidFill>
                <a:latin typeface="Courier New" pitchFamily="34" charset="0"/>
                <a:ea typeface="Courier New" pitchFamily="34" charset="-122"/>
                <a:cs typeface="Courier New" pitchFamily="34" charset="-120"/>
              </a:rPr>
              <a:t>LIVES IN</a:t>
            </a:r>
            <a:endParaRPr lang="en-US" sz="800" dirty="0"/>
          </a:p>
        </p:txBody>
      </p:sp>
      <p:sp>
        <p:nvSpPr>
          <p:cNvPr id="24" name="Text 22"/>
          <p:cNvSpPr/>
          <p:nvPr/>
        </p:nvSpPr>
        <p:spPr>
          <a:xfrm>
            <a:off x="5436394" y="3189126"/>
            <a:ext cx="2757488" cy="164592"/>
          </a:xfrm>
          <a:prstGeom prst="rect">
            <a:avLst/>
          </a:prstGeom>
          <a:noFill/>
          <a:ln/>
        </p:spPr>
        <p:txBody>
          <a:bodyPr wrap="none" lIns="0" tIns="0" rIns="0" bIns="0" rtlCol="0" anchor="t"/>
          <a:lstStyle/>
          <a:p>
            <a:pPr algn="l" indent="0" marL="0">
              <a:lnSpc>
                <a:spcPts val="1181"/>
              </a:lnSpc>
              <a:buNone/>
            </a:pPr>
            <a:r>
              <a:rPr lang="en-US" sz="800" dirty="0">
                <a:solidFill>
                  <a:srgbClr val="F4F4F5"/>
                </a:solidFill>
                <a:latin typeface="Carlito" pitchFamily="34" charset="0"/>
                <a:ea typeface="Carlito" pitchFamily="34" charset="-122"/>
                <a:cs typeface="Carlito" pitchFamily="34" charset="-120"/>
              </a:rPr>
              <a:t>its own process</a:t>
            </a:r>
            <a:endParaRPr lang="en-US" sz="800" dirty="0"/>
          </a:p>
        </p:txBody>
      </p:sp>
      <p:sp>
        <p:nvSpPr>
          <p:cNvPr id="25" name="Text 23"/>
          <p:cNvSpPr/>
          <p:nvPr/>
        </p:nvSpPr>
        <p:spPr>
          <a:xfrm>
            <a:off x="4722019" y="3410583"/>
            <a:ext cx="892578" cy="150019"/>
          </a:xfrm>
          <a:prstGeom prst="rect">
            <a:avLst/>
          </a:prstGeom>
          <a:noFill/>
          <a:ln/>
        </p:spPr>
        <p:txBody>
          <a:bodyPr wrap="none" lIns="0" tIns="14288" rIns="0" bIns="0" rtlCol="0" anchor="t"/>
          <a:lstStyle/>
          <a:p>
            <a:pPr algn="l" indent="0" marL="0">
              <a:lnSpc>
                <a:spcPts val="928"/>
              </a:lnSpc>
              <a:buNone/>
            </a:pPr>
            <a:r>
              <a:rPr lang="en-US" sz="800" spc="87" kern="0" dirty="0">
                <a:solidFill>
                  <a:srgbClr val="71717A"/>
                </a:solidFill>
                <a:latin typeface="Courier New" pitchFamily="34" charset="0"/>
                <a:ea typeface="Courier New" pitchFamily="34" charset="-122"/>
                <a:cs typeface="Courier New" pitchFamily="34" charset="-120"/>
              </a:rPr>
              <a:t>USABLE BY</a:t>
            </a:r>
            <a:endParaRPr lang="en-US" sz="800" dirty="0"/>
          </a:p>
        </p:txBody>
      </p:sp>
      <p:sp>
        <p:nvSpPr>
          <p:cNvPr id="26" name="Text 24"/>
          <p:cNvSpPr/>
          <p:nvPr/>
        </p:nvSpPr>
        <p:spPr>
          <a:xfrm>
            <a:off x="5436394" y="3410583"/>
            <a:ext cx="2757488" cy="150019"/>
          </a:xfrm>
          <a:prstGeom prst="rect">
            <a:avLst/>
          </a:prstGeom>
          <a:noFill/>
          <a:ln/>
        </p:spPr>
        <p:txBody>
          <a:bodyPr wrap="none" lIns="0" tIns="0" rIns="0" bIns="0" rtlCol="0" anchor="t"/>
          <a:lstStyle/>
          <a:p>
            <a:pPr algn="l" indent="0" marL="0">
              <a:lnSpc>
                <a:spcPts val="1181"/>
              </a:lnSpc>
              <a:buNone/>
            </a:pPr>
            <a:r>
              <a:rPr lang="en-US" sz="800" dirty="0">
                <a:solidFill>
                  <a:srgbClr val="F4F4F5"/>
                </a:solidFill>
                <a:latin typeface="Carlito" pitchFamily="34" charset="0"/>
                <a:ea typeface="Carlito" pitchFamily="34" charset="-122"/>
                <a:cs typeface="Carlito" pitchFamily="34" charset="-120"/>
              </a:rPr>
              <a:t>any MCP client, anywhere</a:t>
            </a:r>
            <a:endParaRPr lang="en-US" sz="800" dirty="0"/>
          </a:p>
        </p:txBody>
      </p:sp>
      <p:sp>
        <p:nvSpPr>
          <p:cNvPr id="27" name="Text 25"/>
          <p:cNvSpPr/>
          <p:nvPr/>
        </p:nvSpPr>
        <p:spPr>
          <a:xfrm>
            <a:off x="0" y="4768453"/>
            <a:ext cx="8636000" cy="164592"/>
          </a:xfrm>
          <a:prstGeom prst="rect">
            <a:avLst/>
          </a:prstGeom>
          <a:noFill/>
          <a:ln/>
        </p:spPr>
        <p:txBody>
          <a:bodyPr wrap="none" lIns="0" tIns="0" rIns="0" bIns="0" rtlCol="0" anchor="t"/>
          <a:lstStyle/>
          <a:p>
            <a:pPr algn="ctr" indent="0" marL="0">
              <a:lnSpc>
                <a:spcPts val="928"/>
              </a:lnSpc>
              <a:buNone/>
            </a:pPr>
            <a:r>
              <a:rPr lang="en-US" sz="800" spc="149" kern="0" dirty="0">
                <a:solidFill>
                  <a:srgbClr val="FF7A1A"/>
                </a:solidFill>
                <a:latin typeface="Courier New" pitchFamily="34" charset="0"/>
                <a:ea typeface="Courier New" pitchFamily="34" charset="-122"/>
                <a:cs typeface="Courier New" pitchFamily="34" charset="-120"/>
              </a:rPr>
              <a:t>— NEITHER IS THE UPGRADE. —</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257175" y="200025"/>
            <a:ext cx="2232705"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71717A"/>
                </a:solidFill>
                <a:latin typeface="Liberation Sans Narrow" pitchFamily="34" charset="0"/>
                <a:ea typeface="Liberation Sans Narrow" pitchFamily="34" charset="-122"/>
                <a:cs typeface="Liberation Sans Narrow" pitchFamily="34" charset="-120"/>
              </a:rPr>
              <a:t>EP09 </a:t>
            </a:r>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a:t>
            </a:r>
            <a:pPr algn="l" indent="0" marL="0">
              <a:lnSpc>
                <a:spcPts val="928"/>
              </a:lnSpc>
              <a:buNone/>
            </a:pPr>
            <a:r>
              <a:rPr lang="en-US" sz="800" spc="173" kern="0" dirty="0">
                <a:solidFill>
                  <a:srgbClr val="71717A"/>
                </a:solidFill>
                <a:latin typeface="Courier New" pitchFamily="34" charset="0"/>
                <a:ea typeface="Courier New" pitchFamily="34" charset="-122"/>
                <a:cs typeface="Courier New" pitchFamily="34" charset="-120"/>
              </a:rPr>
              <a:t> MCP IN THE REAL WORLD</a:t>
            </a:r>
            <a:endParaRPr lang="en-US" sz="800" dirty="0"/>
          </a:p>
        </p:txBody>
      </p:sp>
      <p:sp>
        <p:nvSpPr>
          <p:cNvPr id="3" name="Text 1"/>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21 / 30</a:t>
            </a:r>
            <a:endParaRPr lang="en-US" sz="800" dirty="0"/>
          </a:p>
        </p:txBody>
      </p:sp>
      <p:sp>
        <p:nvSpPr>
          <p:cNvPr id="4" name="Text 2"/>
          <p:cNvSpPr/>
          <p:nvPr/>
        </p:nvSpPr>
        <p:spPr>
          <a:xfrm>
            <a:off x="4999025" y="3500438"/>
            <a:ext cx="4144975" cy="1643063"/>
          </a:xfrm>
          <a:prstGeom prst="rect">
            <a:avLst/>
          </a:prstGeom>
          <a:noFill/>
          <a:ln/>
        </p:spPr>
        <p:txBody>
          <a:bodyPr wrap="square" lIns="0" tIns="0" rIns="0" bIns="0" rtlCol="0" anchor="t"/>
          <a:lstStyle/>
          <a:p>
            <a:pPr algn="l" indent="0" marL="0">
              <a:lnSpc>
                <a:spcPts val="18000"/>
              </a:lnSpc>
              <a:buNone/>
            </a:pPr>
            <a:r>
              <a:rPr lang="en-US" sz="18000" b="1" dirty="0">
                <a:solidFill>
                  <a:srgbClr val="FF7A1A">
                    <a:alpha val="4000"/>
                  </a:srgbClr>
                </a:solidFill>
                <a:latin typeface="Liberation Sans Narrow" pitchFamily="34" charset="0"/>
                <a:ea typeface="Liberation Sans Narrow" pitchFamily="34" charset="-122"/>
                <a:cs typeface="Liberation Sans Narrow" pitchFamily="34" charset="-120"/>
              </a:rPr>
              <a:t>21</a:t>
            </a:r>
            <a:endParaRPr lang="en-US" sz="18000" dirty="0"/>
          </a:p>
        </p:txBody>
      </p:sp>
      <p:sp>
        <p:nvSpPr>
          <p:cNvPr id="5" name="Text 3"/>
          <p:cNvSpPr/>
          <p:nvPr/>
        </p:nvSpPr>
        <p:spPr>
          <a:xfrm>
            <a:off x="514350" y="571500"/>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BUILD</a:t>
            </a:r>
            <a:endParaRPr lang="en-US" sz="800" dirty="0"/>
          </a:p>
        </p:txBody>
      </p:sp>
      <p:sp>
        <p:nvSpPr>
          <p:cNvPr id="6" name="Text 4"/>
          <p:cNvSpPr/>
          <p:nvPr/>
        </p:nvSpPr>
        <p:spPr>
          <a:xfrm>
            <a:off x="514350" y="789384"/>
            <a:ext cx="8629650" cy="373346"/>
          </a:xfrm>
          <a:prstGeom prst="rect">
            <a:avLst/>
          </a:prstGeom>
          <a:noFill/>
          <a:ln/>
        </p:spPr>
        <p:txBody>
          <a:bodyPr wrap="squar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Writing </a:t>
            </a:r>
            <a:pPr algn="l" indent="0" marL="0">
              <a:lnSpc>
                <a:spcPts val="2723"/>
              </a:lnSpc>
              <a:buNone/>
            </a:pPr>
            <a:r>
              <a:rPr lang="en-US" sz="2475" b="1" spc="-49" kern="0" dirty="0">
                <a:solidFill>
                  <a:srgbClr val="FF7A1A"/>
                </a:solidFill>
                <a:latin typeface="Carlito" pitchFamily="34" charset="0"/>
                <a:ea typeface="Carlito" pitchFamily="34" charset="-122"/>
                <a:cs typeface="Carlito" pitchFamily="34" charset="-120"/>
              </a:rPr>
              <a:t>repo_facts_server.py</a:t>
            </a:r>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 With FastMCP</a:t>
            </a:r>
            <a:endParaRPr lang="en-US" sz="2475" dirty="0"/>
          </a:p>
        </p:txBody>
      </p:sp>
      <p:sp>
        <p:nvSpPr>
          <p:cNvPr id="7" name="Shape 5"/>
          <p:cNvSpPr/>
          <p:nvPr/>
        </p:nvSpPr>
        <p:spPr>
          <a:xfrm>
            <a:off x="514350" y="1317241"/>
            <a:ext cx="400050" cy="0"/>
          </a:xfrm>
          <a:prstGeom prst="line">
            <a:avLst/>
          </a:prstGeom>
          <a:noFill/>
          <a:ln w="7144">
            <a:solidFill>
              <a:srgbClr val="F4F4F5"/>
            </a:solidFill>
            <a:prstDash val="solid"/>
          </a:ln>
        </p:spPr>
      </p:sp>
      <p:sp>
        <p:nvSpPr>
          <p:cNvPr id="8" name="Text 6"/>
          <p:cNvSpPr/>
          <p:nvPr/>
        </p:nvSpPr>
        <p:spPr>
          <a:xfrm>
            <a:off x="514350" y="1527981"/>
            <a:ext cx="3086881" cy="1016270"/>
          </a:xfrm>
          <a:prstGeom prst="rect">
            <a:avLst/>
          </a:prstGeom>
          <a:noFill/>
          <a:ln/>
        </p:spPr>
        <p:txBody>
          <a:bodyPr wrap="square" lIns="0" tIns="0" rIns="0" bIns="0" rtlCol="0" anchor="t"/>
          <a:lstStyle/>
          <a:p>
            <a:pPr algn="l" indent="0" marL="0">
              <a:lnSpc>
                <a:spcPts val="1308"/>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Zero imports from </a:t>
            </a:r>
            <a:pPr algn="l" indent="0" marL="0">
              <a:lnSpc>
                <a:spcPts val="1308"/>
              </a:lnSpc>
              <a:spcAft>
                <a:spcPts val="788"/>
              </a:spcAft>
              <a:buNone/>
            </a:pPr>
            <a:r>
              <a:rPr lang="en-US" sz="802" dirty="0">
                <a:solidFill>
                  <a:srgbClr val="FF7A1A"/>
                </a:solidFill>
                <a:highlight>
                  <a:srgbClr val="1D1D24"/>
                </a:highlight>
                <a:latin typeface="Courier New" pitchFamily="34" charset="0"/>
                <a:ea typeface="Courier New" pitchFamily="34" charset="-122"/>
                <a:cs typeface="Courier New" pitchFamily="34" charset="-120"/>
              </a:rPr>
              <a:t>claude_agent_sdk</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 — only from </a:t>
            </a:r>
            <a:pPr algn="l" indent="0" marL="0">
              <a:lnSpc>
                <a:spcPts val="1308"/>
              </a:lnSpc>
              <a:spcAft>
                <a:spcPts val="788"/>
              </a:spcAft>
              <a:buNone/>
            </a:pPr>
            <a:r>
              <a:rPr lang="en-US" sz="802" dirty="0">
                <a:solidFill>
                  <a:srgbClr val="FF7A1A"/>
                </a:solidFill>
                <a:highlight>
                  <a:srgbClr val="1D1D24"/>
                </a:highlight>
                <a:latin typeface="Courier New" pitchFamily="34" charset="0"/>
                <a:ea typeface="Courier New" pitchFamily="34" charset="-122"/>
                <a:cs typeface="Courier New" pitchFamily="34" charset="-120"/>
              </a:rPr>
              <a:t>mcp</a:t>
            </a:r>
            <a:endParaRPr lang="en-US" sz="872" dirty="0"/>
          </a:p>
          <a:p>
            <a:pPr algn="l" indent="0" marL="0">
              <a:lnSpc>
                <a:spcPts val="1308"/>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08"/>
              </a:lnSpc>
              <a:spcAft>
                <a:spcPts val="788"/>
              </a:spcAft>
              <a:buNone/>
            </a:pPr>
            <a:r>
              <a:rPr lang="en-US" sz="802" dirty="0">
                <a:solidFill>
                  <a:srgbClr val="FF7A1A"/>
                </a:solidFill>
                <a:highlight>
                  <a:srgbClr val="1D1D24"/>
                </a:highlight>
                <a:latin typeface="Courier New" pitchFamily="34" charset="0"/>
                <a:ea typeface="Courier New" pitchFamily="34" charset="-122"/>
                <a:cs typeface="Courier New" pitchFamily="34" charset="-120"/>
              </a:rPr>
              <a:t>FastMCP("repo_facts")</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 + </a:t>
            </a:r>
            <a:pPr algn="l" indent="0" marL="0">
              <a:lnSpc>
                <a:spcPts val="1308"/>
              </a:lnSpc>
              <a:spcAft>
                <a:spcPts val="788"/>
              </a:spcAft>
              <a:buNone/>
            </a:pPr>
            <a:r>
              <a:rPr lang="en-US" sz="802" dirty="0">
                <a:solidFill>
                  <a:srgbClr val="FF7A1A"/>
                </a:solidFill>
                <a:highlight>
                  <a:srgbClr val="1D1D24"/>
                </a:highlight>
                <a:latin typeface="Courier New" pitchFamily="34" charset="0"/>
                <a:ea typeface="Courier New" pitchFamily="34" charset="-122"/>
                <a:cs typeface="Courier New" pitchFamily="34" charset="-120"/>
              </a:rPr>
              <a:t>@mcp.tool()</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 decorator</a:t>
            </a:r>
            <a:endParaRPr lang="en-US" sz="872" dirty="0"/>
          </a:p>
          <a:p>
            <a:pPr algn="l" indent="0" marL="0">
              <a:lnSpc>
                <a:spcPts val="1308"/>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One tool: </a:t>
            </a:r>
            <a:pPr algn="l" indent="0" marL="0">
              <a:lnSpc>
                <a:spcPts val="1308"/>
              </a:lnSpc>
              <a:spcAft>
                <a:spcPts val="788"/>
              </a:spcAft>
              <a:buNone/>
            </a:pPr>
            <a:r>
              <a:rPr lang="en-US" sz="802" dirty="0">
                <a:solidFill>
                  <a:srgbClr val="FF7A1A"/>
                </a:solidFill>
                <a:highlight>
                  <a:srgbClr val="1D1D24"/>
                </a:highlight>
                <a:latin typeface="Courier New" pitchFamily="34" charset="0"/>
                <a:ea typeface="Courier New" pitchFamily="34" charset="-122"/>
                <a:cs typeface="Courier New" pitchFamily="34" charset="-120"/>
              </a:rPr>
              <a:t>count_todos(directory)</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 — scans .py files for TODO/FIXME</a:t>
            </a:r>
            <a:endParaRPr lang="en-US" sz="872" dirty="0"/>
          </a:p>
        </p:txBody>
      </p:sp>
      <p:sp>
        <p:nvSpPr>
          <p:cNvPr id="9" name="Text 7"/>
          <p:cNvSpPr/>
          <p:nvPr/>
        </p:nvSpPr>
        <p:spPr>
          <a:xfrm>
            <a:off x="514350" y="2520962"/>
            <a:ext cx="3086881" cy="736476"/>
          </a:xfrm>
          <a:prstGeom prst="rect">
            <a:avLst/>
          </a:prstGeom>
          <a:solidFill>
            <a:srgbClr val="15151A"/>
          </a:solidFill>
          <a:ln/>
        </p:spPr>
        <p:txBody>
          <a:bodyPr wrap="square" rtlCol="0" anchor="ctr"/>
          <a:lstStyle/>
          <a:p>
            <a:pPr indent="0" marL="0">
              <a:buNone/>
            </a:pPr>
            <a:endParaRPr lang="en-US" dirty="0"/>
          </a:p>
        </p:txBody>
      </p:sp>
      <p:sp>
        <p:nvSpPr>
          <p:cNvPr id="10" name="Shape 8"/>
          <p:cNvSpPr/>
          <p:nvPr/>
        </p:nvSpPr>
        <p:spPr>
          <a:xfrm>
            <a:off x="525066" y="2520962"/>
            <a:ext cx="0" cy="736476"/>
          </a:xfrm>
          <a:prstGeom prst="line">
            <a:avLst/>
          </a:prstGeom>
          <a:noFill/>
          <a:ln w="21431">
            <a:solidFill>
              <a:srgbClr val="FF7A1A"/>
            </a:solidFill>
            <a:prstDash val="solid"/>
          </a:ln>
        </p:spPr>
      </p:sp>
      <p:sp>
        <p:nvSpPr>
          <p:cNvPr id="11" name="Text 9"/>
          <p:cNvSpPr/>
          <p:nvPr/>
        </p:nvSpPr>
        <p:spPr>
          <a:xfrm>
            <a:off x="650081" y="2606687"/>
            <a:ext cx="2836850" cy="113657"/>
          </a:xfrm>
          <a:prstGeom prst="rect">
            <a:avLst/>
          </a:prstGeom>
          <a:noFill/>
          <a:ln/>
        </p:spPr>
        <p:txBody>
          <a:bodyPr wrap="none" lIns="0" tIns="0" rIns="0" bIns="0" rtlCol="0" anchor="t">
            <a:normAutofit/>
          </a:bodyPr>
          <a:lstStyle/>
          <a:p>
            <a:pPr algn="l" indent="0" marL="0">
              <a:lnSpc>
                <a:spcPts val="886"/>
              </a:lnSpc>
              <a:buNone/>
            </a:pPr>
            <a:r>
              <a:rPr lang="en-US" sz="800" spc="142" kern="0" dirty="0">
                <a:solidFill>
                  <a:srgbClr val="FF7A1A"/>
                </a:solidFill>
                <a:latin typeface="Courier New" pitchFamily="34" charset="0"/>
                <a:ea typeface="Courier New" pitchFamily="34" charset="-122"/>
                <a:cs typeface="Courier New" pitchFamily="34" charset="-120"/>
              </a:rPr>
              <a:t>KEY FACT</a:t>
            </a:r>
            <a:endParaRPr lang="en-US" sz="800" dirty="0"/>
          </a:p>
        </p:txBody>
      </p:sp>
      <p:sp>
        <p:nvSpPr>
          <p:cNvPr id="12" name="Text 10"/>
          <p:cNvSpPr/>
          <p:nvPr/>
        </p:nvSpPr>
        <p:spPr>
          <a:xfrm>
            <a:off x="650081" y="2747776"/>
            <a:ext cx="569714" cy="142875"/>
          </a:xfrm>
          <a:prstGeom prst="roundRect">
            <a:avLst>
              <a:gd name="adj" fmla="val 26667"/>
            </a:avLst>
          </a:prstGeom>
          <a:solidFill>
            <a:srgbClr val="1D1D24"/>
          </a:solidFill>
          <a:ln/>
        </p:spPr>
        <p:txBody>
          <a:bodyPr wrap="square" rtlCol="0" anchor="ctr"/>
          <a:lstStyle/>
          <a:p>
            <a:pPr indent="0" marL="0">
              <a:buNone/>
            </a:pPr>
            <a:endParaRPr lang="en-US" dirty="0"/>
          </a:p>
        </p:txBody>
      </p:sp>
      <p:sp>
        <p:nvSpPr>
          <p:cNvPr id="13" name="Text 11"/>
          <p:cNvSpPr/>
          <p:nvPr/>
        </p:nvSpPr>
        <p:spPr>
          <a:xfrm>
            <a:off x="1623752" y="2890093"/>
            <a:ext cx="569714" cy="142875"/>
          </a:xfrm>
          <a:prstGeom prst="roundRect">
            <a:avLst>
              <a:gd name="adj" fmla="val 26667"/>
            </a:avLst>
          </a:prstGeom>
          <a:solidFill>
            <a:srgbClr val="1D1D24"/>
          </a:solidFill>
          <a:ln/>
        </p:spPr>
        <p:txBody>
          <a:bodyPr wrap="square" rtlCol="0" anchor="ctr"/>
          <a:lstStyle/>
          <a:p>
            <a:pPr indent="0" marL="0">
              <a:buNone/>
            </a:pPr>
            <a:endParaRPr lang="en-US" dirty="0"/>
          </a:p>
        </p:txBody>
      </p:sp>
      <p:sp>
        <p:nvSpPr>
          <p:cNvPr id="14" name="Text 12"/>
          <p:cNvSpPr/>
          <p:nvPr/>
        </p:nvSpPr>
        <p:spPr>
          <a:xfrm>
            <a:off x="650081" y="2747776"/>
            <a:ext cx="2836850" cy="423937"/>
          </a:xfrm>
          <a:prstGeom prst="rect">
            <a:avLst/>
          </a:prstGeom>
          <a:noFill/>
          <a:ln/>
        </p:spPr>
        <p:txBody>
          <a:bodyPr wrap="square" lIns="0" tIns="0" rIns="0" bIns="0" rtlCol="0" anchor="t"/>
          <a:lstStyle/>
          <a:p>
            <a:pPr algn="l" indent="0" marL="0">
              <a:lnSpc>
                <a:spcPts val="1097"/>
              </a:lnSpc>
              <a:buNone/>
            </a:pPr>
            <a:r>
              <a:rPr lang="en-US" sz="800" dirty="0">
                <a:solidFill>
                  <a:srgbClr val="FF7A1A"/>
                </a:solidFill>
                <a:highlight>
                  <a:srgbClr val="1D1D24"/>
                </a:highlight>
                <a:latin typeface="Courier New" pitchFamily="34" charset="0"/>
                <a:ea typeface="Courier New" pitchFamily="34" charset="-122"/>
                <a:cs typeface="Courier New" pitchFamily="34" charset="-120"/>
              </a:rPr>
              <a:t>@mcp.tool()</a:t>
            </a:r>
            <a:pPr algn="l" indent="0" marL="0">
              <a:lnSpc>
                <a:spcPts val="1097"/>
              </a:lnSpc>
              <a:buNone/>
            </a:pPr>
            <a:r>
              <a:rPr lang="en-US" sz="800" dirty="0">
                <a:solidFill>
                  <a:srgbClr val="F4F4F5"/>
                </a:solidFill>
                <a:latin typeface="Carlito" pitchFamily="34" charset="0"/>
                <a:ea typeface="Carlito" pitchFamily="34" charset="-122"/>
                <a:cs typeface="Carlito" pitchFamily="34" charset="-120"/>
              </a:rPr>
              <a:t> returns your function completely unchanged — it registers it on the side. </a:t>
            </a:r>
            <a:pPr algn="l" indent="0" marL="0">
              <a:lnSpc>
                <a:spcPts val="1097"/>
              </a:lnSpc>
              <a:buNone/>
            </a:pPr>
            <a:r>
              <a:rPr lang="en-US" sz="800" dirty="0">
                <a:solidFill>
                  <a:srgbClr val="FF7A1A"/>
                </a:solidFill>
                <a:highlight>
                  <a:srgbClr val="1D1D24"/>
                </a:highlight>
                <a:latin typeface="Courier New" pitchFamily="34" charset="0"/>
                <a:ea typeface="Courier New" pitchFamily="34" charset="-122"/>
                <a:cs typeface="Courier New" pitchFamily="34" charset="-120"/>
              </a:rPr>
              <a:t>count_todos</a:t>
            </a:r>
            <a:pPr algn="l" indent="0" marL="0">
              <a:lnSpc>
                <a:spcPts val="1097"/>
              </a:lnSpc>
              <a:buNone/>
            </a:pPr>
            <a:r>
              <a:rPr lang="en-US" sz="800" dirty="0">
                <a:solidFill>
                  <a:srgbClr val="F4F4F5"/>
                </a:solidFill>
                <a:latin typeface="Carlito" pitchFamily="34" charset="0"/>
                <a:ea typeface="Carlito" pitchFamily="34" charset="-122"/>
                <a:cs typeface="Carlito" pitchFamily="34" charset="-120"/>
              </a:rPr>
              <a:t> is still just a normal, directly-callable Python function underneath.</a:t>
            </a:r>
            <a:endParaRPr lang="en-US" sz="800" dirty="0"/>
          </a:p>
        </p:txBody>
      </p:sp>
      <p:sp>
        <p:nvSpPr>
          <p:cNvPr id="15" name="Text 13"/>
          <p:cNvSpPr/>
          <p:nvPr/>
        </p:nvSpPr>
        <p:spPr>
          <a:xfrm>
            <a:off x="514350" y="4622006"/>
            <a:ext cx="3622215" cy="177655"/>
          </a:xfrm>
          <a:prstGeom prst="rect">
            <a:avLst/>
          </a:prstGeom>
          <a:noFill/>
          <a:ln/>
        </p:spPr>
        <p:txBody>
          <a:bodyPr wrap="square" lIns="0" tIns="0" rIns="0" bIns="0" rtlCol="0" anchor="t"/>
          <a:lstStyle/>
          <a:p>
            <a:pPr algn="l" indent="0" marL="0">
              <a:lnSpc>
                <a:spcPts val="956"/>
              </a:lnSpc>
              <a:buNone/>
            </a:pPr>
            <a:r>
              <a:rPr lang="en-US" sz="800" spc="106" kern="0" dirty="0">
                <a:solidFill>
                  <a:srgbClr val="FF7A1A"/>
                </a:solidFill>
                <a:latin typeface="Segoe UI Symbol" pitchFamily="34" charset="0"/>
                <a:ea typeface="Segoe UI Symbol" pitchFamily="34" charset="-122"/>
                <a:cs typeface="Segoe UI Symbol" pitchFamily="34" charset="-120"/>
              </a:rPr>
              <a:t>✦</a:t>
            </a:r>
            <a:pPr algn="l" indent="0" marL="0">
              <a:lnSpc>
                <a:spcPts val="956"/>
              </a:lnSpc>
              <a:buNone/>
            </a:pPr>
            <a:r>
              <a:rPr lang="en-US" sz="800" spc="106" kern="0" dirty="0">
                <a:solidFill>
                  <a:srgbClr val="71717A"/>
                </a:solidFill>
                <a:latin typeface="Courier New" pitchFamily="34" charset="0"/>
                <a:ea typeface="Courier New" pitchFamily="34" charset="-122"/>
                <a:cs typeface="Courier New" pitchFamily="34" charset="-120"/>
              </a:rPr>
              <a:t> RUN WITH </a:t>
            </a:r>
            <a:pPr algn="l" indent="0" marL="0">
              <a:lnSpc>
                <a:spcPts val="956"/>
              </a:lnSpc>
              <a:buNone/>
            </a:pPr>
            <a:r>
              <a:rPr lang="en-US" sz="800" spc="106" kern="0" dirty="0">
                <a:solidFill>
                  <a:srgbClr val="FF7A1A"/>
                </a:solidFill>
                <a:latin typeface="Courier New" pitchFamily="34" charset="0"/>
                <a:ea typeface="Courier New" pitchFamily="34" charset="-122"/>
                <a:cs typeface="Courier New" pitchFamily="34" charset="-120"/>
              </a:rPr>
              <a:t>PYTHON REPO_FACTS_SERVER.PY</a:t>
            </a:r>
            <a:endParaRPr lang="en-US" sz="800" dirty="0"/>
          </a:p>
        </p:txBody>
      </p:sp>
      <p:sp>
        <p:nvSpPr>
          <p:cNvPr id="16" name="Text 14"/>
          <p:cNvSpPr/>
          <p:nvPr/>
        </p:nvSpPr>
        <p:spPr>
          <a:xfrm>
            <a:off x="3801256" y="1527981"/>
            <a:ext cx="5069813" cy="154734"/>
          </a:xfrm>
          <a:prstGeom prst="rect">
            <a:avLst/>
          </a:prstGeom>
          <a:noFill/>
          <a:ln/>
        </p:spPr>
        <p:txBody>
          <a:bodyPr wrap="none" lIns="0" tIns="0" rIns="0" bIns="0" rtlCol="0" anchor="t">
            <a:normAutofit/>
          </a:bodyPr>
          <a:lstStyle/>
          <a:p>
            <a:pPr algn="l" indent="0" marL="0">
              <a:lnSpc>
                <a:spcPts val="1434"/>
              </a:lnSpc>
              <a:buNone/>
            </a:pPr>
            <a:r>
              <a:rPr lang="en-US" sz="956" dirty="0">
                <a:solidFill>
                  <a:srgbClr val="F4F4F5"/>
                </a:solidFill>
                <a:latin typeface="Carlito" pitchFamily="34" charset="0"/>
                <a:ea typeface="Carlito" pitchFamily="34" charset="-122"/>
                <a:cs typeface="Carlito" pitchFamily="34" charset="-120"/>
              </a:rPr>
              <a:t>repo_facts_server.py</a:t>
            </a:r>
            <a:endParaRPr lang="en-US" sz="956" dirty="0"/>
          </a:p>
        </p:txBody>
      </p:sp>
      <p:sp>
        <p:nvSpPr>
          <p:cNvPr id="17" name="Text 15"/>
          <p:cNvSpPr/>
          <p:nvPr/>
        </p:nvSpPr>
        <p:spPr>
          <a:xfrm>
            <a:off x="3922700" y="1817303"/>
            <a:ext cx="321790" cy="91440"/>
          </a:xfrm>
          <a:prstGeom prst="rect">
            <a:avLst/>
          </a:prstGeom>
          <a:noFill/>
          <a:ln/>
        </p:spPr>
        <p:txBody>
          <a:bodyPr wrap="none" lIns="0" tIns="0" rIns="0" bIns="0" rtlCol="0" anchor="t">
            <a:normAutofit/>
          </a:bodyPr>
          <a:lstStyle/>
          <a:p>
            <a:pPr algn="l" indent="0" marL="0">
              <a:lnSpc>
                <a:spcPts val="827"/>
              </a:lnSpc>
              <a:buNone/>
            </a:pPr>
            <a:r>
              <a:rPr lang="en-US" sz="600" dirty="0">
                <a:solidFill>
                  <a:srgbClr val="FF7A1A"/>
                </a:solidFill>
                <a:latin typeface="Courier New" pitchFamily="34" charset="0"/>
                <a:ea typeface="Courier New" pitchFamily="34" charset="-122"/>
                <a:cs typeface="Courier New" pitchFamily="34" charset="-120"/>
              </a:rPr>
              <a:t>import</a:t>
            </a:r>
            <a:endParaRPr lang="en-US" sz="600" dirty="0"/>
          </a:p>
        </p:txBody>
      </p:sp>
      <p:sp>
        <p:nvSpPr>
          <p:cNvPr id="18" name="Text 16"/>
          <p:cNvSpPr/>
          <p:nvPr/>
        </p:nvSpPr>
        <p:spPr>
          <a:xfrm>
            <a:off x="3900252" y="1922227"/>
            <a:ext cx="284927" cy="135854"/>
          </a:xfrm>
          <a:prstGeom prst="rect">
            <a:avLst/>
          </a:prstGeom>
          <a:noFill/>
          <a:ln/>
        </p:spPr>
        <p:txBody>
          <a:bodyPr wrap="none" lIns="0" tIns="0" rIns="0" bIns="0" rtlCol="0" anchor="t"/>
          <a:lstStyle/>
          <a:p>
            <a:pPr algn="l" indent="0" marL="0">
              <a:lnSpc>
                <a:spcPts val="827"/>
              </a:lnSpc>
              <a:buNone/>
            </a:pPr>
            <a:r>
              <a:rPr lang="en-US" sz="800" dirty="0">
                <a:solidFill>
                  <a:srgbClr val="FF7A1A"/>
                </a:solidFill>
                <a:latin typeface="Courier New" pitchFamily="34" charset="0"/>
                <a:ea typeface="Courier New" pitchFamily="34" charset="-122"/>
                <a:cs typeface="Courier New" pitchFamily="34" charset="-120"/>
              </a:rPr>
              <a:t>from</a:t>
            </a:r>
            <a:endParaRPr lang="en-US" sz="800" dirty="0"/>
          </a:p>
        </p:txBody>
      </p:sp>
      <p:sp>
        <p:nvSpPr>
          <p:cNvPr id="19" name="Text 17"/>
          <p:cNvSpPr/>
          <p:nvPr/>
        </p:nvSpPr>
        <p:spPr>
          <a:xfrm>
            <a:off x="4410261" y="1922227"/>
            <a:ext cx="321790" cy="135854"/>
          </a:xfrm>
          <a:prstGeom prst="rect">
            <a:avLst/>
          </a:prstGeom>
          <a:noFill/>
          <a:ln/>
        </p:spPr>
        <p:txBody>
          <a:bodyPr wrap="none" lIns="0" tIns="0" rIns="0" bIns="0" rtlCol="0" anchor="t"/>
          <a:lstStyle/>
          <a:p>
            <a:pPr algn="l" indent="0" marL="0">
              <a:lnSpc>
                <a:spcPts val="827"/>
              </a:lnSpc>
              <a:buNone/>
            </a:pPr>
            <a:r>
              <a:rPr lang="en-US" sz="600" dirty="0">
                <a:solidFill>
                  <a:srgbClr val="FF7A1A"/>
                </a:solidFill>
                <a:latin typeface="Courier New" pitchFamily="34" charset="0"/>
                <a:ea typeface="Courier New" pitchFamily="34" charset="-122"/>
                <a:cs typeface="Courier New" pitchFamily="34" charset="-120"/>
              </a:rPr>
              <a:t>import</a:t>
            </a:r>
            <a:endParaRPr lang="en-US" sz="600" dirty="0"/>
          </a:p>
        </p:txBody>
      </p:sp>
      <p:sp>
        <p:nvSpPr>
          <p:cNvPr id="20" name="Text 18"/>
          <p:cNvSpPr/>
          <p:nvPr/>
        </p:nvSpPr>
        <p:spPr>
          <a:xfrm>
            <a:off x="3900252" y="2132075"/>
            <a:ext cx="284927" cy="135854"/>
          </a:xfrm>
          <a:prstGeom prst="rect">
            <a:avLst/>
          </a:prstGeom>
          <a:noFill/>
          <a:ln/>
        </p:spPr>
        <p:txBody>
          <a:bodyPr wrap="none" lIns="0" tIns="0" rIns="0" bIns="0" rtlCol="0" anchor="t"/>
          <a:lstStyle/>
          <a:p>
            <a:pPr algn="l" indent="0" marL="0">
              <a:lnSpc>
                <a:spcPts val="827"/>
              </a:lnSpc>
              <a:buNone/>
            </a:pPr>
            <a:r>
              <a:rPr lang="en-US" sz="800" dirty="0">
                <a:solidFill>
                  <a:srgbClr val="FF7A1A"/>
                </a:solidFill>
                <a:latin typeface="Courier New" pitchFamily="34" charset="0"/>
                <a:ea typeface="Courier New" pitchFamily="34" charset="-122"/>
                <a:cs typeface="Courier New" pitchFamily="34" charset="-120"/>
              </a:rPr>
              <a:t>from</a:t>
            </a:r>
            <a:endParaRPr lang="en-US" sz="800" dirty="0"/>
          </a:p>
        </p:txBody>
      </p:sp>
      <p:sp>
        <p:nvSpPr>
          <p:cNvPr id="21" name="Text 19"/>
          <p:cNvSpPr/>
          <p:nvPr/>
        </p:nvSpPr>
        <p:spPr>
          <a:xfrm>
            <a:off x="4822813" y="2132075"/>
            <a:ext cx="321790" cy="135854"/>
          </a:xfrm>
          <a:prstGeom prst="rect">
            <a:avLst/>
          </a:prstGeom>
          <a:noFill/>
          <a:ln/>
        </p:spPr>
        <p:txBody>
          <a:bodyPr wrap="none" lIns="0" tIns="0" rIns="0" bIns="0" rtlCol="0" anchor="t"/>
          <a:lstStyle/>
          <a:p>
            <a:pPr algn="l" indent="0" marL="0">
              <a:lnSpc>
                <a:spcPts val="827"/>
              </a:lnSpc>
              <a:buNone/>
            </a:pPr>
            <a:r>
              <a:rPr lang="en-US" sz="600" dirty="0">
                <a:solidFill>
                  <a:srgbClr val="FF7A1A"/>
                </a:solidFill>
                <a:latin typeface="Courier New" pitchFamily="34" charset="0"/>
                <a:ea typeface="Courier New" pitchFamily="34" charset="-122"/>
                <a:cs typeface="Courier New" pitchFamily="34" charset="-120"/>
              </a:rPr>
              <a:t>import</a:t>
            </a:r>
            <a:endParaRPr lang="en-US" sz="600" dirty="0"/>
          </a:p>
        </p:txBody>
      </p:sp>
      <p:sp>
        <p:nvSpPr>
          <p:cNvPr id="22" name="Text 20"/>
          <p:cNvSpPr/>
          <p:nvPr/>
        </p:nvSpPr>
        <p:spPr>
          <a:xfrm>
            <a:off x="4140474" y="2341922"/>
            <a:ext cx="389931" cy="135854"/>
          </a:xfrm>
          <a:prstGeom prst="rect">
            <a:avLst/>
          </a:prstGeom>
          <a:noFill/>
          <a:ln/>
        </p:spPr>
        <p:txBody>
          <a:bodyPr wrap="none" lIns="0" tIns="0" rIns="0" bIns="0" rtlCol="0" anchor="t"/>
          <a:lstStyle/>
          <a:p>
            <a:pPr algn="l" indent="0" marL="0">
              <a:lnSpc>
                <a:spcPts val="827"/>
              </a:lnSpc>
              <a:buNone/>
            </a:pPr>
            <a:r>
              <a:rPr lang="en-US" sz="600" dirty="0">
                <a:solidFill>
                  <a:srgbClr val="FFD29E"/>
                </a:solidFill>
                <a:latin typeface="Courier New" pitchFamily="34" charset="0"/>
                <a:ea typeface="Courier New" pitchFamily="34" charset="-122"/>
                <a:cs typeface="Courier New" pitchFamily="34" charset="-120"/>
              </a:rPr>
              <a:t>FastMCP</a:t>
            </a:r>
            <a:endParaRPr lang="en-US" sz="600" dirty="0"/>
          </a:p>
        </p:txBody>
      </p:sp>
      <p:sp>
        <p:nvSpPr>
          <p:cNvPr id="23" name="Text 21"/>
          <p:cNvSpPr/>
          <p:nvPr/>
        </p:nvSpPr>
        <p:spPr>
          <a:xfrm>
            <a:off x="4444619" y="2341922"/>
            <a:ext cx="568863" cy="135854"/>
          </a:xfrm>
          <a:prstGeom prst="rect">
            <a:avLst/>
          </a:prstGeom>
          <a:noFill/>
          <a:ln/>
        </p:spPr>
        <p:txBody>
          <a:bodyPr wrap="none" lIns="0" tIns="0" rIns="0" bIns="0" rtlCol="0" anchor="t"/>
          <a:lstStyle/>
          <a:p>
            <a:pPr algn="l" indent="0" marL="0">
              <a:lnSpc>
                <a:spcPts val="827"/>
              </a:lnSpc>
              <a:buNone/>
            </a:pPr>
            <a:r>
              <a:rPr lang="en-US" sz="600" dirty="0">
                <a:solidFill>
                  <a:srgbClr val="B6E3A1"/>
                </a:solidFill>
                <a:latin typeface="Courier New" pitchFamily="34" charset="0"/>
                <a:ea typeface="Courier New" pitchFamily="34" charset="-122"/>
                <a:cs typeface="Courier New" pitchFamily="34" charset="-120"/>
              </a:rPr>
              <a:t>"repo_facts"</a:t>
            </a:r>
            <a:endParaRPr lang="en-US" sz="600" dirty="0"/>
          </a:p>
        </p:txBody>
      </p:sp>
      <p:sp>
        <p:nvSpPr>
          <p:cNvPr id="24" name="Text 22"/>
          <p:cNvSpPr/>
          <p:nvPr/>
        </p:nvSpPr>
        <p:spPr>
          <a:xfrm>
            <a:off x="3922638" y="2656694"/>
            <a:ext cx="515813" cy="91440"/>
          </a:xfrm>
          <a:prstGeom prst="rect">
            <a:avLst/>
          </a:prstGeom>
          <a:noFill/>
          <a:ln/>
        </p:spPr>
        <p:txBody>
          <a:bodyPr wrap="none" lIns="0" tIns="0" rIns="0" bIns="0" rtlCol="0" anchor="t">
            <a:normAutofit/>
          </a:bodyPr>
          <a:lstStyle/>
          <a:p>
            <a:pPr algn="l" indent="0" marL="0">
              <a:lnSpc>
                <a:spcPts val="827"/>
              </a:lnSpc>
              <a:buNone/>
            </a:pPr>
            <a:r>
              <a:rPr lang="en-US" sz="600" dirty="0">
                <a:solidFill>
                  <a:srgbClr val="71717A"/>
                </a:solidFill>
                <a:latin typeface="Courier New" pitchFamily="34" charset="0"/>
                <a:ea typeface="Courier New" pitchFamily="34" charset="-122"/>
                <a:cs typeface="Courier New" pitchFamily="34" charset="-120"/>
              </a:rPr>
              <a:t>@mcp.tool()</a:t>
            </a:r>
            <a:endParaRPr lang="en-US" sz="600" dirty="0"/>
          </a:p>
        </p:txBody>
      </p:sp>
      <p:sp>
        <p:nvSpPr>
          <p:cNvPr id="25" name="Text 23"/>
          <p:cNvSpPr/>
          <p:nvPr/>
        </p:nvSpPr>
        <p:spPr>
          <a:xfrm>
            <a:off x="3901419" y="2761617"/>
            <a:ext cx="222585" cy="135854"/>
          </a:xfrm>
          <a:prstGeom prst="rect">
            <a:avLst/>
          </a:prstGeom>
          <a:noFill/>
          <a:ln/>
        </p:spPr>
        <p:txBody>
          <a:bodyPr wrap="none" lIns="0" tIns="0" rIns="0" bIns="0" rtlCol="0" anchor="t"/>
          <a:lstStyle/>
          <a:p>
            <a:pPr algn="l" indent="0" marL="0">
              <a:lnSpc>
                <a:spcPts val="827"/>
              </a:lnSpc>
              <a:buNone/>
            </a:pPr>
            <a:r>
              <a:rPr lang="en-US" sz="800" dirty="0">
                <a:solidFill>
                  <a:srgbClr val="FF7A1A"/>
                </a:solidFill>
                <a:latin typeface="Courier New" pitchFamily="34" charset="0"/>
                <a:ea typeface="Courier New" pitchFamily="34" charset="-122"/>
                <a:cs typeface="Courier New" pitchFamily="34" charset="-120"/>
              </a:rPr>
              <a:t>def</a:t>
            </a:r>
            <a:endParaRPr lang="en-US" sz="800" dirty="0"/>
          </a:p>
        </p:txBody>
      </p:sp>
      <p:sp>
        <p:nvSpPr>
          <p:cNvPr id="26" name="Text 24"/>
          <p:cNvSpPr/>
          <p:nvPr/>
        </p:nvSpPr>
        <p:spPr>
          <a:xfrm>
            <a:off x="4063216" y="2761617"/>
            <a:ext cx="534695" cy="135854"/>
          </a:xfrm>
          <a:prstGeom prst="rect">
            <a:avLst/>
          </a:prstGeom>
          <a:noFill/>
          <a:ln/>
        </p:spPr>
        <p:txBody>
          <a:bodyPr wrap="none" lIns="0" tIns="0" rIns="0" bIns="0" rtlCol="0" anchor="t"/>
          <a:lstStyle/>
          <a:p>
            <a:pPr algn="l" indent="0" marL="0">
              <a:lnSpc>
                <a:spcPts val="827"/>
              </a:lnSpc>
              <a:buNone/>
            </a:pPr>
            <a:r>
              <a:rPr lang="en-US" sz="600" dirty="0">
                <a:solidFill>
                  <a:srgbClr val="FFD29E"/>
                </a:solidFill>
                <a:latin typeface="Courier New" pitchFamily="34" charset="0"/>
                <a:ea typeface="Courier New" pitchFamily="34" charset="-122"/>
                <a:cs typeface="Courier New" pitchFamily="34" charset="-120"/>
              </a:rPr>
              <a:t>count_todos</a:t>
            </a:r>
            <a:endParaRPr lang="en-US" sz="600" dirty="0"/>
          </a:p>
        </p:txBody>
      </p:sp>
      <p:sp>
        <p:nvSpPr>
          <p:cNvPr id="27" name="Text 25"/>
          <p:cNvSpPr/>
          <p:nvPr/>
        </p:nvSpPr>
        <p:spPr>
          <a:xfrm>
            <a:off x="5151662" y="2761617"/>
            <a:ext cx="197409" cy="91440"/>
          </a:xfrm>
          <a:prstGeom prst="rect">
            <a:avLst/>
          </a:prstGeom>
          <a:noFill/>
          <a:ln/>
        </p:spPr>
        <p:txBody>
          <a:bodyPr wrap="none" lIns="0" tIns="0" rIns="0" bIns="0" rtlCol="0" anchor="t">
            <a:normAutofit/>
          </a:bodyPr>
          <a:lstStyle/>
          <a:p>
            <a:pPr algn="l" indent="0" marL="0">
              <a:lnSpc>
                <a:spcPts val="827"/>
              </a:lnSpc>
              <a:buNone/>
            </a:pPr>
            <a:r>
              <a:rPr lang="en-US" sz="800" dirty="0">
                <a:solidFill>
                  <a:srgbClr val="B6E3A1"/>
                </a:solidFill>
                <a:latin typeface="Courier New" pitchFamily="34" charset="0"/>
                <a:ea typeface="Courier New" pitchFamily="34" charset="-122"/>
                <a:cs typeface="Courier New" pitchFamily="34" charset="-120"/>
              </a:rPr>
              <a:t>"."</a:t>
            </a:r>
            <a:endParaRPr lang="en-US" sz="800" dirty="0"/>
          </a:p>
        </p:txBody>
      </p:sp>
      <p:sp>
        <p:nvSpPr>
          <p:cNvPr id="28" name="Text 26"/>
          <p:cNvSpPr/>
          <p:nvPr/>
        </p:nvSpPr>
        <p:spPr>
          <a:xfrm>
            <a:off x="4072719" y="2866541"/>
            <a:ext cx="2250281" cy="91440"/>
          </a:xfrm>
          <a:prstGeom prst="rect">
            <a:avLst/>
          </a:prstGeom>
          <a:noFill/>
          <a:ln/>
        </p:spPr>
        <p:txBody>
          <a:bodyPr wrap="none" lIns="0" tIns="0" rIns="0" bIns="0" rtlCol="0" anchor="t">
            <a:normAutofit/>
          </a:bodyPr>
          <a:lstStyle/>
          <a:p>
            <a:pPr algn="l" indent="0" marL="0">
              <a:lnSpc>
                <a:spcPts val="827"/>
              </a:lnSpc>
              <a:buNone/>
            </a:pPr>
            <a:r>
              <a:rPr lang="en-US" sz="600" i="1" dirty="0">
                <a:solidFill>
                  <a:srgbClr val="71717A"/>
                </a:solidFill>
                <a:latin typeface="Courier New" pitchFamily="34" charset="0"/>
                <a:ea typeface="Courier New" pitchFamily="34" charset="-122"/>
                <a:cs typeface="Courier New" pitchFamily="34" charset="-120"/>
              </a:rPr>
              <a:t>"""Count TODO and FIXME comments across every .py file under</a:t>
            </a:r>
            <a:endParaRPr lang="en-US" sz="600" dirty="0"/>
          </a:p>
        </p:txBody>
      </p:sp>
      <p:sp>
        <p:nvSpPr>
          <p:cNvPr id="29" name="Text 27"/>
          <p:cNvSpPr/>
          <p:nvPr/>
        </p:nvSpPr>
        <p:spPr>
          <a:xfrm>
            <a:off x="3922700" y="2971465"/>
            <a:ext cx="2625328" cy="91440"/>
          </a:xfrm>
          <a:prstGeom prst="rect">
            <a:avLst/>
          </a:prstGeom>
          <a:noFill/>
          <a:ln/>
        </p:spPr>
        <p:txBody>
          <a:bodyPr wrap="none" lIns="0" tIns="0" rIns="0" bIns="0" rtlCol="0" anchor="t">
            <a:normAutofit/>
          </a:bodyPr>
          <a:lstStyle/>
          <a:p>
            <a:pPr algn="l" indent="0" marL="0">
              <a:lnSpc>
                <a:spcPts val="827"/>
              </a:lnSpc>
              <a:buNone/>
            </a:pPr>
            <a:r>
              <a:rPr lang="en-US" sz="600" i="1" dirty="0">
                <a:solidFill>
                  <a:srgbClr val="71717A"/>
                </a:solidFill>
                <a:latin typeface="Courier New" pitchFamily="34" charset="0"/>
                <a:ea typeface="Courier New" pitchFamily="34" charset="-122"/>
                <a:cs typeface="Courier New" pitchFamily="34" charset="-120"/>
              </a:rPr>
              <a:t>`directory`. Returns a plain-text report: how many were found, and</a:t>
            </a:r>
            <a:endParaRPr lang="en-US" sz="600" dirty="0"/>
          </a:p>
        </p:txBody>
      </p:sp>
      <p:sp>
        <p:nvSpPr>
          <p:cNvPr id="30" name="Text 28"/>
          <p:cNvSpPr/>
          <p:nvPr/>
        </p:nvSpPr>
        <p:spPr>
          <a:xfrm>
            <a:off x="3922700" y="3076389"/>
            <a:ext cx="2187273" cy="91440"/>
          </a:xfrm>
          <a:prstGeom prst="rect">
            <a:avLst/>
          </a:prstGeom>
          <a:noFill/>
          <a:ln/>
        </p:spPr>
        <p:txBody>
          <a:bodyPr wrap="none" lIns="0" tIns="0" rIns="0" bIns="0" rtlCol="0" anchor="t">
            <a:normAutofit/>
          </a:bodyPr>
          <a:lstStyle/>
          <a:p>
            <a:pPr algn="l" indent="0" marL="0">
              <a:lnSpc>
                <a:spcPts val="827"/>
              </a:lnSpc>
              <a:buNone/>
            </a:pPr>
            <a:r>
              <a:rPr lang="en-US" sz="600" i="1" dirty="0">
                <a:solidFill>
                  <a:srgbClr val="71717A"/>
                </a:solidFill>
                <a:latin typeface="Courier New" pitchFamily="34" charset="0"/>
                <a:ea typeface="Courier New" pitchFamily="34" charset="-122"/>
                <a:cs typeface="Courier New" pitchFamily="34" charset="-120"/>
              </a:rPr>
              <a:t>each one's file, line number, and the line itself.</a:t>
            </a:r>
            <a:endParaRPr lang="en-US" sz="600" dirty="0"/>
          </a:p>
        </p:txBody>
      </p:sp>
      <p:sp>
        <p:nvSpPr>
          <p:cNvPr id="31" name="Text 29"/>
          <p:cNvSpPr/>
          <p:nvPr/>
        </p:nvSpPr>
        <p:spPr>
          <a:xfrm>
            <a:off x="3922700" y="3181313"/>
            <a:ext cx="420053" cy="135854"/>
          </a:xfrm>
          <a:prstGeom prst="rect">
            <a:avLst/>
          </a:prstGeom>
          <a:noFill/>
          <a:ln/>
        </p:spPr>
        <p:txBody>
          <a:bodyPr wrap="none" lIns="0" tIns="0" rIns="0" bIns="0" rtlCol="0" anchor="t"/>
          <a:lstStyle/>
          <a:p>
            <a:pPr algn="l" indent="0" marL="0">
              <a:lnSpc>
                <a:spcPts val="827"/>
              </a:lnSpc>
              <a:buNone/>
            </a:pPr>
            <a:r>
              <a:rPr lang="en-US" sz="800" i="1" dirty="0">
                <a:solidFill>
                  <a:srgbClr val="71717A"/>
                </a:solidFill>
                <a:latin typeface="Courier New" pitchFamily="34" charset="0"/>
                <a:ea typeface="Courier New" pitchFamily="34" charset="-122"/>
                <a:cs typeface="Courier New" pitchFamily="34" charset="-120"/>
              </a:rPr>
              <a:t>"""</a:t>
            </a:r>
            <a:endParaRPr lang="en-US" sz="800" dirty="0"/>
          </a:p>
        </p:txBody>
      </p:sp>
      <p:sp>
        <p:nvSpPr>
          <p:cNvPr id="32" name="Text 30"/>
          <p:cNvSpPr/>
          <p:nvPr/>
        </p:nvSpPr>
        <p:spPr>
          <a:xfrm>
            <a:off x="4051437" y="3391160"/>
            <a:ext cx="222585" cy="135854"/>
          </a:xfrm>
          <a:prstGeom prst="rect">
            <a:avLst/>
          </a:prstGeom>
          <a:noFill/>
          <a:ln/>
        </p:spPr>
        <p:txBody>
          <a:bodyPr wrap="none" lIns="0" tIns="0" rIns="0" bIns="0" rtlCol="0" anchor="t"/>
          <a:lstStyle/>
          <a:p>
            <a:pPr algn="l" indent="0" marL="0">
              <a:lnSpc>
                <a:spcPts val="827"/>
              </a:lnSpc>
              <a:buNone/>
            </a:pPr>
            <a:r>
              <a:rPr lang="en-US" sz="800" dirty="0">
                <a:solidFill>
                  <a:srgbClr val="FF7A1A"/>
                </a:solidFill>
                <a:latin typeface="Courier New" pitchFamily="34" charset="0"/>
                <a:ea typeface="Courier New" pitchFamily="34" charset="-122"/>
                <a:cs typeface="Courier New" pitchFamily="34" charset="-120"/>
              </a:rPr>
              <a:t>for</a:t>
            </a:r>
            <a:endParaRPr lang="en-US" sz="800" dirty="0"/>
          </a:p>
        </p:txBody>
      </p:sp>
      <p:sp>
        <p:nvSpPr>
          <p:cNvPr id="33" name="Text 31"/>
          <p:cNvSpPr/>
          <p:nvPr/>
        </p:nvSpPr>
        <p:spPr>
          <a:xfrm>
            <a:off x="4390147" y="3391160"/>
            <a:ext cx="160244" cy="135854"/>
          </a:xfrm>
          <a:prstGeom prst="rect">
            <a:avLst/>
          </a:prstGeom>
          <a:noFill/>
          <a:ln/>
        </p:spPr>
        <p:txBody>
          <a:bodyPr wrap="none" lIns="0" tIns="0" rIns="0" bIns="0" rtlCol="0" anchor="t"/>
          <a:lstStyle/>
          <a:p>
            <a:pPr algn="l" indent="0" marL="0">
              <a:lnSpc>
                <a:spcPts val="827"/>
              </a:lnSpc>
              <a:buNone/>
            </a:pPr>
            <a:r>
              <a:rPr lang="en-US" sz="800" dirty="0">
                <a:solidFill>
                  <a:srgbClr val="FF7A1A"/>
                </a:solidFill>
                <a:latin typeface="Courier New" pitchFamily="34" charset="0"/>
                <a:ea typeface="Courier New" pitchFamily="34" charset="-122"/>
                <a:cs typeface="Courier New" pitchFamily="34" charset="-120"/>
              </a:rPr>
              <a:t>in</a:t>
            </a:r>
            <a:endParaRPr lang="en-US" sz="800" dirty="0"/>
          </a:p>
        </p:txBody>
      </p:sp>
      <p:sp>
        <p:nvSpPr>
          <p:cNvPr id="34" name="Text 32"/>
          <p:cNvSpPr/>
          <p:nvPr/>
        </p:nvSpPr>
        <p:spPr>
          <a:xfrm>
            <a:off x="4522775" y="3391160"/>
            <a:ext cx="321790" cy="135854"/>
          </a:xfrm>
          <a:prstGeom prst="rect">
            <a:avLst/>
          </a:prstGeom>
          <a:noFill/>
          <a:ln/>
        </p:spPr>
        <p:txBody>
          <a:bodyPr wrap="none" lIns="0" tIns="0" rIns="0" bIns="0" rtlCol="0" anchor="t"/>
          <a:lstStyle/>
          <a:p>
            <a:pPr algn="l" indent="0" marL="0">
              <a:lnSpc>
                <a:spcPts val="827"/>
              </a:lnSpc>
              <a:buNone/>
            </a:pPr>
            <a:r>
              <a:rPr lang="en-US" sz="600" dirty="0">
                <a:solidFill>
                  <a:srgbClr val="FFD29E"/>
                </a:solidFill>
                <a:latin typeface="Courier New" pitchFamily="34" charset="0"/>
                <a:ea typeface="Courier New" pitchFamily="34" charset="-122"/>
                <a:cs typeface="Courier New" pitchFamily="34" charset="-120"/>
              </a:rPr>
              <a:t>sorted</a:t>
            </a:r>
            <a:endParaRPr lang="en-US" sz="600" dirty="0"/>
          </a:p>
        </p:txBody>
      </p:sp>
      <p:sp>
        <p:nvSpPr>
          <p:cNvPr id="35" name="Text 33"/>
          <p:cNvSpPr/>
          <p:nvPr/>
        </p:nvSpPr>
        <p:spPr>
          <a:xfrm>
            <a:off x="4785308" y="3391160"/>
            <a:ext cx="240030" cy="135854"/>
          </a:xfrm>
          <a:prstGeom prst="rect">
            <a:avLst/>
          </a:prstGeom>
          <a:noFill/>
          <a:ln/>
        </p:spPr>
        <p:txBody>
          <a:bodyPr wrap="none" lIns="0" tIns="0" rIns="0" bIns="0" rtlCol="0" anchor="t"/>
          <a:lstStyle/>
          <a:p>
            <a:pPr algn="l" indent="0" marL="0">
              <a:lnSpc>
                <a:spcPts val="827"/>
              </a:lnSpc>
              <a:buNone/>
            </a:pPr>
            <a:r>
              <a:rPr lang="en-US" sz="600" dirty="0">
                <a:solidFill>
                  <a:srgbClr val="FFD29E"/>
                </a:solidFill>
                <a:latin typeface="Courier New" pitchFamily="34" charset="0"/>
                <a:ea typeface="Courier New" pitchFamily="34" charset="-122"/>
                <a:cs typeface="Courier New" pitchFamily="34" charset="-120"/>
              </a:rPr>
              <a:t>Path</a:t>
            </a:r>
            <a:endParaRPr lang="en-US" sz="600" dirty="0"/>
          </a:p>
        </p:txBody>
      </p:sp>
      <p:sp>
        <p:nvSpPr>
          <p:cNvPr id="36" name="Text 34"/>
          <p:cNvSpPr/>
          <p:nvPr/>
        </p:nvSpPr>
        <p:spPr>
          <a:xfrm>
            <a:off x="5361767" y="3391160"/>
            <a:ext cx="347269" cy="135854"/>
          </a:xfrm>
          <a:prstGeom prst="rect">
            <a:avLst/>
          </a:prstGeom>
          <a:noFill/>
          <a:ln/>
        </p:spPr>
        <p:txBody>
          <a:bodyPr wrap="none" lIns="0" tIns="0" rIns="0" bIns="0" rtlCol="0" anchor="t"/>
          <a:lstStyle/>
          <a:p>
            <a:pPr algn="l" indent="0" marL="0">
              <a:lnSpc>
                <a:spcPts val="827"/>
              </a:lnSpc>
              <a:buNone/>
            </a:pPr>
            <a:r>
              <a:rPr lang="en-US" sz="800" dirty="0">
                <a:solidFill>
                  <a:srgbClr val="FFD29E"/>
                </a:solidFill>
                <a:latin typeface="Courier New" pitchFamily="34" charset="0"/>
                <a:ea typeface="Courier New" pitchFamily="34" charset="-122"/>
                <a:cs typeface="Courier New" pitchFamily="34" charset="-120"/>
              </a:rPr>
              <a:t>rglob</a:t>
            </a:r>
            <a:endParaRPr lang="en-US" sz="800" dirty="0"/>
          </a:p>
        </p:txBody>
      </p:sp>
      <p:sp>
        <p:nvSpPr>
          <p:cNvPr id="37" name="Text 35"/>
          <p:cNvSpPr/>
          <p:nvPr/>
        </p:nvSpPr>
        <p:spPr>
          <a:xfrm>
            <a:off x="5610411" y="3391160"/>
            <a:ext cx="321790" cy="91440"/>
          </a:xfrm>
          <a:prstGeom prst="rect">
            <a:avLst/>
          </a:prstGeom>
          <a:noFill/>
          <a:ln/>
        </p:spPr>
        <p:txBody>
          <a:bodyPr wrap="none" lIns="0" tIns="0" rIns="0" bIns="0" rtlCol="0" anchor="t">
            <a:normAutofit/>
          </a:bodyPr>
          <a:lstStyle/>
          <a:p>
            <a:pPr algn="l" indent="0" marL="0">
              <a:lnSpc>
                <a:spcPts val="827"/>
              </a:lnSpc>
              <a:buNone/>
            </a:pPr>
            <a:r>
              <a:rPr lang="en-US" sz="600" dirty="0">
                <a:solidFill>
                  <a:srgbClr val="B6E3A1"/>
                </a:solidFill>
                <a:latin typeface="Courier New" pitchFamily="34" charset="0"/>
                <a:ea typeface="Courier New" pitchFamily="34" charset="-122"/>
                <a:cs typeface="Courier New" pitchFamily="34" charset="-120"/>
              </a:rPr>
              <a:t>"*.py"</a:t>
            </a:r>
            <a:endParaRPr lang="en-US" sz="600" dirty="0"/>
          </a:p>
        </p:txBody>
      </p:sp>
      <p:sp>
        <p:nvSpPr>
          <p:cNvPr id="38" name="Text 36"/>
          <p:cNvSpPr/>
          <p:nvPr/>
        </p:nvSpPr>
        <p:spPr>
          <a:xfrm>
            <a:off x="4201456" y="3496084"/>
            <a:ext cx="222585" cy="135854"/>
          </a:xfrm>
          <a:prstGeom prst="rect">
            <a:avLst/>
          </a:prstGeom>
          <a:noFill/>
          <a:ln/>
        </p:spPr>
        <p:txBody>
          <a:bodyPr wrap="none" lIns="0" tIns="0" rIns="0" bIns="0" rtlCol="0" anchor="t"/>
          <a:lstStyle/>
          <a:p>
            <a:pPr algn="l" indent="0" marL="0">
              <a:lnSpc>
                <a:spcPts val="827"/>
              </a:lnSpc>
              <a:buNone/>
            </a:pPr>
            <a:r>
              <a:rPr lang="en-US" sz="800" dirty="0">
                <a:solidFill>
                  <a:srgbClr val="FF7A1A"/>
                </a:solidFill>
                <a:latin typeface="Courier New" pitchFamily="34" charset="0"/>
                <a:ea typeface="Courier New" pitchFamily="34" charset="-122"/>
                <a:cs typeface="Courier New" pitchFamily="34" charset="-120"/>
              </a:rPr>
              <a:t>for</a:t>
            </a:r>
            <a:endParaRPr lang="en-US" sz="800" dirty="0"/>
          </a:p>
        </p:txBody>
      </p:sp>
      <p:sp>
        <p:nvSpPr>
          <p:cNvPr id="39" name="Text 37"/>
          <p:cNvSpPr/>
          <p:nvPr/>
        </p:nvSpPr>
        <p:spPr>
          <a:xfrm>
            <a:off x="4840203" y="3496084"/>
            <a:ext cx="160244" cy="135854"/>
          </a:xfrm>
          <a:prstGeom prst="rect">
            <a:avLst/>
          </a:prstGeom>
          <a:noFill/>
          <a:ln/>
        </p:spPr>
        <p:txBody>
          <a:bodyPr wrap="none" lIns="0" tIns="0" rIns="0" bIns="0" rtlCol="0" anchor="t"/>
          <a:lstStyle/>
          <a:p>
            <a:pPr algn="l" indent="0" marL="0">
              <a:lnSpc>
                <a:spcPts val="827"/>
              </a:lnSpc>
              <a:buNone/>
            </a:pPr>
            <a:r>
              <a:rPr lang="en-US" sz="800" dirty="0">
                <a:solidFill>
                  <a:srgbClr val="FF7A1A"/>
                </a:solidFill>
                <a:latin typeface="Courier New" pitchFamily="34" charset="0"/>
                <a:ea typeface="Courier New" pitchFamily="34" charset="-122"/>
                <a:cs typeface="Courier New" pitchFamily="34" charset="-120"/>
              </a:rPr>
              <a:t>in</a:t>
            </a:r>
            <a:endParaRPr lang="en-US" sz="800" dirty="0"/>
          </a:p>
        </p:txBody>
      </p:sp>
      <p:sp>
        <p:nvSpPr>
          <p:cNvPr id="40" name="Text 38"/>
          <p:cNvSpPr/>
          <p:nvPr/>
        </p:nvSpPr>
        <p:spPr>
          <a:xfrm>
            <a:off x="4972831" y="3496084"/>
            <a:ext cx="482685" cy="91440"/>
          </a:xfrm>
          <a:prstGeom prst="rect">
            <a:avLst/>
          </a:prstGeom>
          <a:noFill/>
          <a:ln/>
        </p:spPr>
        <p:txBody>
          <a:bodyPr wrap="none" lIns="0" tIns="0" rIns="0" bIns="0" rtlCol="0" anchor="t">
            <a:normAutofit/>
          </a:bodyPr>
          <a:lstStyle/>
          <a:p>
            <a:pPr algn="l" indent="0" marL="0">
              <a:lnSpc>
                <a:spcPts val="827"/>
              </a:lnSpc>
              <a:buNone/>
            </a:pPr>
            <a:r>
              <a:rPr lang="en-US" sz="600" dirty="0">
                <a:solidFill>
                  <a:srgbClr val="FFD29E"/>
                </a:solidFill>
                <a:latin typeface="Courier New" pitchFamily="34" charset="0"/>
                <a:ea typeface="Courier New" pitchFamily="34" charset="-122"/>
                <a:cs typeface="Courier New" pitchFamily="34" charset="-120"/>
              </a:rPr>
              <a:t>enumerate</a:t>
            </a:r>
            <a:endParaRPr lang="en-US" sz="600" dirty="0"/>
          </a:p>
        </p:txBody>
      </p:sp>
      <p:sp>
        <p:nvSpPr>
          <p:cNvPr id="41" name="Text 39"/>
          <p:cNvSpPr/>
          <p:nvPr/>
        </p:nvSpPr>
        <p:spPr>
          <a:xfrm>
            <a:off x="4560280" y="3601008"/>
            <a:ext cx="482685" cy="135854"/>
          </a:xfrm>
          <a:prstGeom prst="rect">
            <a:avLst/>
          </a:prstGeom>
          <a:noFill/>
          <a:ln/>
        </p:spPr>
        <p:txBody>
          <a:bodyPr wrap="none" lIns="0" tIns="0" rIns="0" bIns="0" rtlCol="0" anchor="t"/>
          <a:lstStyle/>
          <a:p>
            <a:pPr algn="l" indent="0" marL="0">
              <a:lnSpc>
                <a:spcPts val="827"/>
              </a:lnSpc>
              <a:buNone/>
            </a:pPr>
            <a:r>
              <a:rPr lang="en-US" sz="600" dirty="0">
                <a:solidFill>
                  <a:srgbClr val="FFD29E"/>
                </a:solidFill>
                <a:latin typeface="Courier New" pitchFamily="34" charset="0"/>
                <a:ea typeface="Courier New" pitchFamily="34" charset="-122"/>
                <a:cs typeface="Courier New" pitchFamily="34" charset="-120"/>
              </a:rPr>
              <a:t>read_text</a:t>
            </a:r>
            <a:endParaRPr lang="en-US" sz="600" dirty="0"/>
          </a:p>
        </p:txBody>
      </p:sp>
      <p:sp>
        <p:nvSpPr>
          <p:cNvPr id="42" name="Text 40"/>
          <p:cNvSpPr/>
          <p:nvPr/>
        </p:nvSpPr>
        <p:spPr>
          <a:xfrm>
            <a:off x="5197859" y="3601008"/>
            <a:ext cx="429054" cy="135854"/>
          </a:xfrm>
          <a:prstGeom prst="rect">
            <a:avLst/>
          </a:prstGeom>
          <a:noFill/>
          <a:ln/>
        </p:spPr>
        <p:txBody>
          <a:bodyPr wrap="none" lIns="0" tIns="0" rIns="0" bIns="0" rtlCol="0" anchor="t"/>
          <a:lstStyle/>
          <a:p>
            <a:pPr algn="l" indent="0" marL="0">
              <a:lnSpc>
                <a:spcPts val="827"/>
              </a:lnSpc>
              <a:buNone/>
            </a:pPr>
            <a:r>
              <a:rPr lang="en-US" sz="600" dirty="0">
                <a:solidFill>
                  <a:srgbClr val="B6E3A1"/>
                </a:solidFill>
                <a:latin typeface="Courier New" pitchFamily="34" charset="0"/>
                <a:ea typeface="Courier New" pitchFamily="34" charset="-122"/>
                <a:cs typeface="Courier New" pitchFamily="34" charset="-120"/>
              </a:rPr>
              <a:t>"ignore"</a:t>
            </a:r>
            <a:endParaRPr lang="en-US" sz="600" dirty="0"/>
          </a:p>
        </p:txBody>
      </p:sp>
      <p:sp>
        <p:nvSpPr>
          <p:cNvPr id="43" name="Text 41"/>
          <p:cNvSpPr/>
          <p:nvPr/>
        </p:nvSpPr>
        <p:spPr>
          <a:xfrm>
            <a:off x="5560194" y="3601008"/>
            <a:ext cx="494233" cy="135854"/>
          </a:xfrm>
          <a:prstGeom prst="rect">
            <a:avLst/>
          </a:prstGeom>
          <a:noFill/>
          <a:ln/>
        </p:spPr>
        <p:txBody>
          <a:bodyPr wrap="none" lIns="0" tIns="0" rIns="0" bIns="0" rtlCol="0" anchor="t"/>
          <a:lstStyle/>
          <a:p>
            <a:pPr algn="l" indent="0" marL="0">
              <a:lnSpc>
                <a:spcPts val="827"/>
              </a:lnSpc>
              <a:buNone/>
            </a:pPr>
            <a:r>
              <a:rPr lang="en-US" sz="600" dirty="0">
                <a:solidFill>
                  <a:srgbClr val="FFD29E"/>
                </a:solidFill>
                <a:latin typeface="Courier New" pitchFamily="34" charset="0"/>
                <a:ea typeface="Courier New" pitchFamily="34" charset="-122"/>
                <a:cs typeface="Courier New" pitchFamily="34" charset="-120"/>
              </a:rPr>
              <a:t>splitlines</a:t>
            </a:r>
            <a:endParaRPr lang="en-US" sz="600" dirty="0"/>
          </a:p>
        </p:txBody>
      </p:sp>
      <p:sp>
        <p:nvSpPr>
          <p:cNvPr id="44" name="Text 42"/>
          <p:cNvSpPr/>
          <p:nvPr/>
        </p:nvSpPr>
        <p:spPr>
          <a:xfrm>
            <a:off x="6323000" y="3601008"/>
            <a:ext cx="91440" cy="135854"/>
          </a:xfrm>
          <a:prstGeom prst="rect">
            <a:avLst/>
          </a:prstGeom>
          <a:noFill/>
          <a:ln/>
        </p:spPr>
        <p:txBody>
          <a:bodyPr wrap="none" lIns="0" tIns="0" rIns="0" bIns="0" rtlCol="0" anchor="t"/>
          <a:lstStyle/>
          <a:p>
            <a:pPr algn="l" indent="0" marL="0">
              <a:lnSpc>
                <a:spcPts val="827"/>
              </a:lnSpc>
              <a:buNone/>
            </a:pPr>
            <a:r>
              <a:rPr lang="en-US" sz="800" dirty="0">
                <a:solidFill>
                  <a:srgbClr val="FF9D5C"/>
                </a:solidFill>
                <a:latin typeface="Liberation Sans Narrow" pitchFamily="34" charset="0"/>
                <a:ea typeface="Liberation Sans Narrow" pitchFamily="34" charset="-122"/>
                <a:cs typeface="Liberation Sans Narrow" pitchFamily="34" charset="-120"/>
              </a:rPr>
              <a:t>1</a:t>
            </a:r>
            <a:endParaRPr lang="en-US" sz="800" dirty="0"/>
          </a:p>
        </p:txBody>
      </p:sp>
      <p:sp>
        <p:nvSpPr>
          <p:cNvPr id="45" name="Text 43"/>
          <p:cNvSpPr/>
          <p:nvPr/>
        </p:nvSpPr>
        <p:spPr>
          <a:xfrm>
            <a:off x="4352642" y="3810856"/>
            <a:ext cx="160244" cy="135854"/>
          </a:xfrm>
          <a:prstGeom prst="rect">
            <a:avLst/>
          </a:prstGeom>
          <a:noFill/>
          <a:ln/>
        </p:spPr>
        <p:txBody>
          <a:bodyPr wrap="none" lIns="0" tIns="0" rIns="0" bIns="0" rtlCol="0" anchor="t"/>
          <a:lstStyle/>
          <a:p>
            <a:pPr algn="l" indent="0" marL="0">
              <a:lnSpc>
                <a:spcPts val="827"/>
              </a:lnSpc>
              <a:buNone/>
            </a:pPr>
            <a:r>
              <a:rPr lang="en-US" sz="800" dirty="0">
                <a:solidFill>
                  <a:srgbClr val="FF7A1A"/>
                </a:solidFill>
                <a:latin typeface="Courier New" pitchFamily="34" charset="0"/>
                <a:ea typeface="Courier New" pitchFamily="34" charset="-122"/>
                <a:cs typeface="Courier New" pitchFamily="34" charset="-120"/>
              </a:rPr>
              <a:t>if</a:t>
            </a:r>
            <a:endParaRPr lang="en-US" sz="800" dirty="0"/>
          </a:p>
        </p:txBody>
      </p:sp>
      <p:sp>
        <p:nvSpPr>
          <p:cNvPr id="46" name="Text 44"/>
          <p:cNvSpPr/>
          <p:nvPr/>
        </p:nvSpPr>
        <p:spPr>
          <a:xfrm>
            <a:off x="4597784" y="3810856"/>
            <a:ext cx="321790" cy="135854"/>
          </a:xfrm>
          <a:prstGeom prst="rect">
            <a:avLst/>
          </a:prstGeom>
          <a:noFill/>
          <a:ln/>
        </p:spPr>
        <p:txBody>
          <a:bodyPr wrap="none" lIns="0" tIns="0" rIns="0" bIns="0" rtlCol="0" anchor="t"/>
          <a:lstStyle/>
          <a:p>
            <a:pPr algn="l" indent="0" marL="0">
              <a:lnSpc>
                <a:spcPts val="827"/>
              </a:lnSpc>
              <a:buNone/>
            </a:pPr>
            <a:r>
              <a:rPr lang="en-US" sz="600" dirty="0">
                <a:solidFill>
                  <a:srgbClr val="FFD29E"/>
                </a:solidFill>
                <a:latin typeface="Courier New" pitchFamily="34" charset="0"/>
                <a:ea typeface="Courier New" pitchFamily="34" charset="-122"/>
                <a:cs typeface="Courier New" pitchFamily="34" charset="-120"/>
              </a:rPr>
              <a:t>search</a:t>
            </a:r>
            <a:endParaRPr lang="en-US" sz="600" dirty="0"/>
          </a:p>
        </p:txBody>
      </p:sp>
      <p:sp>
        <p:nvSpPr>
          <p:cNvPr id="47" name="Text 45"/>
          <p:cNvSpPr/>
          <p:nvPr/>
        </p:nvSpPr>
        <p:spPr>
          <a:xfrm>
            <a:off x="4860317" y="3810856"/>
            <a:ext cx="984498" cy="91440"/>
          </a:xfrm>
          <a:prstGeom prst="rect">
            <a:avLst/>
          </a:prstGeom>
          <a:noFill/>
          <a:ln/>
        </p:spPr>
        <p:txBody>
          <a:bodyPr wrap="none" lIns="0" tIns="0" rIns="0" bIns="0" rtlCol="0" anchor="t">
            <a:normAutofit/>
          </a:bodyPr>
          <a:lstStyle/>
          <a:p>
            <a:pPr algn="l" indent="0" marL="0">
              <a:lnSpc>
                <a:spcPts val="827"/>
              </a:lnSpc>
              <a:buNone/>
            </a:pPr>
            <a:r>
              <a:rPr lang="en-US" sz="600" dirty="0">
                <a:solidFill>
                  <a:srgbClr val="B6E3A1"/>
                </a:solidFill>
                <a:latin typeface="Courier New" pitchFamily="34" charset="0"/>
                <a:ea typeface="Courier New" pitchFamily="34" charset="-122"/>
                <a:cs typeface="Courier New" pitchFamily="34" charset="-120"/>
              </a:rPr>
              <a:t>r"#\s*(TODO|FIXME)\b"</a:t>
            </a:r>
            <a:endParaRPr lang="en-US" sz="600" dirty="0"/>
          </a:p>
        </p:txBody>
      </p:sp>
      <p:sp>
        <p:nvSpPr>
          <p:cNvPr id="48" name="Text 46"/>
          <p:cNvSpPr/>
          <p:nvPr/>
        </p:nvSpPr>
        <p:spPr>
          <a:xfrm>
            <a:off x="4710299" y="3915780"/>
            <a:ext cx="321790" cy="135854"/>
          </a:xfrm>
          <a:prstGeom prst="rect">
            <a:avLst/>
          </a:prstGeom>
          <a:noFill/>
          <a:ln/>
        </p:spPr>
        <p:txBody>
          <a:bodyPr wrap="none" lIns="0" tIns="0" rIns="0" bIns="0" rtlCol="0" anchor="t"/>
          <a:lstStyle/>
          <a:p>
            <a:pPr algn="l" indent="0" marL="0">
              <a:lnSpc>
                <a:spcPts val="827"/>
              </a:lnSpc>
              <a:buNone/>
            </a:pPr>
            <a:r>
              <a:rPr lang="en-US" sz="600" dirty="0">
                <a:solidFill>
                  <a:srgbClr val="FFD29E"/>
                </a:solidFill>
                <a:latin typeface="Courier New" pitchFamily="34" charset="0"/>
                <a:ea typeface="Courier New" pitchFamily="34" charset="-122"/>
                <a:cs typeface="Courier New" pitchFamily="34" charset="-120"/>
              </a:rPr>
              <a:t>append</a:t>
            </a:r>
            <a:endParaRPr lang="en-US" sz="600" dirty="0"/>
          </a:p>
        </p:txBody>
      </p:sp>
      <p:sp>
        <p:nvSpPr>
          <p:cNvPr id="49" name="Text 47"/>
          <p:cNvSpPr/>
          <p:nvPr/>
        </p:nvSpPr>
        <p:spPr>
          <a:xfrm>
            <a:off x="4972831" y="3915780"/>
            <a:ext cx="1377172" cy="91440"/>
          </a:xfrm>
          <a:prstGeom prst="rect">
            <a:avLst/>
          </a:prstGeom>
          <a:noFill/>
          <a:ln/>
        </p:spPr>
        <p:txBody>
          <a:bodyPr wrap="none" lIns="0" tIns="0" rIns="0" bIns="0" rtlCol="0" anchor="t">
            <a:normAutofit/>
          </a:bodyPr>
          <a:lstStyle/>
          <a:p>
            <a:pPr algn="l" indent="0" marL="0">
              <a:lnSpc>
                <a:spcPts val="827"/>
              </a:lnSpc>
              <a:buNone/>
            </a:pPr>
            <a:r>
              <a:rPr lang="en-US" sz="600" dirty="0">
                <a:solidFill>
                  <a:srgbClr val="B6E3A1"/>
                </a:solidFill>
                <a:latin typeface="Courier New" pitchFamily="34" charset="0"/>
                <a:ea typeface="Courier New" pitchFamily="34" charset="-122"/>
                <a:cs typeface="Courier New" pitchFamily="34" charset="-120"/>
              </a:rPr>
              <a:t>f"{path}:{lineno}  {line.strip()}"</a:t>
            </a:r>
            <a:endParaRPr lang="en-US" sz="600" dirty="0"/>
          </a:p>
        </p:txBody>
      </p:sp>
      <p:sp>
        <p:nvSpPr>
          <p:cNvPr id="50" name="Text 48"/>
          <p:cNvSpPr/>
          <p:nvPr/>
        </p:nvSpPr>
        <p:spPr>
          <a:xfrm>
            <a:off x="4072719" y="4020703"/>
            <a:ext cx="321790" cy="91440"/>
          </a:xfrm>
          <a:prstGeom prst="rect">
            <a:avLst/>
          </a:prstGeom>
          <a:noFill/>
          <a:ln/>
        </p:spPr>
        <p:txBody>
          <a:bodyPr wrap="none" lIns="0" tIns="0" rIns="0" bIns="0" rtlCol="0" anchor="t">
            <a:normAutofit/>
          </a:bodyPr>
          <a:lstStyle/>
          <a:p>
            <a:pPr algn="l" indent="0" marL="0">
              <a:lnSpc>
                <a:spcPts val="827"/>
              </a:lnSpc>
              <a:buNone/>
            </a:pPr>
            <a:r>
              <a:rPr lang="en-US" sz="600" dirty="0">
                <a:solidFill>
                  <a:srgbClr val="FF7A1A"/>
                </a:solidFill>
                <a:latin typeface="Courier New" pitchFamily="34" charset="0"/>
                <a:ea typeface="Courier New" pitchFamily="34" charset="-122"/>
                <a:cs typeface="Courier New" pitchFamily="34" charset="-120"/>
              </a:rPr>
              <a:t>if not</a:t>
            </a:r>
            <a:endParaRPr lang="en-US" sz="600" dirty="0"/>
          </a:p>
        </p:txBody>
      </p:sp>
      <p:sp>
        <p:nvSpPr>
          <p:cNvPr id="51" name="Text 49"/>
          <p:cNvSpPr/>
          <p:nvPr/>
        </p:nvSpPr>
        <p:spPr>
          <a:xfrm>
            <a:off x="4222738" y="4125627"/>
            <a:ext cx="321790" cy="135854"/>
          </a:xfrm>
          <a:prstGeom prst="rect">
            <a:avLst/>
          </a:prstGeom>
          <a:noFill/>
          <a:ln/>
        </p:spPr>
        <p:txBody>
          <a:bodyPr wrap="none" lIns="0" tIns="0" rIns="0" bIns="0" rtlCol="0" anchor="t"/>
          <a:lstStyle/>
          <a:p>
            <a:pPr algn="l" indent="0" marL="0">
              <a:lnSpc>
                <a:spcPts val="827"/>
              </a:lnSpc>
              <a:buNone/>
            </a:pPr>
            <a:r>
              <a:rPr lang="en-US" sz="600" dirty="0">
                <a:solidFill>
                  <a:srgbClr val="FF7A1A"/>
                </a:solidFill>
                <a:latin typeface="Courier New" pitchFamily="34" charset="0"/>
                <a:ea typeface="Courier New" pitchFamily="34" charset="-122"/>
                <a:cs typeface="Courier New" pitchFamily="34" charset="-120"/>
              </a:rPr>
              <a:t>return</a:t>
            </a:r>
            <a:endParaRPr lang="en-US" sz="600" dirty="0"/>
          </a:p>
        </p:txBody>
      </p:sp>
      <p:sp>
        <p:nvSpPr>
          <p:cNvPr id="52" name="Text 50"/>
          <p:cNvSpPr/>
          <p:nvPr/>
        </p:nvSpPr>
        <p:spPr>
          <a:xfrm>
            <a:off x="4485270" y="4125627"/>
            <a:ext cx="1377172" cy="91440"/>
          </a:xfrm>
          <a:prstGeom prst="rect">
            <a:avLst/>
          </a:prstGeom>
          <a:noFill/>
          <a:ln/>
        </p:spPr>
        <p:txBody>
          <a:bodyPr wrap="none" lIns="0" tIns="0" rIns="0" bIns="0" rtlCol="0" anchor="t">
            <a:normAutofit/>
          </a:bodyPr>
          <a:lstStyle/>
          <a:p>
            <a:pPr algn="l" indent="0" marL="0">
              <a:lnSpc>
                <a:spcPts val="827"/>
              </a:lnSpc>
              <a:buNone/>
            </a:pPr>
            <a:r>
              <a:rPr lang="en-US" sz="600" dirty="0">
                <a:solidFill>
                  <a:srgbClr val="B6E3A1"/>
                </a:solidFill>
                <a:latin typeface="Courier New" pitchFamily="34" charset="0"/>
                <a:ea typeface="Courier New" pitchFamily="34" charset="-122"/>
                <a:cs typeface="Courier New" pitchFamily="34" charset="-120"/>
              </a:rPr>
              <a:t>"No TODO or FIXME comments found."</a:t>
            </a:r>
            <a:endParaRPr lang="en-US" sz="600" dirty="0"/>
          </a:p>
        </p:txBody>
      </p:sp>
      <p:sp>
        <p:nvSpPr>
          <p:cNvPr id="53" name="Text 51"/>
          <p:cNvSpPr/>
          <p:nvPr/>
        </p:nvSpPr>
        <p:spPr>
          <a:xfrm>
            <a:off x="4072719" y="4230551"/>
            <a:ext cx="321790" cy="135854"/>
          </a:xfrm>
          <a:prstGeom prst="rect">
            <a:avLst/>
          </a:prstGeom>
          <a:noFill/>
          <a:ln/>
        </p:spPr>
        <p:txBody>
          <a:bodyPr wrap="none" lIns="0" tIns="0" rIns="0" bIns="0" rtlCol="0" anchor="t"/>
          <a:lstStyle/>
          <a:p>
            <a:pPr algn="l" indent="0" marL="0">
              <a:lnSpc>
                <a:spcPts val="827"/>
              </a:lnSpc>
              <a:buNone/>
            </a:pPr>
            <a:r>
              <a:rPr lang="en-US" sz="600" dirty="0">
                <a:solidFill>
                  <a:srgbClr val="FF7A1A"/>
                </a:solidFill>
                <a:latin typeface="Courier New" pitchFamily="34" charset="0"/>
                <a:ea typeface="Courier New" pitchFamily="34" charset="-122"/>
                <a:cs typeface="Courier New" pitchFamily="34" charset="-120"/>
              </a:rPr>
              <a:t>return</a:t>
            </a:r>
            <a:endParaRPr lang="en-US" sz="600" dirty="0"/>
          </a:p>
        </p:txBody>
      </p:sp>
      <p:sp>
        <p:nvSpPr>
          <p:cNvPr id="54" name="Text 52"/>
          <p:cNvSpPr/>
          <p:nvPr/>
        </p:nvSpPr>
        <p:spPr>
          <a:xfrm>
            <a:off x="4335252" y="4230551"/>
            <a:ext cx="1078260" cy="135854"/>
          </a:xfrm>
          <a:prstGeom prst="rect">
            <a:avLst/>
          </a:prstGeom>
          <a:noFill/>
          <a:ln/>
        </p:spPr>
        <p:txBody>
          <a:bodyPr wrap="none" lIns="0" tIns="0" rIns="0" bIns="0" rtlCol="0" anchor="t"/>
          <a:lstStyle/>
          <a:p>
            <a:pPr algn="l" indent="0" marL="0">
              <a:lnSpc>
                <a:spcPts val="827"/>
              </a:lnSpc>
              <a:buNone/>
            </a:pPr>
            <a:r>
              <a:rPr lang="en-US" sz="600" dirty="0">
                <a:solidFill>
                  <a:srgbClr val="B6E3A1"/>
                </a:solidFill>
                <a:latin typeface="Courier New" pitchFamily="34" charset="0"/>
                <a:ea typeface="Courier New" pitchFamily="34" charset="-122"/>
                <a:cs typeface="Courier New" pitchFamily="34" charset="-120"/>
              </a:rPr>
              <a:t>f"{len(hits)} found:\n"</a:t>
            </a:r>
            <a:endParaRPr lang="en-US" sz="600" dirty="0"/>
          </a:p>
        </p:txBody>
      </p:sp>
      <p:sp>
        <p:nvSpPr>
          <p:cNvPr id="55" name="Text 53"/>
          <p:cNvSpPr/>
          <p:nvPr/>
        </p:nvSpPr>
        <p:spPr>
          <a:xfrm>
            <a:off x="5300513" y="4230551"/>
            <a:ext cx="259751" cy="135854"/>
          </a:xfrm>
          <a:prstGeom prst="rect">
            <a:avLst/>
          </a:prstGeom>
          <a:noFill/>
          <a:ln/>
        </p:spPr>
        <p:txBody>
          <a:bodyPr wrap="none" lIns="0" tIns="0" rIns="0" bIns="0" rtlCol="0" anchor="t"/>
          <a:lstStyle/>
          <a:p>
            <a:pPr algn="l" indent="0" marL="0">
              <a:lnSpc>
                <a:spcPts val="827"/>
              </a:lnSpc>
              <a:buNone/>
            </a:pPr>
            <a:r>
              <a:rPr lang="en-US" sz="800" dirty="0">
                <a:solidFill>
                  <a:srgbClr val="B6E3A1"/>
                </a:solidFill>
                <a:latin typeface="Courier New" pitchFamily="34" charset="0"/>
                <a:ea typeface="Courier New" pitchFamily="34" charset="-122"/>
                <a:cs typeface="Courier New" pitchFamily="34" charset="-120"/>
              </a:rPr>
              <a:t>"\n"</a:t>
            </a:r>
            <a:endParaRPr lang="en-US" sz="800" dirty="0"/>
          </a:p>
        </p:txBody>
      </p:sp>
      <p:sp>
        <p:nvSpPr>
          <p:cNvPr id="56" name="Text 54"/>
          <p:cNvSpPr/>
          <p:nvPr/>
        </p:nvSpPr>
        <p:spPr>
          <a:xfrm>
            <a:off x="5475448" y="4230551"/>
            <a:ext cx="284927" cy="135854"/>
          </a:xfrm>
          <a:prstGeom prst="rect">
            <a:avLst/>
          </a:prstGeom>
          <a:noFill/>
          <a:ln/>
        </p:spPr>
        <p:txBody>
          <a:bodyPr wrap="none" lIns="0" tIns="0" rIns="0" bIns="0" rtlCol="0" anchor="t"/>
          <a:lstStyle/>
          <a:p>
            <a:pPr algn="l" indent="0" marL="0">
              <a:lnSpc>
                <a:spcPts val="827"/>
              </a:lnSpc>
              <a:buNone/>
            </a:pPr>
            <a:r>
              <a:rPr lang="en-US" sz="800" dirty="0">
                <a:solidFill>
                  <a:srgbClr val="FFD29E"/>
                </a:solidFill>
                <a:latin typeface="Courier New" pitchFamily="34" charset="0"/>
                <a:ea typeface="Courier New" pitchFamily="34" charset="-122"/>
                <a:cs typeface="Courier New" pitchFamily="34" charset="-120"/>
              </a:rPr>
              <a:t>join</a:t>
            </a:r>
            <a:endParaRPr lang="en-US" sz="800" dirty="0"/>
          </a:p>
        </p:txBody>
      </p:sp>
      <p:sp>
        <p:nvSpPr>
          <p:cNvPr id="57" name="Text 55"/>
          <p:cNvSpPr/>
          <p:nvPr/>
        </p:nvSpPr>
        <p:spPr>
          <a:xfrm>
            <a:off x="3902586" y="4545323"/>
            <a:ext cx="160244" cy="91440"/>
          </a:xfrm>
          <a:prstGeom prst="rect">
            <a:avLst/>
          </a:prstGeom>
          <a:noFill/>
          <a:ln/>
        </p:spPr>
        <p:txBody>
          <a:bodyPr wrap="none" lIns="0" tIns="0" rIns="0" bIns="0" rtlCol="0" anchor="t"/>
          <a:lstStyle/>
          <a:p>
            <a:pPr algn="l" indent="0" marL="0">
              <a:lnSpc>
                <a:spcPts val="827"/>
              </a:lnSpc>
              <a:buNone/>
            </a:pPr>
            <a:r>
              <a:rPr lang="en-US" sz="800" dirty="0">
                <a:solidFill>
                  <a:srgbClr val="FF7A1A"/>
                </a:solidFill>
                <a:latin typeface="Courier New" pitchFamily="34" charset="0"/>
                <a:ea typeface="Courier New" pitchFamily="34" charset="-122"/>
                <a:cs typeface="Courier New" pitchFamily="34" charset="-120"/>
              </a:rPr>
              <a:t>if</a:t>
            </a:r>
            <a:endParaRPr lang="en-US" sz="800" dirty="0"/>
          </a:p>
        </p:txBody>
      </p:sp>
      <p:sp>
        <p:nvSpPr>
          <p:cNvPr id="58" name="Text 56"/>
          <p:cNvSpPr/>
          <p:nvPr/>
        </p:nvSpPr>
        <p:spPr>
          <a:xfrm>
            <a:off x="4485270" y="4545323"/>
            <a:ext cx="468809" cy="91440"/>
          </a:xfrm>
          <a:prstGeom prst="rect">
            <a:avLst/>
          </a:prstGeom>
          <a:noFill/>
          <a:ln/>
        </p:spPr>
        <p:txBody>
          <a:bodyPr wrap="none" lIns="0" tIns="0" rIns="0" bIns="0" rtlCol="0" anchor="t">
            <a:normAutofit/>
          </a:bodyPr>
          <a:lstStyle/>
          <a:p>
            <a:pPr algn="l" indent="0" marL="0">
              <a:lnSpc>
                <a:spcPts val="827"/>
              </a:lnSpc>
              <a:buNone/>
            </a:pPr>
            <a:r>
              <a:rPr lang="en-US" sz="600" dirty="0">
                <a:solidFill>
                  <a:srgbClr val="B6E3A1"/>
                </a:solidFill>
                <a:latin typeface="Courier New" pitchFamily="34" charset="0"/>
                <a:ea typeface="Courier New" pitchFamily="34" charset="-122"/>
                <a:cs typeface="Courier New" pitchFamily="34" charset="-120"/>
              </a:rPr>
              <a:t>"__main__"</a:t>
            </a:r>
            <a:endParaRPr lang="en-US" sz="600" dirty="0"/>
          </a:p>
        </p:txBody>
      </p:sp>
      <p:sp>
        <p:nvSpPr>
          <p:cNvPr id="59" name="Text 57"/>
          <p:cNvSpPr/>
          <p:nvPr/>
        </p:nvSpPr>
        <p:spPr>
          <a:xfrm>
            <a:off x="4201456" y="4650246"/>
            <a:ext cx="222585" cy="91440"/>
          </a:xfrm>
          <a:prstGeom prst="rect">
            <a:avLst/>
          </a:prstGeom>
          <a:noFill/>
          <a:ln/>
        </p:spPr>
        <p:txBody>
          <a:bodyPr wrap="none" lIns="0" tIns="0" rIns="0" bIns="0" rtlCol="0" anchor="t"/>
          <a:lstStyle/>
          <a:p>
            <a:pPr algn="l" indent="0" marL="0">
              <a:lnSpc>
                <a:spcPts val="827"/>
              </a:lnSpc>
              <a:buNone/>
            </a:pPr>
            <a:r>
              <a:rPr lang="en-US" sz="800" dirty="0">
                <a:solidFill>
                  <a:srgbClr val="FFD29E"/>
                </a:solidFill>
                <a:latin typeface="Courier New" pitchFamily="34" charset="0"/>
                <a:ea typeface="Courier New" pitchFamily="34" charset="-122"/>
                <a:cs typeface="Courier New" pitchFamily="34" charset="-120"/>
              </a:rPr>
              <a:t>run</a:t>
            </a:r>
            <a:endParaRPr lang="en-US" sz="800" dirty="0"/>
          </a:p>
        </p:txBody>
      </p:sp>
      <p:sp>
        <p:nvSpPr>
          <p:cNvPr id="60" name="Text 58"/>
          <p:cNvSpPr/>
          <p:nvPr/>
        </p:nvSpPr>
        <p:spPr>
          <a:xfrm>
            <a:off x="4485270" y="4650246"/>
            <a:ext cx="2175272" cy="91440"/>
          </a:xfrm>
          <a:prstGeom prst="rect">
            <a:avLst/>
          </a:prstGeom>
          <a:noFill/>
          <a:ln/>
        </p:spPr>
        <p:txBody>
          <a:bodyPr wrap="none" lIns="0" tIns="0" rIns="0" bIns="0" rtlCol="0" anchor="t"/>
          <a:lstStyle/>
          <a:p>
            <a:pPr algn="l" indent="0" marL="0">
              <a:lnSpc>
                <a:spcPts val="827"/>
              </a:lnSpc>
              <a:buNone/>
            </a:pPr>
            <a:r>
              <a:rPr lang="en-US" sz="600" i="1" dirty="0">
                <a:solidFill>
                  <a:srgbClr val="71717A"/>
                </a:solidFill>
                <a:latin typeface="Courier New" pitchFamily="34" charset="0"/>
                <a:ea typeface="Courier New" pitchFamily="34" charset="-122"/>
                <a:cs typeface="Courier New" pitchFamily="34" charset="-120"/>
              </a:rPr>
              <a:t># stdio by default -- matches "type": "stdio" in .mcp.json</a:t>
            </a:r>
            <a:endParaRPr lang="en-US" sz="600" dirty="0"/>
          </a:p>
        </p:txBody>
      </p:sp>
      <p:sp>
        <p:nvSpPr>
          <p:cNvPr id="61" name="Text 59"/>
          <p:cNvSpPr/>
          <p:nvPr/>
        </p:nvSpPr>
        <p:spPr>
          <a:xfrm>
            <a:off x="514350" y="4868466"/>
            <a:ext cx="6721153"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EP09 · MCP IN THE REAL WORLD</a:t>
            </a:r>
            <a:endParaRPr lang="en-US" sz="800" dirty="0"/>
          </a:p>
        </p:txBody>
      </p:sp>
      <p:sp>
        <p:nvSpPr>
          <p:cNvPr id="62" name="Text 60"/>
          <p:cNvSpPr/>
          <p:nvPr/>
        </p:nvSpPr>
        <p:spPr>
          <a:xfrm>
            <a:off x="7249790" y="4868466"/>
            <a:ext cx="1688604"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Courier New" pitchFamily="34" charset="0"/>
                <a:ea typeface="Courier New" pitchFamily="34" charset="-122"/>
                <a:cs typeface="Courier New" pitchFamily="34" charset="-120"/>
              </a:rPr>
              <a:t>BUILD · </a:t>
            </a:r>
            <a:pPr algn="l" indent="0" marL="0">
              <a:lnSpc>
                <a:spcPts val="928"/>
              </a:lnSpc>
              <a:buNone/>
            </a:pPr>
            <a:r>
              <a:rPr lang="en-US" sz="800" spc="99" kern="0" dirty="0">
                <a:solidFill>
                  <a:srgbClr val="FF7A1A"/>
                </a:solidFill>
                <a:latin typeface="Courier New" pitchFamily="34" charset="0"/>
                <a:ea typeface="Courier New" pitchFamily="34" charset="-122"/>
                <a:cs typeface="Courier New" pitchFamily="34" charset="-120"/>
              </a:rPr>
              <a:t>STANDALONE SERVER</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257175" y="200025"/>
            <a:ext cx="2232705"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71717A"/>
                </a:solidFill>
                <a:latin typeface="Liberation Sans Narrow" pitchFamily="34" charset="0"/>
                <a:ea typeface="Liberation Sans Narrow" pitchFamily="34" charset="-122"/>
                <a:cs typeface="Liberation Sans Narrow" pitchFamily="34" charset="-120"/>
              </a:rPr>
              <a:t>EP09 </a:t>
            </a:r>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a:t>
            </a:r>
            <a:pPr algn="l" indent="0" marL="0">
              <a:lnSpc>
                <a:spcPts val="928"/>
              </a:lnSpc>
              <a:buNone/>
            </a:pPr>
            <a:r>
              <a:rPr lang="en-US" sz="800" spc="173" kern="0" dirty="0">
                <a:solidFill>
                  <a:srgbClr val="71717A"/>
                </a:solidFill>
                <a:latin typeface="Courier New" pitchFamily="34" charset="0"/>
                <a:ea typeface="Courier New" pitchFamily="34" charset="-122"/>
                <a:cs typeface="Courier New" pitchFamily="34" charset="-120"/>
              </a:rPr>
              <a:t> MCP IN THE REAL WORLD</a:t>
            </a:r>
            <a:endParaRPr lang="en-US" sz="800" dirty="0"/>
          </a:p>
        </p:txBody>
      </p:sp>
      <p:sp>
        <p:nvSpPr>
          <p:cNvPr id="3" name="Text 1"/>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22 / 30</a:t>
            </a:r>
            <a:endParaRPr lang="en-US" sz="800" dirty="0"/>
          </a:p>
        </p:txBody>
      </p:sp>
      <p:sp>
        <p:nvSpPr>
          <p:cNvPr id="4" name="Text 2"/>
          <p:cNvSpPr/>
          <p:nvPr/>
        </p:nvSpPr>
        <p:spPr>
          <a:xfrm>
            <a:off x="4999025" y="3500438"/>
            <a:ext cx="4144975" cy="1643063"/>
          </a:xfrm>
          <a:prstGeom prst="rect">
            <a:avLst/>
          </a:prstGeom>
          <a:noFill/>
          <a:ln/>
        </p:spPr>
        <p:txBody>
          <a:bodyPr wrap="square" lIns="0" tIns="0" rIns="0" bIns="0" rtlCol="0" anchor="t"/>
          <a:lstStyle/>
          <a:p>
            <a:pPr algn="l" indent="0" marL="0">
              <a:lnSpc>
                <a:spcPts val="18000"/>
              </a:lnSpc>
              <a:buNone/>
            </a:pPr>
            <a:r>
              <a:rPr lang="en-US" sz="18000" b="1" dirty="0">
                <a:solidFill>
                  <a:srgbClr val="FF7A1A">
                    <a:alpha val="4000"/>
                  </a:srgbClr>
                </a:solidFill>
                <a:latin typeface="Liberation Sans Narrow" pitchFamily="34" charset="0"/>
                <a:ea typeface="Liberation Sans Narrow" pitchFamily="34" charset="-122"/>
                <a:cs typeface="Liberation Sans Narrow" pitchFamily="34" charset="-120"/>
              </a:rPr>
              <a:t>22</a:t>
            </a:r>
            <a:endParaRPr lang="en-US" sz="18000" dirty="0"/>
          </a:p>
        </p:txBody>
      </p:sp>
      <p:sp>
        <p:nvSpPr>
          <p:cNvPr id="5" name="Text 3"/>
          <p:cNvSpPr/>
          <p:nvPr/>
        </p:nvSpPr>
        <p:spPr>
          <a:xfrm>
            <a:off x="514350" y="571500"/>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DEMYSTIFY</a:t>
            </a:r>
            <a:endParaRPr lang="en-US" sz="800" dirty="0"/>
          </a:p>
        </p:txBody>
      </p:sp>
      <p:sp>
        <p:nvSpPr>
          <p:cNvPr id="6" name="Text 4"/>
          <p:cNvSpPr/>
          <p:nvPr/>
        </p:nvSpPr>
        <p:spPr>
          <a:xfrm>
            <a:off x="514350" y="789384"/>
            <a:ext cx="8629650" cy="373346"/>
          </a:xfrm>
          <a:prstGeom prst="rect">
            <a:avLst/>
          </a:prstGeom>
          <a:noFill/>
          <a:ln/>
        </p:spPr>
        <p:txBody>
          <a:bodyPr wrap="squar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Proving It's </a:t>
            </a:r>
            <a:pPr algn="l" indent="0" marL="0">
              <a:lnSpc>
                <a:spcPts val="2723"/>
              </a:lnSpc>
              <a:buNone/>
            </a:pPr>
            <a:r>
              <a:rPr lang="en-US" sz="2475" b="1" spc="-49" kern="0" dirty="0">
                <a:solidFill>
                  <a:srgbClr val="FF7A1A"/>
                </a:solidFill>
                <a:latin typeface="Carlito" pitchFamily="34" charset="0"/>
                <a:ea typeface="Carlito" pitchFamily="34" charset="-122"/>
                <a:cs typeface="Carlito" pitchFamily="34" charset="-120"/>
              </a:rPr>
              <a:t>Really Just JSON</a:t>
            </a:r>
            <a:endParaRPr lang="en-US" sz="2475" dirty="0"/>
          </a:p>
        </p:txBody>
      </p:sp>
      <p:sp>
        <p:nvSpPr>
          <p:cNvPr id="7" name="Shape 5"/>
          <p:cNvSpPr/>
          <p:nvPr/>
        </p:nvSpPr>
        <p:spPr>
          <a:xfrm>
            <a:off x="514350" y="1317241"/>
            <a:ext cx="400050" cy="0"/>
          </a:xfrm>
          <a:prstGeom prst="line">
            <a:avLst/>
          </a:prstGeom>
          <a:noFill/>
          <a:ln w="7144">
            <a:solidFill>
              <a:srgbClr val="F4F4F5"/>
            </a:solidFill>
            <a:prstDash val="solid"/>
          </a:ln>
        </p:spPr>
      </p:sp>
      <p:sp>
        <p:nvSpPr>
          <p:cNvPr id="8" name="Text 6"/>
          <p:cNvSpPr/>
          <p:nvPr/>
        </p:nvSpPr>
        <p:spPr>
          <a:xfrm>
            <a:off x="514350" y="1527981"/>
            <a:ext cx="8115300" cy="840212"/>
          </a:xfrm>
          <a:prstGeom prst="rect">
            <a:avLst/>
          </a:prstGeom>
          <a:noFill/>
          <a:ln/>
        </p:spPr>
        <p:txBody>
          <a:bodyPr wrap="square" lIns="0" tIns="0" rIns="0" bIns="0" rtlCol="0" anchor="t"/>
          <a:lstStyle/>
          <a:p>
            <a:pPr algn="l" indent="0" marL="0">
              <a:lnSpc>
                <a:spcPts val="1308"/>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MCP over stdio is just JSON, one line at a time, over </a:t>
            </a:r>
            <a:pPr algn="l" indent="0" marL="0">
              <a:lnSpc>
                <a:spcPts val="1308"/>
              </a:lnSpc>
              <a:spcAft>
                <a:spcPts val="788"/>
              </a:spcAft>
              <a:buNone/>
            </a:pPr>
            <a:r>
              <a:rPr lang="en-US" sz="802" dirty="0">
                <a:solidFill>
                  <a:srgbClr val="FF7A1A"/>
                </a:solidFill>
                <a:highlight>
                  <a:srgbClr val="1D1D24"/>
                </a:highlight>
                <a:latin typeface="Courier New" pitchFamily="34" charset="0"/>
                <a:ea typeface="Courier New" pitchFamily="34" charset="-122"/>
                <a:cs typeface="Courier New" pitchFamily="34" charset="-120"/>
              </a:rPr>
              <a:t>stdin</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a:t>
            </a:r>
            <a:pPr algn="l" indent="0" marL="0">
              <a:lnSpc>
                <a:spcPts val="1308"/>
              </a:lnSpc>
              <a:spcAft>
                <a:spcPts val="788"/>
              </a:spcAft>
              <a:buNone/>
            </a:pPr>
            <a:r>
              <a:rPr lang="en-US" sz="802" dirty="0">
                <a:solidFill>
                  <a:srgbClr val="FF7A1A"/>
                </a:solidFill>
                <a:highlight>
                  <a:srgbClr val="1D1D24"/>
                </a:highlight>
                <a:latin typeface="Courier New" pitchFamily="34" charset="0"/>
                <a:ea typeface="Courier New" pitchFamily="34" charset="-122"/>
                <a:cs typeface="Courier New" pitchFamily="34" charset="-120"/>
              </a:rPr>
              <a:t>stdout</a:t>
            </a:r>
            <a:endParaRPr lang="en-US" sz="872" dirty="0"/>
          </a:p>
          <a:p>
            <a:pPr algn="l" indent="0" marL="0">
              <a:lnSpc>
                <a:spcPts val="1308"/>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Demo: talk to </a:t>
            </a:r>
            <a:pPr algn="l" indent="0" marL="0">
              <a:lnSpc>
                <a:spcPts val="1308"/>
              </a:lnSpc>
              <a:spcAft>
                <a:spcPts val="788"/>
              </a:spcAft>
              <a:buNone/>
            </a:pPr>
            <a:r>
              <a:rPr lang="en-US" sz="802" dirty="0">
                <a:solidFill>
                  <a:srgbClr val="FF7A1A"/>
                </a:solidFill>
                <a:highlight>
                  <a:srgbClr val="1D1D24"/>
                </a:highlight>
                <a:latin typeface="Courier New" pitchFamily="34" charset="0"/>
                <a:ea typeface="Courier New" pitchFamily="34" charset="-122"/>
                <a:cs typeface="Courier New" pitchFamily="34" charset="-120"/>
              </a:rPr>
              <a:t>repo_facts_server.py</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 directly, no agent involved</a:t>
            </a:r>
            <a:endParaRPr lang="en-US" sz="872" dirty="0"/>
          </a:p>
          <a:p>
            <a:pPr algn="l" indent="0" marL="0">
              <a:lnSpc>
                <a:spcPts val="1308"/>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Real, actually-run output: server intro + one tool listed, </a:t>
            </a:r>
            <a:pPr algn="l" indent="0" marL="0">
              <a:lnSpc>
                <a:spcPts val="1308"/>
              </a:lnSpc>
              <a:spcAft>
                <a:spcPts val="788"/>
              </a:spcAft>
              <a:buNone/>
            </a:pPr>
            <a:r>
              <a:rPr lang="en-US" sz="802" dirty="0">
                <a:solidFill>
                  <a:srgbClr val="FF7A1A"/>
                </a:solidFill>
                <a:highlight>
                  <a:srgbClr val="1D1D24"/>
                </a:highlight>
                <a:latin typeface="Courier New" pitchFamily="34" charset="0"/>
                <a:ea typeface="Courier New" pitchFamily="34" charset="-122"/>
                <a:cs typeface="Courier New" pitchFamily="34" charset="-120"/>
              </a:rPr>
              <a:t>count_todos</a:t>
            </a:r>
            <a:endParaRPr lang="en-US" sz="872" dirty="0"/>
          </a:p>
        </p:txBody>
      </p:sp>
      <p:sp>
        <p:nvSpPr>
          <p:cNvPr id="9" name="Text 7"/>
          <p:cNvSpPr/>
          <p:nvPr/>
        </p:nvSpPr>
        <p:spPr>
          <a:xfrm>
            <a:off x="517922" y="2344155"/>
            <a:ext cx="8108156" cy="2395724"/>
          </a:xfrm>
          <a:prstGeom prst="roundRect">
            <a:avLst>
              <a:gd name="adj" fmla="val 3976"/>
            </a:avLst>
          </a:prstGeom>
          <a:solidFill>
            <a:srgbClr val="15151A"/>
          </a:solidFill>
          <a:ln w="7144">
            <a:solidFill>
              <a:srgbClr val="2A2A33"/>
            </a:solidFill>
            <a:prstDash val="solid"/>
          </a:ln>
        </p:spPr>
        <p:txBody>
          <a:bodyPr wrap="square" rtlCol="0" anchor="ctr"/>
          <a:lstStyle/>
          <a:p>
            <a:pPr indent="0" marL="0">
              <a:buNone/>
            </a:pPr>
            <a:endParaRPr lang="en-US" dirty="0"/>
          </a:p>
        </p:txBody>
      </p:sp>
      <p:sp>
        <p:nvSpPr>
          <p:cNvPr id="10" name="Text 8"/>
          <p:cNvSpPr/>
          <p:nvPr/>
        </p:nvSpPr>
        <p:spPr>
          <a:xfrm>
            <a:off x="521494" y="2347726"/>
            <a:ext cx="8101013" cy="239316"/>
          </a:xfrm>
          <a:prstGeom prst="rect">
            <a:avLst/>
          </a:prstGeom>
          <a:solidFill>
            <a:srgbClr val="1D1D24"/>
          </a:solidFill>
          <a:ln/>
        </p:spPr>
        <p:txBody>
          <a:bodyPr wrap="square" rtlCol="0" anchor="ctr"/>
          <a:lstStyle/>
          <a:p>
            <a:pPr indent="0" marL="0">
              <a:buNone/>
            </a:pPr>
            <a:endParaRPr lang="en-US" dirty="0"/>
          </a:p>
        </p:txBody>
      </p:sp>
      <p:sp>
        <p:nvSpPr>
          <p:cNvPr id="11" name="Shape 9"/>
          <p:cNvSpPr/>
          <p:nvPr/>
        </p:nvSpPr>
        <p:spPr>
          <a:xfrm>
            <a:off x="521494" y="2583470"/>
            <a:ext cx="8101013" cy="0"/>
          </a:xfrm>
          <a:prstGeom prst="line">
            <a:avLst/>
          </a:prstGeom>
          <a:noFill/>
          <a:ln w="7144">
            <a:solidFill>
              <a:srgbClr val="2A2A33"/>
            </a:solidFill>
            <a:prstDash val="solid"/>
          </a:ln>
        </p:spPr>
      </p:sp>
      <p:sp>
        <p:nvSpPr>
          <p:cNvPr id="12" name="Text 10"/>
          <p:cNvSpPr/>
          <p:nvPr/>
        </p:nvSpPr>
        <p:spPr>
          <a:xfrm>
            <a:off x="635794" y="2431666"/>
            <a:ext cx="64294" cy="64294"/>
          </a:xfrm>
          <a:prstGeom prst="ellipse">
            <a:avLst/>
          </a:prstGeom>
          <a:solidFill>
            <a:srgbClr val="2A2A33"/>
          </a:solidFill>
          <a:ln/>
        </p:spPr>
        <p:txBody>
          <a:bodyPr wrap="square" rtlCol="0" anchor="ctr"/>
          <a:lstStyle/>
          <a:p>
            <a:pPr indent="0" marL="0">
              <a:buNone/>
            </a:pPr>
            <a:endParaRPr lang="en-US" dirty="0"/>
          </a:p>
        </p:txBody>
      </p:sp>
      <p:sp>
        <p:nvSpPr>
          <p:cNvPr id="13" name="Text 11"/>
          <p:cNvSpPr/>
          <p:nvPr/>
        </p:nvSpPr>
        <p:spPr>
          <a:xfrm>
            <a:off x="742950" y="2431666"/>
            <a:ext cx="64294" cy="64294"/>
          </a:xfrm>
          <a:prstGeom prst="ellipse">
            <a:avLst/>
          </a:prstGeom>
          <a:solidFill>
            <a:srgbClr val="2A2A33"/>
          </a:solidFill>
          <a:ln/>
        </p:spPr>
        <p:txBody>
          <a:bodyPr wrap="square" rtlCol="0" anchor="ctr"/>
          <a:lstStyle/>
          <a:p>
            <a:pPr indent="0" marL="0">
              <a:buNone/>
            </a:pPr>
            <a:endParaRPr lang="en-US" dirty="0"/>
          </a:p>
        </p:txBody>
      </p:sp>
      <p:sp>
        <p:nvSpPr>
          <p:cNvPr id="14" name="Text 12"/>
          <p:cNvSpPr/>
          <p:nvPr/>
        </p:nvSpPr>
        <p:spPr>
          <a:xfrm>
            <a:off x="850106" y="2431666"/>
            <a:ext cx="64294" cy="64294"/>
          </a:xfrm>
          <a:prstGeom prst="ellipse">
            <a:avLst/>
          </a:prstGeom>
          <a:solidFill>
            <a:srgbClr val="2A2A33"/>
          </a:solidFill>
          <a:ln/>
        </p:spPr>
        <p:txBody>
          <a:bodyPr wrap="square" rtlCol="0" anchor="ctr"/>
          <a:lstStyle/>
          <a:p>
            <a:pPr indent="0" marL="0">
              <a:buNone/>
            </a:pPr>
            <a:endParaRPr lang="en-US" dirty="0"/>
          </a:p>
        </p:txBody>
      </p:sp>
      <p:sp>
        <p:nvSpPr>
          <p:cNvPr id="15" name="Text 13"/>
          <p:cNvSpPr/>
          <p:nvPr/>
        </p:nvSpPr>
        <p:spPr>
          <a:xfrm>
            <a:off x="635794" y="2404876"/>
            <a:ext cx="7529268" cy="117872"/>
          </a:xfrm>
          <a:prstGeom prst="rect">
            <a:avLst/>
          </a:prstGeom>
          <a:noFill/>
          <a:ln/>
        </p:spPr>
        <p:txBody>
          <a:bodyPr wrap="square" lIns="0" tIns="0" rIns="0" bIns="0" rtlCol="0" anchor="t"/>
          <a:lstStyle/>
          <a:p>
            <a:pPr algn="ctr" indent="0" marL="0">
              <a:lnSpc>
                <a:spcPts val="928"/>
              </a:lnSpc>
              <a:buNone/>
            </a:pPr>
            <a:r>
              <a:rPr lang="en-US" sz="800" spc="74" kern="0" dirty="0">
                <a:solidFill>
                  <a:srgbClr val="71717A"/>
                </a:solidFill>
                <a:latin typeface="Courier New" pitchFamily="34" charset="0"/>
                <a:ea typeface="Courier New" pitchFamily="34" charset="-122"/>
                <a:cs typeface="Courier New" pitchFamily="34" charset="-120"/>
              </a:rPr>
              <a:t>pipe three JSON-RPC lines into </a:t>
            </a:r>
            <a:pPr algn="ctr" indent="0" marL="0">
              <a:lnSpc>
                <a:spcPts val="928"/>
              </a:lnSpc>
              <a:buNone/>
            </a:pPr>
            <a:r>
              <a:rPr lang="en-US" sz="800" spc="74" kern="0" dirty="0">
                <a:solidFill>
                  <a:srgbClr val="FF7A1A"/>
                </a:solidFill>
                <a:latin typeface="Courier New" pitchFamily="34" charset="0"/>
                <a:ea typeface="Courier New" pitchFamily="34" charset="-122"/>
                <a:cs typeface="Courier New" pitchFamily="34" charset="-120"/>
              </a:rPr>
              <a:t>repo_facts_server.py</a:t>
            </a:r>
            <a:endParaRPr lang="en-US" sz="800" dirty="0"/>
          </a:p>
        </p:txBody>
      </p:sp>
      <p:sp>
        <p:nvSpPr>
          <p:cNvPr id="16" name="Text 14"/>
          <p:cNvSpPr/>
          <p:nvPr/>
        </p:nvSpPr>
        <p:spPr>
          <a:xfrm>
            <a:off x="7786799" y="2404876"/>
            <a:ext cx="721407" cy="117872"/>
          </a:xfrm>
          <a:prstGeom prst="rect">
            <a:avLst/>
          </a:prstGeom>
          <a:noFill/>
          <a:ln/>
        </p:spPr>
        <p:txBody>
          <a:bodyPr wrap="none" lIns="0" tIns="0" rIns="0" bIns="0" rtlCol="0" anchor="t"/>
          <a:lstStyle/>
          <a:p>
            <a:pPr algn="l" indent="0" marL="0">
              <a:lnSpc>
                <a:spcPts val="928"/>
              </a:lnSpc>
              <a:buNone/>
            </a:pPr>
            <a:r>
              <a:rPr lang="en-US" sz="619" spc="74" kern="0" dirty="0">
                <a:solidFill>
                  <a:srgbClr val="71717A"/>
                </a:solidFill>
                <a:latin typeface="Courier New" pitchFamily="34" charset="0"/>
                <a:ea typeface="Courier New" pitchFamily="34" charset="-122"/>
                <a:cs typeface="Courier New" pitchFamily="34" charset="-120"/>
              </a:rPr>
              <a:t>stdin ↔ stdout</a:t>
            </a:r>
            <a:endParaRPr lang="en-US" sz="619" dirty="0"/>
          </a:p>
        </p:txBody>
      </p:sp>
      <p:sp>
        <p:nvSpPr>
          <p:cNvPr id="17" name="Text 15"/>
          <p:cNvSpPr/>
          <p:nvPr/>
        </p:nvSpPr>
        <p:spPr>
          <a:xfrm>
            <a:off x="650081" y="2687055"/>
            <a:ext cx="379065" cy="148010"/>
          </a:xfrm>
          <a:prstGeom prst="roundRect">
            <a:avLst>
              <a:gd name="adj" fmla="val 19306"/>
            </a:avLst>
          </a:prstGeom>
          <a:solidFill>
            <a:srgbClr val="1D1D24"/>
          </a:solidFill>
          <a:ln/>
        </p:spPr>
        <p:txBody>
          <a:bodyPr wrap="square" rtlCol="0" anchor="ctr"/>
          <a:lstStyle/>
          <a:p>
            <a:pPr indent="0" marL="0">
              <a:buNone/>
            </a:pPr>
            <a:endParaRPr lang="en-US" dirty="0"/>
          </a:p>
        </p:txBody>
      </p:sp>
      <p:sp>
        <p:nvSpPr>
          <p:cNvPr id="18" name="Text 16"/>
          <p:cNvSpPr/>
          <p:nvPr/>
        </p:nvSpPr>
        <p:spPr>
          <a:xfrm>
            <a:off x="650081" y="2687055"/>
            <a:ext cx="7843838" cy="120578"/>
          </a:xfrm>
          <a:prstGeom prst="rect">
            <a:avLst/>
          </a:prstGeom>
          <a:noFill/>
          <a:ln/>
        </p:spPr>
        <p:txBody>
          <a:bodyPr wrap="none" lIns="0" tIns="0" rIns="0" bIns="0" rtlCol="0" anchor="t">
            <a:normAutofit/>
          </a:bodyPr>
          <a:lstStyle/>
          <a:p>
            <a:pPr algn="l" indent="0" marL="0">
              <a:lnSpc>
                <a:spcPts val="1003"/>
              </a:lnSpc>
              <a:buNone/>
            </a:pPr>
            <a:r>
              <a:rPr lang="en-US" sz="647" spc="96" kern="0" dirty="0">
                <a:solidFill>
                  <a:srgbClr val="71717A"/>
                </a:solidFill>
                <a:highlight>
                  <a:srgbClr val="1D1D24"/>
                </a:highlight>
                <a:latin typeface="Courier New" pitchFamily="34" charset="0"/>
                <a:ea typeface="Courier New" pitchFamily="34" charset="-122"/>
                <a:cs typeface="Courier New" pitchFamily="34" charset="-120"/>
              </a:rPr>
              <a:t>→ REQ</a:t>
            </a:r>
            <a:pPr algn="l" indent="0" marL="0">
              <a:lnSpc>
                <a:spcPts val="1003"/>
              </a:lnSpc>
              <a:buNone/>
            </a:pPr>
            <a:r>
              <a:rPr lang="en-US" sz="647" dirty="0">
                <a:solidFill>
                  <a:srgbClr val="4A4A52"/>
                </a:solidFill>
                <a:latin typeface="Courier New" pitchFamily="34" charset="0"/>
                <a:ea typeface="Courier New" pitchFamily="34" charset="-122"/>
                <a:cs typeface="Courier New" pitchFamily="34" charset="-120"/>
              </a:rPr>
              <a:t>$</a:t>
            </a:r>
            <a:pPr algn="l" indent="0" marL="0">
              <a:lnSpc>
                <a:spcPts val="1003"/>
              </a:lnSpc>
              <a:buNone/>
            </a:pPr>
            <a:r>
              <a:rPr lang="en-US" sz="647" dirty="0">
                <a:solidFill>
                  <a:srgbClr val="A1A1AA"/>
                </a:solidFill>
                <a:latin typeface="Courier New" pitchFamily="34" charset="0"/>
                <a:ea typeface="Courier New" pitchFamily="34" charset="-122"/>
                <a:cs typeface="Courier New" pitchFamily="34" charset="-120"/>
              </a:rPr>
              <a:t>echo</a:t>
            </a:r>
            <a:pPr algn="l" indent="0" marL="0">
              <a:lnSpc>
                <a:spcPts val="1003"/>
              </a:lnSpc>
              <a:buNone/>
            </a:pPr>
            <a:r>
              <a:rPr lang="en-US" sz="647" dirty="0">
                <a:solidFill>
                  <a:srgbClr val="71717A"/>
                </a:solidFill>
                <a:latin typeface="Courier New" pitchFamily="34" charset="0"/>
                <a:ea typeface="Courier New" pitchFamily="34" charset="-122"/>
                <a:cs typeface="Courier New" pitchFamily="34" charset="-120"/>
              </a:rPr>
              <a:t> '{"jsonrpc":"2.0","id":1,"method":"initialize","params":{"protocolVersion":"2024-11-05","capabilities":{},"clientInfo":{"name":"demo","version":"0.0"}}}' | python repo_facts_server.py</a:t>
            </a:r>
            <a:endParaRPr lang="en-US" sz="647" dirty="0"/>
          </a:p>
        </p:txBody>
      </p:sp>
      <p:sp>
        <p:nvSpPr>
          <p:cNvPr id="19" name="Text 17"/>
          <p:cNvSpPr/>
          <p:nvPr/>
        </p:nvSpPr>
        <p:spPr>
          <a:xfrm>
            <a:off x="650081" y="2835064"/>
            <a:ext cx="379065" cy="148010"/>
          </a:xfrm>
          <a:prstGeom prst="roundRect">
            <a:avLst>
              <a:gd name="adj" fmla="val 19306"/>
            </a:avLst>
          </a:prstGeom>
          <a:solidFill>
            <a:srgbClr val="FF7A1A">
              <a:alpha val="10000"/>
            </a:srgbClr>
          </a:solidFill>
          <a:ln/>
        </p:spPr>
        <p:txBody>
          <a:bodyPr wrap="square" rtlCol="0" anchor="ctr"/>
          <a:lstStyle/>
          <a:p>
            <a:pPr indent="0" marL="0">
              <a:buNone/>
            </a:pPr>
            <a:endParaRPr lang="en-US" dirty="0"/>
          </a:p>
        </p:txBody>
      </p:sp>
      <p:sp>
        <p:nvSpPr>
          <p:cNvPr id="20" name="Text 18"/>
          <p:cNvSpPr/>
          <p:nvPr/>
        </p:nvSpPr>
        <p:spPr>
          <a:xfrm>
            <a:off x="650081" y="2835064"/>
            <a:ext cx="7843838" cy="120578"/>
          </a:xfrm>
          <a:prstGeom prst="rect">
            <a:avLst/>
          </a:prstGeom>
          <a:noFill/>
          <a:ln/>
        </p:spPr>
        <p:txBody>
          <a:bodyPr wrap="none" lIns="0" tIns="0" rIns="0" bIns="0" rtlCol="0" anchor="t">
            <a:normAutofit/>
          </a:bodyPr>
          <a:lstStyle/>
          <a:p>
            <a:pPr algn="l" indent="0" marL="0">
              <a:lnSpc>
                <a:spcPts val="1003"/>
              </a:lnSpc>
              <a:buNone/>
            </a:pPr>
            <a:r>
              <a:rPr lang="en-US" sz="647" spc="96" kern="0" dirty="0">
                <a:solidFill>
                  <a:srgbClr val="FF7A1A"/>
                </a:solidFill>
                <a:highlight>
                  <a:srgbClr val="FF7A1A"/>
                </a:highlight>
                <a:latin typeface="Courier New" pitchFamily="34" charset="0"/>
                <a:ea typeface="Courier New" pitchFamily="34" charset="-122"/>
                <a:cs typeface="Courier New" pitchFamily="34" charset="-120"/>
              </a:rPr>
              <a:t>← RES</a:t>
            </a:r>
            <a:pPr algn="l" indent="0" marL="0">
              <a:lnSpc>
                <a:spcPts val="1003"/>
              </a:lnSpc>
              <a:buNone/>
            </a:pPr>
            <a:r>
              <a:rPr lang="en-US" sz="647" dirty="0">
                <a:solidFill>
                  <a:srgbClr val="E4E4E7"/>
                </a:solidFill>
                <a:latin typeface="Courier New" pitchFamily="34" charset="0"/>
                <a:ea typeface="Courier New" pitchFamily="34" charset="-122"/>
                <a:cs typeface="Courier New" pitchFamily="34" charset="-120"/>
              </a:rPr>
              <a:t>{"jsonrpc":"2.0","id":1,"result":{"protocolVersion":"</a:t>
            </a:r>
            <a:pPr algn="l" indent="0" marL="0">
              <a:lnSpc>
                <a:spcPts val="1003"/>
              </a:lnSpc>
              <a:buNone/>
            </a:pPr>
            <a:r>
              <a:rPr lang="en-US" sz="647" dirty="0">
                <a:solidFill>
                  <a:srgbClr val="B6E3A1"/>
                </a:solidFill>
                <a:latin typeface="Liberation Sans Narrow" pitchFamily="34" charset="0"/>
                <a:ea typeface="Liberation Sans Narrow" pitchFamily="34" charset="-122"/>
                <a:cs typeface="Liberation Sans Narrow" pitchFamily="34" charset="-120"/>
              </a:rPr>
              <a:t>2024-11-05</a:t>
            </a:r>
            <a:pPr algn="l" indent="0" marL="0">
              <a:lnSpc>
                <a:spcPts val="1003"/>
              </a:lnSpc>
              <a:buNone/>
            </a:pPr>
            <a:r>
              <a:rPr lang="en-US" sz="647" dirty="0">
                <a:solidFill>
                  <a:srgbClr val="E4E4E7"/>
                </a:solidFill>
                <a:latin typeface="Courier New" pitchFamily="34" charset="0"/>
                <a:ea typeface="Courier New" pitchFamily="34" charset="-122"/>
                <a:cs typeface="Courier New" pitchFamily="34" charset="-120"/>
              </a:rPr>
              <a:t>","capabilities":{"tools":{"listChanged":</a:t>
            </a:r>
            <a:pPr algn="l" indent="0" marL="0">
              <a:lnSpc>
                <a:spcPts val="1003"/>
              </a:lnSpc>
              <a:buNone/>
            </a:pPr>
            <a:r>
              <a:rPr lang="en-US" sz="647" dirty="0">
                <a:solidFill>
                  <a:srgbClr val="FF7A1A"/>
                </a:solidFill>
                <a:latin typeface="Courier New" pitchFamily="34" charset="0"/>
                <a:ea typeface="Courier New" pitchFamily="34" charset="-122"/>
                <a:cs typeface="Courier New" pitchFamily="34" charset="-120"/>
              </a:rPr>
              <a:t>false</a:t>
            </a:r>
            <a:pPr algn="l" indent="0" marL="0">
              <a:lnSpc>
                <a:spcPts val="1003"/>
              </a:lnSpc>
              <a:buNone/>
            </a:pPr>
            <a:r>
              <a:rPr lang="en-US" sz="647" dirty="0">
                <a:solidFill>
                  <a:srgbClr val="E4E4E7"/>
                </a:solidFill>
                <a:latin typeface="Courier New" pitchFamily="34" charset="0"/>
                <a:ea typeface="Courier New" pitchFamily="34" charset="-122"/>
                <a:cs typeface="Courier New" pitchFamily="34" charset="-120"/>
              </a:rPr>
              <a:t>}},"serverInfo":{"name":"</a:t>
            </a:r>
            <a:pPr algn="l" indent="0" marL="0">
              <a:lnSpc>
                <a:spcPts val="1003"/>
              </a:lnSpc>
              <a:buNone/>
            </a:pPr>
            <a:r>
              <a:rPr lang="en-US" sz="647" dirty="0">
                <a:solidFill>
                  <a:srgbClr val="B6E3A1"/>
                </a:solidFill>
                <a:latin typeface="Courier New" pitchFamily="34" charset="0"/>
                <a:ea typeface="Courier New" pitchFamily="34" charset="-122"/>
                <a:cs typeface="Courier New" pitchFamily="34" charset="-120"/>
              </a:rPr>
              <a:t>repo_facts</a:t>
            </a:r>
            <a:pPr algn="l" indent="0" marL="0">
              <a:lnSpc>
                <a:spcPts val="1003"/>
              </a:lnSpc>
              <a:buNone/>
            </a:pPr>
            <a:r>
              <a:rPr lang="en-US" sz="647" dirty="0">
                <a:solidFill>
                  <a:srgbClr val="E4E4E7"/>
                </a:solidFill>
                <a:latin typeface="Courier New" pitchFamily="34" charset="0"/>
                <a:ea typeface="Courier New" pitchFamily="34" charset="-122"/>
                <a:cs typeface="Courier New" pitchFamily="34" charset="-120"/>
              </a:rPr>
              <a:t>","version":"</a:t>
            </a:r>
            <a:pPr algn="l" indent="0" marL="0">
              <a:lnSpc>
                <a:spcPts val="1003"/>
              </a:lnSpc>
              <a:buNone/>
            </a:pPr>
            <a:r>
              <a:rPr lang="en-US" sz="647" dirty="0">
                <a:solidFill>
                  <a:srgbClr val="B6E3A1"/>
                </a:solidFill>
                <a:latin typeface="Liberation Sans Narrow" pitchFamily="34" charset="0"/>
                <a:ea typeface="Liberation Sans Narrow" pitchFamily="34" charset="-122"/>
                <a:cs typeface="Liberation Sans Narrow" pitchFamily="34" charset="-120"/>
              </a:rPr>
              <a:t>1.0.0</a:t>
            </a:r>
            <a:pPr algn="l" indent="0" marL="0">
              <a:lnSpc>
                <a:spcPts val="1003"/>
              </a:lnSpc>
              <a:buNone/>
            </a:pPr>
            <a:r>
              <a:rPr lang="en-US" sz="647" dirty="0">
                <a:solidFill>
                  <a:srgbClr val="E4E4E7"/>
                </a:solidFill>
                <a:latin typeface="Courier New" pitchFamily="34" charset="0"/>
                <a:ea typeface="Courier New" pitchFamily="34" charset="-122"/>
                <a:cs typeface="Courier New" pitchFamily="34" charset="-120"/>
              </a:rPr>
              <a:t>"}}}</a:t>
            </a:r>
            <a:endParaRPr lang="en-US" sz="647" dirty="0"/>
          </a:p>
        </p:txBody>
      </p:sp>
      <p:sp>
        <p:nvSpPr>
          <p:cNvPr id="21" name="Text 19"/>
          <p:cNvSpPr/>
          <p:nvPr/>
        </p:nvSpPr>
        <p:spPr>
          <a:xfrm>
            <a:off x="650081" y="2983074"/>
            <a:ext cx="379065" cy="148010"/>
          </a:xfrm>
          <a:prstGeom prst="roundRect">
            <a:avLst>
              <a:gd name="adj" fmla="val 19306"/>
            </a:avLst>
          </a:prstGeom>
          <a:solidFill>
            <a:srgbClr val="1D1D24"/>
          </a:solidFill>
          <a:ln/>
        </p:spPr>
        <p:txBody>
          <a:bodyPr wrap="square" rtlCol="0" anchor="ctr"/>
          <a:lstStyle/>
          <a:p>
            <a:pPr indent="0" marL="0">
              <a:buNone/>
            </a:pPr>
            <a:endParaRPr lang="en-US" dirty="0"/>
          </a:p>
        </p:txBody>
      </p:sp>
      <p:sp>
        <p:nvSpPr>
          <p:cNvPr id="22" name="Text 20"/>
          <p:cNvSpPr/>
          <p:nvPr/>
        </p:nvSpPr>
        <p:spPr>
          <a:xfrm>
            <a:off x="650081" y="2983074"/>
            <a:ext cx="7843838" cy="120578"/>
          </a:xfrm>
          <a:prstGeom prst="rect">
            <a:avLst/>
          </a:prstGeom>
          <a:noFill/>
          <a:ln/>
        </p:spPr>
        <p:txBody>
          <a:bodyPr wrap="none" lIns="0" tIns="0" rIns="0" bIns="0" rtlCol="0" anchor="t">
            <a:normAutofit/>
          </a:bodyPr>
          <a:lstStyle/>
          <a:p>
            <a:pPr algn="l" indent="0" marL="0">
              <a:lnSpc>
                <a:spcPts val="1003"/>
              </a:lnSpc>
              <a:buNone/>
            </a:pPr>
            <a:r>
              <a:rPr lang="en-US" sz="800" spc="96" kern="0" dirty="0">
                <a:solidFill>
                  <a:srgbClr val="71717A"/>
                </a:solidFill>
                <a:highlight>
                  <a:srgbClr val="1D1D24"/>
                </a:highlight>
                <a:latin typeface="Courier New" pitchFamily="34" charset="0"/>
                <a:ea typeface="Courier New" pitchFamily="34" charset="-122"/>
                <a:cs typeface="Courier New" pitchFamily="34" charset="-120"/>
              </a:rPr>
              <a:t>→ REQ</a:t>
            </a:r>
            <a:pPr algn="l" indent="0" marL="0">
              <a:lnSpc>
                <a:spcPts val="1003"/>
              </a:lnSpc>
              <a:buNone/>
            </a:pPr>
            <a:r>
              <a:rPr lang="en-US" sz="800" dirty="0">
                <a:solidFill>
                  <a:srgbClr val="4A4A52"/>
                </a:solidFill>
                <a:latin typeface="Courier New" pitchFamily="34" charset="0"/>
                <a:ea typeface="Courier New" pitchFamily="34" charset="-122"/>
                <a:cs typeface="Courier New" pitchFamily="34" charset="-120"/>
              </a:rPr>
              <a:t>$</a:t>
            </a:r>
            <a:pPr algn="l" indent="0" marL="0">
              <a:lnSpc>
                <a:spcPts val="1003"/>
              </a:lnSpc>
              <a:buNone/>
            </a:pPr>
            <a:r>
              <a:rPr lang="en-US" sz="800" dirty="0">
                <a:solidFill>
                  <a:srgbClr val="A1A1AA"/>
                </a:solidFill>
                <a:latin typeface="Courier New" pitchFamily="34" charset="0"/>
                <a:ea typeface="Courier New" pitchFamily="34" charset="-122"/>
                <a:cs typeface="Courier New" pitchFamily="34" charset="-120"/>
              </a:rPr>
              <a:t>echo</a:t>
            </a:r>
            <a:pPr algn="l" indent="0" marL="0">
              <a:lnSpc>
                <a:spcPts val="1003"/>
              </a:lnSpc>
              <a:buNone/>
            </a:pPr>
            <a:r>
              <a:rPr lang="en-US" sz="800" dirty="0">
                <a:solidFill>
                  <a:srgbClr val="71717A"/>
                </a:solidFill>
                <a:latin typeface="Courier New" pitchFamily="34" charset="0"/>
                <a:ea typeface="Courier New" pitchFamily="34" charset="-122"/>
                <a:cs typeface="Courier New" pitchFamily="34" charset="-120"/>
              </a:rPr>
              <a:t> '{"jsonrpc":"2.0","method":"notifications/initialized"}' | python repo_facts_server.py</a:t>
            </a:r>
            <a:endParaRPr lang="en-US" sz="800" dirty="0"/>
          </a:p>
        </p:txBody>
      </p:sp>
      <p:sp>
        <p:nvSpPr>
          <p:cNvPr id="23" name="Text 21"/>
          <p:cNvSpPr/>
          <p:nvPr/>
        </p:nvSpPr>
        <p:spPr>
          <a:xfrm>
            <a:off x="650081" y="3131083"/>
            <a:ext cx="7843838" cy="120578"/>
          </a:xfrm>
          <a:prstGeom prst="rect">
            <a:avLst/>
          </a:prstGeom>
          <a:noFill/>
          <a:ln/>
        </p:spPr>
        <p:txBody>
          <a:bodyPr wrap="none" lIns="0" tIns="0" rIns="0" bIns="0" rtlCol="0" anchor="t">
            <a:normAutofit/>
          </a:bodyPr>
          <a:lstStyle/>
          <a:p>
            <a:pPr algn="l" indent="0" marL="0">
              <a:lnSpc>
                <a:spcPts val="1003"/>
              </a:lnSpc>
              <a:buNone/>
            </a:pPr>
            <a:r>
              <a:rPr lang="en-US" sz="800" i="1" spc="96" kern="0" dirty="0">
                <a:solidFill>
                  <a:srgbClr val="52525B"/>
                </a:solidFill>
                <a:latin typeface="Courier New" pitchFamily="34" charset="0"/>
                <a:ea typeface="Courier New" pitchFamily="34" charset="-122"/>
                <a:cs typeface="Courier New" pitchFamily="34" charset="-120"/>
              </a:rPr>
              <a:t>NOTE</a:t>
            </a:r>
            <a:pPr algn="l" indent="0" marL="0">
              <a:lnSpc>
                <a:spcPts val="1003"/>
              </a:lnSpc>
              <a:buNone/>
            </a:pPr>
            <a:r>
              <a:rPr lang="en-US" sz="800" i="1" dirty="0">
                <a:solidFill>
                  <a:srgbClr val="52525B"/>
                </a:solidFill>
                <a:latin typeface="Courier New" pitchFamily="34" charset="0"/>
                <a:ea typeface="Courier New" pitchFamily="34" charset="-122"/>
                <a:cs typeface="Courier New" pitchFamily="34" charset="-120"/>
              </a:rPr>
              <a:t>notification — no response is sent back, by JSON-RPC convention</a:t>
            </a:r>
            <a:endParaRPr lang="en-US" sz="800" dirty="0"/>
          </a:p>
        </p:txBody>
      </p:sp>
      <p:sp>
        <p:nvSpPr>
          <p:cNvPr id="24" name="Text 22"/>
          <p:cNvSpPr/>
          <p:nvPr/>
        </p:nvSpPr>
        <p:spPr>
          <a:xfrm>
            <a:off x="650081" y="3279093"/>
            <a:ext cx="379065" cy="148010"/>
          </a:xfrm>
          <a:prstGeom prst="roundRect">
            <a:avLst>
              <a:gd name="adj" fmla="val 19306"/>
            </a:avLst>
          </a:prstGeom>
          <a:solidFill>
            <a:srgbClr val="1D1D24"/>
          </a:solidFill>
          <a:ln/>
        </p:spPr>
        <p:txBody>
          <a:bodyPr wrap="square" rtlCol="0" anchor="ctr"/>
          <a:lstStyle/>
          <a:p>
            <a:pPr indent="0" marL="0">
              <a:buNone/>
            </a:pPr>
            <a:endParaRPr lang="en-US" dirty="0"/>
          </a:p>
        </p:txBody>
      </p:sp>
      <p:sp>
        <p:nvSpPr>
          <p:cNvPr id="25" name="Text 23"/>
          <p:cNvSpPr/>
          <p:nvPr/>
        </p:nvSpPr>
        <p:spPr>
          <a:xfrm>
            <a:off x="650081" y="3279093"/>
            <a:ext cx="7843838" cy="120578"/>
          </a:xfrm>
          <a:prstGeom prst="rect">
            <a:avLst/>
          </a:prstGeom>
          <a:noFill/>
          <a:ln/>
        </p:spPr>
        <p:txBody>
          <a:bodyPr wrap="none" lIns="0" tIns="0" rIns="0" bIns="0" rtlCol="0" anchor="t">
            <a:normAutofit/>
          </a:bodyPr>
          <a:lstStyle/>
          <a:p>
            <a:pPr algn="l" indent="0" marL="0">
              <a:lnSpc>
                <a:spcPts val="1003"/>
              </a:lnSpc>
              <a:buNone/>
            </a:pPr>
            <a:r>
              <a:rPr lang="en-US" sz="800" spc="96" kern="0" dirty="0">
                <a:solidFill>
                  <a:srgbClr val="71717A"/>
                </a:solidFill>
                <a:highlight>
                  <a:srgbClr val="1D1D24"/>
                </a:highlight>
                <a:latin typeface="Courier New" pitchFamily="34" charset="0"/>
                <a:ea typeface="Courier New" pitchFamily="34" charset="-122"/>
                <a:cs typeface="Courier New" pitchFamily="34" charset="-120"/>
              </a:rPr>
              <a:t>→ REQ</a:t>
            </a:r>
            <a:pPr algn="l" indent="0" marL="0">
              <a:lnSpc>
                <a:spcPts val="1003"/>
              </a:lnSpc>
              <a:buNone/>
            </a:pPr>
            <a:r>
              <a:rPr lang="en-US" sz="800" dirty="0">
                <a:solidFill>
                  <a:srgbClr val="4A4A52"/>
                </a:solidFill>
                <a:latin typeface="Courier New" pitchFamily="34" charset="0"/>
                <a:ea typeface="Courier New" pitchFamily="34" charset="-122"/>
                <a:cs typeface="Courier New" pitchFamily="34" charset="-120"/>
              </a:rPr>
              <a:t>$</a:t>
            </a:r>
            <a:pPr algn="l" indent="0" marL="0">
              <a:lnSpc>
                <a:spcPts val="1003"/>
              </a:lnSpc>
              <a:buNone/>
            </a:pPr>
            <a:r>
              <a:rPr lang="en-US" sz="800" dirty="0">
                <a:solidFill>
                  <a:srgbClr val="A1A1AA"/>
                </a:solidFill>
                <a:latin typeface="Courier New" pitchFamily="34" charset="0"/>
                <a:ea typeface="Courier New" pitchFamily="34" charset="-122"/>
                <a:cs typeface="Courier New" pitchFamily="34" charset="-120"/>
              </a:rPr>
              <a:t>echo</a:t>
            </a:r>
            <a:pPr algn="l" indent="0" marL="0">
              <a:lnSpc>
                <a:spcPts val="1003"/>
              </a:lnSpc>
              <a:buNone/>
            </a:pPr>
            <a:r>
              <a:rPr lang="en-US" sz="800" dirty="0">
                <a:solidFill>
                  <a:srgbClr val="71717A"/>
                </a:solidFill>
                <a:latin typeface="Courier New" pitchFamily="34" charset="0"/>
                <a:ea typeface="Courier New" pitchFamily="34" charset="-122"/>
                <a:cs typeface="Courier New" pitchFamily="34" charset="-120"/>
              </a:rPr>
              <a:t> '{"jsonrpc":"2.0","id":2,"method":"tools/list"}' | python repo_facts_server.py</a:t>
            </a:r>
            <a:endParaRPr lang="en-US" sz="800" dirty="0"/>
          </a:p>
        </p:txBody>
      </p:sp>
      <p:sp>
        <p:nvSpPr>
          <p:cNvPr id="26" name="Text 24"/>
          <p:cNvSpPr/>
          <p:nvPr/>
        </p:nvSpPr>
        <p:spPr>
          <a:xfrm>
            <a:off x="650081" y="3427102"/>
            <a:ext cx="379065" cy="148010"/>
          </a:xfrm>
          <a:prstGeom prst="roundRect">
            <a:avLst>
              <a:gd name="adj" fmla="val 19306"/>
            </a:avLst>
          </a:prstGeom>
          <a:solidFill>
            <a:srgbClr val="FF7A1A">
              <a:alpha val="10000"/>
            </a:srgbClr>
          </a:solidFill>
          <a:ln/>
        </p:spPr>
        <p:txBody>
          <a:bodyPr wrap="square" rtlCol="0" anchor="ctr"/>
          <a:lstStyle/>
          <a:p>
            <a:pPr indent="0" marL="0">
              <a:buNone/>
            </a:pPr>
            <a:endParaRPr lang="en-US" dirty="0"/>
          </a:p>
        </p:txBody>
      </p:sp>
      <p:sp>
        <p:nvSpPr>
          <p:cNvPr id="27" name="Text 25"/>
          <p:cNvSpPr/>
          <p:nvPr/>
        </p:nvSpPr>
        <p:spPr>
          <a:xfrm>
            <a:off x="650081" y="3427102"/>
            <a:ext cx="7843838" cy="197689"/>
          </a:xfrm>
          <a:prstGeom prst="rect">
            <a:avLst/>
          </a:prstGeom>
          <a:noFill/>
          <a:ln/>
        </p:spPr>
        <p:txBody>
          <a:bodyPr wrap="none" lIns="0" tIns="0" rIns="0" bIns="0" rtlCol="0" anchor="t"/>
          <a:lstStyle/>
          <a:p>
            <a:pPr algn="l" indent="0" marL="0">
              <a:lnSpc>
                <a:spcPts val="1003"/>
              </a:lnSpc>
              <a:buNone/>
            </a:pPr>
            <a:r>
              <a:rPr lang="en-US" sz="647" spc="96" kern="0" dirty="0">
                <a:solidFill>
                  <a:srgbClr val="FF7A1A"/>
                </a:solidFill>
                <a:highlight>
                  <a:srgbClr val="FF7A1A"/>
                </a:highlight>
                <a:latin typeface="Courier New" pitchFamily="34" charset="0"/>
                <a:ea typeface="Courier New" pitchFamily="34" charset="-122"/>
                <a:cs typeface="Courier New" pitchFamily="34" charset="-120"/>
              </a:rPr>
              <a:t>← RES</a:t>
            </a:r>
            <a:pPr algn="l" indent="0" marL="0">
              <a:lnSpc>
                <a:spcPts val="1003"/>
              </a:lnSpc>
              <a:buNone/>
            </a:pPr>
            <a:r>
              <a:rPr lang="en-US" sz="647" dirty="0">
                <a:solidFill>
                  <a:srgbClr val="E4E4E7"/>
                </a:solidFill>
                <a:latin typeface="Courier New" pitchFamily="34" charset="0"/>
                <a:ea typeface="Courier New" pitchFamily="34" charset="-122"/>
                <a:cs typeface="Courier New" pitchFamily="34" charset="-120"/>
              </a:rPr>
              <a:t>{"jsonrpc":"2.0","id":2,"result":{"tools":[{"name":"</a:t>
            </a:r>
            <a:pPr algn="l" indent="0" marL="0">
              <a:lnSpc>
                <a:spcPts val="1003"/>
              </a:lnSpc>
              <a:buNone/>
            </a:pPr>
            <a:r>
              <a:rPr lang="en-US" sz="647" dirty="0">
                <a:solidFill>
                  <a:srgbClr val="B6E3A1"/>
                </a:solidFill>
                <a:latin typeface="Courier New" pitchFamily="34" charset="0"/>
                <a:ea typeface="Courier New" pitchFamily="34" charset="-122"/>
                <a:cs typeface="Courier New" pitchFamily="34" charset="-120"/>
              </a:rPr>
              <a:t>count_todos</a:t>
            </a:r>
            <a:pPr algn="l" indent="0" marL="0">
              <a:lnSpc>
                <a:spcPts val="1003"/>
              </a:lnSpc>
              <a:buNone/>
            </a:pPr>
            <a:r>
              <a:rPr lang="en-US" sz="647" dirty="0">
                <a:solidFill>
                  <a:srgbClr val="E4E4E7"/>
                </a:solidFill>
                <a:latin typeface="Courier New" pitchFamily="34" charset="0"/>
                <a:ea typeface="Courier New" pitchFamily="34" charset="-122"/>
                <a:cs typeface="Courier New" pitchFamily="34" charset="-120"/>
              </a:rPr>
              <a:t>","description":"</a:t>
            </a:r>
            <a:pPr algn="l" indent="0" marL="0">
              <a:lnSpc>
                <a:spcPts val="1003"/>
              </a:lnSpc>
              <a:buNone/>
            </a:pPr>
            <a:r>
              <a:rPr lang="en-US" sz="647" dirty="0">
                <a:solidFill>
                  <a:srgbClr val="B6E3A1"/>
                </a:solidFill>
                <a:latin typeface="Courier New" pitchFamily="34" charset="0"/>
                <a:ea typeface="Courier New" pitchFamily="34" charset="-122"/>
                <a:cs typeface="Courier New" pitchFamily="34" charset="-120"/>
              </a:rPr>
              <a:t>Count TODO and FIXME comments across every .py file under `directory`. Returns a plain-text report...</a:t>
            </a:r>
            <a:pPr algn="l" indent="0" marL="0">
              <a:lnSpc>
                <a:spcPts val="1003"/>
              </a:lnSpc>
              <a:buNone/>
            </a:pPr>
            <a:r>
              <a:rPr lang="en-US" sz="647" dirty="0">
                <a:solidFill>
                  <a:srgbClr val="E4E4E7"/>
                </a:solidFill>
                <a:latin typeface="Courier New" pitchFamily="34" charset="0"/>
                <a:ea typeface="Courier New" pitchFamily="34" charset="-122"/>
                <a:cs typeface="Courier New" pitchFamily="34" charset="-120"/>
              </a:rPr>
              <a:t>","inputSchema":{"type":"</a:t>
            </a:r>
            <a:pPr algn="l" indent="0" marL="0">
              <a:lnSpc>
                <a:spcPts val="1003"/>
              </a:lnSpc>
              <a:buNone/>
            </a:pPr>
            <a:r>
              <a:rPr lang="en-US" sz="647" dirty="0">
                <a:solidFill>
                  <a:srgbClr val="B6E3A1"/>
                </a:solidFill>
                <a:latin typeface="Courier New" pitchFamily="34" charset="0"/>
                <a:ea typeface="Courier New" pitchFamily="34" charset="-122"/>
                <a:cs typeface="Courier New" pitchFamily="34" charset="-120"/>
              </a:rPr>
              <a:t>object</a:t>
            </a:r>
            <a:pPr algn="l" indent="0" marL="0">
              <a:lnSpc>
                <a:spcPts val="1003"/>
              </a:lnSpc>
              <a:buNone/>
            </a:pPr>
            <a:r>
              <a:rPr lang="en-US" sz="647" dirty="0">
                <a:solidFill>
                  <a:srgbClr val="E4E4E7"/>
                </a:solidFill>
                <a:latin typeface="Courier New" pitchFamily="34" charset="0"/>
                <a:ea typeface="Courier New" pitchFamily="34" charset="-122"/>
                <a:cs typeface="Courier New" pitchFamily="34" charset="-120"/>
              </a:rPr>
              <a:t>","properties":{"directory":{"type":"</a:t>
            </a:r>
            <a:pPr algn="l" indent="0" marL="0">
              <a:lnSpc>
                <a:spcPts val="1003"/>
              </a:lnSpc>
              <a:buNone/>
            </a:pPr>
            <a:r>
              <a:rPr lang="en-US" sz="647" dirty="0">
                <a:solidFill>
                  <a:srgbClr val="B6E3A1"/>
                </a:solidFill>
                <a:latin typeface="Courier New" pitchFamily="34" charset="0"/>
                <a:ea typeface="Courier New" pitchFamily="34" charset="-122"/>
                <a:cs typeface="Courier New" pitchFamily="34" charset="-120"/>
              </a:rPr>
              <a:t>string</a:t>
            </a:r>
            <a:pPr algn="l" indent="0" marL="0">
              <a:lnSpc>
                <a:spcPts val="1003"/>
              </a:lnSpc>
              <a:buNone/>
            </a:pPr>
            <a:r>
              <a:rPr lang="en-US" sz="647" dirty="0">
                <a:solidFill>
                  <a:srgbClr val="E4E4E7"/>
                </a:solidFill>
                <a:latin typeface="Courier New" pitchFamily="34" charset="0"/>
                <a:ea typeface="Courier New" pitchFamily="34" charset="-122"/>
                <a:cs typeface="Courier New" pitchFamily="34" charset="-120"/>
              </a:rPr>
              <a:t>","default":"</a:t>
            </a:r>
            <a:pPr algn="l" indent="0" marL="0">
              <a:lnSpc>
                <a:spcPts val="1003"/>
              </a:lnSpc>
              <a:buNone/>
            </a:pPr>
            <a:r>
              <a:rPr lang="en-US" sz="647" dirty="0">
                <a:solidFill>
                  <a:srgbClr val="B6E3A1"/>
                </a:solidFill>
                <a:latin typeface="Courier New" pitchFamily="34" charset="0"/>
                <a:ea typeface="Courier New" pitchFamily="34" charset="-122"/>
                <a:cs typeface="Courier New" pitchFamily="34" charset="-120"/>
              </a:rPr>
              <a:t>.</a:t>
            </a:r>
            <a:pPr algn="l" indent="0" marL="0">
              <a:lnSpc>
                <a:spcPts val="1003"/>
              </a:lnSpc>
              <a:buNone/>
            </a:pPr>
            <a:r>
              <a:rPr lang="en-US" sz="647" dirty="0">
                <a:solidFill>
                  <a:srgbClr val="E4E4E7"/>
                </a:solidFill>
                <a:latin typeface="Courier New" pitchFamily="34" charset="0"/>
                <a:ea typeface="Courier New" pitchFamily="34" charset="-122"/>
                <a:cs typeface="Courier New" pitchFamily="34" charset="-120"/>
              </a:rPr>
              <a:t>"}}}}]}}</a:t>
            </a:r>
            <a:endParaRPr lang="en-US" sz="647" dirty="0"/>
          </a:p>
        </p:txBody>
      </p:sp>
      <p:sp>
        <p:nvSpPr>
          <p:cNvPr id="28" name="Text 26"/>
          <p:cNvSpPr/>
          <p:nvPr/>
        </p:nvSpPr>
        <p:spPr>
          <a:xfrm>
            <a:off x="514350" y="4868466"/>
            <a:ext cx="6274780"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EP09 · MCP IN THE REAL WORLD</a:t>
            </a:r>
            <a:endParaRPr lang="en-US" sz="800" dirty="0"/>
          </a:p>
        </p:txBody>
      </p:sp>
      <p:sp>
        <p:nvSpPr>
          <p:cNvPr id="29" name="Text 27"/>
          <p:cNvSpPr/>
          <p:nvPr/>
        </p:nvSpPr>
        <p:spPr>
          <a:xfrm>
            <a:off x="6803417" y="4868466"/>
            <a:ext cx="2090648" cy="164592"/>
          </a:xfrm>
          <a:prstGeom prst="rect">
            <a:avLst/>
          </a:prstGeom>
          <a:noFill/>
          <a:ln/>
        </p:spPr>
        <p:txBody>
          <a:bodyPr wrap="square" lIns="0" tIns="0" rIns="0" bIns="0" rtlCol="0" anchor="t"/>
          <a:lstStyle/>
          <a:p>
            <a:pPr algn="l" indent="0" marL="0">
              <a:lnSpc>
                <a:spcPts val="928"/>
              </a:lnSpc>
              <a:buNone/>
            </a:pPr>
            <a:r>
              <a:rPr lang="en-US" sz="619" spc="99" kern="0" dirty="0">
                <a:solidFill>
                  <a:srgbClr val="71717A"/>
                </a:solidFill>
                <a:latin typeface="Courier New" pitchFamily="34" charset="0"/>
                <a:ea typeface="Courier New" pitchFamily="34" charset="-122"/>
                <a:cs typeface="Courier New" pitchFamily="34" charset="-120"/>
              </a:rPr>
              <a:t>DEMYSTIFY · </a:t>
            </a:r>
            <a:pPr algn="l" indent="0" marL="0">
              <a:lnSpc>
                <a:spcPts val="928"/>
              </a:lnSpc>
              <a:buNone/>
            </a:pPr>
            <a:r>
              <a:rPr lang="en-US" sz="619" spc="99" kern="0" dirty="0">
                <a:solidFill>
                  <a:srgbClr val="FF7A1A"/>
                </a:solidFill>
                <a:latin typeface="Courier New" pitchFamily="34" charset="0"/>
                <a:ea typeface="Courier New" pitchFamily="34" charset="-122"/>
                <a:cs typeface="Courier New" pitchFamily="34" charset="-120"/>
              </a:rPr>
              <a:t>ONE LINE · ONE MESSAGE</a:t>
            </a:r>
            <a:endParaRPr lang="en-US" sz="619"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257175" y="200025"/>
            <a:ext cx="2232705"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71717A"/>
                </a:solidFill>
                <a:latin typeface="Liberation Sans Narrow" pitchFamily="34" charset="0"/>
                <a:ea typeface="Liberation Sans Narrow" pitchFamily="34" charset="-122"/>
                <a:cs typeface="Liberation Sans Narrow" pitchFamily="34" charset="-120"/>
              </a:rPr>
              <a:t>EP09 </a:t>
            </a:r>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a:t>
            </a:r>
            <a:pPr algn="l" indent="0" marL="0">
              <a:lnSpc>
                <a:spcPts val="928"/>
              </a:lnSpc>
              <a:buNone/>
            </a:pPr>
            <a:r>
              <a:rPr lang="en-US" sz="800" spc="173" kern="0" dirty="0">
                <a:solidFill>
                  <a:srgbClr val="71717A"/>
                </a:solidFill>
                <a:latin typeface="Courier New" pitchFamily="34" charset="0"/>
                <a:ea typeface="Courier New" pitchFamily="34" charset="-122"/>
                <a:cs typeface="Courier New" pitchFamily="34" charset="-120"/>
              </a:rPr>
              <a:t> MCP IN THE REAL WORLD</a:t>
            </a:r>
            <a:endParaRPr lang="en-US" sz="800" dirty="0"/>
          </a:p>
        </p:txBody>
      </p:sp>
      <p:sp>
        <p:nvSpPr>
          <p:cNvPr id="3" name="Text 1"/>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23 / 30</a:t>
            </a:r>
            <a:endParaRPr lang="en-US" sz="800" dirty="0"/>
          </a:p>
        </p:txBody>
      </p:sp>
      <p:sp>
        <p:nvSpPr>
          <p:cNvPr id="4" name="Text 2"/>
          <p:cNvSpPr/>
          <p:nvPr/>
        </p:nvSpPr>
        <p:spPr>
          <a:xfrm>
            <a:off x="4999025" y="3500438"/>
            <a:ext cx="4144975" cy="1643063"/>
          </a:xfrm>
          <a:prstGeom prst="rect">
            <a:avLst/>
          </a:prstGeom>
          <a:noFill/>
          <a:ln/>
        </p:spPr>
        <p:txBody>
          <a:bodyPr wrap="square" lIns="0" tIns="0" rIns="0" bIns="0" rtlCol="0" anchor="t"/>
          <a:lstStyle/>
          <a:p>
            <a:pPr algn="l" indent="0" marL="0">
              <a:lnSpc>
                <a:spcPts val="18000"/>
              </a:lnSpc>
              <a:buNone/>
            </a:pPr>
            <a:r>
              <a:rPr lang="en-US" sz="18000" b="1" dirty="0">
                <a:solidFill>
                  <a:srgbClr val="FF7A1A">
                    <a:alpha val="4000"/>
                  </a:srgbClr>
                </a:solidFill>
                <a:latin typeface="Liberation Sans Narrow" pitchFamily="34" charset="0"/>
                <a:ea typeface="Liberation Sans Narrow" pitchFamily="34" charset="-122"/>
                <a:cs typeface="Liberation Sans Narrow" pitchFamily="34" charset="-120"/>
              </a:rPr>
              <a:t>23</a:t>
            </a:r>
            <a:endParaRPr lang="en-US" sz="18000" dirty="0"/>
          </a:p>
        </p:txBody>
      </p:sp>
      <p:sp>
        <p:nvSpPr>
          <p:cNvPr id="5" name="Text 3"/>
          <p:cNvSpPr/>
          <p:nvPr/>
        </p:nvSpPr>
        <p:spPr>
          <a:xfrm>
            <a:off x="514350" y="571500"/>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CONFIG · FINAL</a:t>
            </a:r>
            <a:endParaRPr lang="en-US" sz="800" dirty="0"/>
          </a:p>
        </p:txBody>
      </p:sp>
      <p:sp>
        <p:nvSpPr>
          <p:cNvPr id="6" name="Text 4"/>
          <p:cNvSpPr/>
          <p:nvPr/>
        </p:nvSpPr>
        <p:spPr>
          <a:xfrm>
            <a:off x="514350" y="789384"/>
            <a:ext cx="8629650" cy="373346"/>
          </a:xfrm>
          <a:prstGeom prst="rect">
            <a:avLst/>
          </a:prstGeom>
          <a:noFill/>
          <a:ln/>
        </p:spPr>
        <p:txBody>
          <a:bodyPr wrap="squar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Finishing </a:t>
            </a:r>
            <a:pPr algn="l" indent="0" marL="0">
              <a:lnSpc>
                <a:spcPts val="2723"/>
              </a:lnSpc>
              <a:buNone/>
            </a:pPr>
            <a:r>
              <a:rPr lang="en-US" sz="2475" b="1" spc="-49" kern="0" dirty="0">
                <a:solidFill>
                  <a:srgbClr val="FF7A1A"/>
                </a:solidFill>
                <a:latin typeface="Carlito" pitchFamily="34" charset="0"/>
                <a:ea typeface="Carlito" pitchFamily="34" charset="-122"/>
                <a:cs typeface="Carlito" pitchFamily="34" charset="-120"/>
              </a:rPr>
              <a:t>.mcp.json</a:t>
            </a:r>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 — Both Servers Together</a:t>
            </a:r>
            <a:endParaRPr lang="en-US" sz="2475" dirty="0"/>
          </a:p>
        </p:txBody>
      </p:sp>
      <p:sp>
        <p:nvSpPr>
          <p:cNvPr id="7" name="Shape 5"/>
          <p:cNvSpPr/>
          <p:nvPr/>
        </p:nvSpPr>
        <p:spPr>
          <a:xfrm>
            <a:off x="514350" y="1317241"/>
            <a:ext cx="400050" cy="0"/>
          </a:xfrm>
          <a:prstGeom prst="line">
            <a:avLst/>
          </a:prstGeom>
          <a:noFill/>
          <a:ln w="7144">
            <a:solidFill>
              <a:srgbClr val="F4F4F5"/>
            </a:solidFill>
            <a:prstDash val="solid"/>
          </a:ln>
        </p:spPr>
      </p:sp>
      <p:sp>
        <p:nvSpPr>
          <p:cNvPr id="8" name="Text 6"/>
          <p:cNvSpPr/>
          <p:nvPr/>
        </p:nvSpPr>
        <p:spPr>
          <a:xfrm>
            <a:off x="514350" y="1527981"/>
            <a:ext cx="8115300" cy="840212"/>
          </a:xfrm>
          <a:prstGeom prst="rect">
            <a:avLst/>
          </a:prstGeom>
          <a:noFill/>
          <a:ln/>
        </p:spPr>
        <p:txBody>
          <a:bodyPr wrap="square" lIns="0" tIns="0" rIns="0" bIns="0" rtlCol="0" anchor="t"/>
          <a:lstStyle/>
          <a:p>
            <a:pPr algn="l" indent="0" marL="0">
              <a:lnSpc>
                <a:spcPts val="1308"/>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Both servers side by side in one file</a:t>
            </a:r>
            <a:endParaRPr lang="en-US" sz="872" dirty="0"/>
          </a:p>
          <a:p>
            <a:pPr algn="l" indent="0" marL="0">
              <a:lnSpc>
                <a:spcPts val="1308"/>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Our own server needs no headers, no token, no toolset scoping</a:t>
            </a:r>
            <a:endParaRPr lang="en-US" sz="872" dirty="0"/>
          </a:p>
          <a:p>
            <a:pPr algn="l" indent="0" marL="0">
              <a:lnSpc>
                <a:spcPts val="1308"/>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Production note: keep </a:t>
            </a:r>
            <a:pPr algn="l" indent="0" marL="0">
              <a:lnSpc>
                <a:spcPts val="1308"/>
              </a:lnSpc>
              <a:spcAft>
                <a:spcPts val="788"/>
              </a:spcAft>
              <a:buNone/>
            </a:pPr>
            <a:r>
              <a:rPr lang="en-US" sz="802" dirty="0">
                <a:solidFill>
                  <a:srgbClr val="FF7A1A"/>
                </a:solidFill>
                <a:highlight>
                  <a:srgbClr val="1D1D24"/>
                </a:highlight>
                <a:latin typeface="Courier New" pitchFamily="34" charset="0"/>
                <a:ea typeface="Courier New" pitchFamily="34" charset="-122"/>
                <a:cs typeface="Courier New" pitchFamily="34" charset="-120"/>
              </a:rPr>
              <a:t>repo_facts_server.py</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 in the same working directory as </a:t>
            </a:r>
            <a:pPr algn="l" indent="0" marL="0">
              <a:lnSpc>
                <a:spcPts val="1308"/>
              </a:lnSpc>
              <a:spcAft>
                <a:spcPts val="788"/>
              </a:spcAft>
              <a:buNone/>
            </a:pPr>
            <a:r>
              <a:rPr lang="en-US" sz="802" dirty="0">
                <a:solidFill>
                  <a:srgbClr val="FF7A1A"/>
                </a:solidFill>
                <a:highlight>
                  <a:srgbClr val="1D1D24"/>
                </a:highlight>
                <a:latin typeface="Courier New" pitchFamily="34" charset="0"/>
                <a:ea typeface="Courier New" pitchFamily="34" charset="-122"/>
                <a:cs typeface="Courier New" pitchFamily="34" charset="-120"/>
              </a:rPr>
              <a:t>.mcp.json</a:t>
            </a:r>
            <a:endParaRPr lang="en-US" sz="872" dirty="0"/>
          </a:p>
        </p:txBody>
      </p:sp>
      <p:sp>
        <p:nvSpPr>
          <p:cNvPr id="9" name="Text 7"/>
          <p:cNvSpPr/>
          <p:nvPr/>
        </p:nvSpPr>
        <p:spPr>
          <a:xfrm>
            <a:off x="514350" y="2326295"/>
            <a:ext cx="5207937" cy="154734"/>
          </a:xfrm>
          <a:prstGeom prst="rect">
            <a:avLst/>
          </a:prstGeom>
          <a:noFill/>
          <a:ln/>
        </p:spPr>
        <p:txBody>
          <a:bodyPr wrap="none" lIns="0" tIns="0" rIns="0" bIns="0" rtlCol="0" anchor="t">
            <a:normAutofit/>
          </a:bodyPr>
          <a:lstStyle/>
          <a:p>
            <a:pPr algn="l" indent="0" marL="0">
              <a:lnSpc>
                <a:spcPts val="1434"/>
              </a:lnSpc>
              <a:buNone/>
            </a:pPr>
            <a:r>
              <a:rPr lang="en-US" sz="956" dirty="0">
                <a:solidFill>
                  <a:srgbClr val="F4F4F5"/>
                </a:solidFill>
                <a:latin typeface="Carlito" pitchFamily="34" charset="0"/>
                <a:ea typeface="Carlito" pitchFamily="34" charset="-122"/>
                <a:cs typeface="Carlito" pitchFamily="34" charset="-120"/>
              </a:rPr>
              <a:t>.mcp.json</a:t>
            </a:r>
            <a:endParaRPr lang="en-US" sz="956" dirty="0"/>
          </a:p>
        </p:txBody>
      </p:sp>
      <p:sp>
        <p:nvSpPr>
          <p:cNvPr id="10" name="Text 8"/>
          <p:cNvSpPr/>
          <p:nvPr/>
        </p:nvSpPr>
        <p:spPr>
          <a:xfrm>
            <a:off x="749529" y="2797336"/>
            <a:ext cx="711932" cy="125712"/>
          </a:xfrm>
          <a:prstGeom prst="rect">
            <a:avLst/>
          </a:prstGeom>
          <a:noFill/>
          <a:ln/>
        </p:spPr>
        <p:txBody>
          <a:bodyPr wrap="none" lIns="0" tIns="0" rIns="0" bIns="0" rtlCol="0" anchor="t">
            <a:normAutofit/>
          </a:bodyPr>
          <a:lstStyle/>
          <a:p>
            <a:pPr algn="l" indent="0" marL="0">
              <a:lnSpc>
                <a:spcPts val="1207"/>
              </a:lnSpc>
              <a:buNone/>
            </a:pPr>
            <a:r>
              <a:rPr lang="en-US" sz="731" dirty="0">
                <a:solidFill>
                  <a:srgbClr val="FF7A1A"/>
                </a:solidFill>
                <a:latin typeface="Courier New" pitchFamily="34" charset="0"/>
                <a:ea typeface="Courier New" pitchFamily="34" charset="-122"/>
                <a:cs typeface="Courier New" pitchFamily="34" charset="-120"/>
              </a:rPr>
              <a:t>"mcpServers"</a:t>
            </a:r>
            <a:endParaRPr lang="en-US" sz="731" dirty="0"/>
          </a:p>
        </p:txBody>
      </p:sp>
      <p:sp>
        <p:nvSpPr>
          <p:cNvPr id="11" name="Text 9"/>
          <p:cNvSpPr/>
          <p:nvPr/>
        </p:nvSpPr>
        <p:spPr>
          <a:xfrm>
            <a:off x="850106" y="2950480"/>
            <a:ext cx="531209" cy="125712"/>
          </a:xfrm>
          <a:prstGeom prst="rect">
            <a:avLst/>
          </a:prstGeom>
          <a:noFill/>
          <a:ln/>
        </p:spPr>
        <p:txBody>
          <a:bodyPr wrap="none" lIns="0" tIns="0" rIns="0" bIns="0" rtlCol="0" anchor="t">
            <a:normAutofit/>
          </a:bodyPr>
          <a:lstStyle/>
          <a:p>
            <a:pPr algn="l" indent="0" marL="0">
              <a:lnSpc>
                <a:spcPts val="1207"/>
              </a:lnSpc>
              <a:buNone/>
            </a:pPr>
            <a:r>
              <a:rPr lang="en-US" sz="800" dirty="0">
                <a:solidFill>
                  <a:srgbClr val="FF7A1A"/>
                </a:solidFill>
                <a:latin typeface="Courier New" pitchFamily="34" charset="0"/>
                <a:ea typeface="Courier New" pitchFamily="34" charset="-122"/>
                <a:cs typeface="Courier New" pitchFamily="34" charset="-120"/>
              </a:rPr>
              <a:t>"github"</a:t>
            </a:r>
            <a:endParaRPr lang="en-US" sz="800" dirty="0"/>
          </a:p>
        </p:txBody>
      </p:sp>
      <p:sp>
        <p:nvSpPr>
          <p:cNvPr id="12" name="Text 10"/>
          <p:cNvSpPr/>
          <p:nvPr/>
        </p:nvSpPr>
        <p:spPr>
          <a:xfrm>
            <a:off x="942975" y="3103625"/>
            <a:ext cx="398407" cy="143490"/>
          </a:xfrm>
          <a:prstGeom prst="rect">
            <a:avLst/>
          </a:prstGeom>
          <a:noFill/>
          <a:ln/>
        </p:spPr>
        <p:txBody>
          <a:bodyPr wrap="none" lIns="0" tIns="0" rIns="0" bIns="0" rtlCol="0" anchor="t"/>
          <a:lstStyle/>
          <a:p>
            <a:pPr algn="l" indent="0" marL="0">
              <a:lnSpc>
                <a:spcPts val="1207"/>
              </a:lnSpc>
              <a:buNone/>
            </a:pPr>
            <a:r>
              <a:rPr lang="en-US" sz="800" dirty="0">
                <a:solidFill>
                  <a:srgbClr val="FF7A1A"/>
                </a:solidFill>
                <a:latin typeface="Courier New" pitchFamily="34" charset="0"/>
                <a:ea typeface="Courier New" pitchFamily="34" charset="-122"/>
                <a:cs typeface="Courier New" pitchFamily="34" charset="-120"/>
              </a:rPr>
              <a:t>"type"</a:t>
            </a:r>
            <a:endParaRPr lang="en-US" sz="800" dirty="0"/>
          </a:p>
        </p:txBody>
      </p:sp>
      <p:sp>
        <p:nvSpPr>
          <p:cNvPr id="13" name="Text 11"/>
          <p:cNvSpPr/>
          <p:nvPr/>
        </p:nvSpPr>
        <p:spPr>
          <a:xfrm>
            <a:off x="1314450" y="3103625"/>
            <a:ext cx="398407" cy="125712"/>
          </a:xfrm>
          <a:prstGeom prst="rect">
            <a:avLst/>
          </a:prstGeom>
          <a:noFill/>
          <a:ln/>
        </p:spPr>
        <p:txBody>
          <a:bodyPr wrap="none" lIns="0" tIns="0" rIns="0" bIns="0" rtlCol="0" anchor="t">
            <a:normAutofit/>
          </a:bodyPr>
          <a:lstStyle/>
          <a:p>
            <a:pPr algn="l" indent="0" marL="0">
              <a:lnSpc>
                <a:spcPts val="1207"/>
              </a:lnSpc>
              <a:buNone/>
            </a:pPr>
            <a:r>
              <a:rPr lang="en-US" sz="800" dirty="0">
                <a:solidFill>
                  <a:srgbClr val="B6E3A1"/>
                </a:solidFill>
                <a:latin typeface="Courier New" pitchFamily="34" charset="0"/>
                <a:ea typeface="Courier New" pitchFamily="34" charset="-122"/>
                <a:cs typeface="Courier New" pitchFamily="34" charset="-120"/>
              </a:rPr>
              <a:t>"http"</a:t>
            </a:r>
            <a:endParaRPr lang="en-US" sz="800" dirty="0"/>
          </a:p>
        </p:txBody>
      </p:sp>
      <p:sp>
        <p:nvSpPr>
          <p:cNvPr id="14" name="Text 12"/>
          <p:cNvSpPr/>
          <p:nvPr/>
        </p:nvSpPr>
        <p:spPr>
          <a:xfrm>
            <a:off x="942975" y="3256769"/>
            <a:ext cx="371475" cy="143490"/>
          </a:xfrm>
          <a:prstGeom prst="rect">
            <a:avLst/>
          </a:prstGeom>
          <a:noFill/>
          <a:ln/>
        </p:spPr>
        <p:txBody>
          <a:bodyPr wrap="none" lIns="0" tIns="0" rIns="0" bIns="0" rtlCol="0" anchor="t"/>
          <a:lstStyle/>
          <a:p>
            <a:pPr algn="l" indent="0" marL="0">
              <a:lnSpc>
                <a:spcPts val="1207"/>
              </a:lnSpc>
              <a:buNone/>
            </a:pPr>
            <a:r>
              <a:rPr lang="en-US" sz="800" dirty="0">
                <a:solidFill>
                  <a:srgbClr val="FF7A1A"/>
                </a:solidFill>
                <a:latin typeface="Courier New" pitchFamily="34" charset="0"/>
                <a:ea typeface="Courier New" pitchFamily="34" charset="-122"/>
                <a:cs typeface="Courier New" pitchFamily="34" charset="-120"/>
              </a:rPr>
              <a:t>"url"</a:t>
            </a:r>
            <a:endParaRPr lang="en-US" sz="800" dirty="0"/>
          </a:p>
        </p:txBody>
      </p:sp>
      <p:sp>
        <p:nvSpPr>
          <p:cNvPr id="15" name="Text 13"/>
          <p:cNvSpPr/>
          <p:nvPr/>
        </p:nvSpPr>
        <p:spPr>
          <a:xfrm>
            <a:off x="1268016" y="3256769"/>
            <a:ext cx="1805369" cy="125712"/>
          </a:xfrm>
          <a:prstGeom prst="rect">
            <a:avLst/>
          </a:prstGeom>
          <a:noFill/>
          <a:ln/>
        </p:spPr>
        <p:txBody>
          <a:bodyPr wrap="none" lIns="0" tIns="0" rIns="0" bIns="0" rtlCol="0" anchor="t">
            <a:normAutofit/>
          </a:bodyPr>
          <a:lstStyle/>
          <a:p>
            <a:pPr algn="l" indent="0" marL="0">
              <a:lnSpc>
                <a:spcPts val="1207"/>
              </a:lnSpc>
              <a:buNone/>
            </a:pPr>
            <a:r>
              <a:rPr lang="en-US" sz="731" dirty="0">
                <a:solidFill>
                  <a:srgbClr val="B6E3A1"/>
                </a:solidFill>
                <a:latin typeface="Courier New" pitchFamily="34" charset="0"/>
                <a:ea typeface="Courier New" pitchFamily="34" charset="-122"/>
                <a:cs typeface="Courier New" pitchFamily="34" charset="-120"/>
              </a:rPr>
              <a:t>"https://api.githubcopilot.com/mcp/"</a:t>
            </a:r>
            <a:endParaRPr lang="en-US" sz="731" dirty="0"/>
          </a:p>
        </p:txBody>
      </p:sp>
      <p:sp>
        <p:nvSpPr>
          <p:cNvPr id="16" name="Text 14"/>
          <p:cNvSpPr/>
          <p:nvPr/>
        </p:nvSpPr>
        <p:spPr>
          <a:xfrm>
            <a:off x="942975" y="3409913"/>
            <a:ext cx="597610" cy="125712"/>
          </a:xfrm>
          <a:prstGeom prst="rect">
            <a:avLst/>
          </a:prstGeom>
          <a:noFill/>
          <a:ln/>
        </p:spPr>
        <p:txBody>
          <a:bodyPr wrap="none" lIns="0" tIns="0" rIns="0" bIns="0" rtlCol="0" anchor="t">
            <a:normAutofit/>
          </a:bodyPr>
          <a:lstStyle/>
          <a:p>
            <a:pPr algn="l" indent="0" marL="0">
              <a:lnSpc>
                <a:spcPts val="1207"/>
              </a:lnSpc>
              <a:buNone/>
            </a:pPr>
            <a:r>
              <a:rPr lang="en-US" sz="800" dirty="0">
                <a:solidFill>
                  <a:srgbClr val="FF7A1A"/>
                </a:solidFill>
                <a:latin typeface="Courier New" pitchFamily="34" charset="0"/>
                <a:ea typeface="Courier New" pitchFamily="34" charset="-122"/>
                <a:cs typeface="Courier New" pitchFamily="34" charset="-120"/>
              </a:rPr>
              <a:t>"headers"</a:t>
            </a:r>
            <a:endParaRPr lang="en-US" sz="800" dirty="0"/>
          </a:p>
        </p:txBody>
      </p:sp>
      <p:sp>
        <p:nvSpPr>
          <p:cNvPr id="17" name="Text 15"/>
          <p:cNvSpPr/>
          <p:nvPr/>
        </p:nvSpPr>
        <p:spPr>
          <a:xfrm>
            <a:off x="1035844" y="3563057"/>
            <a:ext cx="870645" cy="143490"/>
          </a:xfrm>
          <a:prstGeom prst="rect">
            <a:avLst/>
          </a:prstGeom>
          <a:noFill/>
          <a:ln/>
        </p:spPr>
        <p:txBody>
          <a:bodyPr wrap="none" lIns="0" tIns="0" rIns="0" bIns="0" rtlCol="0" anchor="t"/>
          <a:lstStyle/>
          <a:p>
            <a:pPr algn="l" indent="0" marL="0">
              <a:lnSpc>
                <a:spcPts val="1207"/>
              </a:lnSpc>
              <a:buNone/>
            </a:pPr>
            <a:r>
              <a:rPr lang="en-US" sz="731" dirty="0">
                <a:solidFill>
                  <a:srgbClr val="FF7A1A"/>
                </a:solidFill>
                <a:latin typeface="Courier New" pitchFamily="34" charset="0"/>
                <a:ea typeface="Courier New" pitchFamily="34" charset="-122"/>
                <a:cs typeface="Courier New" pitchFamily="34" charset="-120"/>
              </a:rPr>
              <a:t>"Authorization"</a:t>
            </a:r>
            <a:endParaRPr lang="en-US" sz="731" dirty="0"/>
          </a:p>
        </p:txBody>
      </p:sp>
      <p:sp>
        <p:nvSpPr>
          <p:cNvPr id="18" name="Text 16"/>
          <p:cNvSpPr/>
          <p:nvPr/>
        </p:nvSpPr>
        <p:spPr>
          <a:xfrm>
            <a:off x="1825228" y="3563057"/>
            <a:ext cx="1276945" cy="125712"/>
          </a:xfrm>
          <a:prstGeom prst="rect">
            <a:avLst/>
          </a:prstGeom>
          <a:noFill/>
          <a:ln/>
        </p:spPr>
        <p:txBody>
          <a:bodyPr wrap="none" lIns="0" tIns="0" rIns="0" bIns="0" rtlCol="0" anchor="t">
            <a:normAutofit/>
          </a:bodyPr>
          <a:lstStyle/>
          <a:p>
            <a:pPr algn="l" indent="0" marL="0">
              <a:lnSpc>
                <a:spcPts val="1207"/>
              </a:lnSpc>
              <a:buNone/>
            </a:pPr>
            <a:r>
              <a:rPr lang="en-US" sz="731" dirty="0">
                <a:solidFill>
                  <a:srgbClr val="B6E3A1"/>
                </a:solidFill>
                <a:latin typeface="Courier New" pitchFamily="34" charset="0"/>
                <a:ea typeface="Courier New" pitchFamily="34" charset="-122"/>
                <a:cs typeface="Courier New" pitchFamily="34" charset="-120"/>
              </a:rPr>
              <a:t>"Bearer ${GITHUB_PAT}"</a:t>
            </a:r>
            <a:endParaRPr lang="en-US" sz="731" dirty="0"/>
          </a:p>
        </p:txBody>
      </p:sp>
      <p:sp>
        <p:nvSpPr>
          <p:cNvPr id="19" name="Text 17"/>
          <p:cNvSpPr/>
          <p:nvPr/>
        </p:nvSpPr>
        <p:spPr>
          <a:xfrm>
            <a:off x="1035844" y="3716201"/>
            <a:ext cx="928688" cy="143490"/>
          </a:xfrm>
          <a:prstGeom prst="rect">
            <a:avLst/>
          </a:prstGeom>
          <a:noFill/>
          <a:ln/>
        </p:spPr>
        <p:txBody>
          <a:bodyPr wrap="none" lIns="0" tIns="0" rIns="0" bIns="0" rtlCol="0" anchor="t"/>
          <a:lstStyle/>
          <a:p>
            <a:pPr algn="l" indent="0" marL="0">
              <a:lnSpc>
                <a:spcPts val="1207"/>
              </a:lnSpc>
              <a:buNone/>
            </a:pPr>
            <a:r>
              <a:rPr lang="en-US" sz="731" dirty="0">
                <a:solidFill>
                  <a:srgbClr val="FF7A1A"/>
                </a:solidFill>
                <a:latin typeface="Courier New" pitchFamily="34" charset="0"/>
                <a:ea typeface="Courier New" pitchFamily="34" charset="-122"/>
                <a:cs typeface="Courier New" pitchFamily="34" charset="-120"/>
              </a:rPr>
              <a:t>"X-MCP-Toolsets"</a:t>
            </a:r>
            <a:endParaRPr lang="en-US" sz="731" dirty="0"/>
          </a:p>
        </p:txBody>
      </p:sp>
      <p:sp>
        <p:nvSpPr>
          <p:cNvPr id="20" name="Text 18"/>
          <p:cNvSpPr/>
          <p:nvPr/>
        </p:nvSpPr>
        <p:spPr>
          <a:xfrm>
            <a:off x="1871663" y="3716201"/>
            <a:ext cx="870645" cy="143490"/>
          </a:xfrm>
          <a:prstGeom prst="rect">
            <a:avLst/>
          </a:prstGeom>
          <a:noFill/>
          <a:ln/>
        </p:spPr>
        <p:txBody>
          <a:bodyPr wrap="none" lIns="0" tIns="0" rIns="0" bIns="0" rtlCol="0" anchor="t"/>
          <a:lstStyle/>
          <a:p>
            <a:pPr algn="l" indent="0" marL="0">
              <a:lnSpc>
                <a:spcPts val="1207"/>
              </a:lnSpc>
              <a:buNone/>
            </a:pPr>
            <a:r>
              <a:rPr lang="en-US" sz="800" dirty="0">
                <a:solidFill>
                  <a:srgbClr val="B6E3A1"/>
                </a:solidFill>
                <a:latin typeface="Courier New" pitchFamily="34" charset="0"/>
                <a:ea typeface="Courier New" pitchFamily="34" charset="-122"/>
                <a:cs typeface="Courier New" pitchFamily="34" charset="-120"/>
              </a:rPr>
              <a:t>"pull_requests"</a:t>
            </a:r>
            <a:endParaRPr lang="en-US" sz="800" dirty="0"/>
          </a:p>
        </p:txBody>
      </p:sp>
      <p:sp>
        <p:nvSpPr>
          <p:cNvPr id="21" name="Text 19"/>
          <p:cNvSpPr/>
          <p:nvPr/>
        </p:nvSpPr>
        <p:spPr>
          <a:xfrm>
            <a:off x="819122" y="4175633"/>
            <a:ext cx="758485" cy="125712"/>
          </a:xfrm>
          <a:prstGeom prst="rect">
            <a:avLst/>
          </a:prstGeom>
          <a:noFill/>
          <a:ln/>
        </p:spPr>
        <p:txBody>
          <a:bodyPr wrap="none" lIns="0" tIns="0" rIns="0" bIns="0" rtlCol="0" anchor="t">
            <a:normAutofit/>
          </a:bodyPr>
          <a:lstStyle/>
          <a:p>
            <a:pPr algn="l" indent="0" marL="0">
              <a:lnSpc>
                <a:spcPts val="1207"/>
              </a:lnSpc>
              <a:buNone/>
            </a:pPr>
            <a:r>
              <a:rPr lang="en-US" sz="800" dirty="0">
                <a:solidFill>
                  <a:srgbClr val="FF7A1A"/>
                </a:solidFill>
                <a:latin typeface="Courier New" pitchFamily="34" charset="0"/>
                <a:ea typeface="Courier New" pitchFamily="34" charset="-122"/>
                <a:cs typeface="Courier New" pitchFamily="34" charset="-120"/>
              </a:rPr>
              <a:t>"repo_facts"</a:t>
            </a:r>
            <a:endParaRPr lang="en-US" sz="800" dirty="0"/>
          </a:p>
        </p:txBody>
      </p:sp>
      <p:sp>
        <p:nvSpPr>
          <p:cNvPr id="22" name="Text 20"/>
          <p:cNvSpPr/>
          <p:nvPr/>
        </p:nvSpPr>
        <p:spPr>
          <a:xfrm>
            <a:off x="942975" y="4328778"/>
            <a:ext cx="398407" cy="143490"/>
          </a:xfrm>
          <a:prstGeom prst="rect">
            <a:avLst/>
          </a:prstGeom>
          <a:noFill/>
          <a:ln/>
        </p:spPr>
        <p:txBody>
          <a:bodyPr wrap="none" lIns="0" tIns="0" rIns="0" bIns="0" rtlCol="0" anchor="t"/>
          <a:lstStyle/>
          <a:p>
            <a:pPr algn="l" indent="0" marL="0">
              <a:lnSpc>
                <a:spcPts val="1207"/>
              </a:lnSpc>
              <a:buNone/>
            </a:pPr>
            <a:r>
              <a:rPr lang="en-US" sz="800" dirty="0">
                <a:solidFill>
                  <a:srgbClr val="FF7A1A"/>
                </a:solidFill>
                <a:latin typeface="Courier New" pitchFamily="34" charset="0"/>
                <a:ea typeface="Courier New" pitchFamily="34" charset="-122"/>
                <a:cs typeface="Courier New" pitchFamily="34" charset="-120"/>
              </a:rPr>
              <a:t>"type"</a:t>
            </a:r>
            <a:endParaRPr lang="en-US" sz="800" dirty="0"/>
          </a:p>
        </p:txBody>
      </p:sp>
      <p:sp>
        <p:nvSpPr>
          <p:cNvPr id="23" name="Text 21"/>
          <p:cNvSpPr/>
          <p:nvPr/>
        </p:nvSpPr>
        <p:spPr>
          <a:xfrm>
            <a:off x="1314450" y="4328778"/>
            <a:ext cx="464808" cy="125712"/>
          </a:xfrm>
          <a:prstGeom prst="rect">
            <a:avLst/>
          </a:prstGeom>
          <a:noFill/>
          <a:ln/>
        </p:spPr>
        <p:txBody>
          <a:bodyPr wrap="none" lIns="0" tIns="0" rIns="0" bIns="0" rtlCol="0" anchor="t">
            <a:normAutofit/>
          </a:bodyPr>
          <a:lstStyle/>
          <a:p>
            <a:pPr algn="l" indent="0" marL="0">
              <a:lnSpc>
                <a:spcPts val="1207"/>
              </a:lnSpc>
              <a:buNone/>
            </a:pPr>
            <a:r>
              <a:rPr lang="en-US" sz="800" dirty="0">
                <a:solidFill>
                  <a:srgbClr val="B6E3A1"/>
                </a:solidFill>
                <a:latin typeface="Courier New" pitchFamily="34" charset="0"/>
                <a:ea typeface="Courier New" pitchFamily="34" charset="-122"/>
                <a:cs typeface="Courier New" pitchFamily="34" charset="-120"/>
              </a:rPr>
              <a:t>"stdio"</a:t>
            </a:r>
            <a:endParaRPr lang="en-US" sz="800" dirty="0"/>
          </a:p>
        </p:txBody>
      </p:sp>
      <p:sp>
        <p:nvSpPr>
          <p:cNvPr id="24" name="Text 22"/>
          <p:cNvSpPr/>
          <p:nvPr/>
        </p:nvSpPr>
        <p:spPr>
          <a:xfrm>
            <a:off x="942975" y="4481922"/>
            <a:ext cx="597610" cy="140084"/>
          </a:xfrm>
          <a:prstGeom prst="rect">
            <a:avLst/>
          </a:prstGeom>
          <a:noFill/>
          <a:ln/>
        </p:spPr>
        <p:txBody>
          <a:bodyPr wrap="none" lIns="0" tIns="0" rIns="0" bIns="0" rtlCol="0" anchor="t"/>
          <a:lstStyle/>
          <a:p>
            <a:pPr algn="l" indent="0" marL="0">
              <a:lnSpc>
                <a:spcPts val="1207"/>
              </a:lnSpc>
              <a:buNone/>
            </a:pPr>
            <a:r>
              <a:rPr lang="en-US" sz="800" dirty="0">
                <a:solidFill>
                  <a:srgbClr val="FF7A1A"/>
                </a:solidFill>
                <a:latin typeface="Courier New" pitchFamily="34" charset="0"/>
                <a:ea typeface="Courier New" pitchFamily="34" charset="-122"/>
                <a:cs typeface="Courier New" pitchFamily="34" charset="-120"/>
              </a:rPr>
              <a:t>"command"</a:t>
            </a:r>
            <a:endParaRPr lang="en-US" sz="800" dirty="0"/>
          </a:p>
        </p:txBody>
      </p:sp>
      <p:sp>
        <p:nvSpPr>
          <p:cNvPr id="25" name="Text 23"/>
          <p:cNvSpPr/>
          <p:nvPr/>
        </p:nvSpPr>
        <p:spPr>
          <a:xfrm>
            <a:off x="1453753" y="4481922"/>
            <a:ext cx="531209" cy="125712"/>
          </a:xfrm>
          <a:prstGeom prst="rect">
            <a:avLst/>
          </a:prstGeom>
          <a:noFill/>
          <a:ln/>
        </p:spPr>
        <p:txBody>
          <a:bodyPr wrap="none" lIns="0" tIns="0" rIns="0" bIns="0" rtlCol="0" anchor="t">
            <a:normAutofit/>
          </a:bodyPr>
          <a:lstStyle/>
          <a:p>
            <a:pPr algn="l" indent="0" marL="0">
              <a:lnSpc>
                <a:spcPts val="1207"/>
              </a:lnSpc>
              <a:buNone/>
            </a:pPr>
            <a:r>
              <a:rPr lang="en-US" sz="800" dirty="0">
                <a:solidFill>
                  <a:srgbClr val="B6E3A1"/>
                </a:solidFill>
                <a:latin typeface="Courier New" pitchFamily="34" charset="0"/>
                <a:ea typeface="Courier New" pitchFamily="34" charset="-122"/>
                <a:cs typeface="Courier New" pitchFamily="34" charset="-120"/>
              </a:rPr>
              <a:t>"python"</a:t>
            </a:r>
            <a:endParaRPr lang="en-US" sz="800" dirty="0"/>
          </a:p>
        </p:txBody>
      </p:sp>
      <p:sp>
        <p:nvSpPr>
          <p:cNvPr id="26" name="Text 24"/>
          <p:cNvSpPr/>
          <p:nvPr/>
        </p:nvSpPr>
        <p:spPr>
          <a:xfrm>
            <a:off x="942975" y="4635066"/>
            <a:ext cx="398407" cy="91440"/>
          </a:xfrm>
          <a:prstGeom prst="rect">
            <a:avLst/>
          </a:prstGeom>
          <a:noFill/>
          <a:ln/>
        </p:spPr>
        <p:txBody>
          <a:bodyPr wrap="none" lIns="0" tIns="0" rIns="0" bIns="0" rtlCol="0" anchor="t"/>
          <a:lstStyle/>
          <a:p>
            <a:pPr algn="l" indent="0" marL="0">
              <a:lnSpc>
                <a:spcPts val="1207"/>
              </a:lnSpc>
              <a:buNone/>
            </a:pPr>
            <a:r>
              <a:rPr lang="en-US" sz="800" dirty="0">
                <a:solidFill>
                  <a:srgbClr val="FF7A1A"/>
                </a:solidFill>
                <a:latin typeface="Courier New" pitchFamily="34" charset="0"/>
                <a:ea typeface="Courier New" pitchFamily="34" charset="-122"/>
                <a:cs typeface="Courier New" pitchFamily="34" charset="-120"/>
              </a:rPr>
              <a:t>"args"</a:t>
            </a:r>
            <a:endParaRPr lang="en-US" sz="800" dirty="0"/>
          </a:p>
        </p:txBody>
      </p:sp>
      <p:sp>
        <p:nvSpPr>
          <p:cNvPr id="27" name="Text 25"/>
          <p:cNvSpPr/>
          <p:nvPr/>
        </p:nvSpPr>
        <p:spPr>
          <a:xfrm>
            <a:off x="1360884" y="4635066"/>
            <a:ext cx="1276945" cy="91440"/>
          </a:xfrm>
          <a:prstGeom prst="rect">
            <a:avLst/>
          </a:prstGeom>
          <a:noFill/>
          <a:ln/>
        </p:spPr>
        <p:txBody>
          <a:bodyPr wrap="none" lIns="0" tIns="0" rIns="0" bIns="0" rtlCol="0" anchor="t"/>
          <a:lstStyle/>
          <a:p>
            <a:pPr algn="l" indent="0" marL="0">
              <a:lnSpc>
                <a:spcPts val="1207"/>
              </a:lnSpc>
              <a:buNone/>
            </a:pPr>
            <a:r>
              <a:rPr lang="en-US" sz="800" dirty="0">
                <a:solidFill>
                  <a:srgbClr val="B6E3A1"/>
                </a:solidFill>
                <a:latin typeface="Courier New" pitchFamily="34" charset="0"/>
                <a:ea typeface="Courier New" pitchFamily="34" charset="-122"/>
                <a:cs typeface="Courier New" pitchFamily="34" charset="-120"/>
              </a:rPr>
              <a:t>"repo_facts_server.py"</a:t>
            </a:r>
            <a:endParaRPr lang="en-US" sz="800" dirty="0"/>
          </a:p>
        </p:txBody>
      </p:sp>
      <p:sp>
        <p:nvSpPr>
          <p:cNvPr id="28" name="Text 26"/>
          <p:cNvSpPr/>
          <p:nvPr/>
        </p:nvSpPr>
        <p:spPr>
          <a:xfrm>
            <a:off x="4754500" y="2326295"/>
            <a:ext cx="3875150" cy="905694"/>
          </a:xfrm>
          <a:prstGeom prst="roundRect">
            <a:avLst>
              <a:gd name="adj" fmla="val 8413"/>
            </a:avLst>
          </a:prstGeom>
          <a:solidFill>
            <a:srgbClr val="15151A"/>
          </a:solidFill>
          <a:ln/>
        </p:spPr>
        <p:txBody>
          <a:bodyPr wrap="square" rtlCol="0" anchor="ctr"/>
          <a:lstStyle/>
          <a:p>
            <a:pPr indent="0" marL="0">
              <a:buNone/>
            </a:pPr>
            <a:endParaRPr lang="en-US" dirty="0"/>
          </a:p>
        </p:txBody>
      </p:sp>
      <p:sp>
        <p:nvSpPr>
          <p:cNvPr id="29" name="Shape 27"/>
          <p:cNvSpPr/>
          <p:nvPr/>
        </p:nvSpPr>
        <p:spPr>
          <a:xfrm>
            <a:off x="4754500" y="2329867"/>
            <a:ext cx="3875150" cy="0"/>
          </a:xfrm>
          <a:prstGeom prst="line">
            <a:avLst/>
          </a:prstGeom>
          <a:noFill/>
          <a:ln w="7144">
            <a:solidFill>
              <a:srgbClr val="2A2A33"/>
            </a:solidFill>
            <a:prstDash val="solid"/>
          </a:ln>
        </p:spPr>
      </p:sp>
      <p:sp>
        <p:nvSpPr>
          <p:cNvPr id="30" name="Shape 28"/>
          <p:cNvSpPr/>
          <p:nvPr/>
        </p:nvSpPr>
        <p:spPr>
          <a:xfrm>
            <a:off x="8626078" y="2326295"/>
            <a:ext cx="0" cy="905694"/>
          </a:xfrm>
          <a:prstGeom prst="line">
            <a:avLst/>
          </a:prstGeom>
          <a:noFill/>
          <a:ln w="7144">
            <a:solidFill>
              <a:srgbClr val="2A2A33"/>
            </a:solidFill>
            <a:prstDash val="solid"/>
          </a:ln>
        </p:spPr>
      </p:sp>
      <p:sp>
        <p:nvSpPr>
          <p:cNvPr id="31" name="Shape 29"/>
          <p:cNvSpPr/>
          <p:nvPr/>
        </p:nvSpPr>
        <p:spPr>
          <a:xfrm>
            <a:off x="4754500" y="3228417"/>
            <a:ext cx="3875150" cy="0"/>
          </a:xfrm>
          <a:prstGeom prst="line">
            <a:avLst/>
          </a:prstGeom>
          <a:noFill/>
          <a:ln w="7144">
            <a:solidFill>
              <a:srgbClr val="2A2A33"/>
            </a:solidFill>
            <a:prstDash val="solid"/>
          </a:ln>
        </p:spPr>
      </p:sp>
      <p:sp>
        <p:nvSpPr>
          <p:cNvPr id="32" name="Shape 30"/>
          <p:cNvSpPr/>
          <p:nvPr/>
        </p:nvSpPr>
        <p:spPr>
          <a:xfrm>
            <a:off x="4765216" y="2326295"/>
            <a:ext cx="0" cy="905694"/>
          </a:xfrm>
          <a:prstGeom prst="line">
            <a:avLst/>
          </a:prstGeom>
          <a:noFill/>
          <a:ln w="21431">
            <a:solidFill>
              <a:srgbClr val="8AB4FF"/>
            </a:solidFill>
            <a:prstDash val="solid"/>
          </a:ln>
        </p:spPr>
      </p:sp>
      <p:sp>
        <p:nvSpPr>
          <p:cNvPr id="33" name="Text 31"/>
          <p:cNvSpPr/>
          <p:nvPr/>
        </p:nvSpPr>
        <p:spPr>
          <a:xfrm>
            <a:off x="4890232" y="2419164"/>
            <a:ext cx="293563" cy="144661"/>
          </a:xfrm>
          <a:prstGeom prst="roundRect">
            <a:avLst>
              <a:gd name="adj" fmla="val 19753"/>
            </a:avLst>
          </a:prstGeom>
          <a:solidFill>
            <a:srgbClr val="8AB4FF">
              <a:alpha val="10000"/>
            </a:srgbClr>
          </a:solidFill>
          <a:ln/>
        </p:spPr>
        <p:txBody>
          <a:bodyPr wrap="square" rtlCol="0" anchor="ctr"/>
          <a:lstStyle/>
          <a:p>
            <a:pPr indent="0" marL="0">
              <a:buNone/>
            </a:pPr>
            <a:endParaRPr lang="en-US" dirty="0"/>
          </a:p>
        </p:txBody>
      </p:sp>
      <p:sp>
        <p:nvSpPr>
          <p:cNvPr id="34" name="Text 32"/>
          <p:cNvSpPr/>
          <p:nvPr/>
        </p:nvSpPr>
        <p:spPr>
          <a:xfrm>
            <a:off x="4890232" y="2419164"/>
            <a:ext cx="3617975" cy="160091"/>
          </a:xfrm>
          <a:prstGeom prst="rect">
            <a:avLst/>
          </a:prstGeom>
          <a:noFill/>
          <a:ln/>
        </p:spPr>
        <p:txBody>
          <a:bodyPr wrap="none" lIns="0" tIns="0" rIns="0" bIns="0" rtlCol="0" anchor="t">
            <a:normAutofit/>
          </a:bodyPr>
          <a:lstStyle/>
          <a:p>
            <a:pPr algn="l" indent="0" marL="0">
              <a:lnSpc>
                <a:spcPts val="844"/>
              </a:lnSpc>
              <a:buNone/>
            </a:pPr>
            <a:r>
              <a:rPr lang="en-US" sz="800" spc="86" kern="0" dirty="0">
                <a:solidFill>
                  <a:srgbClr val="8AB4FF"/>
                </a:solidFill>
                <a:highlight>
                  <a:srgbClr val="8AB4FF"/>
                </a:highlight>
                <a:latin typeface="Courier New" pitchFamily="34" charset="0"/>
                <a:ea typeface="Courier New" pitchFamily="34" charset="-122"/>
                <a:cs typeface="Courier New" pitchFamily="34" charset="-120"/>
              </a:rPr>
              <a:t>HTTP</a:t>
            </a:r>
            <a:pPr algn="l" indent="0" marL="0">
              <a:lnSpc>
                <a:spcPts val="844"/>
              </a:lnSpc>
              <a:buNone/>
            </a:pPr>
            <a:r>
              <a:rPr lang="en-US" sz="800" spc="124" kern="0" dirty="0">
                <a:solidFill>
                  <a:srgbClr val="8AB4FF"/>
                </a:solidFill>
                <a:latin typeface="Courier New" pitchFamily="34" charset="0"/>
                <a:ea typeface="Courier New" pitchFamily="34" charset="-122"/>
                <a:cs typeface="Courier New" pitchFamily="34" charset="-120"/>
              </a:rPr>
              <a:t> REMOTE · OFFICIAL</a:t>
            </a:r>
            <a:endParaRPr lang="en-US" sz="800" dirty="0"/>
          </a:p>
        </p:txBody>
      </p:sp>
      <p:sp>
        <p:nvSpPr>
          <p:cNvPr id="35" name="Text 33"/>
          <p:cNvSpPr/>
          <p:nvPr/>
        </p:nvSpPr>
        <p:spPr>
          <a:xfrm>
            <a:off x="4890232" y="2606687"/>
            <a:ext cx="3617975" cy="173593"/>
          </a:xfrm>
          <a:prstGeom prst="rect">
            <a:avLst/>
          </a:prstGeom>
          <a:noFill/>
          <a:ln/>
        </p:spPr>
        <p:txBody>
          <a:bodyPr wrap="none" lIns="0" tIns="0" rIns="0" bIns="0" rtlCol="0" anchor="t"/>
          <a:lstStyle/>
          <a:p>
            <a:pPr algn="l" indent="0" marL="0">
              <a:lnSpc>
                <a:spcPts val="1266"/>
              </a:lnSpc>
              <a:buNone/>
            </a:pPr>
            <a:r>
              <a:rPr lang="en-US" sz="844" dirty="0">
                <a:solidFill>
                  <a:srgbClr val="F4F4F5"/>
                </a:solidFill>
                <a:latin typeface="Courier New" pitchFamily="34" charset="0"/>
                <a:ea typeface="Courier New" pitchFamily="34" charset="-122"/>
                <a:cs typeface="Courier New" pitchFamily="34" charset="-120"/>
              </a:rPr>
              <a:t>github</a:t>
            </a:r>
            <a:endParaRPr lang="en-US" sz="844" dirty="0"/>
          </a:p>
        </p:txBody>
      </p:sp>
      <p:sp>
        <p:nvSpPr>
          <p:cNvPr id="36" name="Text 34"/>
          <p:cNvSpPr/>
          <p:nvPr/>
        </p:nvSpPr>
        <p:spPr>
          <a:xfrm>
            <a:off x="4890232" y="2810284"/>
            <a:ext cx="3617975" cy="158981"/>
          </a:xfrm>
          <a:prstGeom prst="rect">
            <a:avLst/>
          </a:prstGeom>
          <a:noFill/>
          <a:ln/>
        </p:spPr>
        <p:txBody>
          <a:bodyPr wrap="square" lIns="0" tIns="0" rIns="0" bIns="0" rtlCol="0" anchor="t"/>
          <a:lstStyle/>
          <a:p>
            <a:pPr algn="l" indent="0" marL="0">
              <a:lnSpc>
                <a:spcPts val="897"/>
              </a:lnSpc>
              <a:buNone/>
            </a:pPr>
            <a:r>
              <a:rPr lang="en-US" sz="619" dirty="0">
                <a:solidFill>
                  <a:srgbClr val="A1A1AA"/>
                </a:solidFill>
                <a:latin typeface="Courier New" pitchFamily="34" charset="0"/>
                <a:ea typeface="Courier New" pitchFamily="34" charset="-122"/>
                <a:cs typeface="Courier New" pitchFamily="34" charset="-120"/>
              </a:rPr>
              <a:t>URL + bearer token + toolset scope. Lives on someone else's machine.</a:t>
            </a:r>
            <a:endParaRPr lang="en-US" sz="619" dirty="0"/>
          </a:p>
        </p:txBody>
      </p:sp>
      <p:sp>
        <p:nvSpPr>
          <p:cNvPr id="37" name="Text 35"/>
          <p:cNvSpPr/>
          <p:nvPr/>
        </p:nvSpPr>
        <p:spPr>
          <a:xfrm>
            <a:off x="4754500" y="3332001"/>
            <a:ext cx="3875150" cy="905805"/>
          </a:xfrm>
          <a:prstGeom prst="roundRect">
            <a:avLst>
              <a:gd name="adj" fmla="val 8412"/>
            </a:avLst>
          </a:prstGeom>
          <a:solidFill>
            <a:srgbClr val="15151A"/>
          </a:solidFill>
          <a:ln/>
        </p:spPr>
        <p:txBody>
          <a:bodyPr wrap="square" rtlCol="0" anchor="ctr"/>
          <a:lstStyle/>
          <a:p>
            <a:pPr indent="0" marL="0">
              <a:buNone/>
            </a:pPr>
            <a:endParaRPr lang="en-US" dirty="0"/>
          </a:p>
        </p:txBody>
      </p:sp>
      <p:sp>
        <p:nvSpPr>
          <p:cNvPr id="38" name="Shape 36"/>
          <p:cNvSpPr/>
          <p:nvPr/>
        </p:nvSpPr>
        <p:spPr>
          <a:xfrm>
            <a:off x="4754500" y="3335573"/>
            <a:ext cx="3875150" cy="0"/>
          </a:xfrm>
          <a:prstGeom prst="line">
            <a:avLst/>
          </a:prstGeom>
          <a:noFill/>
          <a:ln w="7144">
            <a:solidFill>
              <a:srgbClr val="2A2A33"/>
            </a:solidFill>
            <a:prstDash val="solid"/>
          </a:ln>
        </p:spPr>
      </p:sp>
      <p:sp>
        <p:nvSpPr>
          <p:cNvPr id="39" name="Shape 37"/>
          <p:cNvSpPr/>
          <p:nvPr/>
        </p:nvSpPr>
        <p:spPr>
          <a:xfrm>
            <a:off x="8626078" y="3332001"/>
            <a:ext cx="0" cy="905805"/>
          </a:xfrm>
          <a:prstGeom prst="line">
            <a:avLst/>
          </a:prstGeom>
          <a:noFill/>
          <a:ln w="7144">
            <a:solidFill>
              <a:srgbClr val="2A2A33"/>
            </a:solidFill>
            <a:prstDash val="solid"/>
          </a:ln>
        </p:spPr>
      </p:sp>
      <p:sp>
        <p:nvSpPr>
          <p:cNvPr id="40" name="Shape 38"/>
          <p:cNvSpPr/>
          <p:nvPr/>
        </p:nvSpPr>
        <p:spPr>
          <a:xfrm>
            <a:off x="4754500" y="4234235"/>
            <a:ext cx="3875150" cy="0"/>
          </a:xfrm>
          <a:prstGeom prst="line">
            <a:avLst/>
          </a:prstGeom>
          <a:noFill/>
          <a:ln w="7144">
            <a:solidFill>
              <a:srgbClr val="2A2A33"/>
            </a:solidFill>
            <a:prstDash val="solid"/>
          </a:ln>
        </p:spPr>
      </p:sp>
      <p:sp>
        <p:nvSpPr>
          <p:cNvPr id="41" name="Shape 39"/>
          <p:cNvSpPr/>
          <p:nvPr/>
        </p:nvSpPr>
        <p:spPr>
          <a:xfrm>
            <a:off x="4765216" y="3332001"/>
            <a:ext cx="0" cy="905805"/>
          </a:xfrm>
          <a:prstGeom prst="line">
            <a:avLst/>
          </a:prstGeom>
          <a:noFill/>
          <a:ln w="21431">
            <a:solidFill>
              <a:srgbClr val="FF7A1A"/>
            </a:solidFill>
            <a:prstDash val="solid"/>
          </a:ln>
        </p:spPr>
      </p:sp>
      <p:sp>
        <p:nvSpPr>
          <p:cNvPr id="42" name="Text 40"/>
          <p:cNvSpPr/>
          <p:nvPr/>
        </p:nvSpPr>
        <p:spPr>
          <a:xfrm>
            <a:off x="4890232" y="3424870"/>
            <a:ext cx="338324" cy="144661"/>
          </a:xfrm>
          <a:prstGeom prst="roundRect">
            <a:avLst>
              <a:gd name="adj" fmla="val 19753"/>
            </a:avLst>
          </a:prstGeom>
          <a:solidFill>
            <a:srgbClr val="FF7A1A">
              <a:alpha val="10000"/>
            </a:srgbClr>
          </a:solidFill>
          <a:ln/>
        </p:spPr>
        <p:txBody>
          <a:bodyPr wrap="square" rtlCol="0" anchor="ctr"/>
          <a:lstStyle/>
          <a:p>
            <a:pPr indent="0" marL="0">
              <a:buNone/>
            </a:pPr>
            <a:endParaRPr lang="en-US" dirty="0"/>
          </a:p>
        </p:txBody>
      </p:sp>
      <p:sp>
        <p:nvSpPr>
          <p:cNvPr id="43" name="Text 41"/>
          <p:cNvSpPr/>
          <p:nvPr/>
        </p:nvSpPr>
        <p:spPr>
          <a:xfrm>
            <a:off x="4890232" y="3424870"/>
            <a:ext cx="3617975" cy="160091"/>
          </a:xfrm>
          <a:prstGeom prst="rect">
            <a:avLst/>
          </a:prstGeom>
          <a:noFill/>
          <a:ln/>
        </p:spPr>
        <p:txBody>
          <a:bodyPr wrap="none" lIns="0" tIns="0" rIns="0" bIns="0" rtlCol="0" anchor="t">
            <a:normAutofit/>
          </a:bodyPr>
          <a:lstStyle/>
          <a:p>
            <a:pPr algn="l" indent="0" marL="0">
              <a:lnSpc>
                <a:spcPts val="844"/>
              </a:lnSpc>
              <a:buNone/>
            </a:pPr>
            <a:r>
              <a:rPr lang="en-US" sz="800" spc="86" kern="0" dirty="0">
                <a:solidFill>
                  <a:srgbClr val="FF7A1A"/>
                </a:solidFill>
                <a:highlight>
                  <a:srgbClr val="FF7A1A"/>
                </a:highlight>
                <a:latin typeface="Courier New" pitchFamily="34" charset="0"/>
                <a:ea typeface="Courier New" pitchFamily="34" charset="-122"/>
                <a:cs typeface="Courier New" pitchFamily="34" charset="-120"/>
              </a:rPr>
              <a:t>STDIO</a:t>
            </a:r>
            <a:pPr algn="l" indent="0" marL="0">
              <a:lnSpc>
                <a:spcPts val="844"/>
              </a:lnSpc>
              <a:buNone/>
            </a:pPr>
            <a:r>
              <a:rPr lang="en-US" sz="800" spc="124" kern="0" dirty="0">
                <a:solidFill>
                  <a:srgbClr val="FF7A1A"/>
                </a:solidFill>
                <a:latin typeface="Courier New" pitchFamily="34" charset="0"/>
                <a:ea typeface="Courier New" pitchFamily="34" charset="-122"/>
                <a:cs typeface="Courier New" pitchFamily="34" charset="-120"/>
              </a:rPr>
              <a:t> LOCAL · OURS</a:t>
            </a:r>
            <a:endParaRPr lang="en-US" sz="800" dirty="0"/>
          </a:p>
        </p:txBody>
      </p:sp>
      <p:sp>
        <p:nvSpPr>
          <p:cNvPr id="44" name="Text 42"/>
          <p:cNvSpPr/>
          <p:nvPr/>
        </p:nvSpPr>
        <p:spPr>
          <a:xfrm>
            <a:off x="4890232" y="3612393"/>
            <a:ext cx="3617975" cy="173593"/>
          </a:xfrm>
          <a:prstGeom prst="rect">
            <a:avLst/>
          </a:prstGeom>
          <a:noFill/>
          <a:ln/>
        </p:spPr>
        <p:txBody>
          <a:bodyPr wrap="none" lIns="0" tIns="0" rIns="0" bIns="0" rtlCol="0" anchor="t"/>
          <a:lstStyle/>
          <a:p>
            <a:pPr algn="l" indent="0" marL="0">
              <a:lnSpc>
                <a:spcPts val="1266"/>
              </a:lnSpc>
              <a:buNone/>
            </a:pPr>
            <a:r>
              <a:rPr lang="en-US" sz="844" dirty="0">
                <a:solidFill>
                  <a:srgbClr val="F4F4F5"/>
                </a:solidFill>
                <a:latin typeface="Courier New" pitchFamily="34" charset="0"/>
                <a:ea typeface="Courier New" pitchFamily="34" charset="-122"/>
                <a:cs typeface="Courier New" pitchFamily="34" charset="-120"/>
              </a:rPr>
              <a:t>repo_facts</a:t>
            </a:r>
            <a:endParaRPr lang="en-US" sz="844" dirty="0"/>
          </a:p>
        </p:txBody>
      </p:sp>
      <p:sp>
        <p:nvSpPr>
          <p:cNvPr id="45" name="Text 43"/>
          <p:cNvSpPr/>
          <p:nvPr/>
        </p:nvSpPr>
        <p:spPr>
          <a:xfrm>
            <a:off x="4890232" y="3815990"/>
            <a:ext cx="3617975" cy="158981"/>
          </a:xfrm>
          <a:prstGeom prst="rect">
            <a:avLst/>
          </a:prstGeom>
          <a:noFill/>
          <a:ln/>
        </p:spPr>
        <p:txBody>
          <a:bodyPr wrap="square" lIns="0" tIns="0" rIns="0" bIns="0" rtlCol="0" anchor="t"/>
          <a:lstStyle/>
          <a:p>
            <a:pPr algn="l" indent="0" marL="0">
              <a:lnSpc>
                <a:spcPts val="897"/>
              </a:lnSpc>
              <a:buNone/>
            </a:pPr>
            <a:r>
              <a:rPr lang="en-US" sz="619" dirty="0">
                <a:solidFill>
                  <a:srgbClr val="A1A1AA"/>
                </a:solidFill>
                <a:latin typeface="Courier New" pitchFamily="34" charset="0"/>
                <a:ea typeface="Courier New" pitchFamily="34" charset="-122"/>
                <a:cs typeface="Courier New" pitchFamily="34" charset="-120"/>
              </a:rPr>
              <a:t>A command and args. No headers, no token, no toolset scoping — nothing secret to leak.</a:t>
            </a:r>
            <a:endParaRPr lang="en-US" sz="619" dirty="0"/>
          </a:p>
        </p:txBody>
      </p:sp>
      <p:sp>
        <p:nvSpPr>
          <p:cNvPr id="46" name="Text 44"/>
          <p:cNvSpPr/>
          <p:nvPr/>
        </p:nvSpPr>
        <p:spPr>
          <a:xfrm>
            <a:off x="4758072" y="4341391"/>
            <a:ext cx="3868006" cy="398487"/>
          </a:xfrm>
          <a:prstGeom prst="roundRect">
            <a:avLst>
              <a:gd name="adj" fmla="val 19122"/>
            </a:avLst>
          </a:prstGeom>
          <a:solidFill>
            <a:srgbClr val="15151A"/>
          </a:solidFill>
          <a:ln w="7144">
            <a:solidFill>
              <a:srgbClr val="2A2A33"/>
            </a:solidFill>
            <a:prstDash val="dash"/>
          </a:ln>
        </p:spPr>
        <p:txBody>
          <a:bodyPr wrap="square" rtlCol="0" anchor="ctr"/>
          <a:lstStyle/>
          <a:p>
            <a:pPr indent="0" marL="0">
              <a:buNone/>
            </a:pPr>
            <a:endParaRPr lang="en-US" dirty="0"/>
          </a:p>
        </p:txBody>
      </p:sp>
      <p:sp>
        <p:nvSpPr>
          <p:cNvPr id="47" name="Text 45"/>
          <p:cNvSpPr/>
          <p:nvPr/>
        </p:nvSpPr>
        <p:spPr>
          <a:xfrm>
            <a:off x="5894933" y="4409256"/>
            <a:ext cx="888057" cy="128588"/>
          </a:xfrm>
          <a:prstGeom prst="roundRect">
            <a:avLst>
              <a:gd name="adj" fmla="val 29630"/>
            </a:avLst>
          </a:prstGeom>
          <a:solidFill>
            <a:srgbClr val="1D1D24"/>
          </a:solidFill>
          <a:ln/>
        </p:spPr>
        <p:txBody>
          <a:bodyPr wrap="square" rtlCol="0" anchor="ctr"/>
          <a:lstStyle/>
          <a:p>
            <a:pPr indent="0" marL="0">
              <a:buNone/>
            </a:pPr>
            <a:endParaRPr lang="en-US" dirty="0"/>
          </a:p>
        </p:txBody>
      </p:sp>
      <p:sp>
        <p:nvSpPr>
          <p:cNvPr id="48" name="Text 46"/>
          <p:cNvSpPr/>
          <p:nvPr/>
        </p:nvSpPr>
        <p:spPr>
          <a:xfrm>
            <a:off x="8048327" y="4409256"/>
            <a:ext cx="454633" cy="128588"/>
          </a:xfrm>
          <a:prstGeom prst="roundRect">
            <a:avLst>
              <a:gd name="adj" fmla="val 29630"/>
            </a:avLst>
          </a:prstGeom>
          <a:solidFill>
            <a:srgbClr val="1D1D24"/>
          </a:solidFill>
          <a:ln/>
        </p:spPr>
        <p:txBody>
          <a:bodyPr wrap="square" rtlCol="0" anchor="ctr"/>
          <a:lstStyle/>
          <a:p>
            <a:pPr indent="0" marL="0">
              <a:buNone/>
            </a:pPr>
            <a:endParaRPr lang="en-US" dirty="0"/>
          </a:p>
        </p:txBody>
      </p:sp>
      <p:sp>
        <p:nvSpPr>
          <p:cNvPr id="49" name="Text 47"/>
          <p:cNvSpPr/>
          <p:nvPr/>
        </p:nvSpPr>
        <p:spPr>
          <a:xfrm>
            <a:off x="4754500" y="4337819"/>
            <a:ext cx="3875150" cy="519208"/>
          </a:xfrm>
          <a:prstGeom prst="rect">
            <a:avLst/>
          </a:prstGeom>
          <a:noFill/>
          <a:ln/>
        </p:spPr>
        <p:txBody>
          <a:bodyPr wrap="square" lIns="100013" tIns="71438" rIns="100013" bIns="71438" rtlCol="0" anchor="t"/>
          <a:lstStyle/>
          <a:p>
            <a:pPr algn="l" indent="0" marL="0">
              <a:lnSpc>
                <a:spcPts val="979"/>
              </a:lnSpc>
              <a:buNone/>
            </a:pPr>
            <a:r>
              <a:rPr lang="en-US" sz="800" spc="118" kern="0" dirty="0">
                <a:solidFill>
                  <a:srgbClr val="FF7A1A"/>
                </a:solidFill>
                <a:latin typeface="Courier New" pitchFamily="34" charset="0"/>
                <a:ea typeface="Courier New" pitchFamily="34" charset="-122"/>
                <a:cs typeface="Courier New" pitchFamily="34" charset="-120"/>
              </a:rPr>
              <a:t>PRODUCTION NOTE</a:t>
            </a:r>
            <a:pPr algn="l" indent="0" marL="0">
              <a:lnSpc>
                <a:spcPts val="979"/>
              </a:lnSpc>
              <a:buNone/>
            </a:pPr>
            <a:r>
              <a:rPr lang="en-US" sz="800" dirty="0">
                <a:solidFill>
                  <a:srgbClr val="A1A1AA"/>
                </a:solidFill>
                <a:latin typeface="Carlito" pitchFamily="34" charset="0"/>
                <a:ea typeface="Carlito" pitchFamily="34" charset="-122"/>
                <a:cs typeface="Carlito" pitchFamily="34" charset="-120"/>
              </a:rPr>
              <a:t> Keep </a:t>
            </a:r>
            <a:pPr algn="l" indent="0" marL="0">
              <a:lnSpc>
                <a:spcPts val="979"/>
              </a:lnSpc>
              <a:buNone/>
            </a:pPr>
            <a:r>
              <a:rPr lang="en-US" sz="800" dirty="0">
                <a:solidFill>
                  <a:srgbClr val="FF7A1A"/>
                </a:solidFill>
                <a:highlight>
                  <a:srgbClr val="1D1D24"/>
                </a:highlight>
                <a:latin typeface="Courier New" pitchFamily="34" charset="0"/>
                <a:ea typeface="Courier New" pitchFamily="34" charset="-122"/>
                <a:cs typeface="Courier New" pitchFamily="34" charset="-120"/>
              </a:rPr>
              <a:t>repo_facts_server.py</a:t>
            </a:r>
            <a:pPr algn="l" indent="0" marL="0">
              <a:lnSpc>
                <a:spcPts val="979"/>
              </a:lnSpc>
              <a:buNone/>
            </a:pPr>
            <a:r>
              <a:rPr lang="en-US" sz="800" dirty="0">
                <a:solidFill>
                  <a:srgbClr val="A1A1AA"/>
                </a:solidFill>
                <a:latin typeface="Carlito" pitchFamily="34" charset="0"/>
                <a:ea typeface="Carlito" pitchFamily="34" charset="-122"/>
                <a:cs typeface="Carlito" pitchFamily="34" charset="-120"/>
              </a:rPr>
              <a:t> in the same working directory as </a:t>
            </a:r>
            <a:pPr algn="l" indent="0" marL="0">
              <a:lnSpc>
                <a:spcPts val="979"/>
              </a:lnSpc>
              <a:buNone/>
            </a:pPr>
            <a:r>
              <a:rPr lang="en-US" sz="800" dirty="0">
                <a:solidFill>
                  <a:srgbClr val="FF7A1A"/>
                </a:solidFill>
                <a:highlight>
                  <a:srgbClr val="1D1D24"/>
                </a:highlight>
                <a:latin typeface="Courier New" pitchFamily="34" charset="0"/>
                <a:ea typeface="Courier New" pitchFamily="34" charset="-122"/>
                <a:cs typeface="Courier New" pitchFamily="34" charset="-120"/>
              </a:rPr>
              <a:t>.mcp.json</a:t>
            </a:r>
            <a:pPr algn="l" indent="0" marL="0">
              <a:lnSpc>
                <a:spcPts val="979"/>
              </a:lnSpc>
              <a:buNone/>
            </a:pPr>
            <a:r>
              <a:rPr lang="en-US" sz="800" dirty="0">
                <a:solidFill>
                  <a:srgbClr val="A1A1AA"/>
                </a:solidFill>
                <a:latin typeface="Carlito" pitchFamily="34" charset="0"/>
                <a:ea typeface="Carlito" pitchFamily="34" charset="-122"/>
                <a:cs typeface="Carlito" pitchFamily="34" charset="-120"/>
              </a:rPr>
              <a:t> — removes any ambiguity about where that relative path resolves.</a:t>
            </a:r>
            <a:endParaRPr lang="en-US" sz="800" dirty="0"/>
          </a:p>
        </p:txBody>
      </p:sp>
      <p:sp>
        <p:nvSpPr>
          <p:cNvPr id="50" name="Text 48"/>
          <p:cNvSpPr/>
          <p:nvPr/>
        </p:nvSpPr>
        <p:spPr>
          <a:xfrm>
            <a:off x="514350" y="4868466"/>
            <a:ext cx="6067276"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EP09 · MCP IN THE REAL WORLD</a:t>
            </a:r>
            <a:endParaRPr lang="en-US" sz="800" dirty="0"/>
          </a:p>
        </p:txBody>
      </p:sp>
      <p:sp>
        <p:nvSpPr>
          <p:cNvPr id="51" name="Text 49"/>
          <p:cNvSpPr/>
          <p:nvPr/>
        </p:nvSpPr>
        <p:spPr>
          <a:xfrm>
            <a:off x="6595914" y="4868466"/>
            <a:ext cx="2345184" cy="164592"/>
          </a:xfrm>
          <a:prstGeom prst="rect">
            <a:avLst/>
          </a:prstGeom>
          <a:noFill/>
          <a:ln/>
        </p:spPr>
        <p:txBody>
          <a:bodyPr wrap="square" lIns="0" tIns="0" rIns="0" bIns="0" rtlCol="0" anchor="t"/>
          <a:lstStyle/>
          <a:p>
            <a:pPr algn="l" indent="0" marL="0">
              <a:lnSpc>
                <a:spcPts val="928"/>
              </a:lnSpc>
              <a:buNone/>
            </a:pPr>
            <a:r>
              <a:rPr lang="en-US" sz="619" spc="99" kern="0" dirty="0">
                <a:solidFill>
                  <a:srgbClr val="71717A"/>
                </a:solidFill>
                <a:latin typeface="Courier New" pitchFamily="34" charset="0"/>
                <a:ea typeface="Courier New" pitchFamily="34" charset="-122"/>
                <a:cs typeface="Courier New" pitchFamily="34" charset="-120"/>
              </a:rPr>
              <a:t>CONFIG · FINAL · </a:t>
            </a:r>
            <a:pPr algn="l" indent="0" marL="0">
              <a:lnSpc>
                <a:spcPts val="928"/>
              </a:lnSpc>
              <a:buNone/>
            </a:pPr>
            <a:r>
              <a:rPr lang="en-US" sz="619" spc="99" kern="0" dirty="0">
                <a:solidFill>
                  <a:srgbClr val="FF7A1A"/>
                </a:solidFill>
                <a:latin typeface="Courier New" pitchFamily="34" charset="0"/>
                <a:ea typeface="Courier New" pitchFamily="34" charset="-122"/>
                <a:cs typeface="Courier New" pitchFamily="34" charset="-120"/>
              </a:rPr>
              <a:t>TWO SERVERS, ONE FILE</a:t>
            </a:r>
            <a:endParaRPr lang="en-US" sz="619"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257175" y="200025"/>
            <a:ext cx="2232705"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71717A"/>
                </a:solidFill>
                <a:latin typeface="Liberation Sans Narrow" pitchFamily="34" charset="0"/>
                <a:ea typeface="Liberation Sans Narrow" pitchFamily="34" charset="-122"/>
                <a:cs typeface="Liberation Sans Narrow" pitchFamily="34" charset="-120"/>
              </a:rPr>
              <a:t>EP09 </a:t>
            </a:r>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a:t>
            </a:r>
            <a:pPr algn="l" indent="0" marL="0">
              <a:lnSpc>
                <a:spcPts val="928"/>
              </a:lnSpc>
              <a:buNone/>
            </a:pPr>
            <a:r>
              <a:rPr lang="en-US" sz="800" spc="173" kern="0" dirty="0">
                <a:solidFill>
                  <a:srgbClr val="71717A"/>
                </a:solidFill>
                <a:latin typeface="Courier New" pitchFamily="34" charset="0"/>
                <a:ea typeface="Courier New" pitchFamily="34" charset="-122"/>
                <a:cs typeface="Courier New" pitchFamily="34" charset="-120"/>
              </a:rPr>
              <a:t> MCP IN THE REAL WORLD</a:t>
            </a:r>
            <a:endParaRPr lang="en-US" sz="800" dirty="0"/>
          </a:p>
        </p:txBody>
      </p:sp>
      <p:sp>
        <p:nvSpPr>
          <p:cNvPr id="3" name="Text 1"/>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24 / 30</a:t>
            </a:r>
            <a:endParaRPr lang="en-US" sz="800" dirty="0"/>
          </a:p>
        </p:txBody>
      </p:sp>
      <p:sp>
        <p:nvSpPr>
          <p:cNvPr id="4" name="Text 2"/>
          <p:cNvSpPr/>
          <p:nvPr/>
        </p:nvSpPr>
        <p:spPr>
          <a:xfrm>
            <a:off x="4999025" y="3500438"/>
            <a:ext cx="4144975" cy="1643063"/>
          </a:xfrm>
          <a:prstGeom prst="rect">
            <a:avLst/>
          </a:prstGeom>
          <a:noFill/>
          <a:ln/>
        </p:spPr>
        <p:txBody>
          <a:bodyPr wrap="square" lIns="0" tIns="0" rIns="0" bIns="0" rtlCol="0" anchor="t"/>
          <a:lstStyle/>
          <a:p>
            <a:pPr algn="l" indent="0" marL="0">
              <a:lnSpc>
                <a:spcPts val="18000"/>
              </a:lnSpc>
              <a:buNone/>
            </a:pPr>
            <a:r>
              <a:rPr lang="en-US" sz="18000" b="1" dirty="0">
                <a:solidFill>
                  <a:srgbClr val="FF7A1A">
                    <a:alpha val="4000"/>
                  </a:srgbClr>
                </a:solidFill>
                <a:latin typeface="Liberation Sans Narrow" pitchFamily="34" charset="0"/>
                <a:ea typeface="Liberation Sans Narrow" pitchFamily="34" charset="-122"/>
                <a:cs typeface="Liberation Sans Narrow" pitchFamily="34" charset="-120"/>
              </a:rPr>
              <a:t>24</a:t>
            </a:r>
            <a:endParaRPr lang="en-US" sz="18000" dirty="0"/>
          </a:p>
        </p:txBody>
      </p:sp>
      <p:sp>
        <p:nvSpPr>
          <p:cNvPr id="5" name="Text 3"/>
          <p:cNvSpPr/>
          <p:nvPr/>
        </p:nvSpPr>
        <p:spPr>
          <a:xfrm>
            <a:off x="514350" y="571500"/>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RULE OF THUMB</a:t>
            </a:r>
            <a:endParaRPr lang="en-US" sz="800" dirty="0"/>
          </a:p>
        </p:txBody>
      </p:sp>
      <p:sp>
        <p:nvSpPr>
          <p:cNvPr id="6" name="Text 4"/>
          <p:cNvSpPr/>
          <p:nvPr/>
        </p:nvSpPr>
        <p:spPr>
          <a:xfrm>
            <a:off x="514350" y="789384"/>
            <a:ext cx="8629650" cy="373346"/>
          </a:xfrm>
          <a:prstGeom prst="rect">
            <a:avLst/>
          </a:prstGeom>
          <a:noFill/>
          <a:ln/>
        </p:spPr>
        <p:txBody>
          <a:bodyPr wrap="squar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The Rule: </a:t>
            </a:r>
            <a:pPr algn="l" indent="0" marL="0">
              <a:lnSpc>
                <a:spcPts val="2723"/>
              </a:lnSpc>
              <a:buNone/>
            </a:pPr>
            <a:r>
              <a:rPr lang="en-US" sz="2475" b="1" spc="-49" kern="0" dirty="0">
                <a:solidFill>
                  <a:srgbClr val="FF7A1A"/>
                </a:solidFill>
                <a:latin typeface="Carlito" pitchFamily="34" charset="0"/>
                <a:ea typeface="Carlito" pitchFamily="34" charset="-122"/>
                <a:cs typeface="Carlito" pitchFamily="34" charset="-120"/>
              </a:rPr>
              <a:t>Python Objects In Code, Everything Else In JSON</a:t>
            </a:r>
            <a:endParaRPr lang="en-US" sz="2475" dirty="0"/>
          </a:p>
        </p:txBody>
      </p:sp>
      <p:sp>
        <p:nvSpPr>
          <p:cNvPr id="7" name="Shape 5"/>
          <p:cNvSpPr/>
          <p:nvPr/>
        </p:nvSpPr>
        <p:spPr>
          <a:xfrm>
            <a:off x="514350" y="1306525"/>
            <a:ext cx="400050" cy="0"/>
          </a:xfrm>
          <a:prstGeom prst="line">
            <a:avLst/>
          </a:prstGeom>
          <a:noFill/>
          <a:ln w="7144">
            <a:solidFill>
              <a:srgbClr val="F4F4F5"/>
            </a:solidFill>
            <a:prstDash val="solid"/>
          </a:ln>
        </p:spPr>
      </p:sp>
      <p:sp>
        <p:nvSpPr>
          <p:cNvPr id="8" name="Text 6"/>
          <p:cNvSpPr/>
          <p:nvPr/>
        </p:nvSpPr>
        <p:spPr>
          <a:xfrm>
            <a:off x="514350" y="1506550"/>
            <a:ext cx="8115300" cy="840212"/>
          </a:xfrm>
          <a:prstGeom prst="rect">
            <a:avLst/>
          </a:prstGeom>
          <a:noFill/>
          <a:ln/>
        </p:spPr>
        <p:txBody>
          <a:bodyPr wrap="square" lIns="0" tIns="0" rIns="0" bIns="0" rtlCol="0" anchor="t"/>
          <a:lstStyle/>
          <a:p>
            <a:pPr algn="l" indent="0" marL="0">
              <a:lnSpc>
                <a:spcPts val="1308"/>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08"/>
              </a:lnSpc>
              <a:spcAft>
                <a:spcPts val="788"/>
              </a:spcAft>
              <a:buNone/>
            </a:pPr>
            <a:r>
              <a:rPr lang="en-US" sz="802" dirty="0">
                <a:solidFill>
                  <a:srgbClr val="FF7A1A"/>
                </a:solidFill>
                <a:highlight>
                  <a:srgbClr val="1D1D24"/>
                </a:highlight>
                <a:latin typeface="Courier New" pitchFamily="34" charset="0"/>
                <a:ea typeface="Courier New" pitchFamily="34" charset="-122"/>
                <a:cs typeface="Courier New" pitchFamily="34" charset="-120"/>
              </a:rPr>
              <a:t>"sdk"</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-type configs need a live Python object — can't go in JSON</a:t>
            </a:r>
            <a:endParaRPr lang="en-US" sz="872" dirty="0"/>
          </a:p>
          <a:p>
            <a:pPr algn="l" indent="0" marL="0">
              <a:lnSpc>
                <a:spcPts val="1308"/>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Everything else (a URL, a command, a header) is just strings — belongs in </a:t>
            </a:r>
            <a:pPr algn="l" indent="0" marL="0">
              <a:lnSpc>
                <a:spcPts val="1308"/>
              </a:lnSpc>
              <a:spcAft>
                <a:spcPts val="788"/>
              </a:spcAft>
              <a:buNone/>
            </a:pPr>
            <a:r>
              <a:rPr lang="en-US" sz="802" dirty="0">
                <a:solidFill>
                  <a:srgbClr val="FF7A1A"/>
                </a:solidFill>
                <a:highlight>
                  <a:srgbClr val="1D1D24"/>
                </a:highlight>
                <a:latin typeface="Courier New" pitchFamily="34" charset="0"/>
                <a:ea typeface="Courier New" pitchFamily="34" charset="-122"/>
                <a:cs typeface="Courier New" pitchFamily="34" charset="-120"/>
              </a:rPr>
              <a:t>.mcp.json</a:t>
            </a:r>
            <a:endParaRPr lang="en-US" sz="872" dirty="0"/>
          </a:p>
          <a:p>
            <a:pPr algn="l" indent="0" marL="0">
              <a:lnSpc>
                <a:spcPts val="1308"/>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Answers: why is </a:t>
            </a:r>
            <a:pPr algn="l" indent="0" marL="0">
              <a:lnSpc>
                <a:spcPts val="1308"/>
              </a:lnSpc>
              <a:spcAft>
                <a:spcPts val="788"/>
              </a:spcAft>
              <a:buNone/>
            </a:pPr>
            <a:r>
              <a:rPr lang="en-US" sz="802" dirty="0">
                <a:solidFill>
                  <a:srgbClr val="FF7A1A"/>
                </a:solidFill>
                <a:highlight>
                  <a:srgbClr val="1D1D24"/>
                </a:highlight>
                <a:latin typeface="Courier New" pitchFamily="34" charset="0"/>
                <a:ea typeface="Courier New" pitchFamily="34" charset="-122"/>
                <a:cs typeface="Courier New" pitchFamily="34" charset="-120"/>
              </a:rPr>
              <a:t>pr_tools</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 in code but </a:t>
            </a:r>
            <a:pPr algn="l" indent="0" marL="0">
              <a:lnSpc>
                <a:spcPts val="1308"/>
              </a:lnSpc>
              <a:spcAft>
                <a:spcPts val="788"/>
              </a:spcAft>
              <a:buNone/>
            </a:pPr>
            <a:r>
              <a:rPr lang="en-US" sz="802" dirty="0">
                <a:solidFill>
                  <a:srgbClr val="FF7A1A"/>
                </a:solidFill>
                <a:highlight>
                  <a:srgbClr val="1D1D24"/>
                </a:highlight>
                <a:latin typeface="Courier New" pitchFamily="34" charset="0"/>
                <a:ea typeface="Courier New" pitchFamily="34" charset="-122"/>
                <a:cs typeface="Courier New" pitchFamily="34" charset="-120"/>
              </a:rPr>
              <a:t>github</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a:t>
            </a:r>
            <a:pPr algn="l" indent="0" marL="0">
              <a:lnSpc>
                <a:spcPts val="1308"/>
              </a:lnSpc>
              <a:spcAft>
                <a:spcPts val="788"/>
              </a:spcAft>
              <a:buNone/>
            </a:pPr>
            <a:r>
              <a:rPr lang="en-US" sz="802" dirty="0">
                <a:solidFill>
                  <a:srgbClr val="FF7A1A"/>
                </a:solidFill>
                <a:highlight>
                  <a:srgbClr val="1D1D24"/>
                </a:highlight>
                <a:latin typeface="Courier New" pitchFamily="34" charset="0"/>
                <a:ea typeface="Courier New" pitchFamily="34" charset="-122"/>
                <a:cs typeface="Courier New" pitchFamily="34" charset="-120"/>
              </a:rPr>
              <a:t>repo_facts</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 in </a:t>
            </a:r>
            <a:pPr algn="l" indent="0" marL="0">
              <a:lnSpc>
                <a:spcPts val="1308"/>
              </a:lnSpc>
              <a:spcAft>
                <a:spcPts val="788"/>
              </a:spcAft>
              <a:buNone/>
            </a:pPr>
            <a:r>
              <a:rPr lang="en-US" sz="802" dirty="0">
                <a:solidFill>
                  <a:srgbClr val="FF7A1A"/>
                </a:solidFill>
                <a:highlight>
                  <a:srgbClr val="1D1D24"/>
                </a:highlight>
                <a:latin typeface="Courier New" pitchFamily="34" charset="0"/>
                <a:ea typeface="Courier New" pitchFamily="34" charset="-122"/>
                <a:cs typeface="Courier New" pitchFamily="34" charset="-120"/>
              </a:rPr>
              <a:t>.mcp.json</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a:t>
            </a:r>
            <a:endParaRPr lang="en-US" sz="872" dirty="0"/>
          </a:p>
        </p:txBody>
      </p:sp>
      <p:sp>
        <p:nvSpPr>
          <p:cNvPr id="9" name="Text 7"/>
          <p:cNvSpPr/>
          <p:nvPr/>
        </p:nvSpPr>
        <p:spPr>
          <a:xfrm>
            <a:off x="514350" y="2319151"/>
            <a:ext cx="8115300" cy="2617738"/>
          </a:xfrm>
          <a:prstGeom prst="roundRect">
            <a:avLst>
              <a:gd name="adj" fmla="val 4366"/>
            </a:avLst>
          </a:prstGeom>
          <a:solidFill>
            <a:srgbClr val="15151A"/>
          </a:solidFill>
          <a:ln/>
        </p:spPr>
        <p:txBody>
          <a:bodyPr wrap="square" rtlCol="0" anchor="ctr"/>
          <a:lstStyle/>
          <a:p>
            <a:pPr indent="0" marL="0">
              <a:buNone/>
            </a:pPr>
            <a:endParaRPr lang="en-US" dirty="0"/>
          </a:p>
        </p:txBody>
      </p:sp>
      <p:sp>
        <p:nvSpPr>
          <p:cNvPr id="10" name="Shape 8"/>
          <p:cNvSpPr/>
          <p:nvPr/>
        </p:nvSpPr>
        <p:spPr>
          <a:xfrm>
            <a:off x="514350" y="2322723"/>
            <a:ext cx="8115300" cy="0"/>
          </a:xfrm>
          <a:prstGeom prst="line">
            <a:avLst/>
          </a:prstGeom>
          <a:noFill/>
          <a:ln w="7144">
            <a:solidFill>
              <a:srgbClr val="2A2A33"/>
            </a:solidFill>
            <a:prstDash val="solid"/>
          </a:ln>
        </p:spPr>
      </p:sp>
      <p:sp>
        <p:nvSpPr>
          <p:cNvPr id="11" name="Shape 9"/>
          <p:cNvSpPr/>
          <p:nvPr/>
        </p:nvSpPr>
        <p:spPr>
          <a:xfrm>
            <a:off x="8626078" y="2319151"/>
            <a:ext cx="0" cy="2617738"/>
          </a:xfrm>
          <a:prstGeom prst="line">
            <a:avLst/>
          </a:prstGeom>
          <a:noFill/>
          <a:ln w="7144">
            <a:solidFill>
              <a:srgbClr val="2A2A33"/>
            </a:solidFill>
            <a:prstDash val="solid"/>
          </a:ln>
        </p:spPr>
      </p:sp>
      <p:sp>
        <p:nvSpPr>
          <p:cNvPr id="12" name="Shape 10"/>
          <p:cNvSpPr/>
          <p:nvPr/>
        </p:nvSpPr>
        <p:spPr>
          <a:xfrm>
            <a:off x="514350" y="4933317"/>
            <a:ext cx="8115300" cy="0"/>
          </a:xfrm>
          <a:prstGeom prst="line">
            <a:avLst/>
          </a:prstGeom>
          <a:noFill/>
          <a:ln w="7144">
            <a:solidFill>
              <a:srgbClr val="2A2A33"/>
            </a:solidFill>
            <a:prstDash val="solid"/>
          </a:ln>
        </p:spPr>
      </p:sp>
      <p:sp>
        <p:nvSpPr>
          <p:cNvPr id="13" name="Shape 11"/>
          <p:cNvSpPr/>
          <p:nvPr/>
        </p:nvSpPr>
        <p:spPr>
          <a:xfrm>
            <a:off x="528638" y="2319151"/>
            <a:ext cx="0" cy="2617738"/>
          </a:xfrm>
          <a:prstGeom prst="line">
            <a:avLst/>
          </a:prstGeom>
          <a:noFill/>
          <a:ln w="28575">
            <a:solidFill>
              <a:srgbClr val="8AB4FF"/>
            </a:solidFill>
            <a:prstDash val="solid"/>
          </a:ln>
        </p:spPr>
      </p:sp>
      <p:sp>
        <p:nvSpPr>
          <p:cNvPr id="14" name="Text 12"/>
          <p:cNvSpPr/>
          <p:nvPr/>
        </p:nvSpPr>
        <p:spPr>
          <a:xfrm>
            <a:off x="814388" y="2554895"/>
            <a:ext cx="7536656"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8AB4FF"/>
                </a:solidFill>
                <a:latin typeface="Courier New" pitchFamily="34" charset="0"/>
                <a:ea typeface="Courier New" pitchFamily="34" charset="-122"/>
                <a:cs typeface="Courier New" pitchFamily="34" charset="-120"/>
              </a:rPr>
              <a:t>MENTAL MODEL</a:t>
            </a:r>
            <a:endParaRPr lang="en-US" sz="800" dirty="0"/>
          </a:p>
        </p:txBody>
      </p:sp>
      <p:sp>
        <p:nvSpPr>
          <p:cNvPr id="15" name="Text 13"/>
          <p:cNvSpPr/>
          <p:nvPr/>
        </p:nvSpPr>
        <p:spPr>
          <a:xfrm>
            <a:off x="814388" y="2787067"/>
            <a:ext cx="7536656" cy="541514"/>
          </a:xfrm>
          <a:prstGeom prst="rect">
            <a:avLst/>
          </a:prstGeom>
          <a:noFill/>
          <a:ln/>
        </p:spPr>
        <p:txBody>
          <a:bodyPr wrap="square" lIns="0" tIns="0" rIns="0" bIns="0" rtlCol="0" anchor="t"/>
          <a:lstStyle/>
          <a:p>
            <a:pPr algn="l" indent="0" marL="0">
              <a:lnSpc>
                <a:spcPts val="1974"/>
              </a:lnSpc>
              <a:buNone/>
            </a:pPr>
            <a:r>
              <a:rPr lang="en-US" sz="1463" spc="-7" kern="0" dirty="0">
                <a:solidFill>
                  <a:srgbClr val="F4F4F5"/>
                </a:solidFill>
                <a:latin typeface="Carlito" pitchFamily="34" charset="0"/>
                <a:ea typeface="Carlito" pitchFamily="34" charset="-122"/>
                <a:cs typeface="Carlito" pitchFamily="34" charset="-120"/>
              </a:rPr>
              <a:t>If configuring it means describing a </a:t>
            </a:r>
            <a:pPr algn="l" indent="0" marL="0">
              <a:lnSpc>
                <a:spcPts val="1974"/>
              </a:lnSpc>
              <a:buNone/>
            </a:pPr>
            <a:r>
              <a:rPr lang="en-US" sz="1463" spc="-7" kern="0" dirty="0">
                <a:solidFill>
                  <a:srgbClr val="8AB4FF"/>
                </a:solidFill>
                <a:latin typeface="Carlito" pitchFamily="34" charset="0"/>
                <a:ea typeface="Carlito" pitchFamily="34" charset="-122"/>
                <a:cs typeface="Carlito" pitchFamily="34" charset="-120"/>
              </a:rPr>
              <a:t>live object</a:t>
            </a:r>
            <a:pPr algn="l" indent="0" marL="0">
              <a:lnSpc>
                <a:spcPts val="1974"/>
              </a:lnSpc>
              <a:buNone/>
            </a:pPr>
            <a:r>
              <a:rPr lang="en-US" sz="1463" spc="-7" kern="0" dirty="0">
                <a:solidFill>
                  <a:srgbClr val="F4F4F5"/>
                </a:solidFill>
                <a:latin typeface="Carlito" pitchFamily="34" charset="0"/>
                <a:ea typeface="Carlito" pitchFamily="34" charset="-122"/>
                <a:cs typeface="Carlito" pitchFamily="34" charset="-120"/>
              </a:rPr>
              <a:t>, it's </a:t>
            </a:r>
            <a:pPr algn="l" indent="0" marL="0">
              <a:lnSpc>
                <a:spcPts val="1974"/>
              </a:lnSpc>
              <a:buNone/>
            </a:pPr>
            <a:r>
              <a:rPr lang="en-US" sz="1463" spc="-7" kern="0" dirty="0">
                <a:solidFill>
                  <a:srgbClr val="8AB4FF"/>
                </a:solidFill>
                <a:latin typeface="Carlito" pitchFamily="34" charset="0"/>
                <a:ea typeface="Carlito" pitchFamily="34" charset="-122"/>
                <a:cs typeface="Carlito" pitchFamily="34" charset="-120"/>
              </a:rPr>
              <a:t>code</a:t>
            </a:r>
            <a:pPr algn="l" indent="0" marL="0">
              <a:lnSpc>
                <a:spcPts val="1974"/>
              </a:lnSpc>
              <a:buNone/>
            </a:pPr>
            <a:r>
              <a:rPr lang="en-US" sz="1463" spc="-7" kern="0" dirty="0">
                <a:solidFill>
                  <a:srgbClr val="F4F4F5"/>
                </a:solidFill>
                <a:latin typeface="Carlito" pitchFamily="34" charset="0"/>
                <a:ea typeface="Carlito" pitchFamily="34" charset="-122"/>
                <a:cs typeface="Carlito" pitchFamily="34" charset="-120"/>
              </a:rPr>
              <a:t>.</a:t>
            </a:r>
            <a:endParaRPr lang="en-US" sz="1463" dirty="0"/>
          </a:p>
          <a:p>
            <a:pPr algn="l" indent="0" marL="0">
              <a:lnSpc>
                <a:spcPts val="1974"/>
              </a:lnSpc>
              <a:buNone/>
            </a:pPr>
            <a:r>
              <a:rPr lang="en-US" sz="1463" spc="-7" kern="0" dirty="0">
                <a:solidFill>
                  <a:srgbClr val="F4F4F5"/>
                </a:solidFill>
                <a:latin typeface="Carlito" pitchFamily="34" charset="0"/>
                <a:ea typeface="Carlito" pitchFamily="34" charset="-122"/>
                <a:cs typeface="Carlito" pitchFamily="34" charset="-120"/>
              </a:rPr>
              <a:t>If configuring it means describing a </a:t>
            </a:r>
            <a:pPr algn="l" indent="0" marL="0">
              <a:lnSpc>
                <a:spcPts val="1974"/>
              </a:lnSpc>
              <a:buNone/>
            </a:pPr>
            <a:r>
              <a:rPr lang="en-US" sz="1463" spc="-7" kern="0" dirty="0">
                <a:solidFill>
                  <a:srgbClr val="FF7A1A"/>
                </a:solidFill>
                <a:latin typeface="Carlito" pitchFamily="34" charset="0"/>
                <a:ea typeface="Carlito" pitchFamily="34" charset="-122"/>
                <a:cs typeface="Carlito" pitchFamily="34" charset="-120"/>
              </a:rPr>
              <a:t>URL or a command</a:t>
            </a:r>
            <a:pPr algn="l" indent="0" marL="0">
              <a:lnSpc>
                <a:spcPts val="1974"/>
              </a:lnSpc>
              <a:buNone/>
            </a:pPr>
            <a:r>
              <a:rPr lang="en-US" sz="1463" spc="-7" kern="0" dirty="0">
                <a:solidFill>
                  <a:srgbClr val="F4F4F5"/>
                </a:solidFill>
                <a:latin typeface="Carlito" pitchFamily="34" charset="0"/>
                <a:ea typeface="Carlito" pitchFamily="34" charset="-122"/>
                <a:cs typeface="Carlito" pitchFamily="34" charset="-120"/>
              </a:rPr>
              <a:t>, it's </a:t>
            </a:r>
            <a:pPr algn="l" indent="0" marL="0">
              <a:lnSpc>
                <a:spcPts val="1974"/>
              </a:lnSpc>
              <a:buNone/>
            </a:pPr>
            <a:r>
              <a:rPr lang="en-US" sz="1463" spc="-7" kern="0" dirty="0">
                <a:solidFill>
                  <a:srgbClr val="FF7A1A"/>
                </a:solidFill>
                <a:latin typeface="Carlito" pitchFamily="34" charset="0"/>
                <a:ea typeface="Carlito" pitchFamily="34" charset="-122"/>
                <a:cs typeface="Carlito" pitchFamily="34" charset="-120"/>
              </a:rPr>
              <a:t>JSON</a:t>
            </a:r>
            <a:pPr algn="l" indent="0" marL="0">
              <a:lnSpc>
                <a:spcPts val="1974"/>
              </a:lnSpc>
              <a:buNone/>
            </a:pPr>
            <a:r>
              <a:rPr lang="en-US" sz="1463" spc="-7" kern="0" dirty="0">
                <a:solidFill>
                  <a:srgbClr val="F4F4F5"/>
                </a:solidFill>
                <a:latin typeface="Carlito" pitchFamily="34" charset="0"/>
                <a:ea typeface="Carlito" pitchFamily="34" charset="-122"/>
                <a:cs typeface="Carlito" pitchFamily="34" charset="-120"/>
              </a:rPr>
              <a:t>.</a:t>
            </a:r>
            <a:endParaRPr lang="en-US" sz="1463" dirty="0"/>
          </a:p>
        </p:txBody>
      </p:sp>
      <p:sp>
        <p:nvSpPr>
          <p:cNvPr id="16" name="Text 14"/>
          <p:cNvSpPr/>
          <p:nvPr/>
        </p:nvSpPr>
        <p:spPr>
          <a:xfrm>
            <a:off x="814388" y="3431344"/>
            <a:ext cx="7536656" cy="7144"/>
          </a:xfrm>
          <a:prstGeom prst="rect">
            <a:avLst/>
          </a:prstGeom>
          <a:solidFill>
            <a:srgbClr val="2A2A33"/>
          </a:solidFill>
          <a:ln/>
        </p:spPr>
        <p:txBody>
          <a:bodyPr wrap="square" rtlCol="0" anchor="ctr"/>
          <a:lstStyle/>
          <a:p>
            <a:pPr indent="0" marL="0">
              <a:buNone/>
            </a:pPr>
            <a:endParaRPr lang="en-US" dirty="0"/>
          </a:p>
        </p:txBody>
      </p:sp>
      <p:sp>
        <p:nvSpPr>
          <p:cNvPr id="17" name="Text 15"/>
          <p:cNvSpPr/>
          <p:nvPr/>
        </p:nvSpPr>
        <p:spPr>
          <a:xfrm>
            <a:off x="791528" y="3572362"/>
            <a:ext cx="863010" cy="168021"/>
          </a:xfrm>
          <a:prstGeom prst="roundRect">
            <a:avLst>
              <a:gd name="adj" fmla="val 17007"/>
            </a:avLst>
          </a:prstGeom>
          <a:solidFill>
            <a:srgbClr val="8AB4FF">
              <a:alpha val="8000"/>
            </a:srgbClr>
          </a:solidFill>
          <a:ln w="7144">
            <a:solidFill>
              <a:srgbClr val="8AB4FF"/>
            </a:solidFill>
            <a:prstDash val="solid"/>
          </a:ln>
        </p:spPr>
        <p:txBody>
          <a:bodyPr wrap="square" rtlCol="0" anchor="ctr"/>
          <a:lstStyle/>
          <a:p>
            <a:pPr indent="0" marL="0">
              <a:buNone/>
            </a:pPr>
            <a:endParaRPr lang="en-US" dirty="0"/>
          </a:p>
        </p:txBody>
      </p:sp>
      <p:sp>
        <p:nvSpPr>
          <p:cNvPr id="18" name="Text 16"/>
          <p:cNvSpPr/>
          <p:nvPr/>
        </p:nvSpPr>
        <p:spPr>
          <a:xfrm>
            <a:off x="814388" y="3581363"/>
            <a:ext cx="817290" cy="150019"/>
          </a:xfrm>
          <a:prstGeom prst="rect">
            <a:avLst/>
          </a:prstGeom>
          <a:noFill/>
          <a:ln/>
        </p:spPr>
        <p:txBody>
          <a:bodyPr wrap="none" lIns="0" tIns="0" rIns="0" bIns="0" rtlCol="0" anchor="ctr"/>
          <a:lstStyle/>
          <a:p>
            <a:pPr algn="ctr" indent="0" marL="0">
              <a:lnSpc>
                <a:spcPts val="844"/>
              </a:lnSpc>
              <a:buNone/>
            </a:pPr>
            <a:r>
              <a:rPr lang="en-US" sz="800" spc="90" kern="0" dirty="0">
                <a:solidFill>
                  <a:srgbClr val="8AB4FF"/>
                </a:solidFill>
                <a:latin typeface="Courier New" pitchFamily="34" charset="0"/>
                <a:ea typeface="Courier New" pitchFamily="34" charset="-122"/>
                <a:cs typeface="Courier New" pitchFamily="34" charset="-120"/>
              </a:rPr>
              <a:t>CODE · AGENT.PY</a:t>
            </a:r>
            <a:endParaRPr lang="en-US" sz="800" dirty="0"/>
          </a:p>
        </p:txBody>
      </p:sp>
      <p:sp>
        <p:nvSpPr>
          <p:cNvPr id="19" name="Text 17"/>
          <p:cNvSpPr/>
          <p:nvPr/>
        </p:nvSpPr>
        <p:spPr>
          <a:xfrm>
            <a:off x="814388" y="3774244"/>
            <a:ext cx="4914146" cy="127945"/>
          </a:xfrm>
          <a:prstGeom prst="rect">
            <a:avLst/>
          </a:prstGeom>
          <a:noFill/>
          <a:ln/>
        </p:spPr>
        <p:txBody>
          <a:bodyPr wrap="none" lIns="0" tIns="0" rIns="0" bIns="0" rtlCol="0" anchor="t">
            <a:normAutofit/>
          </a:bodyPr>
          <a:lstStyle/>
          <a:p>
            <a:pPr algn="l" indent="0" marL="0">
              <a:lnSpc>
                <a:spcPts val="886"/>
              </a:lnSpc>
              <a:buNone/>
            </a:pPr>
            <a:r>
              <a:rPr lang="en-US" sz="800" spc="130" kern="0" dirty="0">
                <a:solidFill>
                  <a:srgbClr val="8AB4FF"/>
                </a:solidFill>
                <a:latin typeface="Courier New" pitchFamily="34" charset="0"/>
                <a:ea typeface="Courier New" pitchFamily="34" charset="-122"/>
                <a:cs typeface="Courier New" pitchFamily="34" charset="-120"/>
              </a:rPr>
              <a:t>LIVES IN CODE</a:t>
            </a:r>
            <a:endParaRPr lang="en-US" sz="800" dirty="0"/>
          </a:p>
        </p:txBody>
      </p:sp>
      <p:sp>
        <p:nvSpPr>
          <p:cNvPr id="20" name="Text 18"/>
          <p:cNvSpPr/>
          <p:nvPr/>
        </p:nvSpPr>
        <p:spPr>
          <a:xfrm>
            <a:off x="814388" y="3929621"/>
            <a:ext cx="3682603" cy="771525"/>
          </a:xfrm>
          <a:prstGeom prst="rect">
            <a:avLst/>
          </a:prstGeom>
          <a:noFill/>
          <a:ln/>
        </p:spPr>
        <p:txBody>
          <a:bodyPr wrap="square" lIns="0" tIns="0" rIns="0" bIns="0" rtlCol="0" anchor="t"/>
          <a:lstStyle/>
          <a:p>
            <a:pPr algn="l" indent="0" marL="0">
              <a:lnSpc>
                <a:spcPts val="1013"/>
              </a:lnSpc>
              <a:buNone/>
            </a:pPr>
            <a:r>
              <a:rPr lang="en-US" sz="800" dirty="0">
                <a:solidFill>
                  <a:srgbClr val="8AB4FF"/>
                </a:solidFill>
                <a:latin typeface="Courier New" pitchFamily="34" charset="0"/>
                <a:ea typeface="Courier New" pitchFamily="34" charset="-122"/>
                <a:cs typeface="Courier New" pitchFamily="34" charset="-120"/>
              </a:rPr>
              <a:t>pr_tools</a:t>
            </a:r>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 = </a:t>
            </a:r>
            <a:pPr algn="l" indent="0" marL="0">
              <a:lnSpc>
                <a:spcPts val="1013"/>
              </a:lnSpc>
              <a:buNone/>
            </a:pPr>
            <a:r>
              <a:rPr lang="en-US" sz="800" dirty="0">
                <a:solidFill>
                  <a:srgbClr val="F4F4F5"/>
                </a:solidFill>
                <a:latin typeface="Courier New" pitchFamily="34" charset="0"/>
                <a:ea typeface="Courier New" pitchFamily="34" charset="-122"/>
                <a:cs typeface="Courier New" pitchFamily="34" charset="-120"/>
              </a:rPr>
              <a:t>create_sdk_mcp_server</a:t>
            </a:r>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a:t>
            </a:r>
            <a:endParaRPr lang="en-US" sz="800" dirty="0"/>
          </a:p>
          <a:p>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name=</a:t>
            </a:r>
            <a:pPr algn="l" indent="0" marL="0">
              <a:lnSpc>
                <a:spcPts val="1013"/>
              </a:lnSpc>
              <a:buNone/>
            </a:pPr>
            <a:r>
              <a:rPr lang="en-US" sz="800" dirty="0">
                <a:solidFill>
                  <a:srgbClr val="F4F4F5"/>
                </a:solidFill>
                <a:latin typeface="Courier New" pitchFamily="34" charset="0"/>
                <a:ea typeface="Courier New" pitchFamily="34" charset="-122"/>
                <a:cs typeface="Courier New" pitchFamily="34" charset="-120"/>
              </a:rPr>
              <a:t>"pr_tools"</a:t>
            </a:r>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a:t>
            </a:r>
            <a:endParaRPr lang="en-US" sz="800" dirty="0"/>
          </a:p>
          <a:p>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tools=[check_docstrings, ...],</a:t>
            </a:r>
            <a:endParaRPr lang="en-US" sz="800" dirty="0"/>
          </a:p>
          <a:p>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a:t>
            </a:r>
            <a:endParaRPr lang="en-US" sz="800" dirty="0"/>
          </a:p>
          <a:p>
            <a:pPr algn="l" indent="0" marL="0">
              <a:lnSpc>
                <a:spcPts val="1013"/>
              </a:lnSpc>
              <a:buNone/>
            </a:pPr>
            <a:r>
              <a:rPr lang="en-US" sz="800" dirty="0">
                <a:solidFill>
                  <a:srgbClr val="71717A"/>
                </a:solidFill>
                <a:latin typeface="Courier New" pitchFamily="34" charset="0"/>
                <a:ea typeface="Courier New" pitchFamily="34" charset="-122"/>
                <a:cs typeface="Courier New" pitchFamily="34" charset="-120"/>
              </a:rPr>
              <a:t># a live Python object —</a:t>
            </a:r>
            <a:endParaRPr lang="en-US" sz="800" dirty="0"/>
          </a:p>
          <a:p>
            <a:pPr algn="l" indent="0" marL="0">
              <a:lnSpc>
                <a:spcPts val="1013"/>
              </a:lnSpc>
              <a:buNone/>
            </a:pPr>
            <a:r>
              <a:rPr lang="en-US" sz="800" dirty="0">
                <a:solidFill>
                  <a:srgbClr val="71717A"/>
                </a:solidFill>
                <a:latin typeface="Courier New" pitchFamily="34" charset="0"/>
                <a:ea typeface="Courier New" pitchFamily="34" charset="-122"/>
                <a:cs typeface="Courier New" pitchFamily="34" charset="-120"/>
              </a:rPr>
              <a:t># JSON has no syntax for that</a:t>
            </a:r>
            <a:endParaRPr lang="en-US" sz="800" dirty="0"/>
          </a:p>
        </p:txBody>
      </p:sp>
      <p:sp>
        <p:nvSpPr>
          <p:cNvPr id="21" name="Text 19"/>
          <p:cNvSpPr/>
          <p:nvPr/>
        </p:nvSpPr>
        <p:spPr>
          <a:xfrm>
            <a:off x="4645581" y="3572362"/>
            <a:ext cx="910114" cy="168021"/>
          </a:xfrm>
          <a:prstGeom prst="roundRect">
            <a:avLst>
              <a:gd name="adj" fmla="val 17007"/>
            </a:avLst>
          </a:prstGeom>
          <a:solidFill>
            <a:srgbClr val="FF7A1A">
              <a:alpha val="8000"/>
            </a:srgbClr>
          </a:solidFill>
          <a:ln w="7144">
            <a:solidFill>
              <a:srgbClr val="FF7A1A"/>
            </a:solidFill>
            <a:prstDash val="solid"/>
          </a:ln>
        </p:spPr>
        <p:txBody>
          <a:bodyPr wrap="square" rtlCol="0" anchor="ctr"/>
          <a:lstStyle/>
          <a:p>
            <a:pPr indent="0" marL="0">
              <a:buNone/>
            </a:pPr>
            <a:endParaRPr lang="en-US" dirty="0"/>
          </a:p>
        </p:txBody>
      </p:sp>
      <p:sp>
        <p:nvSpPr>
          <p:cNvPr id="22" name="Text 20"/>
          <p:cNvSpPr/>
          <p:nvPr/>
        </p:nvSpPr>
        <p:spPr>
          <a:xfrm>
            <a:off x="4668441" y="3581363"/>
            <a:ext cx="864394" cy="150019"/>
          </a:xfrm>
          <a:prstGeom prst="rect">
            <a:avLst/>
          </a:prstGeom>
          <a:noFill/>
          <a:ln/>
        </p:spPr>
        <p:txBody>
          <a:bodyPr wrap="none" lIns="0" tIns="0" rIns="0" bIns="0" rtlCol="0" anchor="ctr"/>
          <a:lstStyle/>
          <a:p>
            <a:pPr algn="ctr" indent="0" marL="0">
              <a:lnSpc>
                <a:spcPts val="844"/>
              </a:lnSpc>
              <a:buNone/>
            </a:pPr>
            <a:r>
              <a:rPr lang="en-US" sz="800" spc="90" kern="0" dirty="0">
                <a:solidFill>
                  <a:srgbClr val="FF7A1A"/>
                </a:solidFill>
                <a:latin typeface="Courier New" pitchFamily="34" charset="0"/>
                <a:ea typeface="Courier New" pitchFamily="34" charset="-122"/>
                <a:cs typeface="Courier New" pitchFamily="34" charset="-120"/>
              </a:rPr>
              <a:t>JSON · .MCP.JSON</a:t>
            </a:r>
            <a:endParaRPr lang="en-US" sz="800" dirty="0"/>
          </a:p>
        </p:txBody>
      </p:sp>
      <p:sp>
        <p:nvSpPr>
          <p:cNvPr id="23" name="Text 21"/>
          <p:cNvSpPr/>
          <p:nvPr/>
        </p:nvSpPr>
        <p:spPr>
          <a:xfrm>
            <a:off x="4668441" y="3774244"/>
            <a:ext cx="3682603" cy="127945"/>
          </a:xfrm>
          <a:prstGeom prst="rect">
            <a:avLst/>
          </a:prstGeom>
          <a:noFill/>
          <a:ln/>
        </p:spPr>
        <p:txBody>
          <a:bodyPr wrap="none" lIns="0" tIns="0" rIns="0" bIns="0" rtlCol="0" anchor="t">
            <a:normAutofit/>
          </a:bodyPr>
          <a:lstStyle/>
          <a:p>
            <a:pPr algn="l" indent="0" marL="0">
              <a:lnSpc>
                <a:spcPts val="886"/>
              </a:lnSpc>
              <a:buNone/>
            </a:pPr>
            <a:r>
              <a:rPr lang="en-US" sz="800" spc="130" kern="0" dirty="0">
                <a:solidFill>
                  <a:srgbClr val="FF7A1A"/>
                </a:solidFill>
                <a:latin typeface="Courier New" pitchFamily="34" charset="0"/>
                <a:ea typeface="Courier New" pitchFamily="34" charset="-122"/>
                <a:cs typeface="Courier New" pitchFamily="34" charset="-120"/>
              </a:rPr>
              <a:t>LIVES IN JSON</a:t>
            </a:r>
            <a:endParaRPr lang="en-US" sz="800" dirty="0"/>
          </a:p>
        </p:txBody>
      </p:sp>
      <p:sp>
        <p:nvSpPr>
          <p:cNvPr id="24" name="Text 22"/>
          <p:cNvSpPr/>
          <p:nvPr/>
        </p:nvSpPr>
        <p:spPr>
          <a:xfrm>
            <a:off x="4668441" y="3929621"/>
            <a:ext cx="3682603" cy="771525"/>
          </a:xfrm>
          <a:prstGeom prst="rect">
            <a:avLst/>
          </a:prstGeom>
          <a:noFill/>
          <a:ln/>
        </p:spPr>
        <p:txBody>
          <a:bodyPr wrap="square" lIns="0" tIns="0" rIns="0" bIns="0" rtlCol="0" anchor="t"/>
          <a:lstStyle/>
          <a:p>
            <a:pPr algn="l" indent="0" marL="0">
              <a:lnSpc>
                <a:spcPts val="1013"/>
              </a:lnSpc>
              <a:buNone/>
            </a:pPr>
            <a:r>
              <a:rPr lang="en-US" sz="800" dirty="0">
                <a:solidFill>
                  <a:srgbClr val="FF7A1A"/>
                </a:solidFill>
                <a:latin typeface="Courier New" pitchFamily="34" charset="0"/>
                <a:ea typeface="Courier New" pitchFamily="34" charset="-122"/>
                <a:cs typeface="Courier New" pitchFamily="34" charset="-120"/>
              </a:rPr>
              <a:t>"github"</a:t>
            </a:r>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 {</a:t>
            </a:r>
            <a:endParaRPr lang="en-US" sz="800" dirty="0"/>
          </a:p>
          <a:p>
            <a:pPr algn="l" indent="0" marL="0">
              <a:lnSpc>
                <a:spcPts val="1013"/>
              </a:lnSpc>
              <a:buNone/>
            </a:pPr>
            <a:r>
              <a:rPr lang="en-US" sz="800" dirty="0">
                <a:solidFill>
                  <a:srgbClr val="F4F4F5"/>
                </a:solidFill>
                <a:latin typeface="Courier New" pitchFamily="34" charset="0"/>
                <a:ea typeface="Courier New" pitchFamily="34" charset="-122"/>
                <a:cs typeface="Courier New" pitchFamily="34" charset="-120"/>
              </a:rPr>
              <a:t>"type"</a:t>
            </a:r>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 </a:t>
            </a:r>
            <a:pPr algn="l" indent="0" marL="0">
              <a:lnSpc>
                <a:spcPts val="1013"/>
              </a:lnSpc>
              <a:buNone/>
            </a:pPr>
            <a:r>
              <a:rPr lang="en-US" sz="800" dirty="0">
                <a:solidFill>
                  <a:srgbClr val="FF7A1A"/>
                </a:solidFill>
                <a:latin typeface="Courier New" pitchFamily="34" charset="0"/>
                <a:ea typeface="Courier New" pitchFamily="34" charset="-122"/>
                <a:cs typeface="Courier New" pitchFamily="34" charset="-120"/>
              </a:rPr>
              <a:t>"http"</a:t>
            </a:r>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a:t>
            </a:r>
            <a:endParaRPr lang="en-US" sz="800" dirty="0"/>
          </a:p>
          <a:p>
            <a:pPr algn="l" indent="0" marL="0">
              <a:lnSpc>
                <a:spcPts val="1013"/>
              </a:lnSpc>
              <a:buNone/>
            </a:pPr>
            <a:r>
              <a:rPr lang="en-US" sz="800" dirty="0">
                <a:solidFill>
                  <a:srgbClr val="F4F4F5"/>
                </a:solidFill>
                <a:latin typeface="Courier New" pitchFamily="34" charset="0"/>
                <a:ea typeface="Courier New" pitchFamily="34" charset="-122"/>
                <a:cs typeface="Courier New" pitchFamily="34" charset="-120"/>
              </a:rPr>
              <a:t>"url"</a:t>
            </a:r>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 </a:t>
            </a:r>
            <a:pPr algn="l" indent="0" marL="0">
              <a:lnSpc>
                <a:spcPts val="1013"/>
              </a:lnSpc>
              <a:buNone/>
            </a:pPr>
            <a:r>
              <a:rPr lang="en-US" sz="800" dirty="0">
                <a:solidFill>
                  <a:srgbClr val="FF7A1A"/>
                </a:solidFill>
                <a:latin typeface="Courier New" pitchFamily="34" charset="0"/>
                <a:ea typeface="Courier New" pitchFamily="34" charset="-122"/>
                <a:cs typeface="Courier New" pitchFamily="34" charset="-120"/>
              </a:rPr>
              <a:t>"https://..."</a:t>
            </a:r>
            <a:endParaRPr lang="en-US" sz="800" dirty="0"/>
          </a:p>
          <a:p>
            <a:pPr algn="l" indent="0" marL="0">
              <a:lnSpc>
                <a:spcPts val="1013"/>
              </a:lnSpc>
              <a:buNone/>
            </a:pPr>
            <a:r>
              <a:rPr lang="en-US" sz="800" dirty="0">
                <a:solidFill>
                  <a:srgbClr val="A1A1AA"/>
                </a:solidFill>
                <a:latin typeface="Courier New" pitchFamily="34" charset="0"/>
                <a:ea typeface="Courier New" pitchFamily="34" charset="-122"/>
                <a:cs typeface="Courier New" pitchFamily="34" charset="-120"/>
              </a:rPr>
              <a:t>}</a:t>
            </a:r>
            <a:endParaRPr lang="en-US" sz="800" dirty="0"/>
          </a:p>
          <a:p>
            <a:pPr algn="l" indent="0" marL="0">
              <a:lnSpc>
                <a:spcPts val="1013"/>
              </a:lnSpc>
              <a:buNone/>
            </a:pPr>
            <a:r>
              <a:rPr lang="en-US" sz="800" dirty="0">
                <a:solidFill>
                  <a:srgbClr val="71717A"/>
                </a:solidFill>
                <a:latin typeface="Courier New" pitchFamily="34" charset="0"/>
                <a:ea typeface="Courier New" pitchFamily="34" charset="-122"/>
                <a:cs typeface="Courier New" pitchFamily="34" charset="-120"/>
              </a:rPr>
              <a:t># just strings and numbers —</a:t>
            </a:r>
            <a:endParaRPr lang="en-US" sz="800" dirty="0"/>
          </a:p>
          <a:p>
            <a:pPr algn="l" indent="0" marL="0">
              <a:lnSpc>
                <a:spcPts val="1013"/>
              </a:lnSpc>
              <a:buNone/>
            </a:pPr>
            <a:r>
              <a:rPr lang="en-US" sz="800" dirty="0">
                <a:solidFill>
                  <a:srgbClr val="71717A"/>
                </a:solidFill>
                <a:latin typeface="Courier New" pitchFamily="34" charset="0"/>
                <a:ea typeface="Courier New" pitchFamily="34" charset="-122"/>
                <a:cs typeface="Courier New" pitchFamily="34" charset="-120"/>
              </a:rPr>
              <a:t># easy to read, diff, share</a:t>
            </a:r>
            <a:endParaRPr lang="en-US" sz="800" dirty="0"/>
          </a:p>
        </p:txBody>
      </p:sp>
      <p:sp>
        <p:nvSpPr>
          <p:cNvPr id="25" name="Text 23"/>
          <p:cNvSpPr/>
          <p:nvPr/>
        </p:nvSpPr>
        <p:spPr>
          <a:xfrm>
            <a:off x="514350" y="4868466"/>
            <a:ext cx="5891361"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EP09 · MCP IN THE REAL WORLD</a:t>
            </a:r>
            <a:endParaRPr lang="en-US" sz="800" dirty="0"/>
          </a:p>
        </p:txBody>
      </p:sp>
      <p:sp>
        <p:nvSpPr>
          <p:cNvPr id="26" name="Text 24"/>
          <p:cNvSpPr/>
          <p:nvPr/>
        </p:nvSpPr>
        <p:spPr>
          <a:xfrm>
            <a:off x="6419999" y="4868466"/>
            <a:ext cx="2554191" cy="164592"/>
          </a:xfrm>
          <a:prstGeom prst="rect">
            <a:avLst/>
          </a:prstGeom>
          <a:noFill/>
          <a:ln/>
        </p:spPr>
        <p:txBody>
          <a:bodyPr wrap="square" lIns="0" tIns="0" rIns="0" bIns="0" rtlCol="0" anchor="t"/>
          <a:lstStyle/>
          <a:p>
            <a:pPr algn="l" indent="0" marL="0">
              <a:lnSpc>
                <a:spcPts val="928"/>
              </a:lnSpc>
              <a:buNone/>
            </a:pPr>
            <a:r>
              <a:rPr lang="en-US" sz="800" spc="99" kern="0" dirty="0">
                <a:solidFill>
                  <a:srgbClr val="71717A"/>
                </a:solidFill>
                <a:latin typeface="Courier New" pitchFamily="34" charset="0"/>
                <a:ea typeface="Courier New" pitchFamily="34" charset="-122"/>
                <a:cs typeface="Courier New" pitchFamily="34" charset="-120"/>
              </a:rPr>
              <a:t>RULE OF THUMB · </a:t>
            </a:r>
            <a:pPr algn="l" indent="0" marL="0">
              <a:lnSpc>
                <a:spcPts val="928"/>
              </a:lnSpc>
              <a:buNone/>
            </a:pPr>
            <a:r>
              <a:rPr lang="en-US" sz="800" spc="99" kern="0" dirty="0">
                <a:solidFill>
                  <a:srgbClr val="FF7A1A"/>
                </a:solidFill>
                <a:latin typeface="Courier New" pitchFamily="34" charset="0"/>
                <a:ea typeface="Courier New" pitchFamily="34" charset="-122"/>
                <a:cs typeface="Courier New" pitchFamily="34" charset="-120"/>
              </a:rPr>
              <a:t>CODE OR JSON — NEVER BOTH</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257175" y="200025"/>
            <a:ext cx="2232705"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71717A"/>
                </a:solidFill>
                <a:latin typeface="Liberation Sans Narrow" pitchFamily="34" charset="0"/>
                <a:ea typeface="Liberation Sans Narrow" pitchFamily="34" charset="-122"/>
                <a:cs typeface="Liberation Sans Narrow" pitchFamily="34" charset="-120"/>
              </a:rPr>
              <a:t>EP09 </a:t>
            </a:r>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a:t>
            </a:r>
            <a:pPr algn="l" indent="0" marL="0">
              <a:lnSpc>
                <a:spcPts val="928"/>
              </a:lnSpc>
              <a:buNone/>
            </a:pPr>
            <a:r>
              <a:rPr lang="en-US" sz="800" spc="173" kern="0" dirty="0">
                <a:solidFill>
                  <a:srgbClr val="71717A"/>
                </a:solidFill>
                <a:latin typeface="Courier New" pitchFamily="34" charset="0"/>
                <a:ea typeface="Courier New" pitchFamily="34" charset="-122"/>
                <a:cs typeface="Courier New" pitchFamily="34" charset="-120"/>
              </a:rPr>
              <a:t> MCP IN THE REAL WORLD</a:t>
            </a:r>
            <a:endParaRPr lang="en-US" sz="800" dirty="0"/>
          </a:p>
        </p:txBody>
      </p:sp>
      <p:sp>
        <p:nvSpPr>
          <p:cNvPr id="3" name="Text 1"/>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25 / 30</a:t>
            </a:r>
            <a:endParaRPr lang="en-US" sz="800" dirty="0"/>
          </a:p>
        </p:txBody>
      </p:sp>
      <p:sp>
        <p:nvSpPr>
          <p:cNvPr id="4" name="Text 2"/>
          <p:cNvSpPr/>
          <p:nvPr/>
        </p:nvSpPr>
        <p:spPr>
          <a:xfrm>
            <a:off x="4999025" y="3500438"/>
            <a:ext cx="4144975" cy="1643063"/>
          </a:xfrm>
          <a:prstGeom prst="rect">
            <a:avLst/>
          </a:prstGeom>
          <a:noFill/>
          <a:ln/>
        </p:spPr>
        <p:txBody>
          <a:bodyPr wrap="square" lIns="0" tIns="0" rIns="0" bIns="0" rtlCol="0" anchor="t"/>
          <a:lstStyle/>
          <a:p>
            <a:pPr algn="l" indent="0" marL="0">
              <a:lnSpc>
                <a:spcPts val="18000"/>
              </a:lnSpc>
              <a:buNone/>
            </a:pPr>
            <a:r>
              <a:rPr lang="en-US" sz="18000" b="1" dirty="0">
                <a:solidFill>
                  <a:srgbClr val="FF7A1A">
                    <a:alpha val="4000"/>
                  </a:srgbClr>
                </a:solidFill>
                <a:latin typeface="Liberation Sans Narrow" pitchFamily="34" charset="0"/>
                <a:ea typeface="Liberation Sans Narrow" pitchFamily="34" charset="-122"/>
                <a:cs typeface="Liberation Sans Narrow" pitchFamily="34" charset="-120"/>
              </a:rPr>
              <a:t>25</a:t>
            </a:r>
            <a:endParaRPr lang="en-US" sz="18000" dirty="0"/>
          </a:p>
        </p:txBody>
      </p:sp>
      <p:sp>
        <p:nvSpPr>
          <p:cNvPr id="5" name="Text 3"/>
          <p:cNvSpPr/>
          <p:nvPr/>
        </p:nvSpPr>
        <p:spPr>
          <a:xfrm>
            <a:off x="514350" y="571500"/>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BONUS</a:t>
            </a:r>
            <a:endParaRPr lang="en-US" sz="800" dirty="0"/>
          </a:p>
        </p:txBody>
      </p:sp>
      <p:sp>
        <p:nvSpPr>
          <p:cNvPr id="6" name="Text 4"/>
          <p:cNvSpPr/>
          <p:nvPr/>
        </p:nvSpPr>
        <p:spPr>
          <a:xfrm>
            <a:off x="514350" y="789384"/>
            <a:ext cx="8629650" cy="373346"/>
          </a:xfrm>
          <a:prstGeom prst="rect">
            <a:avLst/>
          </a:prstGeom>
          <a:noFill/>
          <a:ln/>
        </p:spPr>
        <p:txBody>
          <a:bodyPr wrap="squar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Bonus Fact: </a:t>
            </a:r>
            <a:pPr algn="l" indent="0" marL="0">
              <a:lnSpc>
                <a:spcPts val="2723"/>
              </a:lnSpc>
              <a:buNone/>
            </a:pPr>
            <a:r>
              <a:rPr lang="en-US" sz="2475" b="1" spc="-49" kern="0" dirty="0">
                <a:solidFill>
                  <a:srgbClr val="FF7A1A"/>
                </a:solidFill>
                <a:latin typeface="Carlito" pitchFamily="34" charset="0"/>
                <a:ea typeface="Carlito" pitchFamily="34" charset="-122"/>
                <a:cs typeface="Carlito" pitchFamily="34" charset="-120"/>
              </a:rPr>
              <a:t>When A Tool Result Is Too Big</a:t>
            </a:r>
            <a:endParaRPr lang="en-US" sz="2475" dirty="0"/>
          </a:p>
        </p:txBody>
      </p:sp>
      <p:sp>
        <p:nvSpPr>
          <p:cNvPr id="7" name="Shape 5"/>
          <p:cNvSpPr/>
          <p:nvPr/>
        </p:nvSpPr>
        <p:spPr>
          <a:xfrm>
            <a:off x="514350" y="1317241"/>
            <a:ext cx="400050" cy="0"/>
          </a:xfrm>
          <a:prstGeom prst="line">
            <a:avLst/>
          </a:prstGeom>
          <a:noFill/>
          <a:ln w="7144">
            <a:solidFill>
              <a:srgbClr val="F4F4F5"/>
            </a:solidFill>
            <a:prstDash val="solid"/>
          </a:ln>
        </p:spPr>
      </p:sp>
      <p:sp>
        <p:nvSpPr>
          <p:cNvPr id="8" name="Text 6"/>
          <p:cNvSpPr/>
          <p:nvPr/>
        </p:nvSpPr>
        <p:spPr>
          <a:xfrm>
            <a:off x="514350" y="1527981"/>
            <a:ext cx="8115300" cy="840212"/>
          </a:xfrm>
          <a:prstGeom prst="rect">
            <a:avLst/>
          </a:prstGeom>
          <a:noFill/>
          <a:ln/>
        </p:spPr>
        <p:txBody>
          <a:bodyPr wrap="square" lIns="0" tIns="0" rIns="0" bIns="0" rtlCol="0" anchor="t"/>
          <a:lstStyle/>
          <a:p>
            <a:pPr algn="l" indent="0" marL="0">
              <a:lnSpc>
                <a:spcPts val="1308"/>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Tool results over 25,000 tokens get saved to a file automatically</a:t>
            </a:r>
            <a:endParaRPr lang="en-US" sz="872" dirty="0"/>
          </a:p>
          <a:p>
            <a:pPr algn="l" indent="0" marL="0">
              <a:lnSpc>
                <a:spcPts val="1308"/>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The model gets an error message naming the file path instead</a:t>
            </a:r>
            <a:endParaRPr lang="en-US" sz="872" dirty="0"/>
          </a:p>
          <a:p>
            <a:pPr algn="l" indent="0" marL="0">
              <a:lnSpc>
                <a:spcPts val="1308"/>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Raise the ceiling with the </a:t>
            </a:r>
            <a:pPr algn="l" indent="0" marL="0">
              <a:lnSpc>
                <a:spcPts val="1308"/>
              </a:lnSpc>
              <a:spcAft>
                <a:spcPts val="788"/>
              </a:spcAft>
              <a:buNone/>
            </a:pPr>
            <a:r>
              <a:rPr lang="en-US" sz="802" dirty="0">
                <a:solidFill>
                  <a:srgbClr val="FF7A1A"/>
                </a:solidFill>
                <a:highlight>
                  <a:srgbClr val="1D1D24"/>
                </a:highlight>
                <a:latin typeface="Courier New" pitchFamily="34" charset="0"/>
                <a:ea typeface="Courier New" pitchFamily="34" charset="-122"/>
                <a:cs typeface="Courier New" pitchFamily="34" charset="-120"/>
              </a:rPr>
              <a:t>MAX_MCP_OUTPUT_TOKENS</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 environment variable</a:t>
            </a:r>
            <a:endParaRPr lang="en-US" sz="872" dirty="0"/>
          </a:p>
        </p:txBody>
      </p:sp>
      <p:sp>
        <p:nvSpPr>
          <p:cNvPr id="9" name="Text 7"/>
          <p:cNvSpPr/>
          <p:nvPr/>
        </p:nvSpPr>
        <p:spPr>
          <a:xfrm>
            <a:off x="517922" y="2329867"/>
            <a:ext cx="3633825" cy="2410011"/>
          </a:xfrm>
          <a:prstGeom prst="roundRect">
            <a:avLst>
              <a:gd name="adj" fmla="val 4743"/>
            </a:avLst>
          </a:prstGeom>
          <a:solidFill>
            <a:srgbClr val="15151A"/>
          </a:solidFill>
          <a:ln w="7144">
            <a:solidFill>
              <a:srgbClr val="2A2A33"/>
            </a:solidFill>
            <a:prstDash val="solid"/>
          </a:ln>
        </p:spPr>
        <p:txBody>
          <a:bodyPr wrap="square" rtlCol="0" anchor="ctr"/>
          <a:lstStyle/>
          <a:p>
            <a:pPr indent="0" marL="0">
              <a:buNone/>
            </a:pPr>
            <a:endParaRPr lang="en-US" dirty="0"/>
          </a:p>
        </p:txBody>
      </p:sp>
      <p:sp>
        <p:nvSpPr>
          <p:cNvPr id="10" name="Text 8"/>
          <p:cNvSpPr/>
          <p:nvPr/>
        </p:nvSpPr>
        <p:spPr>
          <a:xfrm>
            <a:off x="721519" y="2519176"/>
            <a:ext cx="3226631" cy="164592"/>
          </a:xfrm>
          <a:prstGeom prst="rect">
            <a:avLst/>
          </a:prstGeom>
          <a:noFill/>
          <a:ln/>
        </p:spPr>
        <p:txBody>
          <a:bodyPr wrap="none" lIns="0" tIns="0" rIns="0" bIns="0" rtlCol="0" anchor="t"/>
          <a:lstStyle/>
          <a:p>
            <a:pPr algn="l" indent="0" marL="0">
              <a:lnSpc>
                <a:spcPts val="886"/>
              </a:lnSpc>
              <a:buNone/>
            </a:pPr>
            <a:r>
              <a:rPr lang="en-US" sz="800" spc="142" kern="0" dirty="0">
                <a:solidFill>
                  <a:srgbClr val="FF7A1A"/>
                </a:solidFill>
                <a:latin typeface="Courier New" pitchFamily="34" charset="0"/>
                <a:ea typeface="Courier New" pitchFamily="34" charset="-122"/>
                <a:cs typeface="Courier New" pitchFamily="34" charset="-120"/>
              </a:rPr>
              <a:t>AUTO-SPILL THRESHOLD</a:t>
            </a:r>
            <a:endParaRPr lang="en-US" sz="800" dirty="0"/>
          </a:p>
        </p:txBody>
      </p:sp>
      <p:sp>
        <p:nvSpPr>
          <p:cNvPr id="11" name="Text 9"/>
          <p:cNvSpPr/>
          <p:nvPr/>
        </p:nvSpPr>
        <p:spPr>
          <a:xfrm>
            <a:off x="551433" y="2731703"/>
            <a:ext cx="3566803" cy="776240"/>
          </a:xfrm>
          <a:prstGeom prst="rect">
            <a:avLst/>
          </a:prstGeom>
          <a:noFill/>
          <a:ln/>
        </p:spPr>
        <p:txBody>
          <a:bodyPr wrap="none" lIns="0" tIns="0" rIns="0" bIns="0" rtlCol="0" anchor="t">
            <a:normAutofit/>
          </a:bodyPr>
          <a:lstStyle/>
          <a:p>
            <a:pPr algn="l" indent="0" marL="0">
              <a:lnSpc>
                <a:spcPts val="5878"/>
              </a:lnSpc>
              <a:buNone/>
            </a:pPr>
            <a:r>
              <a:rPr lang="en-US" sz="6188" b="1" spc="-247" kern="0" dirty="0">
                <a:solidFill>
                  <a:srgbClr val="FF7A1A"/>
                </a:solidFill>
                <a:latin typeface="Liberation Sans Narrow" pitchFamily="34" charset="0"/>
                <a:ea typeface="Liberation Sans Narrow" pitchFamily="34" charset="-122"/>
                <a:cs typeface="Liberation Sans Narrow" pitchFamily="34" charset="-120"/>
              </a:rPr>
              <a:t>25,000</a:t>
            </a:r>
            <a:endParaRPr lang="en-US" sz="6188" dirty="0"/>
          </a:p>
        </p:txBody>
      </p:sp>
      <p:sp>
        <p:nvSpPr>
          <p:cNvPr id="12" name="Text 10"/>
          <p:cNvSpPr/>
          <p:nvPr/>
        </p:nvSpPr>
        <p:spPr>
          <a:xfrm>
            <a:off x="721519" y="3535375"/>
            <a:ext cx="3226631" cy="208312"/>
          </a:xfrm>
          <a:prstGeom prst="rect">
            <a:avLst/>
          </a:prstGeom>
          <a:noFill/>
          <a:ln/>
        </p:spPr>
        <p:txBody>
          <a:bodyPr wrap="none" lIns="0" tIns="0" rIns="0" bIns="0" rtlCol="0" anchor="t"/>
          <a:lstStyle/>
          <a:p>
            <a:pPr algn="l" indent="0" marL="0">
              <a:lnSpc>
                <a:spcPts val="1519"/>
              </a:lnSpc>
              <a:buNone/>
            </a:pPr>
            <a:r>
              <a:rPr lang="en-US" sz="1013" dirty="0">
                <a:solidFill>
                  <a:srgbClr val="F4F4F5"/>
                </a:solidFill>
                <a:latin typeface="Courier New" pitchFamily="34" charset="0"/>
                <a:ea typeface="Courier New" pitchFamily="34" charset="-122"/>
                <a:cs typeface="Courier New" pitchFamily="34" charset="-120"/>
              </a:rPr>
              <a:t>tokens · per tool result</a:t>
            </a:r>
            <a:endParaRPr lang="en-US" sz="1013" dirty="0"/>
          </a:p>
        </p:txBody>
      </p:sp>
      <p:sp>
        <p:nvSpPr>
          <p:cNvPr id="13" name="Text 11"/>
          <p:cNvSpPr/>
          <p:nvPr/>
        </p:nvSpPr>
        <p:spPr>
          <a:xfrm>
            <a:off x="721519" y="3856844"/>
            <a:ext cx="3226631" cy="7144"/>
          </a:xfrm>
          <a:prstGeom prst="rect">
            <a:avLst/>
          </a:prstGeom>
          <a:solidFill>
            <a:srgbClr val="2A2A33"/>
          </a:solidFill>
          <a:ln/>
        </p:spPr>
        <p:txBody>
          <a:bodyPr wrap="square" rtlCol="0" anchor="ctr"/>
          <a:lstStyle/>
          <a:p>
            <a:pPr indent="0" marL="0">
              <a:buNone/>
            </a:pPr>
            <a:endParaRPr lang="en-US" dirty="0"/>
          </a:p>
        </p:txBody>
      </p:sp>
      <p:sp>
        <p:nvSpPr>
          <p:cNvPr id="14" name="Text 12"/>
          <p:cNvSpPr/>
          <p:nvPr/>
        </p:nvSpPr>
        <p:spPr>
          <a:xfrm>
            <a:off x="721519" y="3992575"/>
            <a:ext cx="3226631" cy="510235"/>
          </a:xfrm>
          <a:prstGeom prst="rect">
            <a:avLst/>
          </a:prstGeom>
          <a:noFill/>
          <a:ln/>
        </p:spPr>
        <p:txBody>
          <a:bodyPr wrap="square" lIns="0" tIns="0" rIns="0" bIns="0" rtlCol="0" anchor="t"/>
          <a:lstStyle/>
          <a:p>
            <a:pPr algn="l" indent="0" marL="0">
              <a:lnSpc>
                <a:spcPts val="1090"/>
              </a:lnSpc>
              <a:buNone/>
            </a:pPr>
            <a:r>
              <a:rPr lang="en-US" sz="800" dirty="0">
                <a:solidFill>
                  <a:srgbClr val="A1A1AA"/>
                </a:solidFill>
                <a:latin typeface="Courier New" pitchFamily="34" charset="0"/>
                <a:ea typeface="Courier New" pitchFamily="34" charset="-122"/>
                <a:cs typeface="Courier New" pitchFamily="34" charset="-120"/>
              </a:rPr>
              <a:t>Above this, the SDK writes the full output to </a:t>
            </a:r>
            <a:pPr algn="l" indent="0" marL="0">
              <a:lnSpc>
                <a:spcPts val="1090"/>
              </a:lnSpc>
              <a:buNone/>
            </a:pPr>
            <a:r>
              <a:rPr lang="en-US" sz="800" dirty="0">
                <a:solidFill>
                  <a:srgbClr val="FF7A1A"/>
                </a:solidFill>
                <a:latin typeface="Courier New" pitchFamily="34" charset="0"/>
                <a:ea typeface="Courier New" pitchFamily="34" charset="-122"/>
                <a:cs typeface="Courier New" pitchFamily="34" charset="-120"/>
              </a:rPr>
              <a:t>disk</a:t>
            </a:r>
            <a:pPr algn="l" indent="0" marL="0">
              <a:lnSpc>
                <a:spcPts val="1090"/>
              </a:lnSpc>
              <a:buNone/>
            </a:pPr>
            <a:r>
              <a:rPr lang="en-US" sz="800" dirty="0">
                <a:solidFill>
                  <a:srgbClr val="A1A1AA"/>
                </a:solidFill>
                <a:latin typeface="Courier New" pitchFamily="34" charset="0"/>
                <a:ea typeface="Courier New" pitchFamily="34" charset="-122"/>
                <a:cs typeface="Courier New" pitchFamily="34" charset="-120"/>
              </a:rPr>
              <a:t> and hands the model back a short message </a:t>
            </a:r>
            <a:pPr algn="l" indent="0" marL="0">
              <a:lnSpc>
                <a:spcPts val="1090"/>
              </a:lnSpc>
              <a:buNone/>
            </a:pPr>
            <a:r>
              <a:rPr lang="en-US" sz="800" dirty="0">
                <a:solidFill>
                  <a:srgbClr val="FF7A1A"/>
                </a:solidFill>
                <a:latin typeface="Courier New" pitchFamily="34" charset="0"/>
                <a:ea typeface="Courier New" pitchFamily="34" charset="-122"/>
                <a:cs typeface="Courier New" pitchFamily="34" charset="-120"/>
              </a:rPr>
              <a:t>naming the file path</a:t>
            </a:r>
            <a:pPr algn="l" indent="0" marL="0">
              <a:lnSpc>
                <a:spcPts val="1090"/>
              </a:lnSpc>
              <a:buNone/>
            </a:pPr>
            <a:r>
              <a:rPr lang="en-US" sz="800" dirty="0">
                <a:solidFill>
                  <a:srgbClr val="A1A1AA"/>
                </a:solidFill>
                <a:latin typeface="Courier New" pitchFamily="34" charset="0"/>
                <a:ea typeface="Courier New" pitchFamily="34" charset="-122"/>
                <a:cs typeface="Courier New" pitchFamily="34" charset="-120"/>
              </a:rPr>
              <a:t> instead — so the agent can read it back in portions if it needs to.</a:t>
            </a:r>
            <a:endParaRPr lang="en-US" sz="800" dirty="0"/>
          </a:p>
        </p:txBody>
      </p:sp>
      <p:sp>
        <p:nvSpPr>
          <p:cNvPr id="15" name="Text 13"/>
          <p:cNvSpPr/>
          <p:nvPr/>
        </p:nvSpPr>
        <p:spPr>
          <a:xfrm>
            <a:off x="2205703" y="3486150"/>
            <a:ext cx="2363324" cy="1064419"/>
          </a:xfrm>
          <a:prstGeom prst="rect">
            <a:avLst/>
          </a:prstGeom>
          <a:noFill/>
          <a:ln/>
        </p:spPr>
        <p:txBody>
          <a:bodyPr wrap="square" lIns="0" tIns="0" rIns="0" bIns="0" rtlCol="0" anchor="t"/>
          <a:lstStyle/>
          <a:p>
            <a:pPr algn="l" indent="0" marL="0">
              <a:lnSpc>
                <a:spcPts val="10969"/>
              </a:lnSpc>
              <a:buNone/>
            </a:pPr>
            <a:r>
              <a:rPr lang="en-US" sz="7313" b="1" dirty="0">
                <a:solidFill>
                  <a:srgbClr val="FF7A1A">
                    <a:alpha val="4000"/>
                  </a:srgbClr>
                </a:solidFill>
                <a:latin typeface="Liberation Sans Narrow" pitchFamily="34" charset="0"/>
                <a:ea typeface="Liberation Sans Narrow" pitchFamily="34" charset="-122"/>
                <a:cs typeface="Liberation Sans Narrow" pitchFamily="34" charset="-120"/>
              </a:rPr>
              <a:t>25K</a:t>
            </a:r>
            <a:endParaRPr lang="en-US" sz="7313" dirty="0"/>
          </a:p>
        </p:txBody>
      </p:sp>
      <p:sp>
        <p:nvSpPr>
          <p:cNvPr id="16" name="Text 14"/>
          <p:cNvSpPr/>
          <p:nvPr/>
        </p:nvSpPr>
        <p:spPr>
          <a:xfrm>
            <a:off x="4355343" y="2326295"/>
            <a:ext cx="4274307" cy="695734"/>
          </a:xfrm>
          <a:prstGeom prst="rect">
            <a:avLst/>
          </a:prstGeom>
          <a:solidFill>
            <a:srgbClr val="15151A"/>
          </a:solidFill>
          <a:ln/>
        </p:spPr>
        <p:txBody>
          <a:bodyPr wrap="square" rtlCol="0" anchor="ctr"/>
          <a:lstStyle/>
          <a:p>
            <a:pPr indent="0" marL="0">
              <a:buNone/>
            </a:pPr>
            <a:endParaRPr lang="en-US" dirty="0"/>
          </a:p>
        </p:txBody>
      </p:sp>
      <p:sp>
        <p:nvSpPr>
          <p:cNvPr id="17" name="Shape 15"/>
          <p:cNvSpPr/>
          <p:nvPr/>
        </p:nvSpPr>
        <p:spPr>
          <a:xfrm>
            <a:off x="4366059" y="2326295"/>
            <a:ext cx="0" cy="695734"/>
          </a:xfrm>
          <a:prstGeom prst="line">
            <a:avLst/>
          </a:prstGeom>
          <a:noFill/>
          <a:ln w="21431">
            <a:solidFill>
              <a:srgbClr val="FF7A1A"/>
            </a:solidFill>
            <a:prstDash val="solid"/>
          </a:ln>
        </p:spPr>
      </p:sp>
      <p:sp>
        <p:nvSpPr>
          <p:cNvPr id="18" name="Text 16"/>
          <p:cNvSpPr/>
          <p:nvPr/>
        </p:nvSpPr>
        <p:spPr>
          <a:xfrm>
            <a:off x="4519650" y="2440595"/>
            <a:ext cx="3967125" cy="127945"/>
          </a:xfrm>
          <a:prstGeom prst="rect">
            <a:avLst/>
          </a:prstGeom>
          <a:noFill/>
          <a:ln/>
        </p:spPr>
        <p:txBody>
          <a:bodyPr wrap="none" lIns="0" tIns="0" rIns="0" bIns="0" rtlCol="0" anchor="t">
            <a:normAutofit/>
          </a:bodyPr>
          <a:lstStyle/>
          <a:p>
            <a:pPr algn="l" indent="0" marL="0">
              <a:lnSpc>
                <a:spcPts val="886"/>
              </a:lnSpc>
              <a:buNone/>
            </a:pPr>
            <a:r>
              <a:rPr lang="en-US" sz="800" spc="142" kern="0" dirty="0">
                <a:solidFill>
                  <a:srgbClr val="FF7A1A"/>
                </a:solidFill>
                <a:latin typeface="Courier New" pitchFamily="34" charset="0"/>
                <a:ea typeface="Courier New" pitchFamily="34" charset="-122"/>
                <a:cs typeface="Courier New" pitchFamily="34" charset="-120"/>
              </a:rPr>
              <a:t>KEY FACT</a:t>
            </a:r>
            <a:endParaRPr lang="en-US" sz="800" dirty="0"/>
          </a:p>
        </p:txBody>
      </p:sp>
      <p:sp>
        <p:nvSpPr>
          <p:cNvPr id="19" name="Text 17"/>
          <p:cNvSpPr/>
          <p:nvPr/>
        </p:nvSpPr>
        <p:spPr>
          <a:xfrm>
            <a:off x="6257144" y="2758046"/>
            <a:ext cx="1065758" cy="142875"/>
          </a:xfrm>
          <a:prstGeom prst="roundRect">
            <a:avLst>
              <a:gd name="adj" fmla="val 26667"/>
            </a:avLst>
          </a:prstGeom>
          <a:solidFill>
            <a:srgbClr val="1D1D24"/>
          </a:solidFill>
          <a:ln/>
        </p:spPr>
        <p:txBody>
          <a:bodyPr wrap="square" rtlCol="0" anchor="ctr"/>
          <a:lstStyle/>
          <a:p>
            <a:pPr indent="0" marL="0">
              <a:buNone/>
            </a:pPr>
            <a:endParaRPr lang="en-US" dirty="0"/>
          </a:p>
        </p:txBody>
      </p:sp>
      <p:sp>
        <p:nvSpPr>
          <p:cNvPr id="20" name="Text 18"/>
          <p:cNvSpPr/>
          <p:nvPr/>
        </p:nvSpPr>
        <p:spPr>
          <a:xfrm>
            <a:off x="4519650" y="2595972"/>
            <a:ext cx="3967125" cy="311758"/>
          </a:xfrm>
          <a:prstGeom prst="rect">
            <a:avLst/>
          </a:prstGeom>
          <a:noFill/>
          <a:ln/>
        </p:spPr>
        <p:txBody>
          <a:bodyPr wrap="square" lIns="0" tIns="0" rIns="0" bIns="0" rtlCol="0" anchor="t"/>
          <a:lstStyle/>
          <a:p>
            <a:pPr algn="l" indent="0" marL="0">
              <a:lnSpc>
                <a:spcPts val="1221"/>
              </a:lnSpc>
              <a:buNone/>
            </a:pPr>
            <a:r>
              <a:rPr lang="en-US" sz="800" dirty="0">
                <a:solidFill>
                  <a:srgbClr val="F4F4F5"/>
                </a:solidFill>
                <a:latin typeface="Carlito" pitchFamily="34" charset="0"/>
                <a:ea typeface="Carlito" pitchFamily="34" charset="-122"/>
                <a:cs typeface="Carlito" pitchFamily="34" charset="-120"/>
              </a:rPr>
              <a:t>Tool results over 25,000 tokens get written to disk automatically, with the file path returned instead. Raise the ceiling with </a:t>
            </a:r>
            <a:pPr algn="l" indent="0" marL="0">
              <a:lnSpc>
                <a:spcPts val="1221"/>
              </a:lnSpc>
              <a:buNone/>
            </a:pPr>
            <a:r>
              <a:rPr lang="en-US" sz="800" dirty="0">
                <a:solidFill>
                  <a:srgbClr val="FF7A1A"/>
                </a:solidFill>
                <a:highlight>
                  <a:srgbClr val="1D1D24"/>
                </a:highlight>
                <a:latin typeface="Courier New" pitchFamily="34" charset="0"/>
                <a:ea typeface="Courier New" pitchFamily="34" charset="-122"/>
                <a:cs typeface="Courier New" pitchFamily="34" charset="-120"/>
              </a:rPr>
              <a:t>MAX_MCP_OUTPUT_TOKENS</a:t>
            </a:r>
            <a:pPr algn="l" indent="0" marL="0">
              <a:lnSpc>
                <a:spcPts val="1221"/>
              </a:lnSpc>
              <a:buNone/>
            </a:pPr>
            <a:r>
              <a:rPr lang="en-US" sz="800" dirty="0">
                <a:solidFill>
                  <a:srgbClr val="F4F4F5"/>
                </a:solidFill>
                <a:latin typeface="Carlito" pitchFamily="34" charset="0"/>
                <a:ea typeface="Carlito" pitchFamily="34" charset="-122"/>
                <a:cs typeface="Carlito" pitchFamily="34" charset="-120"/>
              </a:rPr>
              <a:t>.</a:t>
            </a:r>
            <a:endParaRPr lang="en-US" sz="800" dirty="0"/>
          </a:p>
        </p:txBody>
      </p:sp>
      <p:sp>
        <p:nvSpPr>
          <p:cNvPr id="21" name="Text 19"/>
          <p:cNvSpPr/>
          <p:nvPr/>
        </p:nvSpPr>
        <p:spPr>
          <a:xfrm>
            <a:off x="4358915" y="3125614"/>
            <a:ext cx="4267163" cy="639366"/>
          </a:xfrm>
          <a:prstGeom prst="roundRect">
            <a:avLst>
              <a:gd name="adj" fmla="val 11918"/>
            </a:avLst>
          </a:prstGeom>
          <a:solidFill>
            <a:srgbClr val="15151A"/>
          </a:solidFill>
          <a:ln w="7144">
            <a:solidFill>
              <a:srgbClr val="2A2A33"/>
            </a:solidFill>
            <a:prstDash val="solid"/>
          </a:ln>
        </p:spPr>
        <p:txBody>
          <a:bodyPr wrap="square" rtlCol="0" anchor="ctr"/>
          <a:lstStyle/>
          <a:p>
            <a:pPr indent="0" marL="0">
              <a:buNone/>
            </a:pPr>
            <a:endParaRPr lang="en-US" dirty="0"/>
          </a:p>
        </p:txBody>
      </p:sp>
      <p:sp>
        <p:nvSpPr>
          <p:cNvPr id="22" name="Text 20"/>
          <p:cNvSpPr/>
          <p:nvPr/>
        </p:nvSpPr>
        <p:spPr>
          <a:xfrm>
            <a:off x="4491075" y="3229198"/>
            <a:ext cx="4002844" cy="108299"/>
          </a:xfrm>
          <a:prstGeom prst="rect">
            <a:avLst/>
          </a:prstGeom>
          <a:noFill/>
          <a:ln/>
        </p:spPr>
        <p:txBody>
          <a:bodyPr wrap="none" lIns="0" tIns="0" rIns="0" bIns="0" rtlCol="0" anchor="t">
            <a:normAutofit/>
          </a:bodyPr>
          <a:lstStyle/>
          <a:p>
            <a:pPr algn="l" indent="0" marL="0">
              <a:lnSpc>
                <a:spcPts val="844"/>
              </a:lnSpc>
              <a:buNone/>
            </a:pPr>
            <a:r>
              <a:rPr lang="en-US" sz="800" spc="124" kern="0" dirty="0">
                <a:solidFill>
                  <a:srgbClr val="71717A"/>
                </a:solidFill>
                <a:latin typeface="Courier New" pitchFamily="34" charset="0"/>
                <a:ea typeface="Courier New" pitchFamily="34" charset="-122"/>
                <a:cs typeface="Courier New" pitchFamily="34" charset="-120"/>
              </a:rPr>
              <a:t>ENVIRONMENT VARIABLE</a:t>
            </a:r>
            <a:endParaRPr lang="en-US" sz="800" dirty="0"/>
          </a:p>
        </p:txBody>
      </p:sp>
      <p:sp>
        <p:nvSpPr>
          <p:cNvPr id="23" name="Text 21"/>
          <p:cNvSpPr/>
          <p:nvPr/>
        </p:nvSpPr>
        <p:spPr>
          <a:xfrm>
            <a:off x="4491075" y="3364929"/>
            <a:ext cx="4002844" cy="151162"/>
          </a:xfrm>
          <a:prstGeom prst="rect">
            <a:avLst/>
          </a:prstGeom>
          <a:noFill/>
          <a:ln/>
        </p:spPr>
        <p:txBody>
          <a:bodyPr wrap="none" lIns="0" tIns="0" rIns="0" bIns="0" rtlCol="0" anchor="t">
            <a:normAutofit/>
          </a:bodyPr>
          <a:lstStyle/>
          <a:p>
            <a:pPr algn="l" indent="0" marL="0">
              <a:lnSpc>
                <a:spcPts val="1181"/>
              </a:lnSpc>
              <a:buNone/>
            </a:pPr>
            <a:r>
              <a:rPr lang="en-US" sz="800" dirty="0">
                <a:solidFill>
                  <a:srgbClr val="FF7A1A"/>
                </a:solidFill>
                <a:latin typeface="Courier New" pitchFamily="34" charset="0"/>
                <a:ea typeface="Courier New" pitchFamily="34" charset="-122"/>
                <a:cs typeface="Courier New" pitchFamily="34" charset="-120"/>
              </a:rPr>
              <a:t>MAX_MCP_OUTPUT_TOKENS</a:t>
            </a:r>
            <a:endParaRPr lang="en-US" sz="800" dirty="0"/>
          </a:p>
        </p:txBody>
      </p:sp>
      <p:sp>
        <p:nvSpPr>
          <p:cNvPr id="24" name="Text 22"/>
          <p:cNvSpPr/>
          <p:nvPr/>
        </p:nvSpPr>
        <p:spPr>
          <a:xfrm>
            <a:off x="4491075" y="3543523"/>
            <a:ext cx="4002844" cy="117872"/>
          </a:xfrm>
          <a:prstGeom prst="rect">
            <a:avLst/>
          </a:prstGeom>
          <a:noFill/>
          <a:ln/>
        </p:spPr>
        <p:txBody>
          <a:bodyPr wrap="square" lIns="0" tIns="0" rIns="0" bIns="0" rtlCol="0" anchor="t"/>
          <a:lstStyle/>
          <a:p>
            <a:pPr algn="l" indent="0" marL="0">
              <a:lnSpc>
                <a:spcPts val="928"/>
              </a:lnSpc>
              <a:buNone/>
            </a:pPr>
            <a:r>
              <a:rPr lang="en-US" sz="619" dirty="0">
                <a:solidFill>
                  <a:srgbClr val="A1A1AA"/>
                </a:solidFill>
                <a:latin typeface="Courier New" pitchFamily="34" charset="0"/>
                <a:ea typeface="Courier New" pitchFamily="34" charset="-122"/>
                <a:cs typeface="Courier New" pitchFamily="34" charset="-120"/>
              </a:rPr>
              <a:t>Set higher if a particular integration legitimately needs bigger responses.</a:t>
            </a:r>
            <a:endParaRPr lang="en-US" sz="619" dirty="0"/>
          </a:p>
        </p:txBody>
      </p:sp>
      <p:sp>
        <p:nvSpPr>
          <p:cNvPr id="25" name="Text 23"/>
          <p:cNvSpPr/>
          <p:nvPr/>
        </p:nvSpPr>
        <p:spPr>
          <a:xfrm>
            <a:off x="4358915" y="3872136"/>
            <a:ext cx="4267163" cy="628650"/>
          </a:xfrm>
          <a:prstGeom prst="roundRect">
            <a:avLst>
              <a:gd name="adj" fmla="val 12121"/>
            </a:avLst>
          </a:prstGeom>
          <a:solidFill>
            <a:srgbClr val="15151A"/>
          </a:solidFill>
          <a:ln w="7144">
            <a:solidFill>
              <a:srgbClr val="2A2A33"/>
            </a:solidFill>
            <a:prstDash val="solid"/>
          </a:ln>
        </p:spPr>
        <p:txBody>
          <a:bodyPr wrap="square" rtlCol="0" anchor="ctr"/>
          <a:lstStyle/>
          <a:p>
            <a:pPr indent="0" marL="0">
              <a:buNone/>
            </a:pPr>
            <a:endParaRPr lang="en-US" dirty="0"/>
          </a:p>
        </p:txBody>
      </p:sp>
      <p:sp>
        <p:nvSpPr>
          <p:cNvPr id="26" name="Text 24"/>
          <p:cNvSpPr/>
          <p:nvPr/>
        </p:nvSpPr>
        <p:spPr>
          <a:xfrm>
            <a:off x="4476787" y="3961433"/>
            <a:ext cx="4141147" cy="122587"/>
          </a:xfrm>
          <a:prstGeom prst="rect">
            <a:avLst/>
          </a:prstGeom>
          <a:noFill/>
          <a:ln/>
        </p:spPr>
        <p:txBody>
          <a:bodyPr wrap="square" lIns="0" tIns="0" rIns="0" bIns="0" rtlCol="0" anchor="t">
            <a:normAutofit/>
          </a:bodyPr>
          <a:lstStyle/>
          <a:p>
            <a:pPr algn="l" indent="0" marL="0">
              <a:lnSpc>
                <a:spcPts val="844"/>
              </a:lnSpc>
              <a:buNone/>
            </a:pPr>
            <a:r>
              <a:rPr lang="en-US" sz="800" spc="124" kern="0" dirty="0">
                <a:solidFill>
                  <a:srgbClr val="71717A"/>
                </a:solidFill>
                <a:latin typeface="Courier New" pitchFamily="34" charset="0"/>
                <a:ea typeface="Courier New" pitchFamily="34" charset="-122"/>
                <a:cs typeface="Courier New" pitchFamily="34" charset="-120"/>
              </a:rPr>
              <a:t>WHAT HAPPENS ABOVE THE CEILING</a:t>
            </a:r>
            <a:endParaRPr lang="en-US" sz="800" dirty="0"/>
          </a:p>
        </p:txBody>
      </p:sp>
      <p:sp>
        <p:nvSpPr>
          <p:cNvPr id="27" name="Text 25"/>
          <p:cNvSpPr/>
          <p:nvPr/>
        </p:nvSpPr>
        <p:spPr>
          <a:xfrm>
            <a:off x="4460911" y="4111451"/>
            <a:ext cx="584336" cy="164592"/>
          </a:xfrm>
          <a:prstGeom prst="rect">
            <a:avLst/>
          </a:prstGeom>
          <a:noFill/>
          <a:ln/>
        </p:spPr>
        <p:txBody>
          <a:bodyPr wrap="none" lIns="0" tIns="0" rIns="0" bIns="0" rtlCol="0" anchor="t"/>
          <a:lstStyle/>
          <a:p>
            <a:pPr algn="l" indent="0" marL="0">
              <a:lnSpc>
                <a:spcPts val="1013"/>
              </a:lnSpc>
              <a:buNone/>
            </a:pPr>
            <a:r>
              <a:rPr lang="en-US" sz="675" dirty="0">
                <a:solidFill>
                  <a:srgbClr val="FF7A1A"/>
                </a:solidFill>
                <a:latin typeface="Courier New" pitchFamily="34" charset="0"/>
                <a:ea typeface="Courier New" pitchFamily="34" charset="-122"/>
                <a:cs typeface="Courier New" pitchFamily="34" charset="-120"/>
              </a:rPr>
              <a:t>tool result</a:t>
            </a:r>
            <a:endParaRPr lang="en-US" sz="675" dirty="0"/>
          </a:p>
        </p:txBody>
      </p:sp>
      <p:sp>
        <p:nvSpPr>
          <p:cNvPr id="28" name="Text 26"/>
          <p:cNvSpPr/>
          <p:nvPr/>
        </p:nvSpPr>
        <p:spPr>
          <a:xfrm>
            <a:off x="5019712" y="4111451"/>
            <a:ext cx="91440" cy="128588"/>
          </a:xfrm>
          <a:prstGeom prst="rect">
            <a:avLst/>
          </a:prstGeom>
          <a:noFill/>
          <a:ln/>
        </p:spPr>
        <p:txBody>
          <a:bodyPr wrap="none" lIns="0" tIns="0" rIns="0" bIns="0" rtlCol="0" anchor="ctr"/>
          <a:lstStyle/>
          <a:p>
            <a:pPr algn="ctr" indent="0" marL="0">
              <a:buNone/>
            </a:pPr>
            <a:r>
              <a:rPr lang="en-US" sz="800" dirty="0">
                <a:solidFill>
                  <a:srgbClr val="FF7A1A"/>
                </a:solidFill>
                <a:latin typeface="Segoe UI Symbol" pitchFamily="34" charset="0"/>
                <a:ea typeface="Segoe UI Symbol" pitchFamily="34" charset="-122"/>
                <a:cs typeface="Segoe UI Symbol" pitchFamily="34" charset="-120"/>
              </a:rPr>
              <a:t>→</a:t>
            </a:r>
            <a:endParaRPr lang="en-US" sz="800" dirty="0"/>
          </a:p>
        </p:txBody>
      </p:sp>
      <p:sp>
        <p:nvSpPr>
          <p:cNvPr id="29" name="Text 27"/>
          <p:cNvSpPr/>
          <p:nvPr/>
        </p:nvSpPr>
        <p:spPr>
          <a:xfrm>
            <a:off x="5176875" y="4111451"/>
            <a:ext cx="753523" cy="164592"/>
          </a:xfrm>
          <a:prstGeom prst="rect">
            <a:avLst/>
          </a:prstGeom>
          <a:noFill/>
          <a:ln/>
        </p:spPr>
        <p:txBody>
          <a:bodyPr wrap="none" lIns="0" tIns="0" rIns="0" bIns="0" rtlCol="0" anchor="t"/>
          <a:lstStyle/>
          <a:p>
            <a:pPr algn="l" indent="0" marL="0">
              <a:lnSpc>
                <a:spcPts val="1013"/>
              </a:lnSpc>
              <a:buNone/>
            </a:pPr>
            <a:r>
              <a:rPr lang="en-US" sz="675" dirty="0">
                <a:solidFill>
                  <a:srgbClr val="A1A1AA"/>
                </a:solidFill>
                <a:latin typeface="Liberation Sans Narrow" pitchFamily="34" charset="0"/>
                <a:ea typeface="Liberation Sans Narrow" pitchFamily="34" charset="-122"/>
                <a:cs typeface="Liberation Sans Narrow" pitchFamily="34" charset="-120"/>
              </a:rPr>
              <a:t>over 25K tokens</a:t>
            </a:r>
            <a:endParaRPr lang="en-US" sz="675" dirty="0"/>
          </a:p>
        </p:txBody>
      </p:sp>
      <p:sp>
        <p:nvSpPr>
          <p:cNvPr id="30" name="Text 28"/>
          <p:cNvSpPr/>
          <p:nvPr/>
        </p:nvSpPr>
        <p:spPr>
          <a:xfrm>
            <a:off x="5891250" y="4111451"/>
            <a:ext cx="91440" cy="128588"/>
          </a:xfrm>
          <a:prstGeom prst="rect">
            <a:avLst/>
          </a:prstGeom>
          <a:noFill/>
          <a:ln/>
        </p:spPr>
        <p:txBody>
          <a:bodyPr wrap="none" lIns="0" tIns="0" rIns="0" bIns="0" rtlCol="0" anchor="ctr"/>
          <a:lstStyle/>
          <a:p>
            <a:pPr algn="ctr" indent="0" marL="0">
              <a:buNone/>
            </a:pPr>
            <a:r>
              <a:rPr lang="en-US" sz="800" dirty="0">
                <a:solidFill>
                  <a:srgbClr val="FF7A1A"/>
                </a:solidFill>
                <a:latin typeface="Segoe UI Symbol" pitchFamily="34" charset="0"/>
                <a:ea typeface="Segoe UI Symbol" pitchFamily="34" charset="-122"/>
                <a:cs typeface="Segoe UI Symbol" pitchFamily="34" charset="-120"/>
              </a:rPr>
              <a:t>→</a:t>
            </a:r>
            <a:endParaRPr lang="en-US" sz="800" dirty="0"/>
          </a:p>
        </p:txBody>
      </p:sp>
      <p:sp>
        <p:nvSpPr>
          <p:cNvPr id="31" name="Text 29"/>
          <p:cNvSpPr/>
          <p:nvPr/>
        </p:nvSpPr>
        <p:spPr>
          <a:xfrm>
            <a:off x="6048412" y="4111451"/>
            <a:ext cx="2459794" cy="164592"/>
          </a:xfrm>
          <a:prstGeom prst="rect">
            <a:avLst/>
          </a:prstGeom>
          <a:noFill/>
          <a:ln/>
        </p:spPr>
        <p:txBody>
          <a:bodyPr wrap="square" lIns="0" tIns="0" rIns="0" bIns="0" rtlCol="0" anchor="t"/>
          <a:lstStyle/>
          <a:p>
            <a:pPr algn="l" indent="0" marL="0">
              <a:lnSpc>
                <a:spcPts val="1013"/>
              </a:lnSpc>
              <a:buNone/>
            </a:pPr>
            <a:r>
              <a:rPr lang="en-US" sz="800" dirty="0">
                <a:solidFill>
                  <a:srgbClr val="F4F4F5"/>
                </a:solidFill>
                <a:latin typeface="Courier New" pitchFamily="34" charset="0"/>
                <a:ea typeface="Courier New" pitchFamily="34" charset="-122"/>
                <a:cs typeface="Courier New" pitchFamily="34" charset="-120"/>
              </a:rPr>
              <a:t>written to file</a:t>
            </a:r>
            <a:endParaRPr lang="en-US" sz="800" dirty="0"/>
          </a:p>
        </p:txBody>
      </p:sp>
      <p:sp>
        <p:nvSpPr>
          <p:cNvPr id="32" name="Text 30"/>
          <p:cNvSpPr/>
          <p:nvPr/>
        </p:nvSpPr>
        <p:spPr>
          <a:xfrm>
            <a:off x="4476787" y="4288259"/>
            <a:ext cx="690729" cy="123230"/>
          </a:xfrm>
          <a:prstGeom prst="rect">
            <a:avLst/>
          </a:prstGeom>
          <a:noFill/>
          <a:ln/>
        </p:spPr>
        <p:txBody>
          <a:bodyPr wrap="none" lIns="0" tIns="0" rIns="0" bIns="0" rtlCol="0" anchor="t"/>
          <a:lstStyle/>
          <a:p>
            <a:pPr algn="l" indent="0" marL="0">
              <a:lnSpc>
                <a:spcPts val="928"/>
              </a:lnSpc>
              <a:buNone/>
            </a:pPr>
            <a:r>
              <a:rPr lang="en-US" sz="619" dirty="0">
                <a:solidFill>
                  <a:srgbClr val="A1A1AA"/>
                </a:solidFill>
                <a:latin typeface="Courier New" pitchFamily="34" charset="0"/>
                <a:ea typeface="Courier New" pitchFamily="34" charset="-122"/>
                <a:cs typeface="Courier New" pitchFamily="34" charset="-120"/>
              </a:rPr>
              <a:t>model receives:</a:t>
            </a:r>
            <a:endParaRPr lang="en-US" sz="619" dirty="0"/>
          </a:p>
        </p:txBody>
      </p:sp>
      <p:sp>
        <p:nvSpPr>
          <p:cNvPr id="33" name="Text 31"/>
          <p:cNvSpPr/>
          <p:nvPr/>
        </p:nvSpPr>
        <p:spPr>
          <a:xfrm>
            <a:off x="5137584" y="4282901"/>
            <a:ext cx="1178719" cy="128588"/>
          </a:xfrm>
          <a:prstGeom prst="rect">
            <a:avLst/>
          </a:prstGeom>
          <a:noFill/>
          <a:ln/>
        </p:spPr>
        <p:txBody>
          <a:bodyPr wrap="none" lIns="0" tIns="0" rIns="0" bIns="0" rtlCol="0" anchor="t"/>
          <a:lstStyle/>
          <a:p>
            <a:pPr algn="l" indent="0" marL="0">
              <a:lnSpc>
                <a:spcPts val="1013"/>
              </a:lnSpc>
              <a:buNone/>
            </a:pPr>
            <a:r>
              <a:rPr lang="en-US" sz="675" dirty="0">
                <a:solidFill>
                  <a:srgbClr val="FF7A1A"/>
                </a:solidFill>
                <a:latin typeface="Courier New" pitchFamily="34" charset="0"/>
                <a:ea typeface="Courier New" pitchFamily="34" charset="-122"/>
                <a:cs typeface="Courier New" pitchFamily="34" charset="-120"/>
              </a:rPr>
              <a:t>"output saved to /tmp/…"</a:t>
            </a:r>
            <a:endParaRPr lang="en-US" sz="675" dirty="0"/>
          </a:p>
        </p:txBody>
      </p:sp>
      <p:sp>
        <p:nvSpPr>
          <p:cNvPr id="34" name="Text 32"/>
          <p:cNvSpPr/>
          <p:nvPr/>
        </p:nvSpPr>
        <p:spPr>
          <a:xfrm>
            <a:off x="6280584" y="4282901"/>
            <a:ext cx="91440" cy="128588"/>
          </a:xfrm>
          <a:prstGeom prst="rect">
            <a:avLst/>
          </a:prstGeom>
          <a:noFill/>
          <a:ln/>
        </p:spPr>
        <p:txBody>
          <a:bodyPr wrap="none" lIns="0" tIns="0" rIns="0" bIns="0" rtlCol="0" anchor="ctr"/>
          <a:lstStyle/>
          <a:p>
            <a:pPr algn="ctr" indent="0" marL="0">
              <a:buNone/>
            </a:pPr>
            <a:r>
              <a:rPr lang="en-US" sz="800" dirty="0">
                <a:solidFill>
                  <a:srgbClr val="FF7A1A"/>
                </a:solidFill>
                <a:latin typeface="Segoe UI Symbol" pitchFamily="34" charset="0"/>
                <a:ea typeface="Segoe UI Symbol" pitchFamily="34" charset="-122"/>
                <a:cs typeface="Segoe UI Symbol" pitchFamily="34" charset="-120"/>
              </a:rPr>
              <a:t>→</a:t>
            </a:r>
            <a:endParaRPr lang="en-US" sz="800" dirty="0"/>
          </a:p>
        </p:txBody>
      </p:sp>
      <p:sp>
        <p:nvSpPr>
          <p:cNvPr id="35" name="Text 33"/>
          <p:cNvSpPr/>
          <p:nvPr/>
        </p:nvSpPr>
        <p:spPr>
          <a:xfrm>
            <a:off x="6437747" y="4288259"/>
            <a:ext cx="2070460" cy="123230"/>
          </a:xfrm>
          <a:prstGeom prst="rect">
            <a:avLst/>
          </a:prstGeom>
          <a:noFill/>
          <a:ln/>
        </p:spPr>
        <p:txBody>
          <a:bodyPr wrap="square" lIns="0" tIns="0" rIns="0" bIns="0" rtlCol="0" anchor="t"/>
          <a:lstStyle/>
          <a:p>
            <a:pPr algn="l" indent="0" marL="0">
              <a:lnSpc>
                <a:spcPts val="928"/>
              </a:lnSpc>
              <a:buNone/>
            </a:pPr>
            <a:r>
              <a:rPr lang="en-US" sz="800" dirty="0">
                <a:solidFill>
                  <a:srgbClr val="A1A1AA"/>
                </a:solidFill>
                <a:latin typeface="Courier New" pitchFamily="34" charset="0"/>
                <a:ea typeface="Courier New" pitchFamily="34" charset="-122"/>
                <a:cs typeface="Courier New" pitchFamily="34" charset="-120"/>
              </a:rPr>
              <a:t>reads back in portions</a:t>
            </a:r>
            <a:endParaRPr lang="en-US" sz="800" dirty="0"/>
          </a:p>
        </p:txBody>
      </p:sp>
      <p:sp>
        <p:nvSpPr>
          <p:cNvPr id="36" name="Text 34"/>
          <p:cNvSpPr/>
          <p:nvPr/>
        </p:nvSpPr>
        <p:spPr>
          <a:xfrm>
            <a:off x="514350" y="4868466"/>
            <a:ext cx="6482283"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EP09 · MCP IN THE REAL WORLD</a:t>
            </a:r>
            <a:endParaRPr lang="en-US" sz="800" dirty="0"/>
          </a:p>
        </p:txBody>
      </p:sp>
      <p:sp>
        <p:nvSpPr>
          <p:cNvPr id="37" name="Text 35"/>
          <p:cNvSpPr/>
          <p:nvPr/>
        </p:nvSpPr>
        <p:spPr>
          <a:xfrm>
            <a:off x="7010921" y="4868466"/>
            <a:ext cx="1835072" cy="164592"/>
          </a:xfrm>
          <a:prstGeom prst="rect">
            <a:avLst/>
          </a:prstGeom>
          <a:noFill/>
          <a:ln/>
        </p:spPr>
        <p:txBody>
          <a:bodyPr wrap="square" lIns="0" tIns="0" rIns="0" bIns="0" rtlCol="0" anchor="t"/>
          <a:lstStyle/>
          <a:p>
            <a:pPr algn="l" indent="0" marL="0">
              <a:lnSpc>
                <a:spcPts val="928"/>
              </a:lnSpc>
              <a:buNone/>
            </a:pPr>
            <a:r>
              <a:rPr lang="en-US" sz="619" spc="99" kern="0" dirty="0">
                <a:solidFill>
                  <a:srgbClr val="71717A"/>
                </a:solidFill>
                <a:latin typeface="Courier New" pitchFamily="34" charset="0"/>
                <a:ea typeface="Courier New" pitchFamily="34" charset="-122"/>
                <a:cs typeface="Courier New" pitchFamily="34" charset="-120"/>
              </a:rPr>
              <a:t>BONUS · </a:t>
            </a:r>
            <a:pPr algn="l" indent="0" marL="0">
              <a:lnSpc>
                <a:spcPts val="928"/>
              </a:lnSpc>
              <a:buNone/>
            </a:pPr>
            <a:r>
              <a:rPr lang="en-US" sz="619" spc="99" kern="0" dirty="0">
                <a:solidFill>
                  <a:srgbClr val="FF7A1A"/>
                </a:solidFill>
                <a:latin typeface="Liberation Sans Narrow" pitchFamily="34" charset="0"/>
                <a:ea typeface="Liberation Sans Narrow" pitchFamily="34" charset="-122"/>
                <a:cs typeface="Liberation Sans Narrow" pitchFamily="34" charset="-120"/>
              </a:rPr>
              <a:t>25K TOKENS · THEN DISK</a:t>
            </a:r>
            <a:endParaRPr lang="en-US" sz="619"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257175" y="200025"/>
            <a:ext cx="2232705"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71717A"/>
                </a:solidFill>
                <a:latin typeface="Liberation Sans Narrow" pitchFamily="34" charset="0"/>
                <a:ea typeface="Liberation Sans Narrow" pitchFamily="34" charset="-122"/>
                <a:cs typeface="Liberation Sans Narrow" pitchFamily="34" charset="-120"/>
              </a:rPr>
              <a:t>EP09 </a:t>
            </a:r>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a:t>
            </a:r>
            <a:pPr algn="l" indent="0" marL="0">
              <a:lnSpc>
                <a:spcPts val="928"/>
              </a:lnSpc>
              <a:buNone/>
            </a:pPr>
            <a:r>
              <a:rPr lang="en-US" sz="800" spc="173" kern="0" dirty="0">
                <a:solidFill>
                  <a:srgbClr val="71717A"/>
                </a:solidFill>
                <a:latin typeface="Courier New" pitchFamily="34" charset="0"/>
                <a:ea typeface="Courier New" pitchFamily="34" charset="-122"/>
                <a:cs typeface="Courier New" pitchFamily="34" charset="-120"/>
              </a:rPr>
              <a:t> MCP IN THE REAL WORLD</a:t>
            </a:r>
            <a:endParaRPr lang="en-US" sz="800" dirty="0"/>
          </a:p>
        </p:txBody>
      </p:sp>
      <p:sp>
        <p:nvSpPr>
          <p:cNvPr id="3" name="Text 1"/>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26 / 30</a:t>
            </a:r>
            <a:endParaRPr lang="en-US" sz="800" dirty="0"/>
          </a:p>
        </p:txBody>
      </p:sp>
      <p:sp>
        <p:nvSpPr>
          <p:cNvPr id="4" name="Text 2"/>
          <p:cNvSpPr/>
          <p:nvPr/>
        </p:nvSpPr>
        <p:spPr>
          <a:xfrm>
            <a:off x="4999025" y="3500438"/>
            <a:ext cx="4144975" cy="1643063"/>
          </a:xfrm>
          <a:prstGeom prst="rect">
            <a:avLst/>
          </a:prstGeom>
          <a:noFill/>
          <a:ln/>
        </p:spPr>
        <p:txBody>
          <a:bodyPr wrap="square" lIns="0" tIns="0" rIns="0" bIns="0" rtlCol="0" anchor="t"/>
          <a:lstStyle/>
          <a:p>
            <a:pPr algn="l" indent="0" marL="0">
              <a:lnSpc>
                <a:spcPts val="18000"/>
              </a:lnSpc>
              <a:buNone/>
            </a:pPr>
            <a:r>
              <a:rPr lang="en-US" sz="18000" b="1" dirty="0">
                <a:solidFill>
                  <a:srgbClr val="FF7A1A">
                    <a:alpha val="4000"/>
                  </a:srgbClr>
                </a:solidFill>
                <a:latin typeface="Liberation Sans Narrow" pitchFamily="34" charset="0"/>
                <a:ea typeface="Liberation Sans Narrow" pitchFamily="34" charset="-122"/>
                <a:cs typeface="Liberation Sans Narrow" pitchFamily="34" charset="-120"/>
              </a:rPr>
              <a:t>26</a:t>
            </a:r>
            <a:endParaRPr lang="en-US" sz="18000" dirty="0"/>
          </a:p>
        </p:txBody>
      </p:sp>
      <p:sp>
        <p:nvSpPr>
          <p:cNvPr id="5" name="Text 3"/>
          <p:cNvSpPr/>
          <p:nvPr/>
        </p:nvSpPr>
        <p:spPr>
          <a:xfrm>
            <a:off x="514350" y="571500"/>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Liberation Sans Narrow" pitchFamily="34" charset="0"/>
                <a:ea typeface="Liberation Sans Narrow" pitchFamily="34" charset="-122"/>
                <a:cs typeface="Liberation Sans Narrow" pitchFamily="34" charset="-120"/>
              </a:rPr>
              <a:t>FINAL FILE 1 / 3</a:t>
            </a:r>
            <a:endParaRPr lang="en-US" sz="800" dirty="0"/>
          </a:p>
        </p:txBody>
      </p:sp>
      <p:sp>
        <p:nvSpPr>
          <p:cNvPr id="6" name="Text 4"/>
          <p:cNvSpPr/>
          <p:nvPr/>
        </p:nvSpPr>
        <p:spPr>
          <a:xfrm>
            <a:off x="514350" y="789384"/>
            <a:ext cx="8629650" cy="373346"/>
          </a:xfrm>
          <a:prstGeom prst="rect">
            <a:avLst/>
          </a:prstGeom>
          <a:noFill/>
          <a:ln/>
        </p:spPr>
        <p:txBody>
          <a:bodyPr wrap="squar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Final File — </a:t>
            </a:r>
            <a:pPr algn="l" indent="0" marL="0">
              <a:lnSpc>
                <a:spcPts val="2723"/>
              </a:lnSpc>
              <a:buNone/>
            </a:pPr>
            <a:r>
              <a:rPr lang="en-US" sz="2475" b="1" spc="-49" kern="0" dirty="0">
                <a:solidFill>
                  <a:srgbClr val="FF7A1A"/>
                </a:solidFill>
                <a:latin typeface="Carlito" pitchFamily="34" charset="0"/>
                <a:ea typeface="Carlito" pitchFamily="34" charset="-122"/>
                <a:cs typeface="Carlito" pitchFamily="34" charset="-120"/>
              </a:rPr>
              <a:t>.mcp.json</a:t>
            </a:r>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 — complete, final</a:t>
            </a:r>
            <a:endParaRPr lang="en-US" sz="2475" dirty="0"/>
          </a:p>
        </p:txBody>
      </p:sp>
      <p:sp>
        <p:nvSpPr>
          <p:cNvPr id="7" name="Shape 5"/>
          <p:cNvSpPr/>
          <p:nvPr/>
        </p:nvSpPr>
        <p:spPr>
          <a:xfrm>
            <a:off x="514350" y="1317241"/>
            <a:ext cx="400050" cy="0"/>
          </a:xfrm>
          <a:prstGeom prst="line">
            <a:avLst/>
          </a:prstGeom>
          <a:noFill/>
          <a:ln w="7144">
            <a:solidFill>
              <a:srgbClr val="F4F4F5"/>
            </a:solidFill>
            <a:prstDash val="solid"/>
          </a:ln>
        </p:spPr>
      </p:sp>
      <p:sp>
        <p:nvSpPr>
          <p:cNvPr id="8" name="Text 6"/>
          <p:cNvSpPr/>
          <p:nvPr/>
        </p:nvSpPr>
        <p:spPr>
          <a:xfrm>
            <a:off x="514350" y="1527981"/>
            <a:ext cx="8115300" cy="558141"/>
          </a:xfrm>
          <a:prstGeom prst="rect">
            <a:avLst/>
          </a:prstGeom>
          <a:noFill/>
          <a:ln/>
        </p:spPr>
        <p:txBody>
          <a:bodyPr wrap="square" lIns="0" tIns="0" rIns="0" bIns="0" rtlCol="0" anchor="t"/>
          <a:lstStyle/>
          <a:p>
            <a:pPr algn="l" indent="0" marL="0">
              <a:lnSpc>
                <a:spcPts val="1308"/>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Complete, final </a:t>
            </a:r>
            <a:pPr algn="l" indent="0" marL="0">
              <a:lnSpc>
                <a:spcPts val="1308"/>
              </a:lnSpc>
              <a:spcAft>
                <a:spcPts val="788"/>
              </a:spcAft>
              <a:buNone/>
            </a:pPr>
            <a:r>
              <a:rPr lang="en-US" sz="802" dirty="0">
                <a:solidFill>
                  <a:srgbClr val="FF7A1A"/>
                </a:solidFill>
                <a:highlight>
                  <a:srgbClr val="1D1D24"/>
                </a:highlight>
                <a:latin typeface="Courier New" pitchFamily="34" charset="0"/>
                <a:ea typeface="Courier New" pitchFamily="34" charset="-122"/>
                <a:cs typeface="Courier New" pitchFamily="34" charset="-120"/>
              </a:rPr>
              <a:t>.mcp.json</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 — both servers</a:t>
            </a:r>
            <a:endParaRPr lang="en-US" sz="872" dirty="0"/>
          </a:p>
          <a:p>
            <a:pPr algn="l" indent="0" marL="0">
              <a:lnSpc>
                <a:spcPts val="1308"/>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308"/>
              </a:lnSpc>
              <a:spcAft>
                <a:spcPts val="788"/>
              </a:spcAft>
              <a:buNone/>
            </a:pPr>
            <a:r>
              <a:rPr lang="en-US" sz="872" dirty="0">
                <a:solidFill>
                  <a:srgbClr val="F4F4F5"/>
                </a:solidFill>
                <a:latin typeface="Carlito" pitchFamily="34" charset="0"/>
                <a:ea typeface="Carlito" pitchFamily="34" charset="-122"/>
                <a:cs typeface="Carlito" pitchFamily="34" charset="-120"/>
              </a:rPr>
              <a:t>Copy-paste source of truth</a:t>
            </a:r>
            <a:endParaRPr lang="en-US" sz="872" dirty="0"/>
          </a:p>
        </p:txBody>
      </p:sp>
      <p:sp>
        <p:nvSpPr>
          <p:cNvPr id="9" name="Text 7"/>
          <p:cNvSpPr/>
          <p:nvPr/>
        </p:nvSpPr>
        <p:spPr>
          <a:xfrm>
            <a:off x="514350" y="2060191"/>
            <a:ext cx="7079456" cy="196739"/>
          </a:xfrm>
          <a:prstGeom prst="rect">
            <a:avLst/>
          </a:prstGeom>
          <a:noFill/>
          <a:ln/>
        </p:spPr>
        <p:txBody>
          <a:bodyPr wrap="none" lIns="0" tIns="0" rIns="0" bIns="0" rtlCol="0" anchor="t"/>
          <a:lstStyle/>
          <a:p>
            <a:pPr algn="l" indent="0" marL="0">
              <a:lnSpc>
                <a:spcPts val="1434"/>
              </a:lnSpc>
              <a:buNone/>
            </a:pPr>
            <a:r>
              <a:rPr lang="en-US" sz="956" dirty="0">
                <a:solidFill>
                  <a:srgbClr val="F4F4F5"/>
                </a:solidFill>
                <a:latin typeface="Carlito" pitchFamily="34" charset="0"/>
                <a:ea typeface="Carlito" pitchFamily="34" charset="-122"/>
                <a:cs typeface="Carlito" pitchFamily="34" charset="-120"/>
              </a:rPr>
              <a:t>.mcp.json — complete, final</a:t>
            </a:r>
            <a:endParaRPr lang="en-US" sz="956" dirty="0"/>
          </a:p>
        </p:txBody>
      </p:sp>
      <p:sp>
        <p:nvSpPr>
          <p:cNvPr id="10" name="Text 8"/>
          <p:cNvSpPr/>
          <p:nvPr/>
        </p:nvSpPr>
        <p:spPr>
          <a:xfrm>
            <a:off x="7585234" y="2059262"/>
            <a:ext cx="1067276" cy="184023"/>
          </a:xfrm>
          <a:prstGeom prst="roundRect">
            <a:avLst>
              <a:gd name="adj" fmla="val 20704"/>
            </a:avLst>
          </a:prstGeom>
          <a:solidFill>
            <a:srgbClr val="FF7A1A">
              <a:alpha val="8000"/>
            </a:srgbClr>
          </a:solidFill>
          <a:ln w="7144">
            <a:solidFill>
              <a:srgbClr val="FF7A1A"/>
            </a:solidFill>
            <a:prstDash val="solid"/>
          </a:ln>
        </p:spPr>
        <p:txBody>
          <a:bodyPr wrap="square" rtlCol="0" anchor="ctr"/>
          <a:lstStyle/>
          <a:p>
            <a:pPr indent="0" marL="0">
              <a:buNone/>
            </a:pPr>
            <a:endParaRPr lang="en-US" dirty="0"/>
          </a:p>
        </p:txBody>
      </p:sp>
      <p:sp>
        <p:nvSpPr>
          <p:cNvPr id="11" name="Text 9"/>
          <p:cNvSpPr/>
          <p:nvPr/>
        </p:nvSpPr>
        <p:spPr>
          <a:xfrm>
            <a:off x="7808119" y="2104839"/>
            <a:ext cx="821531" cy="142646"/>
          </a:xfrm>
          <a:prstGeom prst="rect">
            <a:avLst/>
          </a:prstGeom>
          <a:noFill/>
          <a:ln/>
        </p:spPr>
        <p:txBody>
          <a:bodyPr wrap="none" lIns="0" tIns="0" rIns="0" bIns="0" rtlCol="0" anchor="t"/>
          <a:lstStyle/>
          <a:p>
            <a:pPr algn="l" indent="0" marL="0">
              <a:lnSpc>
                <a:spcPts val="844"/>
              </a:lnSpc>
              <a:buNone/>
            </a:pPr>
            <a:r>
              <a:rPr lang="en-US" sz="600" spc="113" kern="0" dirty="0">
                <a:solidFill>
                  <a:srgbClr val="FF7A1A"/>
                </a:solidFill>
                <a:latin typeface="Courier New" pitchFamily="34" charset="0"/>
                <a:ea typeface="Courier New" pitchFamily="34" charset="-122"/>
                <a:cs typeface="Courier New" pitchFamily="34" charset="-120"/>
              </a:rPr>
              <a:t>SOURCE OF TRUTH</a:t>
            </a:r>
            <a:endParaRPr lang="en-US" sz="600" dirty="0"/>
          </a:p>
        </p:txBody>
      </p:sp>
      <p:sp>
        <p:nvSpPr>
          <p:cNvPr id="12" name="Text 10"/>
          <p:cNvSpPr/>
          <p:nvPr/>
        </p:nvSpPr>
        <p:spPr>
          <a:xfrm>
            <a:off x="7679531" y="2108411"/>
            <a:ext cx="91440" cy="91440"/>
          </a:xfrm>
          <a:prstGeom prst="rect">
            <a:avLst/>
          </a:prstGeom>
          <a:noFill/>
          <a:ln/>
        </p:spPr>
        <p:txBody>
          <a:bodyPr wrap="none" lIns="0" tIns="0" rIns="0" bIns="0" rtlCol="0" anchor="ctr"/>
          <a:lstStyle/>
          <a:p>
            <a:pPr algn="ctr" indent="0" marL="0">
              <a:buNone/>
            </a:pPr>
            <a:r>
              <a:rPr lang="en-US" sz="844" dirty="0">
                <a:solidFill>
                  <a:srgbClr val="FF7A1A"/>
                </a:solidFill>
                <a:latin typeface="Segoe UI Symbol" pitchFamily="34" charset="0"/>
                <a:ea typeface="Segoe UI Symbol" pitchFamily="34" charset="-122"/>
                <a:cs typeface="Segoe UI Symbol" pitchFamily="34" charset="-120"/>
              </a:rPr>
              <a:t>✓</a:t>
            </a:r>
            <a:endParaRPr lang="en-US" sz="844" dirty="0"/>
          </a:p>
        </p:txBody>
      </p:sp>
      <p:sp>
        <p:nvSpPr>
          <p:cNvPr id="13" name="Text 11"/>
          <p:cNvSpPr/>
          <p:nvPr/>
        </p:nvSpPr>
        <p:spPr>
          <a:xfrm>
            <a:off x="807145" y="2655243"/>
            <a:ext cx="778866" cy="133241"/>
          </a:xfrm>
          <a:prstGeom prst="rect">
            <a:avLst/>
          </a:prstGeom>
          <a:noFill/>
          <a:ln/>
        </p:spPr>
        <p:txBody>
          <a:bodyPr wrap="none" lIns="0" tIns="0" rIns="0" bIns="0" rtlCol="0" anchor="t"/>
          <a:lstStyle/>
          <a:p>
            <a:pPr algn="l" indent="0" marL="0">
              <a:lnSpc>
                <a:spcPts val="1339"/>
              </a:lnSpc>
              <a:buNone/>
            </a:pPr>
            <a:r>
              <a:rPr lang="en-US" sz="800" dirty="0">
                <a:solidFill>
                  <a:srgbClr val="FF7A1A"/>
                </a:solidFill>
                <a:latin typeface="Courier New" pitchFamily="34" charset="0"/>
                <a:ea typeface="Courier New" pitchFamily="34" charset="-122"/>
                <a:cs typeface="Courier New" pitchFamily="34" charset="-120"/>
              </a:rPr>
              <a:t>"mcpServers"</a:t>
            </a:r>
            <a:endParaRPr lang="en-US" sz="800" dirty="0"/>
          </a:p>
        </p:txBody>
      </p:sp>
      <p:sp>
        <p:nvSpPr>
          <p:cNvPr id="14" name="Text 12"/>
          <p:cNvSpPr/>
          <p:nvPr/>
        </p:nvSpPr>
        <p:spPr>
          <a:xfrm>
            <a:off x="921544" y="2825242"/>
            <a:ext cx="572072" cy="133241"/>
          </a:xfrm>
          <a:prstGeom prst="rect">
            <a:avLst/>
          </a:prstGeom>
          <a:noFill/>
          <a:ln/>
        </p:spPr>
        <p:txBody>
          <a:bodyPr wrap="none" lIns="0" tIns="0" rIns="0" bIns="0" rtlCol="0" anchor="t"/>
          <a:lstStyle/>
          <a:p>
            <a:pPr algn="l" indent="0" marL="0">
              <a:lnSpc>
                <a:spcPts val="1339"/>
              </a:lnSpc>
              <a:buNone/>
            </a:pPr>
            <a:r>
              <a:rPr lang="en-US" sz="800" dirty="0">
                <a:solidFill>
                  <a:srgbClr val="FF7A1A"/>
                </a:solidFill>
                <a:latin typeface="Courier New" pitchFamily="34" charset="0"/>
                <a:ea typeface="Courier New" pitchFamily="34" charset="-122"/>
                <a:cs typeface="Courier New" pitchFamily="34" charset="-120"/>
              </a:rPr>
              <a:t>"github"</a:t>
            </a:r>
            <a:endParaRPr lang="en-US" sz="800" dirty="0"/>
          </a:p>
        </p:txBody>
      </p:sp>
      <p:sp>
        <p:nvSpPr>
          <p:cNvPr id="15" name="Text 13"/>
          <p:cNvSpPr/>
          <p:nvPr/>
        </p:nvSpPr>
        <p:spPr>
          <a:xfrm>
            <a:off x="1021556" y="2995240"/>
            <a:ext cx="429054" cy="133241"/>
          </a:xfrm>
          <a:prstGeom prst="rect">
            <a:avLst/>
          </a:prstGeom>
          <a:noFill/>
          <a:ln/>
        </p:spPr>
        <p:txBody>
          <a:bodyPr wrap="none" lIns="0" tIns="0" rIns="0" bIns="0" rtlCol="0" anchor="t"/>
          <a:lstStyle/>
          <a:p>
            <a:pPr algn="l" indent="0" marL="0">
              <a:lnSpc>
                <a:spcPts val="1339"/>
              </a:lnSpc>
              <a:buNone/>
            </a:pPr>
            <a:r>
              <a:rPr lang="en-US" sz="800" dirty="0">
                <a:solidFill>
                  <a:srgbClr val="FF7A1A"/>
                </a:solidFill>
                <a:latin typeface="Courier New" pitchFamily="34" charset="0"/>
                <a:ea typeface="Courier New" pitchFamily="34" charset="-122"/>
                <a:cs typeface="Courier New" pitchFamily="34" charset="-120"/>
              </a:rPr>
              <a:t>"type"</a:t>
            </a:r>
            <a:endParaRPr lang="en-US" sz="800" dirty="0"/>
          </a:p>
        </p:txBody>
      </p:sp>
      <p:sp>
        <p:nvSpPr>
          <p:cNvPr id="16" name="Text 14"/>
          <p:cNvSpPr/>
          <p:nvPr/>
        </p:nvSpPr>
        <p:spPr>
          <a:xfrm>
            <a:off x="1421606" y="2995240"/>
            <a:ext cx="429054" cy="133241"/>
          </a:xfrm>
          <a:prstGeom prst="rect">
            <a:avLst/>
          </a:prstGeom>
          <a:noFill/>
          <a:ln/>
        </p:spPr>
        <p:txBody>
          <a:bodyPr wrap="none" lIns="0" tIns="0" rIns="0" bIns="0" rtlCol="0" anchor="t"/>
          <a:lstStyle/>
          <a:p>
            <a:pPr algn="l" indent="0" marL="0">
              <a:lnSpc>
                <a:spcPts val="1339"/>
              </a:lnSpc>
              <a:buNone/>
            </a:pPr>
            <a:r>
              <a:rPr lang="en-US" sz="800" dirty="0">
                <a:solidFill>
                  <a:srgbClr val="B6E3A1"/>
                </a:solidFill>
                <a:latin typeface="Courier New" pitchFamily="34" charset="0"/>
                <a:ea typeface="Courier New" pitchFamily="34" charset="-122"/>
                <a:cs typeface="Courier New" pitchFamily="34" charset="-120"/>
              </a:rPr>
              <a:t>"http"</a:t>
            </a:r>
            <a:endParaRPr lang="en-US" sz="800" dirty="0"/>
          </a:p>
        </p:txBody>
      </p:sp>
      <p:sp>
        <p:nvSpPr>
          <p:cNvPr id="17" name="Text 15"/>
          <p:cNvSpPr/>
          <p:nvPr/>
        </p:nvSpPr>
        <p:spPr>
          <a:xfrm>
            <a:off x="1021556" y="3165239"/>
            <a:ext cx="400050" cy="133241"/>
          </a:xfrm>
          <a:prstGeom prst="rect">
            <a:avLst/>
          </a:prstGeom>
          <a:noFill/>
          <a:ln/>
        </p:spPr>
        <p:txBody>
          <a:bodyPr wrap="none" lIns="0" tIns="0" rIns="0" bIns="0" rtlCol="0" anchor="t"/>
          <a:lstStyle/>
          <a:p>
            <a:pPr algn="l" indent="0" marL="0">
              <a:lnSpc>
                <a:spcPts val="1339"/>
              </a:lnSpc>
              <a:buNone/>
            </a:pPr>
            <a:r>
              <a:rPr lang="en-US" sz="800" dirty="0">
                <a:solidFill>
                  <a:srgbClr val="FF7A1A"/>
                </a:solidFill>
                <a:latin typeface="Courier New" pitchFamily="34" charset="0"/>
                <a:ea typeface="Courier New" pitchFamily="34" charset="-122"/>
                <a:cs typeface="Courier New" pitchFamily="34" charset="-120"/>
              </a:rPr>
              <a:t>"url"</a:t>
            </a:r>
            <a:endParaRPr lang="en-US" sz="800" dirty="0"/>
          </a:p>
        </p:txBody>
      </p:sp>
      <p:sp>
        <p:nvSpPr>
          <p:cNvPr id="18" name="Text 16"/>
          <p:cNvSpPr/>
          <p:nvPr/>
        </p:nvSpPr>
        <p:spPr>
          <a:xfrm>
            <a:off x="1371600" y="3165239"/>
            <a:ext cx="1944243" cy="133241"/>
          </a:xfrm>
          <a:prstGeom prst="rect">
            <a:avLst/>
          </a:prstGeom>
          <a:noFill/>
          <a:ln/>
        </p:spPr>
        <p:txBody>
          <a:bodyPr wrap="none" lIns="0" tIns="0" rIns="0" bIns="0" rtlCol="0" anchor="t"/>
          <a:lstStyle/>
          <a:p>
            <a:pPr algn="l" indent="0" marL="0">
              <a:lnSpc>
                <a:spcPts val="1339"/>
              </a:lnSpc>
              <a:buNone/>
            </a:pPr>
            <a:r>
              <a:rPr lang="en-US" sz="788" dirty="0">
                <a:solidFill>
                  <a:srgbClr val="B6E3A1"/>
                </a:solidFill>
                <a:latin typeface="Courier New" pitchFamily="34" charset="0"/>
                <a:ea typeface="Courier New" pitchFamily="34" charset="-122"/>
                <a:cs typeface="Courier New" pitchFamily="34" charset="-120"/>
              </a:rPr>
              <a:t>"https://api.githubcopilot.com/mcp/"</a:t>
            </a:r>
            <a:endParaRPr lang="en-US" sz="788" dirty="0"/>
          </a:p>
        </p:txBody>
      </p:sp>
      <p:sp>
        <p:nvSpPr>
          <p:cNvPr id="19" name="Text 17"/>
          <p:cNvSpPr/>
          <p:nvPr/>
        </p:nvSpPr>
        <p:spPr>
          <a:xfrm>
            <a:off x="1021556" y="3335238"/>
            <a:ext cx="643580" cy="133241"/>
          </a:xfrm>
          <a:prstGeom prst="rect">
            <a:avLst/>
          </a:prstGeom>
          <a:noFill/>
          <a:ln/>
        </p:spPr>
        <p:txBody>
          <a:bodyPr wrap="none" lIns="0" tIns="0" rIns="0" bIns="0" rtlCol="0" anchor="t"/>
          <a:lstStyle/>
          <a:p>
            <a:pPr algn="l" indent="0" marL="0">
              <a:lnSpc>
                <a:spcPts val="1339"/>
              </a:lnSpc>
              <a:buNone/>
            </a:pPr>
            <a:r>
              <a:rPr lang="en-US" sz="800" dirty="0">
                <a:solidFill>
                  <a:srgbClr val="FF7A1A"/>
                </a:solidFill>
                <a:latin typeface="Courier New" pitchFamily="34" charset="0"/>
                <a:ea typeface="Courier New" pitchFamily="34" charset="-122"/>
                <a:cs typeface="Courier New" pitchFamily="34" charset="-120"/>
              </a:rPr>
              <a:t>"headers"</a:t>
            </a:r>
            <a:endParaRPr lang="en-US" sz="800" dirty="0"/>
          </a:p>
        </p:txBody>
      </p:sp>
      <p:sp>
        <p:nvSpPr>
          <p:cNvPr id="20" name="Text 18"/>
          <p:cNvSpPr/>
          <p:nvPr/>
        </p:nvSpPr>
        <p:spPr>
          <a:xfrm>
            <a:off x="1121569" y="3505237"/>
            <a:ext cx="937617" cy="133241"/>
          </a:xfrm>
          <a:prstGeom prst="rect">
            <a:avLst/>
          </a:prstGeom>
          <a:noFill/>
          <a:ln/>
        </p:spPr>
        <p:txBody>
          <a:bodyPr wrap="none" lIns="0" tIns="0" rIns="0" bIns="0" rtlCol="0" anchor="t"/>
          <a:lstStyle/>
          <a:p>
            <a:pPr algn="l" indent="0" marL="0">
              <a:lnSpc>
                <a:spcPts val="1339"/>
              </a:lnSpc>
              <a:buNone/>
            </a:pPr>
            <a:r>
              <a:rPr lang="en-US" sz="800" dirty="0">
                <a:solidFill>
                  <a:srgbClr val="FF7A1A"/>
                </a:solidFill>
                <a:latin typeface="Courier New" pitchFamily="34" charset="0"/>
                <a:ea typeface="Courier New" pitchFamily="34" charset="-122"/>
                <a:cs typeface="Courier New" pitchFamily="34" charset="-120"/>
              </a:rPr>
              <a:t>"Authorization"</a:t>
            </a:r>
            <a:endParaRPr lang="en-US" sz="800" dirty="0"/>
          </a:p>
        </p:txBody>
      </p:sp>
      <p:sp>
        <p:nvSpPr>
          <p:cNvPr id="21" name="Text 19"/>
          <p:cNvSpPr/>
          <p:nvPr/>
        </p:nvSpPr>
        <p:spPr>
          <a:xfrm>
            <a:off x="1971675" y="3505237"/>
            <a:ext cx="1375172" cy="133241"/>
          </a:xfrm>
          <a:prstGeom prst="rect">
            <a:avLst/>
          </a:prstGeom>
          <a:noFill/>
          <a:ln/>
        </p:spPr>
        <p:txBody>
          <a:bodyPr wrap="none" lIns="0" tIns="0" rIns="0" bIns="0" rtlCol="0" anchor="t"/>
          <a:lstStyle/>
          <a:p>
            <a:pPr algn="l" indent="0" marL="0">
              <a:lnSpc>
                <a:spcPts val="1339"/>
              </a:lnSpc>
              <a:buNone/>
            </a:pPr>
            <a:r>
              <a:rPr lang="en-US" sz="800" dirty="0">
                <a:solidFill>
                  <a:srgbClr val="B6E3A1"/>
                </a:solidFill>
                <a:latin typeface="Courier New" pitchFamily="34" charset="0"/>
                <a:ea typeface="Courier New" pitchFamily="34" charset="-122"/>
                <a:cs typeface="Courier New" pitchFamily="34" charset="-120"/>
              </a:rPr>
              <a:t>"Bearer ${GITHUB_PAT}"</a:t>
            </a:r>
            <a:endParaRPr lang="en-US" sz="800" dirty="0"/>
          </a:p>
        </p:txBody>
      </p:sp>
      <p:sp>
        <p:nvSpPr>
          <p:cNvPr id="22" name="Text 20"/>
          <p:cNvSpPr/>
          <p:nvPr/>
        </p:nvSpPr>
        <p:spPr>
          <a:xfrm>
            <a:off x="1121569" y="3675236"/>
            <a:ext cx="1000125" cy="133241"/>
          </a:xfrm>
          <a:prstGeom prst="rect">
            <a:avLst/>
          </a:prstGeom>
          <a:noFill/>
          <a:ln/>
        </p:spPr>
        <p:txBody>
          <a:bodyPr wrap="none" lIns="0" tIns="0" rIns="0" bIns="0" rtlCol="0" anchor="t"/>
          <a:lstStyle/>
          <a:p>
            <a:pPr algn="l" indent="0" marL="0">
              <a:lnSpc>
                <a:spcPts val="1339"/>
              </a:lnSpc>
              <a:buNone/>
            </a:pPr>
            <a:r>
              <a:rPr lang="en-US" sz="800" dirty="0">
                <a:solidFill>
                  <a:srgbClr val="FF7A1A"/>
                </a:solidFill>
                <a:latin typeface="Courier New" pitchFamily="34" charset="0"/>
                <a:ea typeface="Courier New" pitchFamily="34" charset="-122"/>
                <a:cs typeface="Courier New" pitchFamily="34" charset="-120"/>
              </a:rPr>
              <a:t>"X-MCP-Toolsets"</a:t>
            </a:r>
            <a:endParaRPr lang="en-US" sz="800" dirty="0"/>
          </a:p>
        </p:txBody>
      </p:sp>
      <p:sp>
        <p:nvSpPr>
          <p:cNvPr id="23" name="Text 21"/>
          <p:cNvSpPr/>
          <p:nvPr/>
        </p:nvSpPr>
        <p:spPr>
          <a:xfrm>
            <a:off x="2021681" y="3675236"/>
            <a:ext cx="937617" cy="133241"/>
          </a:xfrm>
          <a:prstGeom prst="rect">
            <a:avLst/>
          </a:prstGeom>
          <a:noFill/>
          <a:ln/>
        </p:spPr>
        <p:txBody>
          <a:bodyPr wrap="none" lIns="0" tIns="0" rIns="0" bIns="0" rtlCol="0" anchor="t"/>
          <a:lstStyle/>
          <a:p>
            <a:pPr algn="l" indent="0" marL="0">
              <a:lnSpc>
                <a:spcPts val="1339"/>
              </a:lnSpc>
              <a:buNone/>
            </a:pPr>
            <a:r>
              <a:rPr lang="en-US" sz="800" dirty="0">
                <a:solidFill>
                  <a:srgbClr val="B6E3A1"/>
                </a:solidFill>
                <a:latin typeface="Courier New" pitchFamily="34" charset="0"/>
                <a:ea typeface="Courier New" pitchFamily="34" charset="-122"/>
                <a:cs typeface="Courier New" pitchFamily="34" charset="-120"/>
              </a:rPr>
              <a:t>"pull_requests"</a:t>
            </a:r>
            <a:endParaRPr lang="en-US" sz="800" dirty="0"/>
          </a:p>
        </p:txBody>
      </p:sp>
      <p:sp>
        <p:nvSpPr>
          <p:cNvPr id="24" name="Text 22"/>
          <p:cNvSpPr/>
          <p:nvPr/>
        </p:nvSpPr>
        <p:spPr>
          <a:xfrm>
            <a:off x="917348" y="4185233"/>
            <a:ext cx="758485" cy="91440"/>
          </a:xfrm>
          <a:prstGeom prst="rect">
            <a:avLst/>
          </a:prstGeom>
          <a:noFill/>
          <a:ln/>
        </p:spPr>
        <p:txBody>
          <a:bodyPr wrap="none" lIns="0" tIns="0" rIns="0" bIns="0" rtlCol="0" anchor="t"/>
          <a:lstStyle/>
          <a:p>
            <a:pPr algn="l" indent="0" marL="0">
              <a:lnSpc>
                <a:spcPts val="1339"/>
              </a:lnSpc>
              <a:buNone/>
            </a:pPr>
            <a:r>
              <a:rPr lang="en-US" sz="800" dirty="0">
                <a:solidFill>
                  <a:srgbClr val="FF7A1A"/>
                </a:solidFill>
                <a:latin typeface="Courier New" pitchFamily="34" charset="0"/>
                <a:ea typeface="Courier New" pitchFamily="34" charset="-122"/>
                <a:cs typeface="Courier New" pitchFamily="34" charset="-120"/>
              </a:rPr>
              <a:t>"repo_facts"</a:t>
            </a:r>
            <a:endParaRPr lang="en-US" sz="800" dirty="0"/>
          </a:p>
        </p:txBody>
      </p:sp>
      <p:sp>
        <p:nvSpPr>
          <p:cNvPr id="25" name="Text 23"/>
          <p:cNvSpPr/>
          <p:nvPr/>
        </p:nvSpPr>
        <p:spPr>
          <a:xfrm>
            <a:off x="1021556" y="4355232"/>
            <a:ext cx="429054" cy="91440"/>
          </a:xfrm>
          <a:prstGeom prst="rect">
            <a:avLst/>
          </a:prstGeom>
          <a:noFill/>
          <a:ln/>
        </p:spPr>
        <p:txBody>
          <a:bodyPr wrap="none" lIns="0" tIns="0" rIns="0" bIns="0" rtlCol="0" anchor="t"/>
          <a:lstStyle/>
          <a:p>
            <a:pPr algn="l" indent="0" marL="0">
              <a:lnSpc>
                <a:spcPts val="1339"/>
              </a:lnSpc>
              <a:buNone/>
            </a:pPr>
            <a:r>
              <a:rPr lang="en-US" sz="800" dirty="0">
                <a:solidFill>
                  <a:srgbClr val="FF7A1A"/>
                </a:solidFill>
                <a:latin typeface="Courier New" pitchFamily="34" charset="0"/>
                <a:ea typeface="Courier New" pitchFamily="34" charset="-122"/>
                <a:cs typeface="Courier New" pitchFamily="34" charset="-120"/>
              </a:rPr>
              <a:t>"type"</a:t>
            </a:r>
            <a:endParaRPr lang="en-US" sz="800" dirty="0"/>
          </a:p>
        </p:txBody>
      </p:sp>
      <p:sp>
        <p:nvSpPr>
          <p:cNvPr id="26" name="Text 24"/>
          <p:cNvSpPr/>
          <p:nvPr/>
        </p:nvSpPr>
        <p:spPr>
          <a:xfrm>
            <a:off x="1421606" y="4355232"/>
            <a:ext cx="500563" cy="91440"/>
          </a:xfrm>
          <a:prstGeom prst="rect">
            <a:avLst/>
          </a:prstGeom>
          <a:noFill/>
          <a:ln/>
        </p:spPr>
        <p:txBody>
          <a:bodyPr wrap="none" lIns="0" tIns="0" rIns="0" bIns="0" rtlCol="0" anchor="t"/>
          <a:lstStyle/>
          <a:p>
            <a:pPr algn="l" indent="0" marL="0">
              <a:lnSpc>
                <a:spcPts val="1339"/>
              </a:lnSpc>
              <a:buNone/>
            </a:pPr>
            <a:r>
              <a:rPr lang="en-US" sz="800" dirty="0">
                <a:solidFill>
                  <a:srgbClr val="B6E3A1"/>
                </a:solidFill>
                <a:latin typeface="Courier New" pitchFamily="34" charset="0"/>
                <a:ea typeface="Courier New" pitchFamily="34" charset="-122"/>
                <a:cs typeface="Courier New" pitchFamily="34" charset="-120"/>
              </a:rPr>
              <a:t>"stdio"</a:t>
            </a:r>
            <a:endParaRPr lang="en-US" sz="800" dirty="0"/>
          </a:p>
        </p:txBody>
      </p:sp>
      <p:sp>
        <p:nvSpPr>
          <p:cNvPr id="27" name="Text 25"/>
          <p:cNvSpPr/>
          <p:nvPr/>
        </p:nvSpPr>
        <p:spPr>
          <a:xfrm>
            <a:off x="1021556" y="4525231"/>
            <a:ext cx="643580" cy="91440"/>
          </a:xfrm>
          <a:prstGeom prst="rect">
            <a:avLst/>
          </a:prstGeom>
          <a:noFill/>
          <a:ln/>
        </p:spPr>
        <p:txBody>
          <a:bodyPr wrap="none" lIns="0" tIns="0" rIns="0" bIns="0" rtlCol="0" anchor="t"/>
          <a:lstStyle/>
          <a:p>
            <a:pPr algn="l" indent="0" marL="0">
              <a:lnSpc>
                <a:spcPts val="1339"/>
              </a:lnSpc>
              <a:buNone/>
            </a:pPr>
            <a:r>
              <a:rPr lang="en-US" sz="800" dirty="0">
                <a:solidFill>
                  <a:srgbClr val="FF7A1A"/>
                </a:solidFill>
                <a:latin typeface="Courier New" pitchFamily="34" charset="0"/>
                <a:ea typeface="Courier New" pitchFamily="34" charset="-122"/>
                <a:cs typeface="Courier New" pitchFamily="34" charset="-120"/>
              </a:rPr>
              <a:t>"command"</a:t>
            </a:r>
            <a:endParaRPr lang="en-US" sz="800" dirty="0"/>
          </a:p>
        </p:txBody>
      </p:sp>
      <p:sp>
        <p:nvSpPr>
          <p:cNvPr id="28" name="Text 26"/>
          <p:cNvSpPr/>
          <p:nvPr/>
        </p:nvSpPr>
        <p:spPr>
          <a:xfrm>
            <a:off x="1571625" y="4525231"/>
            <a:ext cx="572072" cy="91440"/>
          </a:xfrm>
          <a:prstGeom prst="rect">
            <a:avLst/>
          </a:prstGeom>
          <a:noFill/>
          <a:ln/>
        </p:spPr>
        <p:txBody>
          <a:bodyPr wrap="none" lIns="0" tIns="0" rIns="0" bIns="0" rtlCol="0" anchor="t"/>
          <a:lstStyle/>
          <a:p>
            <a:pPr algn="l" indent="0" marL="0">
              <a:lnSpc>
                <a:spcPts val="1339"/>
              </a:lnSpc>
              <a:buNone/>
            </a:pPr>
            <a:r>
              <a:rPr lang="en-US" sz="800" dirty="0">
                <a:solidFill>
                  <a:srgbClr val="B6E3A1"/>
                </a:solidFill>
                <a:latin typeface="Courier New" pitchFamily="34" charset="0"/>
                <a:ea typeface="Courier New" pitchFamily="34" charset="-122"/>
                <a:cs typeface="Courier New" pitchFamily="34" charset="-120"/>
              </a:rPr>
              <a:t>"python"</a:t>
            </a:r>
            <a:endParaRPr lang="en-US" sz="800" dirty="0"/>
          </a:p>
        </p:txBody>
      </p:sp>
      <p:sp>
        <p:nvSpPr>
          <p:cNvPr id="29" name="Text 27"/>
          <p:cNvSpPr/>
          <p:nvPr/>
        </p:nvSpPr>
        <p:spPr>
          <a:xfrm>
            <a:off x="1021556" y="4695230"/>
            <a:ext cx="429054" cy="91440"/>
          </a:xfrm>
          <a:prstGeom prst="rect">
            <a:avLst/>
          </a:prstGeom>
          <a:noFill/>
          <a:ln/>
        </p:spPr>
        <p:txBody>
          <a:bodyPr wrap="none" lIns="0" tIns="0" rIns="0" bIns="0" rtlCol="0" anchor="t"/>
          <a:lstStyle/>
          <a:p>
            <a:pPr algn="l" indent="0" marL="0">
              <a:lnSpc>
                <a:spcPts val="1339"/>
              </a:lnSpc>
              <a:buNone/>
            </a:pPr>
            <a:r>
              <a:rPr lang="en-US" sz="800" dirty="0">
                <a:solidFill>
                  <a:srgbClr val="FF7A1A"/>
                </a:solidFill>
                <a:latin typeface="Courier New" pitchFamily="34" charset="0"/>
                <a:ea typeface="Courier New" pitchFamily="34" charset="-122"/>
                <a:cs typeface="Courier New" pitchFamily="34" charset="-120"/>
              </a:rPr>
              <a:t>"args"</a:t>
            </a:r>
            <a:endParaRPr lang="en-US" sz="800" dirty="0"/>
          </a:p>
        </p:txBody>
      </p:sp>
      <p:sp>
        <p:nvSpPr>
          <p:cNvPr id="30" name="Text 28"/>
          <p:cNvSpPr/>
          <p:nvPr/>
        </p:nvSpPr>
        <p:spPr>
          <a:xfrm>
            <a:off x="1471613" y="4695230"/>
            <a:ext cx="1375172" cy="91440"/>
          </a:xfrm>
          <a:prstGeom prst="rect">
            <a:avLst/>
          </a:prstGeom>
          <a:noFill/>
          <a:ln/>
        </p:spPr>
        <p:txBody>
          <a:bodyPr wrap="none" lIns="0" tIns="0" rIns="0" bIns="0" rtlCol="0" anchor="t"/>
          <a:lstStyle/>
          <a:p>
            <a:pPr algn="l" indent="0" marL="0">
              <a:lnSpc>
                <a:spcPts val="1339"/>
              </a:lnSpc>
              <a:buNone/>
            </a:pPr>
            <a:r>
              <a:rPr lang="en-US" sz="800" dirty="0">
                <a:solidFill>
                  <a:srgbClr val="B6E3A1"/>
                </a:solidFill>
                <a:latin typeface="Courier New" pitchFamily="34" charset="0"/>
                <a:ea typeface="Courier New" pitchFamily="34" charset="-122"/>
                <a:cs typeface="Courier New" pitchFamily="34" charset="-120"/>
              </a:rPr>
              <a:t>"repo_facts_server.py"</a:t>
            </a:r>
            <a:endParaRPr lang="en-US" sz="800" dirty="0"/>
          </a:p>
        </p:txBody>
      </p:sp>
      <p:sp>
        <p:nvSpPr>
          <p:cNvPr id="31" name="Text 29"/>
          <p:cNvSpPr/>
          <p:nvPr/>
        </p:nvSpPr>
        <p:spPr>
          <a:xfrm>
            <a:off x="517922" y="4438055"/>
            <a:ext cx="8108156" cy="301823"/>
          </a:xfrm>
          <a:prstGeom prst="roundRect">
            <a:avLst>
              <a:gd name="adj" fmla="val 25247"/>
            </a:avLst>
          </a:prstGeom>
          <a:solidFill>
            <a:srgbClr val="15151A"/>
          </a:solidFill>
          <a:ln w="7144">
            <a:solidFill>
              <a:srgbClr val="2A2A33"/>
            </a:solidFill>
            <a:prstDash val="solid"/>
          </a:ln>
        </p:spPr>
        <p:txBody>
          <a:bodyPr wrap="square" rtlCol="0" anchor="ctr"/>
          <a:lstStyle/>
          <a:p>
            <a:pPr indent="0" marL="0">
              <a:buNone/>
            </a:pPr>
            <a:endParaRPr lang="en-US" dirty="0"/>
          </a:p>
        </p:txBody>
      </p:sp>
      <p:sp>
        <p:nvSpPr>
          <p:cNvPr id="32" name="Text 30"/>
          <p:cNvSpPr/>
          <p:nvPr/>
        </p:nvSpPr>
        <p:spPr>
          <a:xfrm>
            <a:off x="635794" y="4548783"/>
            <a:ext cx="71438" cy="71438"/>
          </a:xfrm>
          <a:prstGeom prst="roundRect">
            <a:avLst>
              <a:gd name="adj" fmla="val 26666"/>
            </a:avLst>
          </a:prstGeom>
          <a:solidFill>
            <a:srgbClr val="8AB4FF"/>
          </a:solidFill>
          <a:ln/>
        </p:spPr>
        <p:txBody>
          <a:bodyPr wrap="square" rtlCol="0" anchor="ctr"/>
          <a:lstStyle/>
          <a:p>
            <a:pPr indent="0" marL="0">
              <a:buNone/>
            </a:pPr>
            <a:endParaRPr lang="en-US" dirty="0"/>
          </a:p>
        </p:txBody>
      </p:sp>
      <p:sp>
        <p:nvSpPr>
          <p:cNvPr id="33" name="Text 31"/>
          <p:cNvSpPr/>
          <p:nvPr/>
        </p:nvSpPr>
        <p:spPr>
          <a:xfrm>
            <a:off x="635794" y="4527352"/>
            <a:ext cx="1782223" cy="123230"/>
          </a:xfrm>
          <a:prstGeom prst="rect">
            <a:avLst/>
          </a:prstGeom>
          <a:noFill/>
          <a:ln/>
        </p:spPr>
        <p:txBody>
          <a:bodyPr wrap="square" lIns="0" tIns="0" rIns="0" bIns="0" rtlCol="0" anchor="t"/>
          <a:lstStyle/>
          <a:p>
            <a:pPr algn="l" indent="0" marL="0">
              <a:lnSpc>
                <a:spcPts val="970"/>
              </a:lnSpc>
              <a:buNone/>
            </a:pPr>
            <a:r>
              <a:rPr lang="en-US" sz="647" dirty="0">
                <a:solidFill>
                  <a:srgbClr val="8AB4FF"/>
                </a:solidFill>
                <a:latin typeface="Courier New" pitchFamily="34" charset="0"/>
                <a:ea typeface="Courier New" pitchFamily="34" charset="-122"/>
                <a:cs typeface="Courier New" pitchFamily="34" charset="-120"/>
              </a:rPr>
              <a:t>github</a:t>
            </a:r>
            <a:pPr algn="l" indent="0" marL="0">
              <a:lnSpc>
                <a:spcPts val="970"/>
              </a:lnSpc>
              <a:buNone/>
            </a:pPr>
            <a:r>
              <a:rPr lang="en-US" sz="647" dirty="0">
                <a:solidFill>
                  <a:srgbClr val="A1A1AA"/>
                </a:solidFill>
                <a:latin typeface="Courier New" pitchFamily="34" charset="0"/>
                <a:ea typeface="Courier New" pitchFamily="34" charset="-122"/>
                <a:cs typeface="Courier New" pitchFamily="34" charset="-120"/>
              </a:rPr>
              <a:t>— remote http server, official</a:t>
            </a:r>
            <a:endParaRPr lang="en-US" sz="647" dirty="0"/>
          </a:p>
        </p:txBody>
      </p:sp>
      <p:sp>
        <p:nvSpPr>
          <p:cNvPr id="34" name="Text 32"/>
          <p:cNvSpPr/>
          <p:nvPr/>
        </p:nvSpPr>
        <p:spPr>
          <a:xfrm>
            <a:off x="2414588" y="4548783"/>
            <a:ext cx="71438" cy="71438"/>
          </a:xfrm>
          <a:prstGeom prst="roundRect">
            <a:avLst>
              <a:gd name="adj" fmla="val 26666"/>
            </a:avLst>
          </a:prstGeom>
          <a:solidFill>
            <a:srgbClr val="FF7A1A"/>
          </a:solidFill>
          <a:ln/>
        </p:spPr>
        <p:txBody>
          <a:bodyPr wrap="square" rtlCol="0" anchor="ctr"/>
          <a:lstStyle/>
          <a:p>
            <a:pPr indent="0" marL="0">
              <a:buNone/>
            </a:pPr>
            <a:endParaRPr lang="en-US" dirty="0"/>
          </a:p>
        </p:txBody>
      </p:sp>
      <p:sp>
        <p:nvSpPr>
          <p:cNvPr id="35" name="Text 33"/>
          <p:cNvSpPr/>
          <p:nvPr/>
        </p:nvSpPr>
        <p:spPr>
          <a:xfrm>
            <a:off x="2414588" y="4527352"/>
            <a:ext cx="3151680" cy="123230"/>
          </a:xfrm>
          <a:prstGeom prst="rect">
            <a:avLst/>
          </a:prstGeom>
          <a:noFill/>
          <a:ln/>
        </p:spPr>
        <p:txBody>
          <a:bodyPr wrap="square" lIns="0" tIns="0" rIns="0" bIns="0" rtlCol="0" anchor="t"/>
          <a:lstStyle/>
          <a:p>
            <a:pPr algn="l" indent="0" marL="0">
              <a:lnSpc>
                <a:spcPts val="970"/>
              </a:lnSpc>
              <a:buNone/>
            </a:pPr>
            <a:r>
              <a:rPr lang="en-US" sz="800" dirty="0">
                <a:solidFill>
                  <a:srgbClr val="FF7A1A"/>
                </a:solidFill>
                <a:latin typeface="Courier New" pitchFamily="34" charset="0"/>
                <a:ea typeface="Courier New" pitchFamily="34" charset="-122"/>
                <a:cs typeface="Courier New" pitchFamily="34" charset="-120"/>
              </a:rPr>
              <a:t>repo_facts</a:t>
            </a:r>
            <a:pPr algn="l" indent="0" marL="0">
              <a:lnSpc>
                <a:spcPts val="970"/>
              </a:lnSpc>
              <a:buNone/>
            </a:pPr>
            <a:r>
              <a:rPr lang="en-US" sz="800" dirty="0">
                <a:solidFill>
                  <a:srgbClr val="A1A1AA"/>
                </a:solidFill>
                <a:latin typeface="Courier New" pitchFamily="34" charset="0"/>
                <a:ea typeface="Courier New" pitchFamily="34" charset="-122"/>
                <a:cs typeface="Courier New" pitchFamily="34" charset="-120"/>
              </a:rPr>
              <a:t>— local stdio server, ours</a:t>
            </a:r>
            <a:endParaRPr lang="en-US" sz="800" dirty="0"/>
          </a:p>
        </p:txBody>
      </p:sp>
      <p:sp>
        <p:nvSpPr>
          <p:cNvPr id="36" name="Text 34"/>
          <p:cNvSpPr/>
          <p:nvPr/>
        </p:nvSpPr>
        <p:spPr>
          <a:xfrm>
            <a:off x="514350" y="4868466"/>
            <a:ext cx="6565553"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EP09 · MCP IN THE REAL WORLD</a:t>
            </a:r>
            <a:endParaRPr lang="en-US" sz="800" dirty="0"/>
          </a:p>
        </p:txBody>
      </p:sp>
      <p:sp>
        <p:nvSpPr>
          <p:cNvPr id="37" name="Text 35"/>
          <p:cNvSpPr/>
          <p:nvPr/>
        </p:nvSpPr>
        <p:spPr>
          <a:xfrm>
            <a:off x="7094190" y="4868466"/>
            <a:ext cx="1879019"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FINAL FILE 1 / 3 · </a:t>
            </a:r>
            <a:pPr algn="l" indent="0" marL="0">
              <a:lnSpc>
                <a:spcPts val="928"/>
              </a:lnSpc>
              <a:buNone/>
            </a:pPr>
            <a:r>
              <a:rPr lang="en-US" sz="800" spc="99" kern="0" dirty="0">
                <a:solidFill>
                  <a:srgbClr val="FF7A1A"/>
                </a:solidFill>
                <a:latin typeface="Courier New" pitchFamily="34" charset="0"/>
                <a:ea typeface="Courier New" pitchFamily="34" charset="-122"/>
                <a:cs typeface="Courier New" pitchFamily="34" charset="-120"/>
              </a:rPr>
              <a:t>.mcp.json</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257175" y="157163"/>
            <a:ext cx="2232705"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71717A"/>
                </a:solidFill>
                <a:latin typeface="Liberation Sans Narrow" pitchFamily="34" charset="0"/>
                <a:ea typeface="Liberation Sans Narrow" pitchFamily="34" charset="-122"/>
                <a:cs typeface="Liberation Sans Narrow" pitchFamily="34" charset="-120"/>
              </a:rPr>
              <a:t>EP09 </a:t>
            </a:r>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a:t>
            </a:r>
            <a:pPr algn="l" indent="0" marL="0">
              <a:lnSpc>
                <a:spcPts val="928"/>
              </a:lnSpc>
              <a:buNone/>
            </a:pPr>
            <a:r>
              <a:rPr lang="en-US" sz="800" spc="173" kern="0" dirty="0">
                <a:solidFill>
                  <a:srgbClr val="71717A"/>
                </a:solidFill>
                <a:latin typeface="Courier New" pitchFamily="34" charset="0"/>
                <a:ea typeface="Courier New" pitchFamily="34" charset="-122"/>
                <a:cs typeface="Courier New" pitchFamily="34" charset="-120"/>
              </a:rPr>
              <a:t> MCP IN THE REAL WORLD</a:t>
            </a:r>
            <a:endParaRPr lang="en-US" sz="800" dirty="0"/>
          </a:p>
        </p:txBody>
      </p:sp>
      <p:sp>
        <p:nvSpPr>
          <p:cNvPr id="3" name="Text 1"/>
          <p:cNvSpPr/>
          <p:nvPr/>
        </p:nvSpPr>
        <p:spPr>
          <a:xfrm>
            <a:off x="8512671" y="157163"/>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27 / 30</a:t>
            </a:r>
            <a:endParaRPr lang="en-US" sz="800" dirty="0"/>
          </a:p>
        </p:txBody>
      </p:sp>
      <p:sp>
        <p:nvSpPr>
          <p:cNvPr id="4" name="Text 2"/>
          <p:cNvSpPr/>
          <p:nvPr/>
        </p:nvSpPr>
        <p:spPr>
          <a:xfrm>
            <a:off x="5517147" y="3786188"/>
            <a:ext cx="3626853" cy="1357313"/>
          </a:xfrm>
          <a:prstGeom prst="rect">
            <a:avLst/>
          </a:prstGeom>
          <a:noFill/>
          <a:ln/>
        </p:spPr>
        <p:txBody>
          <a:bodyPr wrap="square" lIns="0" tIns="0" rIns="0" bIns="0" rtlCol="0" anchor="t"/>
          <a:lstStyle/>
          <a:p>
            <a:pPr algn="l" indent="0" marL="0">
              <a:lnSpc>
                <a:spcPts val="15750"/>
              </a:lnSpc>
              <a:buNone/>
            </a:pPr>
            <a:r>
              <a:rPr lang="en-US" sz="15750" b="1" dirty="0">
                <a:solidFill>
                  <a:srgbClr val="FF7A1A">
                    <a:alpha val="4000"/>
                  </a:srgbClr>
                </a:solidFill>
                <a:latin typeface="Liberation Sans Narrow" pitchFamily="34" charset="0"/>
                <a:ea typeface="Liberation Sans Narrow" pitchFamily="34" charset="-122"/>
                <a:cs typeface="Liberation Sans Narrow" pitchFamily="34" charset="-120"/>
              </a:rPr>
              <a:t>27</a:t>
            </a:r>
            <a:endParaRPr lang="en-US" sz="15750" dirty="0"/>
          </a:p>
        </p:txBody>
      </p:sp>
      <p:sp>
        <p:nvSpPr>
          <p:cNvPr id="5" name="Text 3"/>
          <p:cNvSpPr/>
          <p:nvPr/>
        </p:nvSpPr>
        <p:spPr>
          <a:xfrm>
            <a:off x="314325" y="200025"/>
            <a:ext cx="4001606" cy="91440"/>
          </a:xfrm>
          <a:prstGeom prst="rect">
            <a:avLst/>
          </a:prstGeom>
          <a:noFill/>
          <a:ln/>
        </p:spPr>
        <p:txBody>
          <a:bodyPr wrap="none" lIns="0" tIns="0" rIns="0" bIns="0" rtlCol="0" anchor="t">
            <a:normAutofit/>
          </a:bodyPr>
          <a:lstStyle/>
          <a:p>
            <a:pPr algn="l" indent="0" marL="0">
              <a:lnSpc>
                <a:spcPts val="928"/>
              </a:lnSpc>
              <a:buNone/>
            </a:pPr>
            <a:r>
              <a:rPr lang="en-US" sz="800" spc="173" kern="0" dirty="0">
                <a:solidFill>
                  <a:srgbClr val="FF7A1A"/>
                </a:solidFill>
                <a:latin typeface="Liberation Sans Narrow" pitchFamily="34" charset="0"/>
                <a:ea typeface="Liberation Sans Narrow" pitchFamily="34" charset="-122"/>
                <a:cs typeface="Liberation Sans Narrow" pitchFamily="34" charset="-120"/>
              </a:rPr>
              <a:t>FINAL FILE 2 / 3</a:t>
            </a:r>
            <a:endParaRPr lang="en-US" sz="800" dirty="0"/>
          </a:p>
        </p:txBody>
      </p:sp>
      <p:sp>
        <p:nvSpPr>
          <p:cNvPr id="6" name="Text 4"/>
          <p:cNvSpPr/>
          <p:nvPr/>
        </p:nvSpPr>
        <p:spPr>
          <a:xfrm>
            <a:off x="314325" y="317897"/>
            <a:ext cx="3170017" cy="212893"/>
          </a:xfrm>
          <a:prstGeom prst="rect">
            <a:avLst/>
          </a:prstGeom>
          <a:noFill/>
          <a:ln/>
        </p:spPr>
        <p:txBody>
          <a:bodyPr wrap="square" lIns="0" tIns="0" rIns="0" bIns="0" rtlCol="0" anchor="t"/>
          <a:lstStyle/>
          <a:p>
            <a:pPr algn="l" indent="0" marL="0">
              <a:lnSpc>
                <a:spcPts val="1553"/>
              </a:lnSpc>
              <a:buNone/>
            </a:pPr>
            <a:r>
              <a:rPr lang="en-US" sz="1350" b="1" spc="-13" kern="0" dirty="0">
                <a:solidFill>
                  <a:srgbClr val="F4F4F5"/>
                </a:solidFill>
                <a:latin typeface="Carlito" pitchFamily="34" charset="0"/>
                <a:ea typeface="Carlito" pitchFamily="34" charset="-122"/>
                <a:cs typeface="Carlito" pitchFamily="34" charset="-120"/>
              </a:rPr>
              <a:t>Final File — </a:t>
            </a:r>
            <a:pPr algn="l" indent="0" marL="0">
              <a:lnSpc>
                <a:spcPts val="1553"/>
              </a:lnSpc>
              <a:buNone/>
            </a:pPr>
            <a:r>
              <a:rPr lang="en-US" sz="1350" b="1" spc="-13" kern="0" dirty="0">
                <a:solidFill>
                  <a:srgbClr val="FF7A1A"/>
                </a:solidFill>
                <a:latin typeface="Carlito" pitchFamily="34" charset="0"/>
                <a:ea typeface="Carlito" pitchFamily="34" charset="-122"/>
                <a:cs typeface="Carlito" pitchFamily="34" charset="-120"/>
              </a:rPr>
              <a:t>agent.py</a:t>
            </a:r>
            <a:pPr algn="l" indent="0" marL="0">
              <a:lnSpc>
                <a:spcPts val="1553"/>
              </a:lnSpc>
              <a:buNone/>
            </a:pPr>
            <a:r>
              <a:rPr lang="en-US" sz="1350" b="1" spc="-13" kern="0" dirty="0">
                <a:solidFill>
                  <a:srgbClr val="F4F4F5"/>
                </a:solidFill>
                <a:latin typeface="Carlito" pitchFamily="34" charset="0"/>
                <a:ea typeface="Carlito" pitchFamily="34" charset="-122"/>
                <a:cs typeface="Carlito" pitchFamily="34" charset="-120"/>
              </a:rPr>
              <a:t> — complete, final</a:t>
            </a:r>
            <a:endParaRPr lang="en-US" sz="1350" dirty="0"/>
          </a:p>
        </p:txBody>
      </p:sp>
      <p:sp>
        <p:nvSpPr>
          <p:cNvPr id="7" name="Shape 5"/>
          <p:cNvSpPr/>
          <p:nvPr/>
        </p:nvSpPr>
        <p:spPr>
          <a:xfrm>
            <a:off x="314325" y="771860"/>
            <a:ext cx="8515350" cy="0"/>
          </a:xfrm>
          <a:prstGeom prst="line">
            <a:avLst/>
          </a:prstGeom>
          <a:noFill/>
          <a:ln w="7144">
            <a:solidFill>
              <a:srgbClr val="2A2A33"/>
            </a:solidFill>
            <a:prstDash val="solid"/>
          </a:ln>
        </p:spPr>
      </p:sp>
      <p:sp>
        <p:nvSpPr>
          <p:cNvPr id="8" name="Text 6"/>
          <p:cNvSpPr/>
          <p:nvPr/>
        </p:nvSpPr>
        <p:spPr>
          <a:xfrm>
            <a:off x="1038076" y="586457"/>
            <a:ext cx="415230" cy="138968"/>
          </a:xfrm>
          <a:prstGeom prst="roundRect">
            <a:avLst>
              <a:gd name="adj" fmla="val 27416"/>
            </a:avLst>
          </a:prstGeom>
          <a:solidFill>
            <a:srgbClr val="1D1D24"/>
          </a:solidFill>
          <a:ln/>
        </p:spPr>
        <p:txBody>
          <a:bodyPr wrap="square" rtlCol="0" anchor="ctr"/>
          <a:lstStyle/>
          <a:p>
            <a:pPr indent="0" marL="0">
              <a:buNone/>
            </a:pPr>
            <a:endParaRPr lang="en-US" dirty="0"/>
          </a:p>
        </p:txBody>
      </p:sp>
      <p:sp>
        <p:nvSpPr>
          <p:cNvPr id="9" name="Text 7"/>
          <p:cNvSpPr/>
          <p:nvPr/>
        </p:nvSpPr>
        <p:spPr>
          <a:xfrm>
            <a:off x="414338" y="595945"/>
            <a:ext cx="2849240" cy="129480"/>
          </a:xfrm>
          <a:prstGeom prst="rect">
            <a:avLst/>
          </a:prstGeom>
          <a:noFill/>
          <a:ln/>
        </p:spPr>
        <p:txBody>
          <a:bodyPr wrap="square" lIns="0" tIns="0" rIns="0" bIns="0" rtlCol="0" anchor="t"/>
          <a:lstStyle/>
          <a:p>
            <a:pPr algn="l" indent="0" marL="0">
              <a:lnSpc>
                <a:spcPts val="945"/>
              </a:lnSpc>
              <a:buNone/>
            </a:pPr>
            <a:r>
              <a:rPr lang="en-US" sz="675" dirty="0">
                <a:solidFill>
                  <a:srgbClr val="A1A1AA"/>
                </a:solidFill>
                <a:latin typeface="Carlito" pitchFamily="34" charset="0"/>
                <a:ea typeface="Carlito" pitchFamily="34" charset="-122"/>
                <a:cs typeface="Carlito" pitchFamily="34" charset="-120"/>
              </a:rPr>
              <a:t>Complete, final — every import, every function, reassembled</a:t>
            </a:r>
            <a:endParaRPr lang="en-US" sz="675" dirty="0"/>
          </a:p>
        </p:txBody>
      </p:sp>
      <p:sp>
        <p:nvSpPr>
          <p:cNvPr id="10" name="Text 8"/>
          <p:cNvSpPr/>
          <p:nvPr/>
        </p:nvSpPr>
        <p:spPr>
          <a:xfrm rot="2700000">
            <a:off x="309020" y="629149"/>
            <a:ext cx="53473" cy="53473"/>
          </a:xfrm>
          <a:prstGeom prst="rect">
            <a:avLst/>
          </a:prstGeom>
          <a:noFill/>
          <a:ln w="7144">
            <a:solidFill>
              <a:srgbClr val="FF7A1A"/>
            </a:solidFill>
            <a:prstDash val="solid"/>
          </a:ln>
        </p:spPr>
        <p:txBody>
          <a:bodyPr wrap="square" rtlCol="0" anchor="ctr"/>
          <a:lstStyle/>
          <a:p>
            <a:pPr indent="0" marL="0">
              <a:buNone/>
            </a:pPr>
            <a:endParaRPr lang="en-US" dirty="0"/>
          </a:p>
        </p:txBody>
      </p:sp>
      <p:sp>
        <p:nvSpPr>
          <p:cNvPr id="11" name="Text 9"/>
          <p:cNvSpPr/>
          <p:nvPr/>
        </p:nvSpPr>
        <p:spPr>
          <a:xfrm>
            <a:off x="1021467" y="578119"/>
            <a:ext cx="448449" cy="155644"/>
          </a:xfrm>
          <a:prstGeom prst="roundRect">
            <a:avLst>
              <a:gd name="adj" fmla="val 24479"/>
            </a:avLst>
          </a:prstGeom>
          <a:solidFill>
            <a:srgbClr val="1D1D24"/>
          </a:solidFill>
          <a:ln w="7144">
            <a:solidFill>
              <a:srgbClr val="2A2A33"/>
            </a:solidFill>
            <a:prstDash val="solid"/>
          </a:ln>
        </p:spPr>
        <p:txBody>
          <a:bodyPr wrap="square" rtlCol="0" anchor="ctr"/>
          <a:lstStyle/>
          <a:p>
            <a:pPr indent="0" marL="0">
              <a:buNone/>
            </a:pPr>
            <a:endParaRPr lang="en-US" dirty="0"/>
          </a:p>
        </p:txBody>
      </p:sp>
      <p:sp>
        <p:nvSpPr>
          <p:cNvPr id="12" name="Text 10"/>
          <p:cNvSpPr/>
          <p:nvPr/>
        </p:nvSpPr>
        <p:spPr>
          <a:xfrm>
            <a:off x="982740" y="586457"/>
            <a:ext cx="525902" cy="138968"/>
          </a:xfrm>
          <a:prstGeom prst="rect">
            <a:avLst/>
          </a:prstGeom>
          <a:noFill/>
          <a:ln/>
        </p:spPr>
        <p:txBody>
          <a:bodyPr wrap="none" lIns="0" tIns="0" rIns="0" bIns="0" rtlCol="0" anchor="ctr"/>
          <a:lstStyle/>
          <a:p>
            <a:pPr algn="ctr" indent="0" marL="0">
              <a:lnSpc>
                <a:spcPts val="869"/>
              </a:lnSpc>
              <a:buNone/>
            </a:pPr>
            <a:r>
              <a:rPr lang="en-US" sz="800" dirty="0">
                <a:solidFill>
                  <a:srgbClr val="FF7A1A"/>
                </a:solidFill>
                <a:latin typeface="Courier New" pitchFamily="34" charset="0"/>
                <a:ea typeface="Courier New" pitchFamily="34" charset="-122"/>
                <a:cs typeface="Courier New" pitchFamily="34" charset="-120"/>
              </a:rPr>
              <a:t>agent.py</a:t>
            </a:r>
            <a:endParaRPr lang="en-US" sz="800" dirty="0"/>
          </a:p>
        </p:txBody>
      </p:sp>
      <p:sp>
        <p:nvSpPr>
          <p:cNvPr id="13" name="Text 11"/>
          <p:cNvSpPr/>
          <p:nvPr/>
        </p:nvSpPr>
        <p:spPr>
          <a:xfrm>
            <a:off x="3342159" y="595945"/>
            <a:ext cx="5487516" cy="129480"/>
          </a:xfrm>
          <a:prstGeom prst="rect">
            <a:avLst/>
          </a:prstGeom>
          <a:noFill/>
          <a:ln/>
        </p:spPr>
        <p:txBody>
          <a:bodyPr wrap="square" lIns="0" tIns="0" rIns="0" bIns="0" rtlCol="0" anchor="t"/>
          <a:lstStyle/>
          <a:p>
            <a:pPr algn="l" indent="0" marL="0">
              <a:lnSpc>
                <a:spcPts val="945"/>
              </a:lnSpc>
              <a:buNone/>
            </a:pPr>
            <a:r>
              <a:rPr lang="en-US" sz="800" dirty="0">
                <a:solidFill>
                  <a:srgbClr val="A1A1AA"/>
                </a:solidFill>
                <a:latin typeface="Carlito" pitchFamily="34" charset="0"/>
                <a:ea typeface="Carlito" pitchFamily="34" charset="-122"/>
                <a:cs typeface="Carlito" pitchFamily="34" charset="-120"/>
              </a:rPr>
              <a:t>If any earlier slide ever conflicts with this one, this one wins</a:t>
            </a:r>
            <a:endParaRPr lang="en-US" sz="800" dirty="0"/>
          </a:p>
        </p:txBody>
      </p:sp>
      <p:sp>
        <p:nvSpPr>
          <p:cNvPr id="14" name="Text 12"/>
          <p:cNvSpPr/>
          <p:nvPr/>
        </p:nvSpPr>
        <p:spPr>
          <a:xfrm>
            <a:off x="314325" y="904019"/>
            <a:ext cx="2223157" cy="196739"/>
          </a:xfrm>
          <a:prstGeom prst="rect">
            <a:avLst/>
          </a:prstGeom>
          <a:noFill/>
          <a:ln/>
        </p:spPr>
        <p:txBody>
          <a:bodyPr wrap="none" lIns="0" tIns="0" rIns="0" bIns="0" rtlCol="0" anchor="t"/>
          <a:lstStyle/>
          <a:p>
            <a:pPr algn="l" indent="0" marL="0">
              <a:lnSpc>
                <a:spcPts val="1434"/>
              </a:lnSpc>
              <a:buNone/>
            </a:pPr>
            <a:r>
              <a:rPr lang="en-US" sz="956" dirty="0">
                <a:solidFill>
                  <a:srgbClr val="F4F4F5"/>
                </a:solidFill>
                <a:latin typeface="Carlito" pitchFamily="34" charset="0"/>
                <a:ea typeface="Carlito" pitchFamily="34" charset="-122"/>
                <a:cs typeface="Carlito" pitchFamily="34" charset="-120"/>
              </a:rPr>
              <a:t>agent.py — complete, final</a:t>
            </a:r>
            <a:endParaRPr lang="en-US" sz="956" dirty="0"/>
          </a:p>
        </p:txBody>
      </p:sp>
      <p:sp>
        <p:nvSpPr>
          <p:cNvPr id="15" name="Text 13"/>
          <p:cNvSpPr/>
          <p:nvPr/>
        </p:nvSpPr>
        <p:spPr>
          <a:xfrm>
            <a:off x="2551770" y="941524"/>
            <a:ext cx="6592230" cy="164592"/>
          </a:xfrm>
          <a:prstGeom prst="rect">
            <a:avLst/>
          </a:prstGeom>
          <a:noFill/>
          <a:ln/>
        </p:spPr>
        <p:txBody>
          <a:bodyPr wrap="square" lIns="0" tIns="0" rIns="0" bIns="0" rtlCol="0" anchor="t"/>
          <a:lstStyle/>
          <a:p>
            <a:pPr algn="l" indent="0" marL="0">
              <a:lnSpc>
                <a:spcPts val="844"/>
              </a:lnSpc>
              <a:buNone/>
            </a:pPr>
            <a:r>
              <a:rPr lang="en-US" sz="600" spc="113" kern="0" dirty="0">
                <a:solidFill>
                  <a:srgbClr val="FF7A1A"/>
                </a:solidFill>
                <a:latin typeface="Liberation Sans Narrow" pitchFamily="34" charset="0"/>
                <a:ea typeface="Liberation Sans Narrow" pitchFamily="34" charset="-122"/>
                <a:cs typeface="Liberation Sans Narrow" pitchFamily="34" charset="-120"/>
              </a:rPr>
              <a:t>211 LINES</a:t>
            </a:r>
            <a:pPr algn="l" indent="0" marL="0">
              <a:lnSpc>
                <a:spcPts val="844"/>
              </a:lnSpc>
              <a:buNone/>
            </a:pPr>
            <a:r>
              <a:rPr lang="en-US" sz="600" spc="113" kern="0" dirty="0">
                <a:solidFill>
                  <a:srgbClr val="71717A"/>
                </a:solidFill>
                <a:latin typeface="Courier New" pitchFamily="34" charset="0"/>
                <a:ea typeface="Courier New" pitchFamily="34" charset="-122"/>
                <a:cs typeface="Courier New" pitchFamily="34" charset="-120"/>
              </a:rPr>
              <a:t> · 3 COLUMNS · MODULE DOCSTRING → IMPORTS → PR_TOOLS → BUILD_OPTIONS → REVIEW_PR → ASK_ABOUT_LIVE_REPO → MAIN</a:t>
            </a:r>
            <a:endParaRPr lang="en-US" sz="600" dirty="0"/>
          </a:p>
        </p:txBody>
      </p:sp>
      <p:sp>
        <p:nvSpPr>
          <p:cNvPr id="16" name="Text 14"/>
          <p:cNvSpPr/>
          <p:nvPr/>
        </p:nvSpPr>
        <p:spPr>
          <a:xfrm>
            <a:off x="2192930" y="1052123"/>
            <a:ext cx="858880" cy="102056"/>
          </a:xfrm>
          <a:prstGeom prst="rect">
            <a:avLst/>
          </a:prstGeom>
          <a:solidFill>
            <a:srgbClr val="0B0B0D"/>
          </a:solidFill>
          <a:ln/>
        </p:spPr>
        <p:txBody>
          <a:bodyPr wrap="square" rtlCol="0" anchor="ctr"/>
          <a:lstStyle/>
          <a:p>
            <a:pPr indent="0" marL="0">
              <a:buNone/>
            </a:pPr>
            <a:endParaRPr lang="en-US" dirty="0"/>
          </a:p>
        </p:txBody>
      </p:sp>
      <p:sp>
        <p:nvSpPr>
          <p:cNvPr id="17" name="Text 15"/>
          <p:cNvSpPr/>
          <p:nvPr/>
        </p:nvSpPr>
        <p:spPr>
          <a:xfrm>
            <a:off x="2215790" y="1057610"/>
            <a:ext cx="813160" cy="164592"/>
          </a:xfrm>
          <a:prstGeom prst="rect">
            <a:avLst/>
          </a:prstGeom>
          <a:noFill/>
          <a:ln/>
        </p:spPr>
        <p:txBody>
          <a:bodyPr wrap="none" lIns="42863" tIns="0" rIns="42863" bIns="0" rtlCol="0" anchor="t"/>
          <a:lstStyle/>
          <a:p>
            <a:pPr algn="l" indent="0" marL="0">
              <a:lnSpc>
                <a:spcPts val="717"/>
              </a:lnSpc>
              <a:buNone/>
            </a:pPr>
            <a:r>
              <a:rPr lang="en-US" sz="600" spc="86" kern="0" dirty="0">
                <a:solidFill>
                  <a:srgbClr val="71717A"/>
                </a:solidFill>
                <a:latin typeface="Liberation Sans Narrow" pitchFamily="34" charset="0"/>
                <a:ea typeface="Liberation Sans Narrow" pitchFamily="34" charset="-122"/>
                <a:cs typeface="Liberation Sans Narrow" pitchFamily="34" charset="-120"/>
              </a:rPr>
              <a:t>COL 1 · LINES 1–80</a:t>
            </a:r>
            <a:endParaRPr lang="en-US" sz="600" dirty="0"/>
          </a:p>
        </p:txBody>
      </p:sp>
      <p:sp>
        <p:nvSpPr>
          <p:cNvPr id="18" name="Text 16"/>
          <p:cNvSpPr/>
          <p:nvPr/>
        </p:nvSpPr>
        <p:spPr>
          <a:xfrm>
            <a:off x="392906" y="1186197"/>
            <a:ext cx="1525834"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"""PR &amp; Repo Review Agent — Episode 09: MCP in the real world.</a:t>
            </a:r>
            <a:endParaRPr lang="en-US" sz="600" dirty="0"/>
          </a:p>
        </p:txBody>
      </p:sp>
      <p:sp>
        <p:nvSpPr>
          <p:cNvPr id="19" name="Text 17"/>
          <p:cNvSpPr/>
          <p:nvPr/>
        </p:nvSpPr>
        <p:spPr>
          <a:xfrm>
            <a:off x="392906" y="1279066"/>
            <a:ext cx="1671638"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Run this from inside `ep09/`. Same cwd rule as every episode since Ep06:</a:t>
            </a:r>
            <a:endParaRPr lang="en-US" sz="600" dirty="0"/>
          </a:p>
        </p:txBody>
      </p:sp>
      <p:sp>
        <p:nvSpPr>
          <p:cNvPr id="20" name="Text 18"/>
          <p:cNvSpPr/>
          <p:nvPr/>
        </p:nvSpPr>
        <p:spPr>
          <a:xfrm>
            <a:off x="392906" y="1325500"/>
            <a:ext cx="1718072"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CLAUDE.md, Skills, and -- new this episode -- .mcp.json are all discovered</a:t>
            </a:r>
            <a:endParaRPr lang="en-US" sz="600" dirty="0"/>
          </a:p>
        </p:txBody>
      </p:sp>
      <p:sp>
        <p:nvSpPr>
          <p:cNvPr id="21" name="Text 19"/>
          <p:cNvSpPr/>
          <p:nvPr/>
        </p:nvSpPr>
        <p:spPr>
          <a:xfrm>
            <a:off x="392906" y="1371935"/>
            <a:ext cx="1648420"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starting from the working directory, gated by the same setting_sources=</a:t>
            </a:r>
            <a:endParaRPr lang="en-US" sz="600" dirty="0"/>
          </a:p>
        </p:txBody>
      </p:sp>
      <p:sp>
        <p:nvSpPr>
          <p:cNvPr id="22" name="Text 20"/>
          <p:cNvSpPr/>
          <p:nvPr/>
        </p:nvSpPr>
        <p:spPr>
          <a:xfrm>
            <a:off x="392906" y="1418369"/>
            <a:ext cx="1625203"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["project"] switch we flipped on back in Episode 06. We didn't know it</a:t>
            </a:r>
            <a:endParaRPr lang="en-US" sz="600" dirty="0"/>
          </a:p>
        </p:txBody>
      </p:sp>
      <p:sp>
        <p:nvSpPr>
          <p:cNvPr id="23" name="Text 21"/>
          <p:cNvSpPr/>
          <p:nvPr/>
        </p:nvSpPr>
        <p:spPr>
          <a:xfrm>
            <a:off x="392906" y="1464804"/>
            <a:ext cx="1599664"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yet at the time, but that one line was already doing double duty.</a:t>
            </a:r>
            <a:endParaRPr lang="en-US" sz="600" dirty="0"/>
          </a:p>
        </p:txBody>
      </p:sp>
      <p:sp>
        <p:nvSpPr>
          <p:cNvPr id="24" name="Text 22"/>
          <p:cNvSpPr/>
          <p:nvPr/>
        </p:nvSpPr>
        <p:spPr>
          <a:xfrm>
            <a:off x="392906" y="1557672"/>
            <a:ext cx="1741289"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What changed since Ep08: two new MCP servers exist on disk (see .mcp.json),</a:t>
            </a:r>
            <a:endParaRPr lang="en-US" sz="600" dirty="0"/>
          </a:p>
        </p:txBody>
      </p:sp>
      <p:sp>
        <p:nvSpPr>
          <p:cNvPr id="25" name="Text 23"/>
          <p:cNvSpPr/>
          <p:nvPr/>
        </p:nvSpPr>
        <p:spPr>
          <a:xfrm>
            <a:off x="392906" y="1604107"/>
            <a:ext cx="1550444"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but NEITHER is wired into review_pr()'s subagent flow. The mock</a:t>
            </a:r>
            <a:endParaRPr lang="en-US" sz="600" dirty="0"/>
          </a:p>
        </p:txBody>
      </p:sp>
      <p:sp>
        <p:nvSpPr>
          <p:cNvPr id="26" name="Text 24"/>
          <p:cNvSpPr/>
          <p:nvPr/>
        </p:nvSpPr>
        <p:spPr>
          <a:xfrm>
            <a:off x="392906" y="1650541"/>
            <a:ext cx="1671638"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fetch_pr_metadata from Ep04 is still exactly what docstring-reviewer and</a:t>
            </a:r>
            <a:endParaRPr lang="en-US" sz="600" dirty="0"/>
          </a:p>
        </p:txBody>
      </p:sp>
      <p:sp>
        <p:nvSpPr>
          <p:cNvPr id="27" name="Text 25"/>
          <p:cNvSpPr/>
          <p:nvPr/>
        </p:nvSpPr>
        <p:spPr>
          <a:xfrm>
            <a:off x="392906" y="1696975"/>
            <a:ext cx="1601986"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security-reviewer call for PR #143 -- deterministic, offline, safe to</a:t>
            </a:r>
            <a:endParaRPr lang="en-US" sz="600" dirty="0"/>
          </a:p>
        </p:txBody>
      </p:sp>
      <p:sp>
        <p:nvSpPr>
          <p:cNvPr id="28" name="Text 26"/>
          <p:cNvSpPr/>
          <p:nvPr/>
        </p:nvSpPr>
        <p:spPr>
          <a:xfrm>
            <a:off x="392906" y="1743410"/>
            <a:ext cx="1694855"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re-run on camera as many times as a retake needs. The two new servers are</a:t>
            </a:r>
            <a:endParaRPr lang="en-US" sz="600" dirty="0"/>
          </a:p>
        </p:txBody>
      </p:sp>
      <p:sp>
        <p:nvSpPr>
          <p:cNvPr id="29" name="Text 27"/>
          <p:cNvSpPr/>
          <p:nvPr/>
        </p:nvSpPr>
        <p:spPr>
          <a:xfrm>
            <a:off x="392906" y="1789844"/>
            <a:ext cx="1625203"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a separate, opt-in capability that only the coordinator gets, and only</a:t>
            </a:r>
            <a:endParaRPr lang="en-US" sz="600" dirty="0"/>
          </a:p>
        </p:txBody>
      </p:sp>
      <p:sp>
        <p:nvSpPr>
          <p:cNvPr id="30" name="Text 28"/>
          <p:cNvSpPr/>
          <p:nvPr/>
        </p:nvSpPr>
        <p:spPr>
          <a:xfrm>
            <a:off x="392906" y="1836279"/>
            <a:ext cx="449253"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when asked for:</a:t>
            </a:r>
            <a:endParaRPr lang="en-US" sz="600" dirty="0"/>
          </a:p>
        </p:txBody>
      </p:sp>
      <p:sp>
        <p:nvSpPr>
          <p:cNvPr id="31" name="Text 29"/>
          <p:cNvSpPr/>
          <p:nvPr/>
        </p:nvSpPr>
        <p:spPr>
          <a:xfrm>
            <a:off x="392906" y="1929147"/>
            <a:ext cx="1694855"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 "github"     -- GitHub's real, official remote MCP server, configured</a:t>
            </a:r>
            <a:endParaRPr lang="en-US" sz="600" dirty="0"/>
          </a:p>
        </p:txBody>
      </p:sp>
      <p:sp>
        <p:nvSpPr>
          <p:cNvPr id="32" name="Text 30"/>
          <p:cNvSpPr/>
          <p:nvPr/>
        </p:nvSpPr>
        <p:spPr>
          <a:xfrm>
            <a:off x="392906" y="1975582"/>
            <a:ext cx="1705070"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in .mcp.json (type "http"). Lets the coordinator</a:t>
            </a:r>
            <a:endParaRPr lang="en-US" sz="600" dirty="0"/>
          </a:p>
        </p:txBody>
      </p:sp>
      <p:sp>
        <p:nvSpPr>
          <p:cNvPr id="33" name="Text 31"/>
          <p:cNvSpPr/>
          <p:nvPr/>
        </p:nvSpPr>
        <p:spPr>
          <a:xfrm>
            <a:off x="392906" y="2022016"/>
            <a:ext cx="1694855"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answer questions against REAL GitHub data on request.</a:t>
            </a:r>
            <a:endParaRPr lang="en-US" sz="600" dirty="0"/>
          </a:p>
        </p:txBody>
      </p:sp>
      <p:sp>
        <p:nvSpPr>
          <p:cNvPr id="34" name="Text 32"/>
          <p:cNvSpPr/>
          <p:nvPr/>
        </p:nvSpPr>
        <p:spPr>
          <a:xfrm>
            <a:off x="392906" y="2068450"/>
            <a:ext cx="1578769"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 "repo_facts" -- our own standalone MCP server, also in .mcp.json</a:t>
            </a:r>
            <a:endParaRPr lang="en-US" sz="600" dirty="0"/>
          </a:p>
        </p:txBody>
      </p:sp>
      <p:sp>
        <p:nvSpPr>
          <p:cNvPr id="35" name="Text 33"/>
          <p:cNvSpPr/>
          <p:nvPr/>
        </p:nvSpPr>
        <p:spPr>
          <a:xfrm>
            <a:off x="392906" y="2114885"/>
            <a:ext cx="1671638"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(type "stdio"), living at ep09/repo_facts_server.py.</a:t>
            </a:r>
            <a:endParaRPr lang="en-US" sz="600" dirty="0"/>
          </a:p>
        </p:txBody>
      </p:sp>
      <p:sp>
        <p:nvSpPr>
          <p:cNvPr id="36" name="Text 34"/>
          <p:cNvSpPr/>
          <p:nvPr/>
        </p:nvSpPr>
        <p:spPr>
          <a:xfrm>
            <a:off x="392906" y="2161319"/>
            <a:ext cx="1578769"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Counts TODO/FIXME comments. A genuinely separate</a:t>
            </a:r>
            <a:endParaRPr lang="en-US" sz="600" dirty="0"/>
          </a:p>
        </p:txBody>
      </p:sp>
      <p:sp>
        <p:nvSpPr>
          <p:cNvPr id="37" name="Text 35"/>
          <p:cNvSpPr/>
          <p:nvPr/>
        </p:nvSpPr>
        <p:spPr>
          <a:xfrm>
            <a:off x="392906" y="2207754"/>
            <a:ext cx="1625203"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program -- Claude Code, Claude Desktop, and Cursor</a:t>
            </a:r>
            <a:endParaRPr lang="en-US" sz="600" dirty="0"/>
          </a:p>
        </p:txBody>
      </p:sp>
      <p:sp>
        <p:nvSpPr>
          <p:cNvPr id="38" name="Text 36"/>
          <p:cNvSpPr/>
          <p:nvPr/>
        </p:nvSpPr>
        <p:spPr>
          <a:xfrm>
            <a:off x="392906" y="2254188"/>
            <a:ext cx="1780294"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could all launch this exact same file too, no Agent</a:t>
            </a:r>
            <a:endParaRPr lang="en-US" sz="600" dirty="0"/>
          </a:p>
        </p:txBody>
      </p:sp>
      <p:sp>
        <p:nvSpPr>
          <p:cNvPr id="39" name="Text 37"/>
          <p:cNvSpPr/>
          <p:nvPr/>
        </p:nvSpPr>
        <p:spPr>
          <a:xfrm>
            <a:off x="392906" y="2300622"/>
            <a:ext cx="988356" cy="135050"/>
          </a:xfrm>
          <a:prstGeom prst="rect">
            <a:avLst/>
          </a:prstGeom>
          <a:noFill/>
          <a:ln/>
        </p:spPr>
        <p:txBody>
          <a:bodyPr wrap="none" lIns="0" tIns="0" rIns="0" bIns="0" rtlCol="0" anchor="t"/>
          <a:lstStyle/>
          <a:p>
            <a:pPr algn="l" indent="0" marL="0">
              <a:lnSpc>
                <a:spcPts val="366"/>
              </a:lnSpc>
              <a:buNone/>
            </a:pPr>
            <a:r>
              <a:rPr lang="en-US" sz="800" i="1" dirty="0">
                <a:solidFill>
                  <a:srgbClr val="71717A"/>
                </a:solidFill>
                <a:latin typeface="Courier New" pitchFamily="34" charset="0"/>
                <a:ea typeface="Courier New" pitchFamily="34" charset="-122"/>
                <a:cs typeface="Courier New" pitchFamily="34" charset="-120"/>
              </a:rPr>
              <a:t>SDK involved.</a:t>
            </a:r>
            <a:endParaRPr lang="en-US" sz="800" dirty="0"/>
          </a:p>
        </p:txBody>
      </p:sp>
      <p:sp>
        <p:nvSpPr>
          <p:cNvPr id="40" name="Text 38"/>
          <p:cNvSpPr/>
          <p:nvPr/>
        </p:nvSpPr>
        <p:spPr>
          <a:xfrm>
            <a:off x="392906" y="2393491"/>
            <a:ext cx="1625203"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Both live in .mcp.json, not in build_options(). See that file for why:</a:t>
            </a:r>
            <a:endParaRPr lang="en-US" sz="600" dirty="0"/>
          </a:p>
        </p:txBody>
      </p:sp>
      <p:sp>
        <p:nvSpPr>
          <p:cNvPr id="41" name="Text 39"/>
          <p:cNvSpPr/>
          <p:nvPr/>
        </p:nvSpPr>
        <p:spPr>
          <a:xfrm>
            <a:off x="392906" y="2439925"/>
            <a:ext cx="1648420"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they're pure config -- a URL, or a command to run -- nothing about them</a:t>
            </a:r>
            <a:endParaRPr lang="en-US" sz="600" dirty="0"/>
          </a:p>
        </p:txBody>
      </p:sp>
      <p:sp>
        <p:nvSpPr>
          <p:cNvPr id="42" name="Text 40"/>
          <p:cNvSpPr/>
          <p:nvPr/>
        </p:nvSpPr>
        <p:spPr>
          <a:xfrm>
            <a:off x="392906" y="2486360"/>
            <a:ext cx="1205901"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needs a live Python object the way pr_tools does.</a:t>
            </a:r>
            <a:endParaRPr lang="en-US" sz="600" dirty="0"/>
          </a:p>
        </p:txBody>
      </p:sp>
      <p:sp>
        <p:nvSpPr>
          <p:cNvPr id="43" name="Text 41"/>
          <p:cNvSpPr/>
          <p:nvPr/>
        </p:nvSpPr>
        <p:spPr>
          <a:xfrm>
            <a:off x="374599" y="2532794"/>
            <a:ext cx="148057"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a:t>
            </a:r>
            <a:endParaRPr lang="en-US" sz="600" dirty="0"/>
          </a:p>
        </p:txBody>
      </p:sp>
      <p:sp>
        <p:nvSpPr>
          <p:cNvPr id="44" name="Text 42"/>
          <p:cNvSpPr/>
          <p:nvPr/>
        </p:nvSpPr>
        <p:spPr>
          <a:xfrm>
            <a:off x="338904" y="2625663"/>
            <a:ext cx="307208"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import</a:t>
            </a:r>
            <a:endParaRPr lang="en-US" sz="600" dirty="0"/>
          </a:p>
        </p:txBody>
      </p:sp>
      <p:sp>
        <p:nvSpPr>
          <p:cNvPr id="45" name="Text 43"/>
          <p:cNvSpPr/>
          <p:nvPr/>
        </p:nvSpPr>
        <p:spPr>
          <a:xfrm>
            <a:off x="338904" y="2672097"/>
            <a:ext cx="307208"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import</a:t>
            </a:r>
            <a:endParaRPr lang="en-US" sz="600" dirty="0"/>
          </a:p>
        </p:txBody>
      </p:sp>
      <p:sp>
        <p:nvSpPr>
          <p:cNvPr id="46" name="Text 44"/>
          <p:cNvSpPr/>
          <p:nvPr/>
        </p:nvSpPr>
        <p:spPr>
          <a:xfrm>
            <a:off x="360354" y="2764966"/>
            <a:ext cx="213695"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from</a:t>
            </a:r>
            <a:endParaRPr lang="en-US" sz="600" dirty="0"/>
          </a:p>
        </p:txBody>
      </p:sp>
      <p:sp>
        <p:nvSpPr>
          <p:cNvPr id="47" name="Text 45"/>
          <p:cNvSpPr/>
          <p:nvPr/>
        </p:nvSpPr>
        <p:spPr>
          <a:xfrm>
            <a:off x="849682" y="2764966"/>
            <a:ext cx="307208"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import</a:t>
            </a:r>
            <a:endParaRPr lang="en-US" sz="600" dirty="0"/>
          </a:p>
        </p:txBody>
      </p:sp>
      <p:sp>
        <p:nvSpPr>
          <p:cNvPr id="48" name="Text 46"/>
          <p:cNvSpPr/>
          <p:nvPr/>
        </p:nvSpPr>
        <p:spPr>
          <a:xfrm>
            <a:off x="360354" y="3229310"/>
            <a:ext cx="213695"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from</a:t>
            </a:r>
            <a:endParaRPr lang="en-US" sz="600" dirty="0"/>
          </a:p>
        </p:txBody>
      </p:sp>
      <p:sp>
        <p:nvSpPr>
          <p:cNvPr id="49" name="Text 47"/>
          <p:cNvSpPr/>
          <p:nvPr/>
        </p:nvSpPr>
        <p:spPr>
          <a:xfrm>
            <a:off x="594293" y="3229310"/>
            <a:ext cx="307208"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import</a:t>
            </a:r>
            <a:endParaRPr lang="en-US" sz="600" dirty="0"/>
          </a:p>
        </p:txBody>
      </p:sp>
      <p:sp>
        <p:nvSpPr>
          <p:cNvPr id="50" name="Text 48"/>
          <p:cNvSpPr/>
          <p:nvPr/>
        </p:nvSpPr>
        <p:spPr>
          <a:xfrm>
            <a:off x="360354" y="3507916"/>
            <a:ext cx="213695"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from</a:t>
            </a:r>
            <a:endParaRPr lang="en-US" sz="600" dirty="0"/>
          </a:p>
        </p:txBody>
      </p:sp>
      <p:sp>
        <p:nvSpPr>
          <p:cNvPr id="51" name="Text 49"/>
          <p:cNvSpPr/>
          <p:nvPr/>
        </p:nvSpPr>
        <p:spPr>
          <a:xfrm>
            <a:off x="780031" y="3507916"/>
            <a:ext cx="307208"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import</a:t>
            </a:r>
            <a:endParaRPr lang="en-US" sz="600" dirty="0"/>
          </a:p>
        </p:txBody>
      </p:sp>
      <p:sp>
        <p:nvSpPr>
          <p:cNvPr id="52" name="Text 50"/>
          <p:cNvSpPr/>
          <p:nvPr/>
        </p:nvSpPr>
        <p:spPr>
          <a:xfrm>
            <a:off x="360354" y="3554350"/>
            <a:ext cx="213695"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from</a:t>
            </a:r>
            <a:endParaRPr lang="en-US" sz="600" dirty="0"/>
          </a:p>
        </p:txBody>
      </p:sp>
      <p:sp>
        <p:nvSpPr>
          <p:cNvPr id="53" name="Text 51"/>
          <p:cNvSpPr/>
          <p:nvPr/>
        </p:nvSpPr>
        <p:spPr>
          <a:xfrm>
            <a:off x="687162" y="3554350"/>
            <a:ext cx="307208"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import</a:t>
            </a:r>
            <a:endParaRPr lang="en-US" sz="600" dirty="0"/>
          </a:p>
        </p:txBody>
      </p:sp>
      <p:sp>
        <p:nvSpPr>
          <p:cNvPr id="54" name="Text 52"/>
          <p:cNvSpPr/>
          <p:nvPr/>
        </p:nvSpPr>
        <p:spPr>
          <a:xfrm>
            <a:off x="360354" y="3600785"/>
            <a:ext cx="213695"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from</a:t>
            </a:r>
            <a:endParaRPr lang="en-US" sz="600" dirty="0"/>
          </a:p>
        </p:txBody>
      </p:sp>
      <p:sp>
        <p:nvSpPr>
          <p:cNvPr id="55" name="Text 53"/>
          <p:cNvSpPr/>
          <p:nvPr/>
        </p:nvSpPr>
        <p:spPr>
          <a:xfrm>
            <a:off x="594293" y="3600785"/>
            <a:ext cx="307208"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import</a:t>
            </a:r>
            <a:endParaRPr lang="en-US" sz="600" dirty="0"/>
          </a:p>
        </p:txBody>
      </p:sp>
      <p:sp>
        <p:nvSpPr>
          <p:cNvPr id="56" name="Text 54"/>
          <p:cNvSpPr/>
          <p:nvPr/>
        </p:nvSpPr>
        <p:spPr>
          <a:xfrm>
            <a:off x="648295" y="3972260"/>
            <a:ext cx="609451"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create_sdk_mcp_server</a:t>
            </a:r>
            <a:endParaRPr lang="en-US" sz="600" dirty="0"/>
          </a:p>
        </p:txBody>
      </p:sp>
      <p:sp>
        <p:nvSpPr>
          <p:cNvPr id="57" name="Text 55"/>
          <p:cNvSpPr/>
          <p:nvPr/>
        </p:nvSpPr>
        <p:spPr>
          <a:xfrm>
            <a:off x="509293" y="4018694"/>
            <a:ext cx="475351"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"pr_tools"</a:t>
            </a:r>
            <a:endParaRPr lang="en-US" sz="600" dirty="0"/>
          </a:p>
        </p:txBody>
      </p:sp>
      <p:sp>
        <p:nvSpPr>
          <p:cNvPr id="58" name="Text 56"/>
          <p:cNvSpPr/>
          <p:nvPr/>
        </p:nvSpPr>
        <p:spPr>
          <a:xfrm>
            <a:off x="609833" y="4065129"/>
            <a:ext cx="355763"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Liberation Sans Narrow" pitchFamily="34" charset="0"/>
                <a:ea typeface="Liberation Sans Narrow" pitchFamily="34" charset="-122"/>
                <a:cs typeface="Liberation Sans Narrow" pitchFamily="34" charset="-120"/>
              </a:rPr>
              <a:t>"1.0.0"</a:t>
            </a:r>
            <a:endParaRPr lang="en-US" sz="600" dirty="0"/>
          </a:p>
        </p:txBody>
      </p:sp>
      <p:sp>
        <p:nvSpPr>
          <p:cNvPr id="59" name="Text 57"/>
          <p:cNvSpPr/>
          <p:nvPr/>
        </p:nvSpPr>
        <p:spPr>
          <a:xfrm>
            <a:off x="365158" y="4297300"/>
            <a:ext cx="166939"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def</a:t>
            </a:r>
            <a:endParaRPr lang="en-US" sz="600" dirty="0"/>
          </a:p>
        </p:txBody>
      </p:sp>
      <p:sp>
        <p:nvSpPr>
          <p:cNvPr id="60" name="Text 58"/>
          <p:cNvSpPr/>
          <p:nvPr/>
        </p:nvSpPr>
        <p:spPr>
          <a:xfrm>
            <a:off x="485775" y="4297300"/>
            <a:ext cx="377279"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build_options</a:t>
            </a:r>
            <a:endParaRPr lang="en-US" sz="600" dirty="0"/>
          </a:p>
        </p:txBody>
      </p:sp>
      <p:sp>
        <p:nvSpPr>
          <p:cNvPr id="61" name="Text 59"/>
          <p:cNvSpPr/>
          <p:nvPr/>
        </p:nvSpPr>
        <p:spPr>
          <a:xfrm>
            <a:off x="843419" y="4343735"/>
            <a:ext cx="222687"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None</a:t>
            </a:r>
            <a:endParaRPr lang="en-US" sz="600" dirty="0"/>
          </a:p>
        </p:txBody>
      </p:sp>
      <p:sp>
        <p:nvSpPr>
          <p:cNvPr id="62" name="Text 60"/>
          <p:cNvSpPr/>
          <p:nvPr/>
        </p:nvSpPr>
        <p:spPr>
          <a:xfrm>
            <a:off x="1005939" y="4343735"/>
            <a:ext cx="222687"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None</a:t>
            </a:r>
            <a:endParaRPr lang="en-US" sz="600" dirty="0"/>
          </a:p>
        </p:txBody>
      </p:sp>
      <p:sp>
        <p:nvSpPr>
          <p:cNvPr id="63" name="Text 61"/>
          <p:cNvSpPr/>
          <p:nvPr/>
        </p:nvSpPr>
        <p:spPr>
          <a:xfrm>
            <a:off x="745746" y="4390169"/>
            <a:ext cx="26944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False</a:t>
            </a:r>
            <a:endParaRPr lang="en-US" sz="600" dirty="0"/>
          </a:p>
        </p:txBody>
      </p:sp>
      <p:sp>
        <p:nvSpPr>
          <p:cNvPr id="64" name="Text 62"/>
          <p:cNvSpPr/>
          <p:nvPr/>
        </p:nvSpPr>
        <p:spPr>
          <a:xfrm>
            <a:off x="977917" y="4483038"/>
            <a:ext cx="26944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False</a:t>
            </a:r>
            <a:endParaRPr lang="en-US" sz="600" dirty="0"/>
          </a:p>
        </p:txBody>
      </p:sp>
      <p:sp>
        <p:nvSpPr>
          <p:cNvPr id="65" name="Text 63"/>
          <p:cNvSpPr/>
          <p:nvPr/>
        </p:nvSpPr>
        <p:spPr>
          <a:xfrm>
            <a:off x="392906" y="4575907"/>
            <a:ext cx="1601986"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"""Everything Ep01-08 built, plus this episode's two MCP servers.</a:t>
            </a:r>
            <a:endParaRPr lang="en-US" sz="600" dirty="0"/>
          </a:p>
        </p:txBody>
      </p:sp>
      <p:sp>
        <p:nvSpPr>
          <p:cNvPr id="66" name="Text 64"/>
          <p:cNvSpPr/>
          <p:nvPr/>
        </p:nvSpPr>
        <p:spPr>
          <a:xfrm>
            <a:off x="392906" y="4668775"/>
            <a:ext cx="1671638"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include_github defaults to False on purpose. review_pr() below never</a:t>
            </a:r>
            <a:endParaRPr lang="en-US" sz="600" dirty="0"/>
          </a:p>
        </p:txBody>
      </p:sp>
      <p:sp>
        <p:nvSpPr>
          <p:cNvPr id="67" name="Text 65"/>
          <p:cNvSpPr/>
          <p:nvPr/>
        </p:nvSpPr>
        <p:spPr>
          <a:xfrm>
            <a:off x="392906" y="4715210"/>
            <a:ext cx="1624274"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passes True -- a normal PR review has no business depending on</a:t>
            </a:r>
            <a:endParaRPr lang="en-US" sz="600" dirty="0"/>
          </a:p>
        </p:txBody>
      </p:sp>
      <p:sp>
        <p:nvSpPr>
          <p:cNvPr id="68" name="Text 66"/>
          <p:cNvSpPr/>
          <p:nvPr/>
        </p:nvSpPr>
        <p:spPr>
          <a:xfrm>
            <a:off x="392906" y="4761644"/>
            <a:ext cx="1578769"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network access or a GitHub token being present. Only the ad-hoc,</a:t>
            </a:r>
            <a:endParaRPr lang="en-US" sz="600" dirty="0"/>
          </a:p>
        </p:txBody>
      </p:sp>
      <p:sp>
        <p:nvSpPr>
          <p:cNvPr id="69" name="Text 67"/>
          <p:cNvSpPr/>
          <p:nvPr/>
        </p:nvSpPr>
        <p:spPr>
          <a:xfrm>
            <a:off x="392906" y="4808079"/>
            <a:ext cx="1255121" cy="100013"/>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ask-a-real-question path in main() turns it on.</a:t>
            </a:r>
            <a:endParaRPr lang="en-US" sz="600" dirty="0"/>
          </a:p>
        </p:txBody>
      </p:sp>
      <p:sp>
        <p:nvSpPr>
          <p:cNvPr id="70" name="Text 68"/>
          <p:cNvSpPr/>
          <p:nvPr/>
        </p:nvSpPr>
        <p:spPr>
          <a:xfrm>
            <a:off x="392906" y="4854513"/>
            <a:ext cx="260033" cy="91440"/>
          </a:xfrm>
          <a:prstGeom prst="rect">
            <a:avLst/>
          </a:prstGeom>
          <a:noFill/>
          <a:ln/>
        </p:spPr>
        <p:txBody>
          <a:bodyPr wrap="none" lIns="0" tIns="0" rIns="0" bIns="0" rtlCol="0" anchor="t"/>
          <a:lstStyle/>
          <a:p>
            <a:pPr algn="l" indent="0" marL="0">
              <a:lnSpc>
                <a:spcPts val="366"/>
              </a:lnSpc>
              <a:buNone/>
            </a:pPr>
            <a:r>
              <a:rPr lang="en-US" sz="800" i="1" dirty="0">
                <a:solidFill>
                  <a:srgbClr val="71717A"/>
                </a:solidFill>
                <a:latin typeface="Courier New" pitchFamily="34" charset="0"/>
                <a:ea typeface="Courier New" pitchFamily="34" charset="-122"/>
                <a:cs typeface="Courier New" pitchFamily="34" charset="-120"/>
              </a:rPr>
              <a:t>"""</a:t>
            </a:r>
            <a:endParaRPr lang="en-US" sz="800" dirty="0"/>
          </a:p>
        </p:txBody>
      </p:sp>
      <p:sp>
        <p:nvSpPr>
          <p:cNvPr id="71" name="Text 69"/>
          <p:cNvSpPr/>
          <p:nvPr/>
        </p:nvSpPr>
        <p:spPr>
          <a:xfrm>
            <a:off x="4982118" y="1052123"/>
            <a:ext cx="941479" cy="102056"/>
          </a:xfrm>
          <a:prstGeom prst="rect">
            <a:avLst/>
          </a:prstGeom>
          <a:solidFill>
            <a:srgbClr val="0B0B0D"/>
          </a:solidFill>
          <a:ln/>
        </p:spPr>
        <p:txBody>
          <a:bodyPr wrap="square" rtlCol="0" anchor="ctr"/>
          <a:lstStyle/>
          <a:p>
            <a:pPr indent="0" marL="0">
              <a:buNone/>
            </a:pPr>
            <a:endParaRPr lang="en-US" dirty="0"/>
          </a:p>
        </p:txBody>
      </p:sp>
      <p:sp>
        <p:nvSpPr>
          <p:cNvPr id="72" name="Text 70"/>
          <p:cNvSpPr/>
          <p:nvPr/>
        </p:nvSpPr>
        <p:spPr>
          <a:xfrm>
            <a:off x="5004978" y="1057610"/>
            <a:ext cx="895759" cy="164592"/>
          </a:xfrm>
          <a:prstGeom prst="rect">
            <a:avLst/>
          </a:prstGeom>
          <a:noFill/>
          <a:ln/>
        </p:spPr>
        <p:txBody>
          <a:bodyPr wrap="none" lIns="42863" tIns="0" rIns="42863" bIns="0" rtlCol="0" anchor="t"/>
          <a:lstStyle/>
          <a:p>
            <a:pPr algn="l" indent="0" marL="0">
              <a:lnSpc>
                <a:spcPts val="717"/>
              </a:lnSpc>
              <a:buNone/>
            </a:pPr>
            <a:r>
              <a:rPr lang="en-US" sz="600" spc="86" kern="0" dirty="0">
                <a:solidFill>
                  <a:srgbClr val="71717A"/>
                </a:solidFill>
                <a:latin typeface="Liberation Sans Narrow" pitchFamily="34" charset="0"/>
                <a:ea typeface="Liberation Sans Narrow" pitchFamily="34" charset="-122"/>
                <a:cs typeface="Liberation Sans Narrow" pitchFamily="34" charset="-120"/>
              </a:rPr>
              <a:t>COL 2 · LINES 81–149</a:t>
            </a:r>
            <a:endParaRPr lang="en-US" sz="600" dirty="0"/>
          </a:p>
        </p:txBody>
      </p:sp>
      <p:sp>
        <p:nvSpPr>
          <p:cNvPr id="73" name="Text 71"/>
          <p:cNvSpPr/>
          <p:nvPr/>
        </p:nvSpPr>
        <p:spPr>
          <a:xfrm>
            <a:off x="3391449" y="1232632"/>
            <a:ext cx="350368"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"Agent"</a:t>
            </a:r>
            <a:endParaRPr lang="en-US" sz="600" dirty="0"/>
          </a:p>
        </p:txBody>
      </p:sp>
      <p:sp>
        <p:nvSpPr>
          <p:cNvPr id="74" name="Text 72"/>
          <p:cNvSpPr/>
          <p:nvPr/>
        </p:nvSpPr>
        <p:spPr>
          <a:xfrm>
            <a:off x="3398227" y="1279066"/>
            <a:ext cx="303611"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"Read"</a:t>
            </a:r>
            <a:endParaRPr lang="en-US" sz="600" dirty="0"/>
          </a:p>
        </p:txBody>
      </p:sp>
      <p:sp>
        <p:nvSpPr>
          <p:cNvPr id="75" name="Text 73"/>
          <p:cNvSpPr/>
          <p:nvPr/>
        </p:nvSpPr>
        <p:spPr>
          <a:xfrm>
            <a:off x="3398227" y="1325500"/>
            <a:ext cx="303611"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"Grep"</a:t>
            </a:r>
            <a:endParaRPr lang="en-US" sz="600" dirty="0"/>
          </a:p>
        </p:txBody>
      </p:sp>
      <p:sp>
        <p:nvSpPr>
          <p:cNvPr id="76" name="Text 74"/>
          <p:cNvSpPr/>
          <p:nvPr/>
        </p:nvSpPr>
        <p:spPr>
          <a:xfrm>
            <a:off x="3398227" y="1371935"/>
            <a:ext cx="303611"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"Glob"</a:t>
            </a:r>
            <a:endParaRPr lang="en-US" sz="600" dirty="0"/>
          </a:p>
        </p:txBody>
      </p:sp>
      <p:sp>
        <p:nvSpPr>
          <p:cNvPr id="77" name="Text 75"/>
          <p:cNvSpPr/>
          <p:nvPr/>
        </p:nvSpPr>
        <p:spPr>
          <a:xfrm>
            <a:off x="3450431" y="1418369"/>
            <a:ext cx="766167"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"mcp__pr_tools__check_docstrings"</a:t>
            </a:r>
            <a:endParaRPr lang="en-US" sz="600" dirty="0"/>
          </a:p>
        </p:txBody>
      </p:sp>
      <p:sp>
        <p:nvSpPr>
          <p:cNvPr id="78" name="Text 76"/>
          <p:cNvSpPr/>
          <p:nvPr/>
        </p:nvSpPr>
        <p:spPr>
          <a:xfrm>
            <a:off x="3450431" y="1464804"/>
            <a:ext cx="789384"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"mcp__pr_tools__fetch_pr_metadata"</a:t>
            </a:r>
            <a:endParaRPr lang="en-US" sz="600" dirty="0"/>
          </a:p>
        </p:txBody>
      </p:sp>
      <p:sp>
        <p:nvSpPr>
          <p:cNvPr id="79" name="Text 77"/>
          <p:cNvSpPr/>
          <p:nvPr/>
        </p:nvSpPr>
        <p:spPr>
          <a:xfrm>
            <a:off x="3450431" y="1511238"/>
            <a:ext cx="719733"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"mcp__pr_tools__submit_finding"</a:t>
            </a:r>
            <a:endParaRPr lang="en-US" sz="600" dirty="0"/>
          </a:p>
        </p:txBody>
      </p:sp>
      <p:sp>
        <p:nvSpPr>
          <p:cNvPr id="80" name="Text 78"/>
          <p:cNvSpPr/>
          <p:nvPr/>
        </p:nvSpPr>
        <p:spPr>
          <a:xfrm>
            <a:off x="3450431" y="1557672"/>
            <a:ext cx="719733"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"mcp__pr_tools__publish_review"</a:t>
            </a:r>
            <a:endParaRPr lang="en-US" sz="600" dirty="0"/>
          </a:p>
        </p:txBody>
      </p:sp>
      <p:sp>
        <p:nvSpPr>
          <p:cNvPr id="81" name="Text 79"/>
          <p:cNvSpPr/>
          <p:nvPr/>
        </p:nvSpPr>
        <p:spPr>
          <a:xfrm>
            <a:off x="3264694" y="1604107"/>
            <a:ext cx="1575054"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 Ep09 -- our own standalone server, one tool. Naming it</a:t>
            </a:r>
            <a:endParaRPr lang="en-US" sz="600" dirty="0"/>
          </a:p>
        </p:txBody>
      </p:sp>
      <p:sp>
        <p:nvSpPr>
          <p:cNvPr id="82" name="Text 80"/>
          <p:cNvSpPr/>
          <p:nvPr/>
        </p:nvSpPr>
        <p:spPr>
          <a:xfrm>
            <a:off x="3264694" y="1650541"/>
            <a:ext cx="1694855"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 explicitly (instead of "mcp__repo_facts__*") costs nothing here</a:t>
            </a:r>
            <a:endParaRPr lang="en-US" sz="600" dirty="0"/>
          </a:p>
        </p:txBody>
      </p:sp>
      <p:sp>
        <p:nvSpPr>
          <p:cNvPr id="83" name="Text 81"/>
          <p:cNvSpPr/>
          <p:nvPr/>
        </p:nvSpPr>
        <p:spPr>
          <a:xfrm>
            <a:off x="3264694" y="1696975"/>
            <a:ext cx="1328952"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 and says exactly what's allowed at a glance.</a:t>
            </a:r>
            <a:endParaRPr lang="en-US" sz="600" dirty="0"/>
          </a:p>
        </p:txBody>
      </p:sp>
      <p:sp>
        <p:nvSpPr>
          <p:cNvPr id="84" name="Text 82"/>
          <p:cNvSpPr/>
          <p:nvPr/>
        </p:nvSpPr>
        <p:spPr>
          <a:xfrm>
            <a:off x="3450431" y="1743410"/>
            <a:ext cx="696516"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"mcp__repo_facts__count_todos"</a:t>
            </a:r>
            <a:endParaRPr lang="en-US" sz="600" dirty="0"/>
          </a:p>
        </p:txBody>
      </p:sp>
      <p:sp>
        <p:nvSpPr>
          <p:cNvPr id="85" name="Text 83"/>
          <p:cNvSpPr/>
          <p:nvPr/>
        </p:nvSpPr>
        <p:spPr>
          <a:xfrm>
            <a:off x="3343191" y="1836279"/>
            <a:ext cx="12018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if</a:t>
            </a:r>
            <a:endParaRPr lang="en-US" sz="600" dirty="0"/>
          </a:p>
        </p:txBody>
      </p:sp>
      <p:sp>
        <p:nvSpPr>
          <p:cNvPr id="86" name="Text 84"/>
          <p:cNvSpPr/>
          <p:nvPr/>
        </p:nvSpPr>
        <p:spPr>
          <a:xfrm>
            <a:off x="3264694" y="1882713"/>
            <a:ext cx="1648420"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 Ep09 -- scoped to exactly one read-only tool. GitHub's server</a:t>
            </a:r>
            <a:endParaRPr lang="en-US" sz="600" dirty="0"/>
          </a:p>
        </p:txBody>
      </p:sp>
      <p:sp>
        <p:nvSpPr>
          <p:cNvPr id="87" name="Text 85"/>
          <p:cNvSpPr/>
          <p:nvPr/>
        </p:nvSpPr>
        <p:spPr>
          <a:xfrm>
            <a:off x="3264694" y="1929147"/>
            <a:ext cx="1694855"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 exposes dozens of tools across toolsets; Ep06 already taught us</a:t>
            </a:r>
            <a:endParaRPr lang="en-US" sz="600" dirty="0"/>
          </a:p>
        </p:txBody>
      </p:sp>
      <p:sp>
        <p:nvSpPr>
          <p:cNvPr id="88" name="Text 86"/>
          <p:cNvSpPr/>
          <p:nvPr/>
        </p:nvSpPr>
        <p:spPr>
          <a:xfrm>
            <a:off x="3264694" y="1975582"/>
            <a:ext cx="1718072"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 why we don't hand the model all of them just because they exist.</a:t>
            </a:r>
            <a:endParaRPr lang="en-US" sz="600" dirty="0"/>
          </a:p>
        </p:txBody>
      </p:sp>
      <p:sp>
        <p:nvSpPr>
          <p:cNvPr id="89" name="Text 87"/>
          <p:cNvSpPr/>
          <p:nvPr/>
        </p:nvSpPr>
        <p:spPr>
          <a:xfrm>
            <a:off x="3721470" y="2022016"/>
            <a:ext cx="307208"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append</a:t>
            </a:r>
            <a:endParaRPr lang="en-US" sz="600" dirty="0"/>
          </a:p>
        </p:txBody>
      </p:sp>
      <p:sp>
        <p:nvSpPr>
          <p:cNvPr id="90" name="Text 88"/>
          <p:cNvSpPr/>
          <p:nvPr/>
        </p:nvSpPr>
        <p:spPr>
          <a:xfrm>
            <a:off x="3937992" y="2022016"/>
            <a:ext cx="742950"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"mcp__github__pull_request_read"</a:t>
            </a:r>
            <a:endParaRPr lang="en-US" sz="600" dirty="0"/>
          </a:p>
        </p:txBody>
      </p:sp>
      <p:sp>
        <p:nvSpPr>
          <p:cNvPr id="91" name="Text 89"/>
          <p:cNvSpPr/>
          <p:nvPr/>
        </p:nvSpPr>
        <p:spPr>
          <a:xfrm>
            <a:off x="3303560" y="2114885"/>
            <a:ext cx="307208"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return</a:t>
            </a:r>
            <a:endParaRPr lang="en-US" sz="600" dirty="0"/>
          </a:p>
        </p:txBody>
      </p:sp>
      <p:sp>
        <p:nvSpPr>
          <p:cNvPr id="92" name="Text 90"/>
          <p:cNvSpPr/>
          <p:nvPr/>
        </p:nvSpPr>
        <p:spPr>
          <a:xfrm>
            <a:off x="3520083" y="2114885"/>
            <a:ext cx="522387"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ClaudeAgentOptions</a:t>
            </a:r>
            <a:endParaRPr lang="en-US" sz="600" dirty="0"/>
          </a:p>
        </p:txBody>
      </p:sp>
      <p:sp>
        <p:nvSpPr>
          <p:cNvPr id="93" name="Text 91"/>
          <p:cNvSpPr/>
          <p:nvPr/>
        </p:nvSpPr>
        <p:spPr>
          <a:xfrm>
            <a:off x="3264694" y="2161319"/>
            <a:ext cx="1601986"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 pr_tools carries a live Python object (McpSdkServerConfig's</a:t>
            </a:r>
            <a:endParaRPr lang="en-US" sz="600" dirty="0"/>
          </a:p>
        </p:txBody>
      </p:sp>
      <p:sp>
        <p:nvSpPr>
          <p:cNvPr id="94" name="Text 92"/>
          <p:cNvSpPr/>
          <p:nvPr/>
        </p:nvSpPr>
        <p:spPr>
          <a:xfrm>
            <a:off x="3264694" y="2207754"/>
            <a:ext cx="1601986"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 `instance` field) -- that can ONLY be passed here, in code.</a:t>
            </a:r>
            <a:endParaRPr lang="en-US" sz="600" dirty="0"/>
          </a:p>
        </p:txBody>
      </p:sp>
      <p:sp>
        <p:nvSpPr>
          <p:cNvPr id="95" name="Text 93"/>
          <p:cNvSpPr/>
          <p:nvPr/>
        </p:nvSpPr>
        <p:spPr>
          <a:xfrm>
            <a:off x="3264694" y="2254188"/>
            <a:ext cx="1718072"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 "github" and "repo_facts" are pure config -- a URL, or a command</a:t>
            </a:r>
            <a:endParaRPr lang="en-US" sz="600" dirty="0"/>
          </a:p>
        </p:txBody>
      </p:sp>
      <p:sp>
        <p:nvSpPr>
          <p:cNvPr id="96" name="Text 94"/>
          <p:cNvSpPr/>
          <p:nvPr/>
        </p:nvSpPr>
        <p:spPr>
          <a:xfrm>
            <a:off x="3264694" y="2300622"/>
            <a:ext cx="1575054"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 to run -- so they live in .mcp.json instead, picked up</a:t>
            </a:r>
            <a:endParaRPr lang="en-US" sz="600" dirty="0"/>
          </a:p>
        </p:txBody>
      </p:sp>
      <p:sp>
        <p:nvSpPr>
          <p:cNvPr id="97" name="Text 95"/>
          <p:cNvSpPr/>
          <p:nvPr/>
        </p:nvSpPr>
        <p:spPr>
          <a:xfrm>
            <a:off x="3264694" y="2347057"/>
            <a:ext cx="1555552"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 automatically because setting_sources includes "project".</a:t>
            </a:r>
            <a:endParaRPr lang="en-US" sz="600" dirty="0"/>
          </a:p>
        </p:txBody>
      </p:sp>
      <p:sp>
        <p:nvSpPr>
          <p:cNvPr id="98" name="Text 96"/>
          <p:cNvSpPr/>
          <p:nvPr/>
        </p:nvSpPr>
        <p:spPr>
          <a:xfrm>
            <a:off x="3659687" y="2393491"/>
            <a:ext cx="475351" cy="111871"/>
          </a:xfrm>
          <a:prstGeom prst="rect">
            <a:avLst/>
          </a:prstGeom>
          <a:noFill/>
          <a:ln/>
        </p:spPr>
        <p:txBody>
          <a:bodyPr wrap="none" lIns="0" tIns="0" rIns="0" bIns="0" rtlCol="0" anchor="t">
            <a:normAutofit/>
          </a:bodyPr>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"pr_tools"</a:t>
            </a:r>
            <a:endParaRPr lang="en-US" sz="600" dirty="0"/>
          </a:p>
        </p:txBody>
      </p:sp>
      <p:sp>
        <p:nvSpPr>
          <p:cNvPr id="99" name="Text 97"/>
          <p:cNvSpPr/>
          <p:nvPr/>
        </p:nvSpPr>
        <p:spPr>
          <a:xfrm>
            <a:off x="3534733" y="2532794"/>
            <a:ext cx="522107"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"pr-digest"</a:t>
            </a:r>
            <a:endParaRPr lang="en-US" sz="600" dirty="0"/>
          </a:p>
        </p:txBody>
      </p:sp>
      <p:sp>
        <p:nvSpPr>
          <p:cNvPr id="100" name="Text 98"/>
          <p:cNvSpPr/>
          <p:nvPr/>
        </p:nvSpPr>
        <p:spPr>
          <a:xfrm>
            <a:off x="3937992" y="2532794"/>
            <a:ext cx="493365"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"changelog-entry"</a:t>
            </a:r>
            <a:endParaRPr lang="en-US" sz="600" dirty="0"/>
          </a:p>
        </p:txBody>
      </p:sp>
      <p:sp>
        <p:nvSpPr>
          <p:cNvPr id="101" name="Text 99"/>
          <p:cNvSpPr/>
          <p:nvPr/>
        </p:nvSpPr>
        <p:spPr>
          <a:xfrm>
            <a:off x="3777082" y="2579229"/>
            <a:ext cx="434889"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"project"</a:t>
            </a:r>
            <a:endParaRPr lang="en-US" sz="600" dirty="0"/>
          </a:p>
        </p:txBody>
      </p:sp>
      <p:sp>
        <p:nvSpPr>
          <p:cNvPr id="102" name="Text 100"/>
          <p:cNvSpPr/>
          <p:nvPr/>
        </p:nvSpPr>
        <p:spPr>
          <a:xfrm>
            <a:off x="3749369" y="2625663"/>
            <a:ext cx="443880"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"dontAsk"</a:t>
            </a:r>
            <a:endParaRPr lang="en-US" sz="600" dirty="0"/>
          </a:p>
        </p:txBody>
      </p:sp>
      <p:sp>
        <p:nvSpPr>
          <p:cNvPr id="103" name="Text 101"/>
          <p:cNvSpPr/>
          <p:nvPr/>
        </p:nvSpPr>
        <p:spPr>
          <a:xfrm>
            <a:off x="3416363" y="2718532"/>
            <a:ext cx="602132"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"PreToolUse"</a:t>
            </a:r>
            <a:endParaRPr lang="en-US" sz="600" dirty="0"/>
          </a:p>
        </p:txBody>
      </p:sp>
      <p:sp>
        <p:nvSpPr>
          <p:cNvPr id="104" name="Text 102"/>
          <p:cNvSpPr/>
          <p:nvPr/>
        </p:nvSpPr>
        <p:spPr>
          <a:xfrm>
            <a:off x="3516301" y="2764966"/>
            <a:ext cx="558973"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HookMatcher</a:t>
            </a:r>
            <a:endParaRPr lang="en-US" sz="600" dirty="0"/>
          </a:p>
        </p:txBody>
      </p:sp>
      <p:sp>
        <p:nvSpPr>
          <p:cNvPr id="105" name="Text 103"/>
          <p:cNvSpPr/>
          <p:nvPr/>
        </p:nvSpPr>
        <p:spPr>
          <a:xfrm>
            <a:off x="4048309" y="2764966"/>
            <a:ext cx="303611"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"Bash"</a:t>
            </a:r>
            <a:endParaRPr lang="en-US" sz="600" dirty="0"/>
          </a:p>
        </p:txBody>
      </p:sp>
      <p:sp>
        <p:nvSpPr>
          <p:cNvPr id="106" name="Text 104"/>
          <p:cNvSpPr/>
          <p:nvPr/>
        </p:nvSpPr>
        <p:spPr>
          <a:xfrm>
            <a:off x="3543300" y="2857835"/>
            <a:ext cx="377279"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"PostToolUse"</a:t>
            </a:r>
            <a:endParaRPr lang="en-US" sz="600" dirty="0"/>
          </a:p>
        </p:txBody>
      </p:sp>
      <p:sp>
        <p:nvSpPr>
          <p:cNvPr id="107" name="Text 105"/>
          <p:cNvSpPr/>
          <p:nvPr/>
        </p:nvSpPr>
        <p:spPr>
          <a:xfrm>
            <a:off x="3516301" y="2904269"/>
            <a:ext cx="558973"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HookMatcher</a:t>
            </a:r>
            <a:endParaRPr lang="en-US" sz="600" dirty="0"/>
          </a:p>
        </p:txBody>
      </p:sp>
      <p:sp>
        <p:nvSpPr>
          <p:cNvPr id="108" name="Text 106"/>
          <p:cNvSpPr/>
          <p:nvPr/>
        </p:nvSpPr>
        <p:spPr>
          <a:xfrm>
            <a:off x="3914775" y="2950704"/>
            <a:ext cx="789384"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"mcp__pr_tools__fetch_pr_metadata"</a:t>
            </a:r>
            <a:endParaRPr lang="en-US" sz="600" dirty="0"/>
          </a:p>
        </p:txBody>
      </p:sp>
      <p:sp>
        <p:nvSpPr>
          <p:cNvPr id="109" name="Text 107"/>
          <p:cNvSpPr/>
          <p:nvPr/>
        </p:nvSpPr>
        <p:spPr>
          <a:xfrm>
            <a:off x="3491096" y="3136441"/>
            <a:ext cx="303611"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"Stop"</a:t>
            </a:r>
            <a:endParaRPr lang="en-US" sz="600" dirty="0"/>
          </a:p>
        </p:txBody>
      </p:sp>
      <p:sp>
        <p:nvSpPr>
          <p:cNvPr id="110" name="Text 108"/>
          <p:cNvSpPr/>
          <p:nvPr/>
        </p:nvSpPr>
        <p:spPr>
          <a:xfrm>
            <a:off x="3632386" y="3136441"/>
            <a:ext cx="558973"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HookMatcher</a:t>
            </a:r>
            <a:endParaRPr lang="en-US" sz="600" dirty="0"/>
          </a:p>
        </p:txBody>
      </p:sp>
      <p:sp>
        <p:nvSpPr>
          <p:cNvPr id="111" name="Text 109"/>
          <p:cNvSpPr/>
          <p:nvPr/>
        </p:nvSpPr>
        <p:spPr>
          <a:xfrm>
            <a:off x="3420859" y="3182875"/>
            <a:ext cx="593141"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"PreCompact"</a:t>
            </a:r>
            <a:endParaRPr lang="en-US" sz="600" dirty="0"/>
          </a:p>
        </p:txBody>
      </p:sp>
      <p:sp>
        <p:nvSpPr>
          <p:cNvPr id="112" name="Text 110"/>
          <p:cNvSpPr/>
          <p:nvPr/>
        </p:nvSpPr>
        <p:spPr>
          <a:xfrm>
            <a:off x="3771690" y="3182875"/>
            <a:ext cx="558973"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HookMatcher</a:t>
            </a:r>
            <a:endParaRPr lang="en-US" sz="600" dirty="0"/>
          </a:p>
        </p:txBody>
      </p:sp>
      <p:sp>
        <p:nvSpPr>
          <p:cNvPr id="113" name="Text 111"/>
          <p:cNvSpPr/>
          <p:nvPr/>
        </p:nvSpPr>
        <p:spPr>
          <a:xfrm>
            <a:off x="3227337" y="3507916"/>
            <a:ext cx="260452"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async</a:t>
            </a:r>
            <a:endParaRPr lang="en-US" sz="600" dirty="0"/>
          </a:p>
        </p:txBody>
      </p:sp>
      <p:sp>
        <p:nvSpPr>
          <p:cNvPr id="114" name="Text 112"/>
          <p:cNvSpPr/>
          <p:nvPr/>
        </p:nvSpPr>
        <p:spPr>
          <a:xfrm>
            <a:off x="3376249" y="3507916"/>
            <a:ext cx="166939"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def</a:t>
            </a:r>
            <a:endParaRPr lang="en-US" sz="600" dirty="0"/>
          </a:p>
        </p:txBody>
      </p:sp>
      <p:sp>
        <p:nvSpPr>
          <p:cNvPr id="115" name="Text 113"/>
          <p:cNvSpPr/>
          <p:nvPr/>
        </p:nvSpPr>
        <p:spPr>
          <a:xfrm>
            <a:off x="3425677" y="3507916"/>
            <a:ext cx="441183"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review_pr</a:t>
            </a:r>
            <a:endParaRPr lang="en-US" sz="600" dirty="0"/>
          </a:p>
        </p:txBody>
      </p:sp>
      <p:sp>
        <p:nvSpPr>
          <p:cNvPr id="116" name="Text 114"/>
          <p:cNvSpPr/>
          <p:nvPr/>
        </p:nvSpPr>
        <p:spPr>
          <a:xfrm>
            <a:off x="3640750" y="3693654"/>
            <a:ext cx="26944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False</a:t>
            </a:r>
            <a:endParaRPr lang="en-US" sz="600" dirty="0"/>
          </a:p>
        </p:txBody>
      </p:sp>
      <p:sp>
        <p:nvSpPr>
          <p:cNvPr id="117" name="Text 115"/>
          <p:cNvSpPr/>
          <p:nvPr/>
        </p:nvSpPr>
        <p:spPr>
          <a:xfrm>
            <a:off x="3617533" y="3740088"/>
            <a:ext cx="26944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False</a:t>
            </a:r>
            <a:endParaRPr lang="en-US" sz="600" dirty="0"/>
          </a:p>
        </p:txBody>
      </p:sp>
      <p:sp>
        <p:nvSpPr>
          <p:cNvPr id="118" name="Text 116"/>
          <p:cNvSpPr/>
          <p:nvPr/>
        </p:nvSpPr>
        <p:spPr>
          <a:xfrm>
            <a:off x="3483034" y="3786522"/>
            <a:ext cx="222687"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None</a:t>
            </a:r>
            <a:endParaRPr lang="en-US" sz="600" dirty="0"/>
          </a:p>
        </p:txBody>
      </p:sp>
      <p:sp>
        <p:nvSpPr>
          <p:cNvPr id="119" name="Text 117"/>
          <p:cNvSpPr/>
          <p:nvPr/>
        </p:nvSpPr>
        <p:spPr>
          <a:xfrm>
            <a:off x="3264694" y="3832957"/>
            <a:ext cx="1834158"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"""Review a PR, resuming the previous session for that PR when we have one.</a:t>
            </a:r>
            <a:endParaRPr lang="en-US" sz="600" dirty="0"/>
          </a:p>
        </p:txBody>
      </p:sp>
      <p:sp>
        <p:nvSpPr>
          <p:cNvPr id="120" name="Text 118"/>
          <p:cNvSpPr/>
          <p:nvPr/>
        </p:nvSpPr>
        <p:spPr>
          <a:xfrm>
            <a:off x="3264694" y="3925825"/>
            <a:ext cx="1718072"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Unchanged since Ep08 -- this is still the mock fetch_pr_metadata path,</a:t>
            </a:r>
            <a:endParaRPr lang="en-US" sz="600" dirty="0"/>
          </a:p>
        </p:txBody>
      </p:sp>
      <p:sp>
        <p:nvSpPr>
          <p:cNvPr id="121" name="Text 119"/>
          <p:cNvSpPr/>
          <p:nvPr/>
        </p:nvSpPr>
        <p:spPr>
          <a:xfrm>
            <a:off x="3264694" y="3972260"/>
            <a:ext cx="1625203"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and include_github is never passed here. A PR review's reliability</a:t>
            </a:r>
            <a:endParaRPr lang="en-US" sz="600" dirty="0"/>
          </a:p>
        </p:txBody>
      </p:sp>
      <p:sp>
        <p:nvSpPr>
          <p:cNvPr id="122" name="Text 120"/>
          <p:cNvSpPr/>
          <p:nvPr/>
        </p:nvSpPr>
        <p:spPr>
          <a:xfrm>
            <a:off x="3264694" y="4018694"/>
            <a:ext cx="1402782"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shouldn't depend on GitHub's servers being reachable.</a:t>
            </a:r>
            <a:endParaRPr lang="en-US" sz="600" dirty="0"/>
          </a:p>
        </p:txBody>
      </p:sp>
      <p:sp>
        <p:nvSpPr>
          <p:cNvPr id="123" name="Text 121"/>
          <p:cNvSpPr/>
          <p:nvPr/>
        </p:nvSpPr>
        <p:spPr>
          <a:xfrm>
            <a:off x="3264694" y="4065129"/>
            <a:ext cx="260033" cy="135050"/>
          </a:xfrm>
          <a:prstGeom prst="rect">
            <a:avLst/>
          </a:prstGeom>
          <a:noFill/>
          <a:ln/>
        </p:spPr>
        <p:txBody>
          <a:bodyPr wrap="none" lIns="0" tIns="0" rIns="0" bIns="0" rtlCol="0" anchor="t"/>
          <a:lstStyle/>
          <a:p>
            <a:pPr algn="l" indent="0" marL="0">
              <a:lnSpc>
                <a:spcPts val="366"/>
              </a:lnSpc>
              <a:buNone/>
            </a:pPr>
            <a:r>
              <a:rPr lang="en-US" sz="800" i="1" dirty="0">
                <a:solidFill>
                  <a:srgbClr val="71717A"/>
                </a:solidFill>
                <a:latin typeface="Courier New" pitchFamily="34" charset="0"/>
                <a:ea typeface="Courier New" pitchFamily="34" charset="-122"/>
                <a:cs typeface="Courier New" pitchFamily="34" charset="-120"/>
              </a:rPr>
              <a:t>"""</a:t>
            </a:r>
            <a:endParaRPr lang="en-US" sz="800" dirty="0"/>
          </a:p>
        </p:txBody>
      </p:sp>
      <p:sp>
        <p:nvSpPr>
          <p:cNvPr id="124" name="Text 122"/>
          <p:cNvSpPr/>
          <p:nvPr/>
        </p:nvSpPr>
        <p:spPr>
          <a:xfrm>
            <a:off x="3506252" y="4111563"/>
            <a:ext cx="222687"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None</a:t>
            </a:r>
            <a:endParaRPr lang="en-US" sz="600" dirty="0"/>
          </a:p>
        </p:txBody>
      </p:sp>
      <p:sp>
        <p:nvSpPr>
          <p:cNvPr id="125" name="Text 123"/>
          <p:cNvSpPr/>
          <p:nvPr/>
        </p:nvSpPr>
        <p:spPr>
          <a:xfrm>
            <a:off x="3645015" y="4111563"/>
            <a:ext cx="12018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if</a:t>
            </a:r>
            <a:endParaRPr lang="en-US" sz="600" dirty="0"/>
          </a:p>
        </p:txBody>
      </p:sp>
      <p:sp>
        <p:nvSpPr>
          <p:cNvPr id="126" name="Text 124"/>
          <p:cNvSpPr/>
          <p:nvPr/>
        </p:nvSpPr>
        <p:spPr>
          <a:xfrm>
            <a:off x="3835788" y="4111563"/>
            <a:ext cx="213695"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else</a:t>
            </a:r>
            <a:endParaRPr lang="en-US" sz="600" dirty="0"/>
          </a:p>
        </p:txBody>
      </p:sp>
      <p:sp>
        <p:nvSpPr>
          <p:cNvPr id="127" name="Text 125"/>
          <p:cNvSpPr/>
          <p:nvPr/>
        </p:nvSpPr>
        <p:spPr>
          <a:xfrm>
            <a:off x="3984427" y="4111563"/>
            <a:ext cx="406301"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get_session_id</a:t>
            </a:r>
            <a:endParaRPr lang="en-US" sz="600" dirty="0"/>
          </a:p>
        </p:txBody>
      </p:sp>
      <p:sp>
        <p:nvSpPr>
          <p:cNvPr id="128" name="Text 126"/>
          <p:cNvSpPr/>
          <p:nvPr/>
        </p:nvSpPr>
        <p:spPr>
          <a:xfrm>
            <a:off x="3343191" y="4157997"/>
            <a:ext cx="12018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if</a:t>
            </a:r>
            <a:endParaRPr lang="en-US" sz="600" dirty="0"/>
          </a:p>
        </p:txBody>
      </p:sp>
      <p:sp>
        <p:nvSpPr>
          <p:cNvPr id="129" name="Text 127"/>
          <p:cNvSpPr/>
          <p:nvPr/>
        </p:nvSpPr>
        <p:spPr>
          <a:xfrm>
            <a:off x="3413074" y="4204432"/>
            <a:ext cx="260452"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print</a:t>
            </a:r>
            <a:endParaRPr lang="en-US" sz="600" dirty="0"/>
          </a:p>
        </p:txBody>
      </p:sp>
      <p:sp>
        <p:nvSpPr>
          <p:cNvPr id="130" name="Text 128"/>
          <p:cNvSpPr/>
          <p:nvPr/>
        </p:nvSpPr>
        <p:spPr>
          <a:xfrm>
            <a:off x="3612952" y="4204432"/>
            <a:ext cx="1304342"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"-&gt; resuming session {prior[:8]} for PR #{pr_number}"</a:t>
            </a:r>
            <a:endParaRPr lang="en-US" sz="600" dirty="0"/>
          </a:p>
        </p:txBody>
      </p:sp>
      <p:sp>
        <p:nvSpPr>
          <p:cNvPr id="131" name="Text 129"/>
          <p:cNvSpPr/>
          <p:nvPr/>
        </p:nvSpPr>
        <p:spPr>
          <a:xfrm>
            <a:off x="3325010" y="4250866"/>
            <a:ext cx="213695" cy="100013"/>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else</a:t>
            </a:r>
            <a:endParaRPr lang="en-US" sz="600" dirty="0"/>
          </a:p>
        </p:txBody>
      </p:sp>
      <p:sp>
        <p:nvSpPr>
          <p:cNvPr id="132" name="Text 130"/>
          <p:cNvSpPr/>
          <p:nvPr/>
        </p:nvSpPr>
        <p:spPr>
          <a:xfrm>
            <a:off x="3413074" y="4297300"/>
            <a:ext cx="260452" cy="9144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print</a:t>
            </a:r>
            <a:endParaRPr lang="en-US" sz="600" dirty="0"/>
          </a:p>
        </p:txBody>
      </p:sp>
      <p:sp>
        <p:nvSpPr>
          <p:cNvPr id="133" name="Text 131"/>
          <p:cNvSpPr/>
          <p:nvPr/>
        </p:nvSpPr>
        <p:spPr>
          <a:xfrm>
            <a:off x="3612952" y="4297300"/>
            <a:ext cx="885968" cy="9144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"-&gt; new session for PR #{pr_number}"</a:t>
            </a:r>
            <a:endParaRPr lang="en-US" sz="600" dirty="0"/>
          </a:p>
        </p:txBody>
      </p:sp>
      <p:sp>
        <p:nvSpPr>
          <p:cNvPr id="134" name="Text 132"/>
          <p:cNvSpPr/>
          <p:nvPr/>
        </p:nvSpPr>
        <p:spPr>
          <a:xfrm>
            <a:off x="7812606" y="1052123"/>
            <a:ext cx="982779" cy="102056"/>
          </a:xfrm>
          <a:prstGeom prst="rect">
            <a:avLst/>
          </a:prstGeom>
          <a:solidFill>
            <a:srgbClr val="0B0B0D"/>
          </a:solidFill>
          <a:ln/>
        </p:spPr>
        <p:txBody>
          <a:bodyPr wrap="square" rtlCol="0" anchor="ctr"/>
          <a:lstStyle/>
          <a:p>
            <a:pPr indent="0" marL="0">
              <a:buNone/>
            </a:pPr>
            <a:endParaRPr lang="en-US" dirty="0"/>
          </a:p>
        </p:txBody>
      </p:sp>
      <p:sp>
        <p:nvSpPr>
          <p:cNvPr id="135" name="Text 133"/>
          <p:cNvSpPr/>
          <p:nvPr/>
        </p:nvSpPr>
        <p:spPr>
          <a:xfrm>
            <a:off x="7835466" y="1057610"/>
            <a:ext cx="937059" cy="164592"/>
          </a:xfrm>
          <a:prstGeom prst="rect">
            <a:avLst/>
          </a:prstGeom>
          <a:noFill/>
          <a:ln/>
        </p:spPr>
        <p:txBody>
          <a:bodyPr wrap="none" lIns="42863" tIns="0" rIns="42863" bIns="0" rtlCol="0" anchor="t"/>
          <a:lstStyle/>
          <a:p>
            <a:pPr algn="l" indent="0" marL="0">
              <a:lnSpc>
                <a:spcPts val="717"/>
              </a:lnSpc>
              <a:buNone/>
            </a:pPr>
            <a:r>
              <a:rPr lang="en-US" sz="600" spc="86" kern="0" dirty="0">
                <a:solidFill>
                  <a:srgbClr val="71717A"/>
                </a:solidFill>
                <a:latin typeface="Liberation Sans Narrow" pitchFamily="34" charset="0"/>
                <a:ea typeface="Liberation Sans Narrow" pitchFamily="34" charset="-122"/>
                <a:cs typeface="Liberation Sans Narrow" pitchFamily="34" charset="-120"/>
              </a:rPr>
              <a:t>COL 3 · LINES 150–211</a:t>
            </a:r>
            <a:endParaRPr lang="en-US" sz="600" dirty="0"/>
          </a:p>
        </p:txBody>
      </p:sp>
      <p:sp>
        <p:nvSpPr>
          <p:cNvPr id="136" name="Text 134"/>
          <p:cNvSpPr/>
          <p:nvPr/>
        </p:nvSpPr>
        <p:spPr>
          <a:xfrm>
            <a:off x="6229350" y="1186197"/>
            <a:ext cx="406301"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reset_findings</a:t>
            </a:r>
            <a:endParaRPr lang="en-US" sz="600" dirty="0"/>
          </a:p>
        </p:txBody>
      </p:sp>
      <p:sp>
        <p:nvSpPr>
          <p:cNvPr id="137" name="Text 135"/>
          <p:cNvSpPr/>
          <p:nvPr/>
        </p:nvSpPr>
        <p:spPr>
          <a:xfrm>
            <a:off x="6494125" y="1279066"/>
            <a:ext cx="222687"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None</a:t>
            </a:r>
            <a:endParaRPr lang="en-US" sz="600" dirty="0"/>
          </a:p>
        </p:txBody>
      </p:sp>
      <p:sp>
        <p:nvSpPr>
          <p:cNvPr id="138" name="Text 136"/>
          <p:cNvSpPr/>
          <p:nvPr/>
        </p:nvSpPr>
        <p:spPr>
          <a:xfrm>
            <a:off x="6201602" y="1325500"/>
            <a:ext cx="166939"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try</a:t>
            </a:r>
            <a:endParaRPr lang="en-US" sz="600" dirty="0"/>
          </a:p>
        </p:txBody>
      </p:sp>
      <p:sp>
        <p:nvSpPr>
          <p:cNvPr id="139" name="Text 137"/>
          <p:cNvSpPr/>
          <p:nvPr/>
        </p:nvSpPr>
        <p:spPr>
          <a:xfrm>
            <a:off x="6284862" y="1371935"/>
            <a:ext cx="260452"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async</a:t>
            </a:r>
            <a:endParaRPr lang="en-US" sz="600" dirty="0"/>
          </a:p>
        </p:txBody>
      </p:sp>
      <p:sp>
        <p:nvSpPr>
          <p:cNvPr id="140" name="Text 138"/>
          <p:cNvSpPr/>
          <p:nvPr/>
        </p:nvSpPr>
        <p:spPr>
          <a:xfrm>
            <a:off x="6433774" y="1371935"/>
            <a:ext cx="166939"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for</a:t>
            </a:r>
            <a:endParaRPr lang="en-US" sz="600" dirty="0"/>
          </a:p>
        </p:txBody>
      </p:sp>
      <p:sp>
        <p:nvSpPr>
          <p:cNvPr id="141" name="Text 139"/>
          <p:cNvSpPr/>
          <p:nvPr/>
        </p:nvSpPr>
        <p:spPr>
          <a:xfrm>
            <a:off x="6725757" y="1371935"/>
            <a:ext cx="12018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in</a:t>
            </a:r>
            <a:endParaRPr lang="en-US" sz="600" dirty="0"/>
          </a:p>
        </p:txBody>
      </p:sp>
      <p:sp>
        <p:nvSpPr>
          <p:cNvPr id="142" name="Text 140"/>
          <p:cNvSpPr/>
          <p:nvPr/>
        </p:nvSpPr>
        <p:spPr>
          <a:xfrm>
            <a:off x="6772423" y="1371935"/>
            <a:ext cx="260452"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query</a:t>
            </a:r>
            <a:endParaRPr lang="en-US" sz="600" dirty="0"/>
          </a:p>
        </p:txBody>
      </p:sp>
      <p:sp>
        <p:nvSpPr>
          <p:cNvPr id="143" name="Text 141"/>
          <p:cNvSpPr/>
          <p:nvPr/>
        </p:nvSpPr>
        <p:spPr>
          <a:xfrm>
            <a:off x="7483078" y="1371935"/>
            <a:ext cx="377279"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build_options</a:t>
            </a:r>
            <a:endParaRPr lang="en-US" sz="600" dirty="0"/>
          </a:p>
        </p:txBody>
      </p:sp>
      <p:sp>
        <p:nvSpPr>
          <p:cNvPr id="144" name="Text 142"/>
          <p:cNvSpPr/>
          <p:nvPr/>
        </p:nvSpPr>
        <p:spPr>
          <a:xfrm>
            <a:off x="6400716" y="1418369"/>
            <a:ext cx="12018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if</a:t>
            </a:r>
            <a:endParaRPr lang="en-US" sz="600" dirty="0"/>
          </a:p>
        </p:txBody>
      </p:sp>
      <p:sp>
        <p:nvSpPr>
          <p:cNvPr id="145" name="Text 143"/>
          <p:cNvSpPr/>
          <p:nvPr/>
        </p:nvSpPr>
        <p:spPr>
          <a:xfrm>
            <a:off x="6382730" y="1418369"/>
            <a:ext cx="494233"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isinstance</a:t>
            </a:r>
            <a:endParaRPr lang="en-US" sz="600" dirty="0"/>
          </a:p>
        </p:txBody>
      </p:sp>
      <p:sp>
        <p:nvSpPr>
          <p:cNvPr id="146" name="Text 144"/>
          <p:cNvSpPr/>
          <p:nvPr/>
        </p:nvSpPr>
        <p:spPr>
          <a:xfrm>
            <a:off x="6480208" y="1464804"/>
            <a:ext cx="166939"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for</a:t>
            </a:r>
            <a:endParaRPr lang="en-US" sz="600" dirty="0"/>
          </a:p>
        </p:txBody>
      </p:sp>
      <p:sp>
        <p:nvSpPr>
          <p:cNvPr id="147" name="Text 145"/>
          <p:cNvSpPr/>
          <p:nvPr/>
        </p:nvSpPr>
        <p:spPr>
          <a:xfrm>
            <a:off x="6725757" y="1464804"/>
            <a:ext cx="12018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in</a:t>
            </a:r>
            <a:endParaRPr lang="en-US" sz="600" dirty="0"/>
          </a:p>
        </p:txBody>
      </p:sp>
      <p:sp>
        <p:nvSpPr>
          <p:cNvPr id="148" name="Text 146"/>
          <p:cNvSpPr/>
          <p:nvPr/>
        </p:nvSpPr>
        <p:spPr>
          <a:xfrm>
            <a:off x="6586454" y="1511238"/>
            <a:ext cx="12018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if</a:t>
            </a:r>
            <a:endParaRPr lang="en-US" sz="600" dirty="0"/>
          </a:p>
        </p:txBody>
      </p:sp>
      <p:sp>
        <p:nvSpPr>
          <p:cNvPr id="149" name="Text 147"/>
          <p:cNvSpPr/>
          <p:nvPr/>
        </p:nvSpPr>
        <p:spPr>
          <a:xfrm>
            <a:off x="6568467" y="1511238"/>
            <a:ext cx="494233"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isinstance</a:t>
            </a:r>
            <a:endParaRPr lang="en-US" sz="600" dirty="0"/>
          </a:p>
        </p:txBody>
      </p:sp>
      <p:sp>
        <p:nvSpPr>
          <p:cNvPr id="150" name="Text 148"/>
          <p:cNvSpPr/>
          <p:nvPr/>
        </p:nvSpPr>
        <p:spPr>
          <a:xfrm>
            <a:off x="6656337" y="1557672"/>
            <a:ext cx="260452"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print</a:t>
            </a:r>
            <a:endParaRPr lang="en-US" sz="600" dirty="0"/>
          </a:p>
        </p:txBody>
      </p:sp>
      <p:sp>
        <p:nvSpPr>
          <p:cNvPr id="151" name="Text 149"/>
          <p:cNvSpPr/>
          <p:nvPr/>
        </p:nvSpPr>
        <p:spPr>
          <a:xfrm>
            <a:off x="6382535" y="1604107"/>
            <a:ext cx="213695"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elif</a:t>
            </a:r>
            <a:endParaRPr lang="en-US" sz="600" dirty="0"/>
          </a:p>
        </p:txBody>
      </p:sp>
      <p:sp>
        <p:nvSpPr>
          <p:cNvPr id="152" name="Text 150"/>
          <p:cNvSpPr/>
          <p:nvPr/>
        </p:nvSpPr>
        <p:spPr>
          <a:xfrm>
            <a:off x="6429164" y="1604107"/>
            <a:ext cx="494233"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isinstance</a:t>
            </a:r>
            <a:endParaRPr lang="en-US" sz="600" dirty="0"/>
          </a:p>
        </p:txBody>
      </p:sp>
      <p:sp>
        <p:nvSpPr>
          <p:cNvPr id="153" name="Text 151"/>
          <p:cNvSpPr/>
          <p:nvPr/>
        </p:nvSpPr>
        <p:spPr>
          <a:xfrm>
            <a:off x="6175348" y="1696975"/>
            <a:ext cx="307208"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except</a:t>
            </a:r>
            <a:endParaRPr lang="en-US" sz="600" dirty="0"/>
          </a:p>
        </p:txBody>
      </p:sp>
      <p:sp>
        <p:nvSpPr>
          <p:cNvPr id="154" name="Text 152"/>
          <p:cNvSpPr/>
          <p:nvPr/>
        </p:nvSpPr>
        <p:spPr>
          <a:xfrm>
            <a:off x="6609671" y="1696975"/>
            <a:ext cx="12018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as</a:t>
            </a:r>
            <a:endParaRPr lang="en-US" sz="600" dirty="0"/>
          </a:p>
        </p:txBody>
      </p:sp>
      <p:sp>
        <p:nvSpPr>
          <p:cNvPr id="155" name="Text 153"/>
          <p:cNvSpPr/>
          <p:nvPr/>
        </p:nvSpPr>
        <p:spPr>
          <a:xfrm>
            <a:off x="6284862" y="1743410"/>
            <a:ext cx="260452"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print</a:t>
            </a:r>
            <a:endParaRPr lang="en-US" sz="600" dirty="0"/>
          </a:p>
        </p:txBody>
      </p:sp>
      <p:sp>
        <p:nvSpPr>
          <p:cNvPr id="156" name="Text 154"/>
          <p:cNvSpPr/>
          <p:nvPr/>
        </p:nvSpPr>
        <p:spPr>
          <a:xfrm>
            <a:off x="6484739" y="1743410"/>
            <a:ext cx="493365"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"[error] {error}"</a:t>
            </a:r>
            <a:endParaRPr lang="en-US" sz="600" dirty="0"/>
          </a:p>
        </p:txBody>
      </p:sp>
      <p:sp>
        <p:nvSpPr>
          <p:cNvPr id="157" name="Text 155"/>
          <p:cNvSpPr/>
          <p:nvPr/>
        </p:nvSpPr>
        <p:spPr>
          <a:xfrm>
            <a:off x="6214979" y="1836279"/>
            <a:ext cx="12018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if</a:t>
            </a:r>
            <a:endParaRPr lang="en-US" sz="600" dirty="0"/>
          </a:p>
        </p:txBody>
      </p:sp>
      <p:sp>
        <p:nvSpPr>
          <p:cNvPr id="158" name="Text 156"/>
          <p:cNvSpPr/>
          <p:nvPr/>
        </p:nvSpPr>
        <p:spPr>
          <a:xfrm>
            <a:off x="6540019" y="1836279"/>
            <a:ext cx="12018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is</a:t>
            </a:r>
            <a:endParaRPr lang="en-US" sz="600" dirty="0"/>
          </a:p>
        </p:txBody>
      </p:sp>
      <p:sp>
        <p:nvSpPr>
          <p:cNvPr id="159" name="Text 157"/>
          <p:cNvSpPr/>
          <p:nvPr/>
        </p:nvSpPr>
        <p:spPr>
          <a:xfrm>
            <a:off x="6586994" y="1836279"/>
            <a:ext cx="222687"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None</a:t>
            </a:r>
            <a:endParaRPr lang="en-US" sz="600" dirty="0"/>
          </a:p>
        </p:txBody>
      </p:sp>
      <p:sp>
        <p:nvSpPr>
          <p:cNvPr id="160" name="Text 158"/>
          <p:cNvSpPr/>
          <p:nvPr/>
        </p:nvSpPr>
        <p:spPr>
          <a:xfrm>
            <a:off x="6268217" y="1882713"/>
            <a:ext cx="307208"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return</a:t>
            </a:r>
            <a:endParaRPr lang="en-US" sz="600" dirty="0"/>
          </a:p>
        </p:txBody>
      </p:sp>
      <p:sp>
        <p:nvSpPr>
          <p:cNvPr id="161" name="Text 159"/>
          <p:cNvSpPr/>
          <p:nvPr/>
        </p:nvSpPr>
        <p:spPr>
          <a:xfrm>
            <a:off x="6447691" y="1882713"/>
            <a:ext cx="222687"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None</a:t>
            </a:r>
            <a:endParaRPr lang="en-US" sz="600" dirty="0"/>
          </a:p>
        </p:txBody>
      </p:sp>
      <p:sp>
        <p:nvSpPr>
          <p:cNvPr id="162" name="Text 160"/>
          <p:cNvSpPr/>
          <p:nvPr/>
        </p:nvSpPr>
        <p:spPr>
          <a:xfrm>
            <a:off x="6214979" y="1975582"/>
            <a:ext cx="12018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if</a:t>
            </a:r>
            <a:endParaRPr lang="en-US" sz="600" dirty="0"/>
          </a:p>
        </p:txBody>
      </p:sp>
      <p:sp>
        <p:nvSpPr>
          <p:cNvPr id="163" name="Text 161"/>
          <p:cNvSpPr/>
          <p:nvPr/>
        </p:nvSpPr>
        <p:spPr>
          <a:xfrm>
            <a:off x="6284862" y="2022016"/>
            <a:ext cx="260452"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print</a:t>
            </a:r>
            <a:endParaRPr lang="en-US" sz="600" dirty="0"/>
          </a:p>
        </p:txBody>
      </p:sp>
      <p:sp>
        <p:nvSpPr>
          <p:cNvPr id="164" name="Text 162"/>
          <p:cNvSpPr/>
          <p:nvPr/>
        </p:nvSpPr>
        <p:spPr>
          <a:xfrm>
            <a:off x="6484739" y="2022016"/>
            <a:ext cx="1378172"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"-&gt; forked into {session_id[:8]} (original left intact)"</a:t>
            </a:r>
            <a:endParaRPr lang="en-US" sz="600" dirty="0"/>
          </a:p>
        </p:txBody>
      </p:sp>
      <p:sp>
        <p:nvSpPr>
          <p:cNvPr id="165" name="Text 163"/>
          <p:cNvSpPr/>
          <p:nvPr/>
        </p:nvSpPr>
        <p:spPr>
          <a:xfrm>
            <a:off x="6196797" y="2068450"/>
            <a:ext cx="213695"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else</a:t>
            </a:r>
            <a:endParaRPr lang="en-US" sz="600" dirty="0"/>
          </a:p>
        </p:txBody>
      </p:sp>
      <p:sp>
        <p:nvSpPr>
          <p:cNvPr id="166" name="Text 164"/>
          <p:cNvSpPr/>
          <p:nvPr/>
        </p:nvSpPr>
        <p:spPr>
          <a:xfrm>
            <a:off x="6322219" y="2114885"/>
            <a:ext cx="464344"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remember_session</a:t>
            </a:r>
            <a:endParaRPr lang="en-US" sz="600" dirty="0"/>
          </a:p>
        </p:txBody>
      </p:sp>
      <p:sp>
        <p:nvSpPr>
          <p:cNvPr id="167" name="Text 165"/>
          <p:cNvSpPr/>
          <p:nvPr/>
        </p:nvSpPr>
        <p:spPr>
          <a:xfrm>
            <a:off x="6284862" y="2161319"/>
            <a:ext cx="260452"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print</a:t>
            </a:r>
            <a:endParaRPr lang="en-US" sz="600" dirty="0"/>
          </a:p>
        </p:txBody>
      </p:sp>
      <p:sp>
        <p:nvSpPr>
          <p:cNvPr id="168" name="Text 166"/>
          <p:cNvSpPr/>
          <p:nvPr/>
        </p:nvSpPr>
        <p:spPr>
          <a:xfrm>
            <a:off x="6484739" y="2161319"/>
            <a:ext cx="1476613"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"-&gt; remembered session {session_id[:8]} for PR #{pr_number}"</a:t>
            </a:r>
            <a:endParaRPr lang="en-US" sz="600" dirty="0"/>
          </a:p>
        </p:txBody>
      </p:sp>
      <p:sp>
        <p:nvSpPr>
          <p:cNvPr id="169" name="Text 167"/>
          <p:cNvSpPr/>
          <p:nvPr/>
        </p:nvSpPr>
        <p:spPr>
          <a:xfrm>
            <a:off x="6175348" y="2254188"/>
            <a:ext cx="307208" cy="111871"/>
          </a:xfrm>
          <a:prstGeom prst="rect">
            <a:avLst/>
          </a:prstGeom>
          <a:noFill/>
          <a:ln/>
        </p:spPr>
        <p:txBody>
          <a:bodyPr wrap="none" lIns="0" tIns="0" rIns="0" bIns="0" rtlCol="0" anchor="t">
            <a:normAutofit/>
          </a:bodyPr>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return</a:t>
            </a:r>
            <a:endParaRPr lang="en-US" sz="600" dirty="0"/>
          </a:p>
        </p:txBody>
      </p:sp>
      <p:sp>
        <p:nvSpPr>
          <p:cNvPr id="170" name="Text 168"/>
          <p:cNvSpPr/>
          <p:nvPr/>
        </p:nvSpPr>
        <p:spPr>
          <a:xfrm>
            <a:off x="6099124" y="2393491"/>
            <a:ext cx="260452"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async</a:t>
            </a:r>
            <a:endParaRPr lang="en-US" sz="600" dirty="0"/>
          </a:p>
        </p:txBody>
      </p:sp>
      <p:sp>
        <p:nvSpPr>
          <p:cNvPr id="171" name="Text 169"/>
          <p:cNvSpPr/>
          <p:nvPr/>
        </p:nvSpPr>
        <p:spPr>
          <a:xfrm>
            <a:off x="6248036" y="2393491"/>
            <a:ext cx="166939"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def</a:t>
            </a:r>
            <a:endParaRPr lang="en-US" sz="600" dirty="0"/>
          </a:p>
        </p:txBody>
      </p:sp>
      <p:sp>
        <p:nvSpPr>
          <p:cNvPr id="172" name="Text 170"/>
          <p:cNvSpPr/>
          <p:nvPr/>
        </p:nvSpPr>
        <p:spPr>
          <a:xfrm>
            <a:off x="6368653" y="2393491"/>
            <a:ext cx="551408"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ask_about_live_repo</a:t>
            </a:r>
            <a:endParaRPr lang="en-US" sz="600" dirty="0"/>
          </a:p>
        </p:txBody>
      </p:sp>
      <p:sp>
        <p:nvSpPr>
          <p:cNvPr id="173" name="Text 171"/>
          <p:cNvSpPr/>
          <p:nvPr/>
        </p:nvSpPr>
        <p:spPr>
          <a:xfrm>
            <a:off x="7213858" y="2393491"/>
            <a:ext cx="222687"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None</a:t>
            </a:r>
            <a:endParaRPr lang="en-US" sz="600" dirty="0"/>
          </a:p>
        </p:txBody>
      </p:sp>
      <p:sp>
        <p:nvSpPr>
          <p:cNvPr id="174" name="Text 172"/>
          <p:cNvSpPr/>
          <p:nvPr/>
        </p:nvSpPr>
        <p:spPr>
          <a:xfrm>
            <a:off x="6136481" y="2439925"/>
            <a:ext cx="1578769"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"""Ep09 -- a separate, one-off entry point that turns GitHub ON.</a:t>
            </a:r>
            <a:endParaRPr lang="en-US" sz="600" dirty="0"/>
          </a:p>
        </p:txBody>
      </p:sp>
      <p:sp>
        <p:nvSpPr>
          <p:cNvPr id="175" name="Text 173"/>
          <p:cNvSpPr/>
          <p:nvPr/>
        </p:nvSpPr>
        <p:spPr>
          <a:xfrm>
            <a:off x="6136481" y="2532794"/>
            <a:ext cx="1555552"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No PR number, no resume, no findings -- this deliberately never</a:t>
            </a:r>
            <a:endParaRPr lang="en-US" sz="600" dirty="0"/>
          </a:p>
        </p:txBody>
      </p:sp>
      <p:sp>
        <p:nvSpPr>
          <p:cNvPr id="176" name="Text 174"/>
          <p:cNvSpPr/>
          <p:nvPr/>
        </p:nvSpPr>
        <p:spPr>
          <a:xfrm>
            <a:off x="6136481" y="2579229"/>
            <a:ext cx="1648420"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touches review_pr()'s session index. It's a different job: one live</a:t>
            </a:r>
            <a:endParaRPr lang="en-US" sz="600" dirty="0"/>
          </a:p>
        </p:txBody>
      </p:sp>
      <p:sp>
        <p:nvSpPr>
          <p:cNvPr id="177" name="Text 175"/>
          <p:cNvSpPr/>
          <p:nvPr/>
        </p:nvSpPr>
        <p:spPr>
          <a:xfrm>
            <a:off x="6136481" y="2625663"/>
            <a:ext cx="1648420"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question against real GitHub data, using the same coordinator setup</a:t>
            </a:r>
            <a:endParaRPr lang="en-US" sz="600" dirty="0"/>
          </a:p>
        </p:txBody>
      </p:sp>
      <p:sp>
        <p:nvSpPr>
          <p:cNvPr id="178" name="Text 176"/>
          <p:cNvSpPr/>
          <p:nvPr/>
        </p:nvSpPr>
        <p:spPr>
          <a:xfrm>
            <a:off x="6136481" y="2672097"/>
            <a:ext cx="719733" cy="135050"/>
          </a:xfrm>
          <a:prstGeom prst="rect">
            <a:avLst/>
          </a:prstGeom>
          <a:noFill/>
          <a:ln/>
        </p:spPr>
        <p:txBody>
          <a:bodyPr wrap="none" lIns="0" tIns="0" rIns="0" bIns="0" rtlCol="0" anchor="t"/>
          <a:lstStyle/>
          <a:p>
            <a:pPr algn="l" indent="0" marL="0">
              <a:lnSpc>
                <a:spcPts val="366"/>
              </a:lnSpc>
              <a:buNone/>
            </a:pPr>
            <a:r>
              <a:rPr lang="en-US" sz="600" i="1" dirty="0">
                <a:solidFill>
                  <a:srgbClr val="71717A"/>
                </a:solidFill>
                <a:latin typeface="Courier New" pitchFamily="34" charset="0"/>
                <a:ea typeface="Courier New" pitchFamily="34" charset="-122"/>
                <a:cs typeface="Courier New" pitchFamily="34" charset="-120"/>
              </a:rPr>
              <a:t>with a single flag flipped.</a:t>
            </a:r>
            <a:endParaRPr lang="en-US" sz="600" dirty="0"/>
          </a:p>
        </p:txBody>
      </p:sp>
      <p:sp>
        <p:nvSpPr>
          <p:cNvPr id="179" name="Text 177"/>
          <p:cNvSpPr/>
          <p:nvPr/>
        </p:nvSpPr>
        <p:spPr>
          <a:xfrm>
            <a:off x="6136481" y="2718532"/>
            <a:ext cx="260033" cy="135050"/>
          </a:xfrm>
          <a:prstGeom prst="rect">
            <a:avLst/>
          </a:prstGeom>
          <a:noFill/>
          <a:ln/>
        </p:spPr>
        <p:txBody>
          <a:bodyPr wrap="none" lIns="0" tIns="0" rIns="0" bIns="0" rtlCol="0" anchor="t"/>
          <a:lstStyle/>
          <a:p>
            <a:pPr algn="l" indent="0" marL="0">
              <a:lnSpc>
                <a:spcPts val="366"/>
              </a:lnSpc>
              <a:buNone/>
            </a:pPr>
            <a:r>
              <a:rPr lang="en-US" sz="800" i="1" dirty="0">
                <a:solidFill>
                  <a:srgbClr val="71717A"/>
                </a:solidFill>
                <a:latin typeface="Courier New" pitchFamily="34" charset="0"/>
                <a:ea typeface="Courier New" pitchFamily="34" charset="-122"/>
                <a:cs typeface="Courier New" pitchFamily="34" charset="-120"/>
              </a:rPr>
              <a:t>"""</a:t>
            </a:r>
            <a:endParaRPr lang="en-US" sz="800" dirty="0"/>
          </a:p>
        </p:txBody>
      </p:sp>
      <p:sp>
        <p:nvSpPr>
          <p:cNvPr id="180" name="Text 178"/>
          <p:cNvSpPr/>
          <p:nvPr/>
        </p:nvSpPr>
        <p:spPr>
          <a:xfrm>
            <a:off x="6461522" y="2764966"/>
            <a:ext cx="377279"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build_options</a:t>
            </a:r>
            <a:endParaRPr lang="en-US" sz="600" dirty="0"/>
          </a:p>
        </p:txBody>
      </p:sp>
      <p:sp>
        <p:nvSpPr>
          <p:cNvPr id="181" name="Text 179"/>
          <p:cNvSpPr/>
          <p:nvPr/>
        </p:nvSpPr>
        <p:spPr>
          <a:xfrm>
            <a:off x="7097772" y="2764966"/>
            <a:ext cx="222687"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True</a:t>
            </a:r>
            <a:endParaRPr lang="en-US" sz="600" dirty="0"/>
          </a:p>
        </p:txBody>
      </p:sp>
      <p:sp>
        <p:nvSpPr>
          <p:cNvPr id="182" name="Text 180"/>
          <p:cNvSpPr/>
          <p:nvPr/>
        </p:nvSpPr>
        <p:spPr>
          <a:xfrm>
            <a:off x="6191993" y="2811400"/>
            <a:ext cx="260452"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async</a:t>
            </a:r>
            <a:endParaRPr lang="en-US" sz="600" dirty="0"/>
          </a:p>
        </p:txBody>
      </p:sp>
      <p:sp>
        <p:nvSpPr>
          <p:cNvPr id="183" name="Text 181"/>
          <p:cNvSpPr/>
          <p:nvPr/>
        </p:nvSpPr>
        <p:spPr>
          <a:xfrm>
            <a:off x="6340905" y="2811400"/>
            <a:ext cx="166939"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for</a:t>
            </a:r>
            <a:endParaRPr lang="en-US" sz="600" dirty="0"/>
          </a:p>
        </p:txBody>
      </p:sp>
      <p:sp>
        <p:nvSpPr>
          <p:cNvPr id="184" name="Text 182"/>
          <p:cNvSpPr/>
          <p:nvPr/>
        </p:nvSpPr>
        <p:spPr>
          <a:xfrm>
            <a:off x="6632888" y="2811400"/>
            <a:ext cx="12018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in</a:t>
            </a:r>
            <a:endParaRPr lang="en-US" sz="600" dirty="0"/>
          </a:p>
        </p:txBody>
      </p:sp>
      <p:sp>
        <p:nvSpPr>
          <p:cNvPr id="185" name="Text 183"/>
          <p:cNvSpPr/>
          <p:nvPr/>
        </p:nvSpPr>
        <p:spPr>
          <a:xfrm>
            <a:off x="6679554" y="2811400"/>
            <a:ext cx="260452"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query</a:t>
            </a:r>
            <a:endParaRPr lang="en-US" sz="600" dirty="0"/>
          </a:p>
        </p:txBody>
      </p:sp>
      <p:sp>
        <p:nvSpPr>
          <p:cNvPr id="186" name="Text 184"/>
          <p:cNvSpPr/>
          <p:nvPr/>
        </p:nvSpPr>
        <p:spPr>
          <a:xfrm>
            <a:off x="6307847" y="2857835"/>
            <a:ext cx="12018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if</a:t>
            </a:r>
            <a:endParaRPr lang="en-US" sz="600" dirty="0"/>
          </a:p>
        </p:txBody>
      </p:sp>
      <p:sp>
        <p:nvSpPr>
          <p:cNvPr id="187" name="Text 185"/>
          <p:cNvSpPr/>
          <p:nvPr/>
        </p:nvSpPr>
        <p:spPr>
          <a:xfrm>
            <a:off x="6289861" y="2857835"/>
            <a:ext cx="494233"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isinstance</a:t>
            </a:r>
            <a:endParaRPr lang="en-US" sz="600" dirty="0"/>
          </a:p>
        </p:txBody>
      </p:sp>
      <p:sp>
        <p:nvSpPr>
          <p:cNvPr id="188" name="Text 186"/>
          <p:cNvSpPr/>
          <p:nvPr/>
        </p:nvSpPr>
        <p:spPr>
          <a:xfrm>
            <a:off x="6387339" y="2904269"/>
            <a:ext cx="166939"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for</a:t>
            </a:r>
            <a:endParaRPr lang="en-US" sz="600" dirty="0"/>
          </a:p>
        </p:txBody>
      </p:sp>
      <p:sp>
        <p:nvSpPr>
          <p:cNvPr id="189" name="Text 187"/>
          <p:cNvSpPr/>
          <p:nvPr/>
        </p:nvSpPr>
        <p:spPr>
          <a:xfrm>
            <a:off x="6632888" y="2904269"/>
            <a:ext cx="12018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in</a:t>
            </a:r>
            <a:endParaRPr lang="en-US" sz="600" dirty="0"/>
          </a:p>
        </p:txBody>
      </p:sp>
      <p:sp>
        <p:nvSpPr>
          <p:cNvPr id="190" name="Text 188"/>
          <p:cNvSpPr/>
          <p:nvPr/>
        </p:nvSpPr>
        <p:spPr>
          <a:xfrm>
            <a:off x="6493585" y="2950704"/>
            <a:ext cx="12018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if</a:t>
            </a:r>
            <a:endParaRPr lang="en-US" sz="600" dirty="0"/>
          </a:p>
        </p:txBody>
      </p:sp>
      <p:sp>
        <p:nvSpPr>
          <p:cNvPr id="191" name="Text 189"/>
          <p:cNvSpPr/>
          <p:nvPr/>
        </p:nvSpPr>
        <p:spPr>
          <a:xfrm>
            <a:off x="6475599" y="2950704"/>
            <a:ext cx="494233"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isinstance</a:t>
            </a:r>
            <a:endParaRPr lang="en-US" sz="600" dirty="0"/>
          </a:p>
        </p:txBody>
      </p:sp>
      <p:sp>
        <p:nvSpPr>
          <p:cNvPr id="192" name="Text 190"/>
          <p:cNvSpPr/>
          <p:nvPr/>
        </p:nvSpPr>
        <p:spPr>
          <a:xfrm>
            <a:off x="6563468" y="2997138"/>
            <a:ext cx="260452" cy="111871"/>
          </a:xfrm>
          <a:prstGeom prst="rect">
            <a:avLst/>
          </a:prstGeom>
          <a:noFill/>
          <a:ln/>
        </p:spPr>
        <p:txBody>
          <a:bodyPr wrap="none" lIns="0" tIns="0" rIns="0" bIns="0" rtlCol="0" anchor="t">
            <a:normAutofit/>
          </a:bodyPr>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print</a:t>
            </a:r>
            <a:endParaRPr lang="en-US" sz="600" dirty="0"/>
          </a:p>
        </p:txBody>
      </p:sp>
      <p:sp>
        <p:nvSpPr>
          <p:cNvPr id="193" name="Text 191"/>
          <p:cNvSpPr/>
          <p:nvPr/>
        </p:nvSpPr>
        <p:spPr>
          <a:xfrm>
            <a:off x="6099124" y="3136441"/>
            <a:ext cx="260452"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async</a:t>
            </a:r>
            <a:endParaRPr lang="en-US" sz="600" dirty="0"/>
          </a:p>
        </p:txBody>
      </p:sp>
      <p:sp>
        <p:nvSpPr>
          <p:cNvPr id="194" name="Text 192"/>
          <p:cNvSpPr/>
          <p:nvPr/>
        </p:nvSpPr>
        <p:spPr>
          <a:xfrm>
            <a:off x="6248036" y="3136441"/>
            <a:ext cx="166939"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def</a:t>
            </a:r>
            <a:endParaRPr lang="en-US" sz="600" dirty="0"/>
          </a:p>
        </p:txBody>
      </p:sp>
      <p:sp>
        <p:nvSpPr>
          <p:cNvPr id="195" name="Text 193"/>
          <p:cNvSpPr/>
          <p:nvPr/>
        </p:nvSpPr>
        <p:spPr>
          <a:xfrm>
            <a:off x="6336100" y="3136441"/>
            <a:ext cx="213695"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main</a:t>
            </a:r>
            <a:endParaRPr lang="en-US" sz="600" dirty="0"/>
          </a:p>
        </p:txBody>
      </p:sp>
      <p:sp>
        <p:nvSpPr>
          <p:cNvPr id="196" name="Text 194"/>
          <p:cNvSpPr/>
          <p:nvPr/>
        </p:nvSpPr>
        <p:spPr>
          <a:xfrm>
            <a:off x="6563777" y="3136441"/>
            <a:ext cx="222687"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None</a:t>
            </a:r>
            <a:endParaRPr lang="en-US" sz="600" dirty="0"/>
          </a:p>
        </p:txBody>
      </p:sp>
      <p:sp>
        <p:nvSpPr>
          <p:cNvPr id="197" name="Text 195"/>
          <p:cNvSpPr/>
          <p:nvPr/>
        </p:nvSpPr>
        <p:spPr>
          <a:xfrm>
            <a:off x="6214979" y="3182875"/>
            <a:ext cx="12018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if</a:t>
            </a:r>
            <a:endParaRPr lang="en-US" sz="600" dirty="0"/>
          </a:p>
        </p:txBody>
      </p:sp>
      <p:sp>
        <p:nvSpPr>
          <p:cNvPr id="198" name="Text 196"/>
          <p:cNvSpPr/>
          <p:nvPr/>
        </p:nvSpPr>
        <p:spPr>
          <a:xfrm>
            <a:off x="6271253" y="3182875"/>
            <a:ext cx="166939"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len</a:t>
            </a:r>
            <a:endParaRPr lang="en-US" sz="600" dirty="0"/>
          </a:p>
        </p:txBody>
      </p:sp>
      <p:sp>
        <p:nvSpPr>
          <p:cNvPr id="199" name="Text 197"/>
          <p:cNvSpPr/>
          <p:nvPr/>
        </p:nvSpPr>
        <p:spPr>
          <a:xfrm>
            <a:off x="6670477" y="3182875"/>
            <a:ext cx="91440" cy="135050"/>
          </a:xfrm>
          <a:prstGeom prst="rect">
            <a:avLst/>
          </a:prstGeom>
          <a:noFill/>
          <a:ln/>
        </p:spPr>
        <p:txBody>
          <a:bodyPr wrap="none" lIns="0" tIns="0" rIns="0" bIns="0" rtlCol="0" anchor="t"/>
          <a:lstStyle/>
          <a:p>
            <a:pPr algn="l" indent="0" marL="0">
              <a:lnSpc>
                <a:spcPts val="366"/>
              </a:lnSpc>
              <a:buNone/>
            </a:pPr>
            <a:r>
              <a:rPr lang="en-US" sz="800" dirty="0">
                <a:solidFill>
                  <a:srgbClr val="FF9D5C"/>
                </a:solidFill>
                <a:latin typeface="Liberation Sans Narrow" pitchFamily="34" charset="0"/>
                <a:ea typeface="Liberation Sans Narrow" pitchFamily="34" charset="-122"/>
                <a:cs typeface="Liberation Sans Narrow" pitchFamily="34" charset="-120"/>
              </a:rPr>
              <a:t>1</a:t>
            </a:r>
            <a:endParaRPr lang="en-US" sz="800" dirty="0"/>
          </a:p>
        </p:txBody>
      </p:sp>
      <p:sp>
        <p:nvSpPr>
          <p:cNvPr id="200" name="Text 198"/>
          <p:cNvSpPr/>
          <p:nvPr/>
        </p:nvSpPr>
        <p:spPr>
          <a:xfrm>
            <a:off x="6689163" y="3182875"/>
            <a:ext cx="166939"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and</a:t>
            </a:r>
            <a:endParaRPr lang="en-US" sz="600" dirty="0"/>
          </a:p>
        </p:txBody>
      </p:sp>
      <p:sp>
        <p:nvSpPr>
          <p:cNvPr id="201" name="Text 199"/>
          <p:cNvSpPr/>
          <p:nvPr/>
        </p:nvSpPr>
        <p:spPr>
          <a:xfrm>
            <a:off x="7018734" y="3182875"/>
            <a:ext cx="91440" cy="135050"/>
          </a:xfrm>
          <a:prstGeom prst="rect">
            <a:avLst/>
          </a:prstGeom>
          <a:noFill/>
          <a:ln/>
        </p:spPr>
        <p:txBody>
          <a:bodyPr wrap="none" lIns="0" tIns="0" rIns="0" bIns="0" rtlCol="0" anchor="t"/>
          <a:lstStyle/>
          <a:p>
            <a:pPr algn="l" indent="0" marL="0">
              <a:lnSpc>
                <a:spcPts val="366"/>
              </a:lnSpc>
              <a:buNone/>
            </a:pPr>
            <a:r>
              <a:rPr lang="en-US" sz="800" dirty="0">
                <a:solidFill>
                  <a:srgbClr val="FF9D5C"/>
                </a:solidFill>
                <a:latin typeface="Liberation Sans Narrow" pitchFamily="34" charset="0"/>
                <a:ea typeface="Liberation Sans Narrow" pitchFamily="34" charset="-122"/>
                <a:cs typeface="Liberation Sans Narrow" pitchFamily="34" charset="-120"/>
              </a:rPr>
              <a:t>1</a:t>
            </a:r>
            <a:endParaRPr lang="en-US" sz="800" dirty="0"/>
          </a:p>
        </p:txBody>
      </p:sp>
      <p:sp>
        <p:nvSpPr>
          <p:cNvPr id="202" name="Text 200"/>
          <p:cNvSpPr/>
          <p:nvPr/>
        </p:nvSpPr>
        <p:spPr>
          <a:xfrm>
            <a:off x="7103068" y="3182875"/>
            <a:ext cx="375544"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"--live"</a:t>
            </a:r>
            <a:endParaRPr lang="en-US" sz="600" dirty="0"/>
          </a:p>
        </p:txBody>
      </p:sp>
      <p:sp>
        <p:nvSpPr>
          <p:cNvPr id="203" name="Text 201"/>
          <p:cNvSpPr/>
          <p:nvPr/>
        </p:nvSpPr>
        <p:spPr>
          <a:xfrm>
            <a:off x="6566944" y="3229310"/>
            <a:ext cx="132771"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 "</a:t>
            </a:r>
            <a:endParaRPr lang="en-US" sz="600" dirty="0"/>
          </a:p>
        </p:txBody>
      </p:sp>
      <p:sp>
        <p:nvSpPr>
          <p:cNvPr id="204" name="Text 202"/>
          <p:cNvSpPr/>
          <p:nvPr/>
        </p:nvSpPr>
        <p:spPr>
          <a:xfrm>
            <a:off x="6637924" y="3229310"/>
            <a:ext cx="213695"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join</a:t>
            </a:r>
            <a:endParaRPr lang="en-US" sz="600" dirty="0"/>
          </a:p>
        </p:txBody>
      </p:sp>
      <p:sp>
        <p:nvSpPr>
          <p:cNvPr id="205" name="Text 203"/>
          <p:cNvSpPr/>
          <p:nvPr/>
        </p:nvSpPr>
        <p:spPr>
          <a:xfrm>
            <a:off x="6995517" y="3229310"/>
            <a:ext cx="91440" cy="135050"/>
          </a:xfrm>
          <a:prstGeom prst="rect">
            <a:avLst/>
          </a:prstGeom>
          <a:noFill/>
          <a:ln/>
        </p:spPr>
        <p:txBody>
          <a:bodyPr wrap="none" lIns="0" tIns="0" rIns="0" bIns="0" rtlCol="0" anchor="t"/>
          <a:lstStyle/>
          <a:p>
            <a:pPr algn="l" indent="0" marL="0">
              <a:lnSpc>
                <a:spcPts val="366"/>
              </a:lnSpc>
              <a:buNone/>
            </a:pPr>
            <a:r>
              <a:rPr lang="en-US" sz="800" dirty="0">
                <a:solidFill>
                  <a:srgbClr val="FF9D5C"/>
                </a:solidFill>
                <a:latin typeface="Liberation Sans Narrow" pitchFamily="34" charset="0"/>
                <a:ea typeface="Liberation Sans Narrow" pitchFamily="34" charset="-122"/>
                <a:cs typeface="Liberation Sans Narrow" pitchFamily="34" charset="-120"/>
              </a:rPr>
              <a:t>2</a:t>
            </a:r>
            <a:endParaRPr lang="en-US" sz="800" dirty="0"/>
          </a:p>
        </p:txBody>
      </p:sp>
      <p:sp>
        <p:nvSpPr>
          <p:cNvPr id="206" name="Text 204"/>
          <p:cNvSpPr/>
          <p:nvPr/>
        </p:nvSpPr>
        <p:spPr>
          <a:xfrm>
            <a:off x="7097232" y="3229310"/>
            <a:ext cx="12018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or</a:t>
            </a:r>
            <a:endParaRPr lang="en-US" sz="600" dirty="0"/>
          </a:p>
        </p:txBody>
      </p:sp>
      <p:sp>
        <p:nvSpPr>
          <p:cNvPr id="207" name="Text 205"/>
          <p:cNvSpPr/>
          <p:nvPr/>
        </p:nvSpPr>
        <p:spPr>
          <a:xfrm>
            <a:off x="6415088" y="3275744"/>
            <a:ext cx="1501223"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"What are the 3 most recently updated open pull requests on "</a:t>
            </a:r>
            <a:endParaRPr lang="en-US" sz="600" dirty="0"/>
          </a:p>
        </p:txBody>
      </p:sp>
      <p:sp>
        <p:nvSpPr>
          <p:cNvPr id="208" name="Text 206"/>
          <p:cNvSpPr/>
          <p:nvPr/>
        </p:nvSpPr>
        <p:spPr>
          <a:xfrm>
            <a:off x="6415088" y="3322179"/>
            <a:ext cx="910578"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"anthropics/claude-agent-sdk-python?"</a:t>
            </a:r>
            <a:endParaRPr lang="en-US" sz="600" dirty="0"/>
          </a:p>
        </p:txBody>
      </p:sp>
      <p:sp>
        <p:nvSpPr>
          <p:cNvPr id="209" name="Text 207"/>
          <p:cNvSpPr/>
          <p:nvPr/>
        </p:nvSpPr>
        <p:spPr>
          <a:xfrm>
            <a:off x="6284862" y="3415047"/>
            <a:ext cx="260452"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await</a:t>
            </a:r>
            <a:endParaRPr lang="en-US" sz="600" dirty="0"/>
          </a:p>
        </p:txBody>
      </p:sp>
      <p:sp>
        <p:nvSpPr>
          <p:cNvPr id="210" name="Text 208"/>
          <p:cNvSpPr/>
          <p:nvPr/>
        </p:nvSpPr>
        <p:spPr>
          <a:xfrm>
            <a:off x="6461522" y="3415047"/>
            <a:ext cx="551408"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ask_about_live_repo</a:t>
            </a:r>
            <a:endParaRPr lang="en-US" sz="600" dirty="0"/>
          </a:p>
        </p:txBody>
      </p:sp>
      <p:sp>
        <p:nvSpPr>
          <p:cNvPr id="211" name="Text 209"/>
          <p:cNvSpPr/>
          <p:nvPr/>
        </p:nvSpPr>
        <p:spPr>
          <a:xfrm>
            <a:off x="6268217" y="3461482"/>
            <a:ext cx="307208"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return</a:t>
            </a:r>
            <a:endParaRPr lang="en-US" sz="600" dirty="0"/>
          </a:p>
        </p:txBody>
      </p:sp>
      <p:sp>
        <p:nvSpPr>
          <p:cNvPr id="212" name="Text 210"/>
          <p:cNvSpPr/>
          <p:nvPr/>
        </p:nvSpPr>
        <p:spPr>
          <a:xfrm>
            <a:off x="6480208" y="3554350"/>
            <a:ext cx="166939"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int</a:t>
            </a:r>
            <a:endParaRPr lang="en-US" sz="600" dirty="0"/>
          </a:p>
        </p:txBody>
      </p:sp>
      <p:sp>
        <p:nvSpPr>
          <p:cNvPr id="213" name="Text 211"/>
          <p:cNvSpPr/>
          <p:nvPr/>
        </p:nvSpPr>
        <p:spPr>
          <a:xfrm>
            <a:off x="6809780" y="3554350"/>
            <a:ext cx="91440" cy="135050"/>
          </a:xfrm>
          <a:prstGeom prst="rect">
            <a:avLst/>
          </a:prstGeom>
          <a:noFill/>
          <a:ln/>
        </p:spPr>
        <p:txBody>
          <a:bodyPr wrap="none" lIns="0" tIns="0" rIns="0" bIns="0" rtlCol="0" anchor="t"/>
          <a:lstStyle/>
          <a:p>
            <a:pPr algn="l" indent="0" marL="0">
              <a:lnSpc>
                <a:spcPts val="366"/>
              </a:lnSpc>
              <a:buNone/>
            </a:pPr>
            <a:r>
              <a:rPr lang="en-US" sz="800" dirty="0">
                <a:solidFill>
                  <a:srgbClr val="FF9D5C"/>
                </a:solidFill>
                <a:latin typeface="Liberation Sans Narrow" pitchFamily="34" charset="0"/>
                <a:ea typeface="Liberation Sans Narrow" pitchFamily="34" charset="-122"/>
                <a:cs typeface="Liberation Sans Narrow" pitchFamily="34" charset="-120"/>
              </a:rPr>
              <a:t>1</a:t>
            </a:r>
            <a:endParaRPr lang="en-US" sz="800" dirty="0"/>
          </a:p>
        </p:txBody>
      </p:sp>
      <p:sp>
        <p:nvSpPr>
          <p:cNvPr id="214" name="Text 212"/>
          <p:cNvSpPr/>
          <p:nvPr/>
        </p:nvSpPr>
        <p:spPr>
          <a:xfrm>
            <a:off x="6888277" y="3554350"/>
            <a:ext cx="12018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if</a:t>
            </a:r>
            <a:endParaRPr lang="en-US" sz="600" dirty="0"/>
          </a:p>
        </p:txBody>
      </p:sp>
      <p:sp>
        <p:nvSpPr>
          <p:cNvPr id="215" name="Text 213"/>
          <p:cNvSpPr/>
          <p:nvPr/>
        </p:nvSpPr>
        <p:spPr>
          <a:xfrm>
            <a:off x="6944552" y="3554350"/>
            <a:ext cx="166939"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len</a:t>
            </a:r>
            <a:endParaRPr lang="en-US" sz="600" dirty="0"/>
          </a:p>
        </p:txBody>
      </p:sp>
      <p:sp>
        <p:nvSpPr>
          <p:cNvPr id="216" name="Text 214"/>
          <p:cNvSpPr/>
          <p:nvPr/>
        </p:nvSpPr>
        <p:spPr>
          <a:xfrm>
            <a:off x="7343775" y="3554350"/>
            <a:ext cx="91440" cy="135050"/>
          </a:xfrm>
          <a:prstGeom prst="rect">
            <a:avLst/>
          </a:prstGeom>
          <a:noFill/>
          <a:ln/>
        </p:spPr>
        <p:txBody>
          <a:bodyPr wrap="none" lIns="0" tIns="0" rIns="0" bIns="0" rtlCol="0" anchor="t"/>
          <a:lstStyle/>
          <a:p>
            <a:pPr algn="l" indent="0" marL="0">
              <a:lnSpc>
                <a:spcPts val="366"/>
              </a:lnSpc>
              <a:buNone/>
            </a:pPr>
            <a:r>
              <a:rPr lang="en-US" sz="800" dirty="0">
                <a:solidFill>
                  <a:srgbClr val="FF9D5C"/>
                </a:solidFill>
                <a:latin typeface="Liberation Sans Narrow" pitchFamily="34" charset="0"/>
                <a:ea typeface="Liberation Sans Narrow" pitchFamily="34" charset="-122"/>
                <a:cs typeface="Liberation Sans Narrow" pitchFamily="34" charset="-120"/>
              </a:rPr>
              <a:t>1</a:t>
            </a:r>
            <a:endParaRPr lang="en-US" sz="800" dirty="0"/>
          </a:p>
        </p:txBody>
      </p:sp>
      <p:sp>
        <p:nvSpPr>
          <p:cNvPr id="217" name="Text 215"/>
          <p:cNvSpPr/>
          <p:nvPr/>
        </p:nvSpPr>
        <p:spPr>
          <a:xfrm>
            <a:off x="7357657" y="3554350"/>
            <a:ext cx="213695"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else</a:t>
            </a:r>
            <a:endParaRPr lang="en-US" sz="600" dirty="0"/>
          </a:p>
        </p:txBody>
      </p:sp>
      <p:sp>
        <p:nvSpPr>
          <p:cNvPr id="218" name="Text 216"/>
          <p:cNvSpPr/>
          <p:nvPr/>
        </p:nvSpPr>
        <p:spPr>
          <a:xfrm>
            <a:off x="7465060" y="3554350"/>
            <a:ext cx="193914" cy="135050"/>
          </a:xfrm>
          <a:prstGeom prst="rect">
            <a:avLst/>
          </a:prstGeom>
          <a:noFill/>
          <a:ln/>
        </p:spPr>
        <p:txBody>
          <a:bodyPr wrap="none" lIns="0" tIns="0" rIns="0" bIns="0" rtlCol="0" anchor="t"/>
          <a:lstStyle/>
          <a:p>
            <a:pPr algn="l" indent="0" marL="0">
              <a:lnSpc>
                <a:spcPts val="366"/>
              </a:lnSpc>
              <a:buNone/>
            </a:pPr>
            <a:r>
              <a:rPr lang="en-US" sz="600" dirty="0">
                <a:solidFill>
                  <a:srgbClr val="FF9D5C"/>
                </a:solidFill>
                <a:latin typeface="Liberation Sans Narrow" pitchFamily="34" charset="0"/>
                <a:ea typeface="Liberation Sans Narrow" pitchFamily="34" charset="-122"/>
                <a:cs typeface="Liberation Sans Narrow" pitchFamily="34" charset="-120"/>
              </a:rPr>
              <a:t>143</a:t>
            </a:r>
            <a:endParaRPr lang="en-US" sz="600" dirty="0"/>
          </a:p>
        </p:txBody>
      </p:sp>
      <p:sp>
        <p:nvSpPr>
          <p:cNvPr id="219" name="Text 217"/>
          <p:cNvSpPr/>
          <p:nvPr/>
        </p:nvSpPr>
        <p:spPr>
          <a:xfrm>
            <a:off x="6531173" y="3647219"/>
            <a:ext cx="91440" cy="135050"/>
          </a:xfrm>
          <a:prstGeom prst="rect">
            <a:avLst/>
          </a:prstGeom>
          <a:noFill/>
          <a:ln/>
        </p:spPr>
        <p:txBody>
          <a:bodyPr wrap="none" lIns="0" tIns="0" rIns="0" bIns="0" rtlCol="0" anchor="t"/>
          <a:lstStyle/>
          <a:p>
            <a:pPr algn="l" indent="0" marL="0">
              <a:lnSpc>
                <a:spcPts val="366"/>
              </a:lnSpc>
              <a:buNone/>
            </a:pPr>
            <a:r>
              <a:rPr lang="en-US" sz="800" dirty="0">
                <a:solidFill>
                  <a:srgbClr val="FF9D5C"/>
                </a:solidFill>
                <a:latin typeface="Liberation Sans Narrow" pitchFamily="34" charset="0"/>
                <a:ea typeface="Liberation Sans Narrow" pitchFamily="34" charset="-122"/>
                <a:cs typeface="Liberation Sans Narrow" pitchFamily="34" charset="-120"/>
              </a:rPr>
              <a:t>2</a:t>
            </a:r>
            <a:endParaRPr lang="en-US" sz="800" dirty="0"/>
          </a:p>
        </p:txBody>
      </p:sp>
      <p:sp>
        <p:nvSpPr>
          <p:cNvPr id="220" name="Text 218"/>
          <p:cNvSpPr/>
          <p:nvPr/>
        </p:nvSpPr>
        <p:spPr>
          <a:xfrm>
            <a:off x="6307847" y="3693654"/>
            <a:ext cx="120183"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if</a:t>
            </a:r>
            <a:endParaRPr lang="en-US" sz="600" dirty="0"/>
          </a:p>
        </p:txBody>
      </p:sp>
      <p:sp>
        <p:nvSpPr>
          <p:cNvPr id="221" name="Text 219"/>
          <p:cNvSpPr/>
          <p:nvPr/>
        </p:nvSpPr>
        <p:spPr>
          <a:xfrm>
            <a:off x="6364122" y="3693654"/>
            <a:ext cx="166939" cy="13505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len</a:t>
            </a:r>
            <a:endParaRPr lang="en-US" sz="600" dirty="0"/>
          </a:p>
        </p:txBody>
      </p:sp>
      <p:sp>
        <p:nvSpPr>
          <p:cNvPr id="222" name="Text 220"/>
          <p:cNvSpPr/>
          <p:nvPr/>
        </p:nvSpPr>
        <p:spPr>
          <a:xfrm>
            <a:off x="6763345" y="3693654"/>
            <a:ext cx="91440" cy="135050"/>
          </a:xfrm>
          <a:prstGeom prst="rect">
            <a:avLst/>
          </a:prstGeom>
          <a:noFill/>
          <a:ln/>
        </p:spPr>
        <p:txBody>
          <a:bodyPr wrap="none" lIns="0" tIns="0" rIns="0" bIns="0" rtlCol="0" anchor="t"/>
          <a:lstStyle/>
          <a:p>
            <a:pPr algn="l" indent="0" marL="0">
              <a:lnSpc>
                <a:spcPts val="366"/>
              </a:lnSpc>
              <a:buNone/>
            </a:pPr>
            <a:r>
              <a:rPr lang="en-US" sz="800" dirty="0">
                <a:solidFill>
                  <a:srgbClr val="FF9D5C"/>
                </a:solidFill>
                <a:latin typeface="Liberation Sans Narrow" pitchFamily="34" charset="0"/>
                <a:ea typeface="Liberation Sans Narrow" pitchFamily="34" charset="-122"/>
                <a:cs typeface="Liberation Sans Narrow" pitchFamily="34" charset="-120"/>
              </a:rPr>
              <a:t>2</a:t>
            </a:r>
            <a:endParaRPr lang="en-US" sz="800" dirty="0"/>
          </a:p>
        </p:txBody>
      </p:sp>
      <p:sp>
        <p:nvSpPr>
          <p:cNvPr id="223" name="Text 221"/>
          <p:cNvSpPr/>
          <p:nvPr/>
        </p:nvSpPr>
        <p:spPr>
          <a:xfrm>
            <a:off x="6289666" y="3740088"/>
            <a:ext cx="213695"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else</a:t>
            </a:r>
            <a:endParaRPr lang="en-US" sz="600" dirty="0"/>
          </a:p>
        </p:txBody>
      </p:sp>
      <p:sp>
        <p:nvSpPr>
          <p:cNvPr id="224" name="Text 222"/>
          <p:cNvSpPr/>
          <p:nvPr/>
        </p:nvSpPr>
        <p:spPr>
          <a:xfrm>
            <a:off x="6461522" y="3740088"/>
            <a:ext cx="1741289" cy="135050"/>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"Review PR #{pr_number}. Fan out to both reviewers, then post one comment."</a:t>
            </a:r>
            <a:endParaRPr lang="en-US" sz="600" dirty="0"/>
          </a:p>
        </p:txBody>
      </p:sp>
      <p:sp>
        <p:nvSpPr>
          <p:cNvPr id="225" name="Text 223"/>
          <p:cNvSpPr/>
          <p:nvPr/>
        </p:nvSpPr>
        <p:spPr>
          <a:xfrm>
            <a:off x="6191993" y="3832957"/>
            <a:ext cx="260452" cy="135050"/>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await</a:t>
            </a:r>
            <a:endParaRPr lang="en-US" sz="600" dirty="0"/>
          </a:p>
        </p:txBody>
      </p:sp>
      <p:sp>
        <p:nvSpPr>
          <p:cNvPr id="226" name="Text 224"/>
          <p:cNvSpPr/>
          <p:nvPr/>
        </p:nvSpPr>
        <p:spPr>
          <a:xfrm>
            <a:off x="6297464" y="3832957"/>
            <a:ext cx="441183" cy="111871"/>
          </a:xfrm>
          <a:prstGeom prst="rect">
            <a:avLst/>
          </a:prstGeom>
          <a:noFill/>
          <a:ln/>
        </p:spPr>
        <p:txBody>
          <a:bodyPr wrap="none" lIns="0" tIns="0" rIns="0" bIns="0" rtlCol="0" anchor="t">
            <a:normAutofit/>
          </a:bodyPr>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review_pr</a:t>
            </a:r>
            <a:endParaRPr lang="en-US" sz="600" dirty="0"/>
          </a:p>
        </p:txBody>
      </p:sp>
      <p:sp>
        <p:nvSpPr>
          <p:cNvPr id="227" name="Text 225"/>
          <p:cNvSpPr/>
          <p:nvPr/>
        </p:nvSpPr>
        <p:spPr>
          <a:xfrm>
            <a:off x="6122110" y="3972260"/>
            <a:ext cx="120183" cy="100013"/>
          </a:xfrm>
          <a:prstGeom prst="rect">
            <a:avLst/>
          </a:prstGeom>
          <a:noFill/>
          <a:ln/>
        </p:spPr>
        <p:txBody>
          <a:bodyPr wrap="none" lIns="0" tIns="0" rIns="0" bIns="0" rtlCol="0" anchor="t"/>
          <a:lstStyle/>
          <a:p>
            <a:pPr algn="l" indent="0" marL="0">
              <a:lnSpc>
                <a:spcPts val="366"/>
              </a:lnSpc>
              <a:buNone/>
            </a:pPr>
            <a:r>
              <a:rPr lang="en-US" sz="600" dirty="0">
                <a:solidFill>
                  <a:srgbClr val="FF7A1A"/>
                </a:solidFill>
                <a:latin typeface="Courier New" pitchFamily="34" charset="0"/>
                <a:ea typeface="Courier New" pitchFamily="34" charset="-122"/>
                <a:cs typeface="Courier New" pitchFamily="34" charset="-120"/>
              </a:rPr>
              <a:t>if</a:t>
            </a:r>
            <a:endParaRPr lang="en-US" sz="600" dirty="0"/>
          </a:p>
        </p:txBody>
      </p:sp>
      <p:sp>
        <p:nvSpPr>
          <p:cNvPr id="228" name="Text 226"/>
          <p:cNvSpPr/>
          <p:nvPr/>
        </p:nvSpPr>
        <p:spPr>
          <a:xfrm>
            <a:off x="6401612" y="3972260"/>
            <a:ext cx="456468" cy="100013"/>
          </a:xfrm>
          <a:prstGeom prst="rect">
            <a:avLst/>
          </a:prstGeom>
          <a:noFill/>
          <a:ln/>
        </p:spPr>
        <p:txBody>
          <a:bodyPr wrap="none" lIns="0" tIns="0" rIns="0" bIns="0" rtlCol="0" anchor="t"/>
          <a:lstStyle/>
          <a:p>
            <a:pPr algn="l" indent="0" marL="0">
              <a:lnSpc>
                <a:spcPts val="366"/>
              </a:lnSpc>
              <a:buNone/>
            </a:pPr>
            <a:r>
              <a:rPr lang="en-US" sz="600" dirty="0">
                <a:solidFill>
                  <a:srgbClr val="B6E3A1"/>
                </a:solidFill>
                <a:latin typeface="Courier New" pitchFamily="34" charset="0"/>
                <a:ea typeface="Courier New" pitchFamily="34" charset="-122"/>
                <a:cs typeface="Courier New" pitchFamily="34" charset="-120"/>
              </a:rPr>
              <a:t>"__main__"</a:t>
            </a:r>
            <a:endParaRPr lang="en-US" sz="600" dirty="0"/>
          </a:p>
        </p:txBody>
      </p:sp>
      <p:sp>
        <p:nvSpPr>
          <p:cNvPr id="229" name="Text 227"/>
          <p:cNvSpPr/>
          <p:nvPr/>
        </p:nvSpPr>
        <p:spPr>
          <a:xfrm>
            <a:off x="6387339" y="4018694"/>
            <a:ext cx="166939" cy="9144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run</a:t>
            </a:r>
            <a:endParaRPr lang="en-US" sz="600" dirty="0"/>
          </a:p>
        </p:txBody>
      </p:sp>
      <p:sp>
        <p:nvSpPr>
          <p:cNvPr id="230" name="Text 228"/>
          <p:cNvSpPr/>
          <p:nvPr/>
        </p:nvSpPr>
        <p:spPr>
          <a:xfrm>
            <a:off x="6475404" y="4018694"/>
            <a:ext cx="213695" cy="91440"/>
          </a:xfrm>
          <a:prstGeom prst="rect">
            <a:avLst/>
          </a:prstGeom>
          <a:noFill/>
          <a:ln/>
        </p:spPr>
        <p:txBody>
          <a:bodyPr wrap="none" lIns="0" tIns="0" rIns="0" bIns="0" rtlCol="0" anchor="t"/>
          <a:lstStyle/>
          <a:p>
            <a:pPr algn="l" indent="0" marL="0">
              <a:lnSpc>
                <a:spcPts val="366"/>
              </a:lnSpc>
              <a:buNone/>
            </a:pPr>
            <a:r>
              <a:rPr lang="en-US" sz="600" dirty="0">
                <a:solidFill>
                  <a:srgbClr val="FFD29E"/>
                </a:solidFill>
                <a:latin typeface="Courier New" pitchFamily="34" charset="0"/>
                <a:ea typeface="Courier New" pitchFamily="34" charset="-122"/>
                <a:cs typeface="Courier New" pitchFamily="34" charset="-120"/>
              </a:rPr>
              <a:t>main</a:t>
            </a:r>
            <a:endParaRPr lang="en-US" sz="600" dirty="0"/>
          </a:p>
        </p:txBody>
      </p:sp>
      <p:sp>
        <p:nvSpPr>
          <p:cNvPr id="231" name="Text 229"/>
          <p:cNvSpPr/>
          <p:nvPr/>
        </p:nvSpPr>
        <p:spPr>
          <a:xfrm>
            <a:off x="314325" y="4788098"/>
            <a:ext cx="8515350" cy="198239"/>
          </a:xfrm>
          <a:prstGeom prst="rect">
            <a:avLst/>
          </a:prstGeom>
          <a:solidFill>
            <a:srgbClr val="FF7A1A">
              <a:alpha val="6000"/>
            </a:srgbClr>
          </a:solidFill>
          <a:ln/>
        </p:spPr>
        <p:txBody>
          <a:bodyPr wrap="square" rtlCol="0" anchor="ctr"/>
          <a:lstStyle/>
          <a:p>
            <a:pPr indent="0" marL="0">
              <a:buNone/>
            </a:pPr>
            <a:endParaRPr lang="en-US" dirty="0"/>
          </a:p>
        </p:txBody>
      </p:sp>
      <p:sp>
        <p:nvSpPr>
          <p:cNvPr id="232" name="Shape 230"/>
          <p:cNvSpPr/>
          <p:nvPr/>
        </p:nvSpPr>
        <p:spPr>
          <a:xfrm>
            <a:off x="321469" y="4788098"/>
            <a:ext cx="0" cy="198239"/>
          </a:xfrm>
          <a:prstGeom prst="line">
            <a:avLst/>
          </a:prstGeom>
          <a:noFill/>
          <a:ln w="14288">
            <a:solidFill>
              <a:srgbClr val="FF7A1A"/>
            </a:solidFill>
            <a:prstDash val="solid"/>
          </a:ln>
        </p:spPr>
      </p:sp>
      <p:sp>
        <p:nvSpPr>
          <p:cNvPr id="233" name="Text 231"/>
          <p:cNvSpPr/>
          <p:nvPr/>
        </p:nvSpPr>
        <p:spPr>
          <a:xfrm>
            <a:off x="314325" y="4788098"/>
            <a:ext cx="8515350" cy="120801"/>
          </a:xfrm>
          <a:prstGeom prst="rect">
            <a:avLst/>
          </a:prstGeom>
          <a:noFill/>
          <a:ln/>
        </p:spPr>
        <p:txBody>
          <a:bodyPr wrap="square" lIns="85725" tIns="42863" rIns="85725" bIns="42863" rtlCol="0" anchor="t">
            <a:normAutofit/>
          </a:bodyPr>
          <a:lstStyle/>
          <a:p>
            <a:pPr algn="l" indent="0" marL="0">
              <a:lnSpc>
                <a:spcPts val="886"/>
              </a:lnSpc>
              <a:buNone/>
            </a:pPr>
            <a:r>
              <a:rPr lang="en-US" sz="800" spc="106" kern="0" dirty="0">
                <a:solidFill>
                  <a:srgbClr val="FF7A1A"/>
                </a:solidFill>
                <a:latin typeface="Courier New" pitchFamily="34" charset="0"/>
                <a:ea typeface="Courier New" pitchFamily="34" charset="-122"/>
                <a:cs typeface="Courier New" pitchFamily="34" charset="-120"/>
              </a:rPr>
              <a:t>FOOTNOTE</a:t>
            </a:r>
            <a:pPr algn="l" indent="0" marL="0">
              <a:lnSpc>
                <a:spcPts val="886"/>
              </a:lnSpc>
              <a:buNone/>
            </a:pPr>
            <a:r>
              <a:rPr lang="en-US" sz="800" spc="24" kern="0" dirty="0">
                <a:solidFill>
                  <a:srgbClr val="A1A1AA"/>
                </a:solidFill>
                <a:latin typeface="Courier New" pitchFamily="34" charset="0"/>
                <a:ea typeface="Courier New" pitchFamily="34" charset="-122"/>
                <a:cs typeface="Courier New" pitchFamily="34" charset="-120"/>
              </a:rPr>
              <a:t> If any earlier slide conflicts with this one, this one wins.</a:t>
            </a:r>
            <a:endParaRPr lang="en-US" sz="800" dirty="0"/>
          </a:p>
        </p:txBody>
      </p:sp>
      <p:sp>
        <p:nvSpPr>
          <p:cNvPr id="234" name="Text 232"/>
          <p:cNvSpPr/>
          <p:nvPr/>
        </p:nvSpPr>
        <p:spPr>
          <a:xfrm>
            <a:off x="314325" y="4936331"/>
            <a:ext cx="7110822" cy="164592"/>
          </a:xfrm>
          <a:prstGeom prst="rect">
            <a:avLst/>
          </a:prstGeom>
          <a:noFill/>
          <a:ln/>
        </p:spPr>
        <p:txBody>
          <a:bodyPr wrap="none" lIns="0" tIns="0" rIns="0" bIns="0" rtlCol="0" anchor="t"/>
          <a:lstStyle/>
          <a:p>
            <a:pPr algn="l" indent="0" marL="0">
              <a:lnSpc>
                <a:spcPts val="844"/>
              </a:lnSpc>
              <a:buNone/>
            </a:pPr>
            <a:r>
              <a:rPr lang="en-US" sz="800" spc="101" kern="0" dirty="0">
                <a:solidFill>
                  <a:srgbClr val="71717A"/>
                </a:solidFill>
                <a:latin typeface="Liberation Sans Narrow" pitchFamily="34" charset="0"/>
                <a:ea typeface="Liberation Sans Narrow" pitchFamily="34" charset="-122"/>
                <a:cs typeface="Liberation Sans Narrow" pitchFamily="34" charset="-120"/>
              </a:rPr>
              <a:t>EP09 · MCP IN THE REAL WORLD</a:t>
            </a:r>
            <a:endParaRPr lang="en-US" sz="800" dirty="0"/>
          </a:p>
        </p:txBody>
      </p:sp>
      <p:sp>
        <p:nvSpPr>
          <p:cNvPr id="235" name="Text 233"/>
          <p:cNvSpPr/>
          <p:nvPr/>
        </p:nvSpPr>
        <p:spPr>
          <a:xfrm>
            <a:off x="7439434" y="4936331"/>
            <a:ext cx="1704566" cy="164592"/>
          </a:xfrm>
          <a:prstGeom prst="rect">
            <a:avLst/>
          </a:prstGeom>
          <a:noFill/>
          <a:ln/>
        </p:spPr>
        <p:txBody>
          <a:bodyPr wrap="none" lIns="0" tIns="0" rIns="0" bIns="0" rtlCol="0" anchor="t"/>
          <a:lstStyle/>
          <a:p>
            <a:pPr algn="l" indent="0" marL="0">
              <a:lnSpc>
                <a:spcPts val="844"/>
              </a:lnSpc>
              <a:buNone/>
            </a:pPr>
            <a:r>
              <a:rPr lang="en-US" sz="800" spc="101" kern="0" dirty="0">
                <a:solidFill>
                  <a:srgbClr val="71717A"/>
                </a:solidFill>
                <a:latin typeface="Liberation Sans Narrow" pitchFamily="34" charset="0"/>
                <a:ea typeface="Liberation Sans Narrow" pitchFamily="34" charset="-122"/>
                <a:cs typeface="Liberation Sans Narrow" pitchFamily="34" charset="-120"/>
              </a:rPr>
              <a:t>FINAL FILE 2 / 3 · </a:t>
            </a:r>
            <a:pPr algn="l" indent="0" marL="0">
              <a:lnSpc>
                <a:spcPts val="844"/>
              </a:lnSpc>
              <a:buNone/>
            </a:pPr>
            <a:r>
              <a:rPr lang="en-US" sz="800" spc="101" kern="0" dirty="0">
                <a:solidFill>
                  <a:srgbClr val="FF7A1A"/>
                </a:solidFill>
                <a:latin typeface="Courier New" pitchFamily="34" charset="0"/>
                <a:ea typeface="Courier New" pitchFamily="34" charset="-122"/>
                <a:cs typeface="Courier New" pitchFamily="34" charset="-120"/>
              </a:rPr>
              <a:t>agent.py</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257175" y="200025"/>
            <a:ext cx="2232705"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71717A"/>
                </a:solidFill>
                <a:latin typeface="Liberation Sans Narrow" pitchFamily="34" charset="0"/>
                <a:ea typeface="Liberation Sans Narrow" pitchFamily="34" charset="-122"/>
                <a:cs typeface="Liberation Sans Narrow" pitchFamily="34" charset="-120"/>
              </a:rPr>
              <a:t>EP09 </a:t>
            </a:r>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a:t>
            </a:r>
            <a:pPr algn="l" indent="0" marL="0">
              <a:lnSpc>
                <a:spcPts val="928"/>
              </a:lnSpc>
              <a:buNone/>
            </a:pPr>
            <a:r>
              <a:rPr lang="en-US" sz="800" spc="173" kern="0" dirty="0">
                <a:solidFill>
                  <a:srgbClr val="71717A"/>
                </a:solidFill>
                <a:latin typeface="Courier New" pitchFamily="34" charset="0"/>
                <a:ea typeface="Courier New" pitchFamily="34" charset="-122"/>
                <a:cs typeface="Courier New" pitchFamily="34" charset="-120"/>
              </a:rPr>
              <a:t> MCP IN THE REAL WORLD</a:t>
            </a:r>
            <a:endParaRPr lang="en-US" sz="800" dirty="0"/>
          </a:p>
        </p:txBody>
      </p:sp>
      <p:sp>
        <p:nvSpPr>
          <p:cNvPr id="3" name="Text 1"/>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28 / 30</a:t>
            </a:r>
            <a:endParaRPr lang="en-US" sz="800" dirty="0"/>
          </a:p>
        </p:txBody>
      </p:sp>
      <p:sp>
        <p:nvSpPr>
          <p:cNvPr id="4" name="Text 2"/>
          <p:cNvSpPr/>
          <p:nvPr/>
        </p:nvSpPr>
        <p:spPr>
          <a:xfrm>
            <a:off x="5517147" y="3786188"/>
            <a:ext cx="3626853" cy="1357313"/>
          </a:xfrm>
          <a:prstGeom prst="rect">
            <a:avLst/>
          </a:prstGeom>
          <a:noFill/>
          <a:ln/>
        </p:spPr>
        <p:txBody>
          <a:bodyPr wrap="square" lIns="0" tIns="0" rIns="0" bIns="0" rtlCol="0" anchor="t"/>
          <a:lstStyle/>
          <a:p>
            <a:pPr algn="l" indent="0" marL="0">
              <a:lnSpc>
                <a:spcPts val="15750"/>
              </a:lnSpc>
              <a:buNone/>
            </a:pPr>
            <a:r>
              <a:rPr lang="en-US" sz="15750" b="1" dirty="0">
                <a:solidFill>
                  <a:srgbClr val="FF7A1A">
                    <a:alpha val="4000"/>
                  </a:srgbClr>
                </a:solidFill>
                <a:latin typeface="Liberation Sans Narrow" pitchFamily="34" charset="0"/>
                <a:ea typeface="Liberation Sans Narrow" pitchFamily="34" charset="-122"/>
                <a:cs typeface="Liberation Sans Narrow" pitchFamily="34" charset="-120"/>
              </a:rPr>
              <a:t>28</a:t>
            </a:r>
            <a:endParaRPr lang="en-US" sz="15750" dirty="0"/>
          </a:p>
        </p:txBody>
      </p:sp>
      <p:sp>
        <p:nvSpPr>
          <p:cNvPr id="5" name="Text 3"/>
          <p:cNvSpPr/>
          <p:nvPr/>
        </p:nvSpPr>
        <p:spPr>
          <a:xfrm>
            <a:off x="514350" y="571500"/>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Liberation Sans Narrow" pitchFamily="34" charset="0"/>
                <a:ea typeface="Liberation Sans Narrow" pitchFamily="34" charset="-122"/>
                <a:cs typeface="Liberation Sans Narrow" pitchFamily="34" charset="-120"/>
              </a:rPr>
              <a:t>FINAL FILE 3 / 3</a:t>
            </a:r>
            <a:endParaRPr lang="en-US" sz="800" dirty="0"/>
          </a:p>
        </p:txBody>
      </p:sp>
      <p:sp>
        <p:nvSpPr>
          <p:cNvPr id="6" name="Text 4"/>
          <p:cNvSpPr/>
          <p:nvPr/>
        </p:nvSpPr>
        <p:spPr>
          <a:xfrm>
            <a:off x="514350" y="789384"/>
            <a:ext cx="8629650" cy="373346"/>
          </a:xfrm>
          <a:prstGeom prst="rect">
            <a:avLst/>
          </a:prstGeom>
          <a:noFill/>
          <a:ln/>
        </p:spPr>
        <p:txBody>
          <a:bodyPr wrap="squar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Final File — </a:t>
            </a:r>
            <a:pPr algn="l" indent="0" marL="0">
              <a:lnSpc>
                <a:spcPts val="2723"/>
              </a:lnSpc>
              <a:buNone/>
            </a:pPr>
            <a:r>
              <a:rPr lang="en-US" sz="2475" b="1" spc="-49" kern="0" dirty="0">
                <a:solidFill>
                  <a:srgbClr val="FF7A1A"/>
                </a:solidFill>
                <a:latin typeface="Carlito" pitchFamily="34" charset="0"/>
                <a:ea typeface="Carlito" pitchFamily="34" charset="-122"/>
                <a:cs typeface="Carlito" pitchFamily="34" charset="-120"/>
              </a:rPr>
              <a:t>repo_facts_server.py</a:t>
            </a:r>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 — complete, final</a:t>
            </a:r>
            <a:endParaRPr lang="en-US" sz="2475" dirty="0"/>
          </a:p>
        </p:txBody>
      </p:sp>
      <p:sp>
        <p:nvSpPr>
          <p:cNvPr id="7" name="Shape 5"/>
          <p:cNvSpPr/>
          <p:nvPr/>
        </p:nvSpPr>
        <p:spPr>
          <a:xfrm>
            <a:off x="514350" y="1317241"/>
            <a:ext cx="400050" cy="0"/>
          </a:xfrm>
          <a:prstGeom prst="line">
            <a:avLst/>
          </a:prstGeom>
          <a:noFill/>
          <a:ln w="7144">
            <a:solidFill>
              <a:srgbClr val="F4F4F5"/>
            </a:solidFill>
            <a:prstDash val="solid"/>
          </a:ln>
        </p:spPr>
      </p:sp>
      <p:sp>
        <p:nvSpPr>
          <p:cNvPr id="8" name="Text 6"/>
          <p:cNvSpPr/>
          <p:nvPr/>
        </p:nvSpPr>
        <p:spPr>
          <a:xfrm>
            <a:off x="514350" y="1527981"/>
            <a:ext cx="8115300" cy="513417"/>
          </a:xfrm>
          <a:prstGeom prst="rect">
            <a:avLst/>
          </a:prstGeom>
          <a:noFill/>
          <a:ln/>
        </p:spPr>
        <p:txBody>
          <a:bodyPr wrap="square" lIns="0" tIns="0" rIns="0" bIns="0" rtlCol="0" anchor="t"/>
          <a:lstStyle/>
          <a:p>
            <a:pPr algn="l" indent="0" marL="0">
              <a:lnSpc>
                <a:spcPts val="114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142"/>
              </a:lnSpc>
              <a:spcAft>
                <a:spcPts val="788"/>
              </a:spcAft>
              <a:buNone/>
            </a:pPr>
            <a:r>
              <a:rPr lang="en-US" sz="800" dirty="0">
                <a:solidFill>
                  <a:srgbClr val="F4F4F5"/>
                </a:solidFill>
                <a:latin typeface="Carlito" pitchFamily="34" charset="0"/>
                <a:ea typeface="Carlito" pitchFamily="34" charset="-122"/>
                <a:cs typeface="Carlito" pitchFamily="34" charset="-120"/>
              </a:rPr>
              <a:t>Complete, final standalone MCP server</a:t>
            </a:r>
            <a:endParaRPr lang="en-US" sz="800" dirty="0"/>
          </a:p>
          <a:p>
            <a:pPr algn="l" indent="0" marL="0">
              <a:lnSpc>
                <a:spcPts val="1142"/>
              </a:lnSpc>
              <a:spcAft>
                <a:spcPts val="788"/>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142"/>
              </a:lnSpc>
              <a:spcAft>
                <a:spcPts val="788"/>
              </a:spcAft>
              <a:buNone/>
            </a:pPr>
            <a:r>
              <a:rPr lang="en-US" sz="800" dirty="0">
                <a:solidFill>
                  <a:srgbClr val="F4F4F5"/>
                </a:solidFill>
                <a:latin typeface="Carlito" pitchFamily="34" charset="0"/>
                <a:ea typeface="Carlito" pitchFamily="34" charset="-122"/>
                <a:cs typeface="Carlito" pitchFamily="34" charset="-120"/>
              </a:rPr>
              <a:t>Zero imports from </a:t>
            </a:r>
            <a:pPr algn="l" indent="0" marL="0">
              <a:lnSpc>
                <a:spcPts val="1142"/>
              </a:lnSpc>
              <a:spcAft>
                <a:spcPts val="788"/>
              </a:spcAft>
              <a:buNone/>
            </a:pPr>
            <a:r>
              <a:rPr lang="en-US" sz="800" dirty="0">
                <a:solidFill>
                  <a:srgbClr val="FF7A1A"/>
                </a:solidFill>
                <a:highlight>
                  <a:srgbClr val="1D1D24"/>
                </a:highlight>
                <a:latin typeface="Courier New" pitchFamily="34" charset="0"/>
                <a:ea typeface="Courier New" pitchFamily="34" charset="-122"/>
                <a:cs typeface="Courier New" pitchFamily="34" charset="-120"/>
              </a:rPr>
              <a:t>claude_agent_sdk</a:t>
            </a:r>
            <a:endParaRPr lang="en-US" sz="800" dirty="0"/>
          </a:p>
        </p:txBody>
      </p:sp>
      <p:sp>
        <p:nvSpPr>
          <p:cNvPr id="9" name="Text 7"/>
          <p:cNvSpPr/>
          <p:nvPr/>
        </p:nvSpPr>
        <p:spPr>
          <a:xfrm>
            <a:off x="514350" y="2032285"/>
            <a:ext cx="4579255" cy="196739"/>
          </a:xfrm>
          <a:prstGeom prst="rect">
            <a:avLst/>
          </a:prstGeom>
          <a:noFill/>
          <a:ln/>
        </p:spPr>
        <p:txBody>
          <a:bodyPr wrap="none" lIns="0" tIns="0" rIns="0" bIns="0" rtlCol="0" anchor="t"/>
          <a:lstStyle/>
          <a:p>
            <a:pPr algn="l" indent="0" marL="0">
              <a:lnSpc>
                <a:spcPts val="1434"/>
              </a:lnSpc>
              <a:buNone/>
            </a:pPr>
            <a:r>
              <a:rPr lang="en-US" sz="956" dirty="0">
                <a:solidFill>
                  <a:srgbClr val="F4F4F5"/>
                </a:solidFill>
                <a:latin typeface="Carlito" pitchFamily="34" charset="0"/>
                <a:ea typeface="Carlito" pitchFamily="34" charset="-122"/>
                <a:cs typeface="Carlito" pitchFamily="34" charset="-120"/>
              </a:rPr>
              <a:t>repo_facts_server.py — complete, final</a:t>
            </a:r>
            <a:endParaRPr lang="en-US" sz="956" dirty="0"/>
          </a:p>
        </p:txBody>
      </p:sp>
      <p:sp>
        <p:nvSpPr>
          <p:cNvPr id="10" name="Text 8"/>
          <p:cNvSpPr/>
          <p:nvPr/>
        </p:nvSpPr>
        <p:spPr>
          <a:xfrm>
            <a:off x="5107893" y="2031357"/>
            <a:ext cx="1221581" cy="184023"/>
          </a:xfrm>
          <a:prstGeom prst="roundRect">
            <a:avLst>
              <a:gd name="adj" fmla="val 20704"/>
            </a:avLst>
          </a:prstGeom>
          <a:solidFill>
            <a:srgbClr val="8AB4FF">
              <a:alpha val="8000"/>
            </a:srgbClr>
          </a:solidFill>
          <a:ln w="7144">
            <a:solidFill>
              <a:srgbClr val="8AB4FF"/>
            </a:solidFill>
            <a:prstDash val="solid"/>
          </a:ln>
        </p:spPr>
        <p:txBody>
          <a:bodyPr wrap="square" rtlCol="0" anchor="ctr"/>
          <a:lstStyle/>
          <a:p>
            <a:pPr indent="0" marL="0">
              <a:buNone/>
            </a:pPr>
            <a:endParaRPr lang="en-US" dirty="0"/>
          </a:p>
        </p:txBody>
      </p:sp>
      <p:sp>
        <p:nvSpPr>
          <p:cNvPr id="11" name="Text 9"/>
          <p:cNvSpPr/>
          <p:nvPr/>
        </p:nvSpPr>
        <p:spPr>
          <a:xfrm>
            <a:off x="5307918" y="2076934"/>
            <a:ext cx="1057275" cy="142646"/>
          </a:xfrm>
          <a:prstGeom prst="rect">
            <a:avLst/>
          </a:prstGeom>
          <a:noFill/>
          <a:ln/>
        </p:spPr>
        <p:txBody>
          <a:bodyPr wrap="none" lIns="0" tIns="0" rIns="0" bIns="0" rtlCol="0" anchor="t"/>
          <a:lstStyle/>
          <a:p>
            <a:pPr algn="l" indent="0" marL="0">
              <a:lnSpc>
                <a:spcPts val="844"/>
              </a:lnSpc>
              <a:buNone/>
            </a:pPr>
            <a:r>
              <a:rPr lang="en-US" sz="600" spc="113" kern="0" dirty="0">
                <a:solidFill>
                  <a:srgbClr val="8AB4FF"/>
                </a:solidFill>
                <a:latin typeface="Courier New" pitchFamily="34" charset="0"/>
                <a:ea typeface="Courier New" pitchFamily="34" charset="-122"/>
                <a:cs typeface="Courier New" pitchFamily="34" charset="-120"/>
              </a:rPr>
              <a:t>NO CLAUDE_AGENT_SDK</a:t>
            </a:r>
            <a:endParaRPr lang="en-US" sz="600" dirty="0"/>
          </a:p>
        </p:txBody>
      </p:sp>
      <p:sp>
        <p:nvSpPr>
          <p:cNvPr id="12" name="Text 10"/>
          <p:cNvSpPr/>
          <p:nvPr/>
        </p:nvSpPr>
        <p:spPr>
          <a:xfrm>
            <a:off x="5179330" y="2080506"/>
            <a:ext cx="91440" cy="91440"/>
          </a:xfrm>
          <a:prstGeom prst="rect">
            <a:avLst/>
          </a:prstGeom>
          <a:noFill/>
          <a:ln/>
        </p:spPr>
        <p:txBody>
          <a:bodyPr wrap="none" lIns="0" tIns="0" rIns="0" bIns="0" rtlCol="0" anchor="ctr"/>
          <a:lstStyle/>
          <a:p>
            <a:pPr algn="ctr" indent="0" marL="0">
              <a:buNone/>
            </a:pPr>
            <a:r>
              <a:rPr lang="en-US" sz="844" dirty="0">
                <a:solidFill>
                  <a:srgbClr val="8AB4FF"/>
                </a:solidFill>
                <a:latin typeface="Segoe UI Symbol" pitchFamily="34" charset="0"/>
                <a:ea typeface="Segoe UI Symbol" pitchFamily="34" charset="-122"/>
                <a:cs typeface="Segoe UI Symbol" pitchFamily="34" charset="-120"/>
              </a:rPr>
              <a:t>⊘</a:t>
            </a:r>
            <a:endParaRPr lang="en-US" sz="844" dirty="0"/>
          </a:p>
        </p:txBody>
      </p:sp>
      <p:sp>
        <p:nvSpPr>
          <p:cNvPr id="13" name="Text 11"/>
          <p:cNvSpPr/>
          <p:nvPr/>
        </p:nvSpPr>
        <p:spPr>
          <a:xfrm>
            <a:off x="6400912" y="2031357"/>
            <a:ext cx="1021556" cy="184023"/>
          </a:xfrm>
          <a:prstGeom prst="roundRect">
            <a:avLst>
              <a:gd name="adj" fmla="val 20704"/>
            </a:avLst>
          </a:prstGeom>
          <a:solidFill>
            <a:srgbClr val="FF7A1A">
              <a:alpha val="8000"/>
            </a:srgbClr>
          </a:solidFill>
          <a:ln w="7144">
            <a:solidFill>
              <a:srgbClr val="FF7A1A"/>
            </a:solidFill>
            <a:prstDash val="solid"/>
          </a:ln>
        </p:spPr>
        <p:txBody>
          <a:bodyPr wrap="square" rtlCol="0" anchor="ctr"/>
          <a:lstStyle/>
          <a:p>
            <a:pPr indent="0" marL="0">
              <a:buNone/>
            </a:pPr>
            <a:endParaRPr lang="en-US" dirty="0"/>
          </a:p>
        </p:txBody>
      </p:sp>
      <p:sp>
        <p:nvSpPr>
          <p:cNvPr id="14" name="Text 12"/>
          <p:cNvSpPr/>
          <p:nvPr/>
        </p:nvSpPr>
        <p:spPr>
          <a:xfrm>
            <a:off x="6600937" y="2076934"/>
            <a:ext cx="857250" cy="142646"/>
          </a:xfrm>
          <a:prstGeom prst="rect">
            <a:avLst/>
          </a:prstGeom>
          <a:noFill/>
          <a:ln/>
        </p:spPr>
        <p:txBody>
          <a:bodyPr wrap="none" lIns="0" tIns="0" rIns="0" bIns="0" rtlCol="0" anchor="t"/>
          <a:lstStyle/>
          <a:p>
            <a:pPr algn="l" indent="0" marL="0">
              <a:lnSpc>
                <a:spcPts val="844"/>
              </a:lnSpc>
              <a:buNone/>
            </a:pPr>
            <a:r>
              <a:rPr lang="en-US" sz="600" spc="113" kern="0" dirty="0">
                <a:solidFill>
                  <a:srgbClr val="FF7A1A"/>
                </a:solidFill>
                <a:latin typeface="Courier New" pitchFamily="34" charset="0"/>
                <a:ea typeface="Courier New" pitchFamily="34" charset="-122"/>
                <a:cs typeface="Courier New" pitchFamily="34" charset="-120"/>
              </a:rPr>
              <a:t>SOURCE OF TRUTH</a:t>
            </a:r>
            <a:endParaRPr lang="en-US" sz="600" dirty="0"/>
          </a:p>
        </p:txBody>
      </p:sp>
      <p:sp>
        <p:nvSpPr>
          <p:cNvPr id="15" name="Text 13"/>
          <p:cNvSpPr/>
          <p:nvPr/>
        </p:nvSpPr>
        <p:spPr>
          <a:xfrm>
            <a:off x="6472349" y="2080506"/>
            <a:ext cx="91440" cy="91440"/>
          </a:xfrm>
          <a:prstGeom prst="rect">
            <a:avLst/>
          </a:prstGeom>
          <a:noFill/>
          <a:ln/>
        </p:spPr>
        <p:txBody>
          <a:bodyPr wrap="none" lIns="0" tIns="0" rIns="0" bIns="0" rtlCol="0" anchor="ctr"/>
          <a:lstStyle/>
          <a:p>
            <a:pPr algn="ctr" indent="0" marL="0">
              <a:buNone/>
            </a:pPr>
            <a:r>
              <a:rPr lang="en-US" sz="844" dirty="0">
                <a:solidFill>
                  <a:srgbClr val="FF7A1A"/>
                </a:solidFill>
                <a:latin typeface="Segoe UI Symbol" pitchFamily="34" charset="0"/>
                <a:ea typeface="Segoe UI Symbol" pitchFamily="34" charset="-122"/>
                <a:cs typeface="Segoe UI Symbol" pitchFamily="34" charset="-120"/>
              </a:rPr>
              <a:t>✓</a:t>
            </a:r>
            <a:endParaRPr lang="en-US" sz="844" dirty="0"/>
          </a:p>
        </p:txBody>
      </p:sp>
      <p:sp>
        <p:nvSpPr>
          <p:cNvPr id="16" name="Text 14"/>
          <p:cNvSpPr/>
          <p:nvPr/>
        </p:nvSpPr>
        <p:spPr>
          <a:xfrm>
            <a:off x="7493905" y="2067111"/>
            <a:ext cx="1498792" cy="164592"/>
          </a:xfrm>
          <a:prstGeom prst="rect">
            <a:avLst/>
          </a:prstGeom>
          <a:noFill/>
          <a:ln/>
        </p:spPr>
        <p:txBody>
          <a:bodyPr wrap="none" lIns="0" tIns="0" rIns="0" bIns="0" rtlCol="0" anchor="t"/>
          <a:lstStyle/>
          <a:p>
            <a:pPr algn="l" indent="0" marL="0">
              <a:lnSpc>
                <a:spcPts val="886"/>
              </a:lnSpc>
              <a:buNone/>
            </a:pPr>
            <a:r>
              <a:rPr lang="en-US" sz="800" spc="118" kern="0" dirty="0">
                <a:solidFill>
                  <a:srgbClr val="FF7A1A"/>
                </a:solidFill>
                <a:latin typeface="Liberation Sans Narrow" pitchFamily="34" charset="0"/>
                <a:ea typeface="Liberation Sans Narrow" pitchFamily="34" charset="-122"/>
                <a:cs typeface="Liberation Sans Narrow" pitchFamily="34" charset="-120"/>
              </a:rPr>
              <a:t>47 LINES</a:t>
            </a:r>
            <a:pPr algn="l" indent="0" marL="0">
              <a:lnSpc>
                <a:spcPts val="886"/>
              </a:lnSpc>
              <a:buNone/>
            </a:pPr>
            <a:r>
              <a:rPr lang="en-US" sz="800" spc="118" kern="0" dirty="0">
                <a:solidFill>
                  <a:srgbClr val="71717A"/>
                </a:solidFill>
                <a:latin typeface="Liberation Sans Narrow" pitchFamily="34" charset="0"/>
                <a:ea typeface="Liberation Sans Narrow" pitchFamily="34" charset="-122"/>
                <a:cs typeface="Liberation Sans Narrow" pitchFamily="34" charset="-120"/>
              </a:rPr>
              <a:t> · 2 COLUMNS</a:t>
            </a:r>
            <a:endParaRPr lang="en-US" sz="800" dirty="0"/>
          </a:p>
        </p:txBody>
      </p:sp>
      <p:sp>
        <p:nvSpPr>
          <p:cNvPr id="17" name="Text 15"/>
          <p:cNvSpPr/>
          <p:nvPr/>
        </p:nvSpPr>
        <p:spPr>
          <a:xfrm>
            <a:off x="650081" y="2393045"/>
            <a:ext cx="2514600" cy="139654"/>
          </a:xfrm>
          <a:prstGeom prst="rect">
            <a:avLst/>
          </a:prstGeom>
          <a:noFill/>
          <a:ln/>
        </p:spPr>
        <p:txBody>
          <a:bodyPr wrap="none" lIns="0" tIns="0" rIns="0" bIns="0" rtlCol="0" anchor="t"/>
          <a:lstStyle/>
          <a:p>
            <a:pPr algn="l" indent="0" marL="0">
              <a:lnSpc>
                <a:spcPts val="866"/>
              </a:lnSpc>
              <a:buNone/>
            </a:pPr>
            <a:r>
              <a:rPr lang="en-US" sz="619" i="1" dirty="0">
                <a:solidFill>
                  <a:srgbClr val="71717A"/>
                </a:solidFill>
                <a:latin typeface="Courier New" pitchFamily="34" charset="0"/>
                <a:ea typeface="Courier New" pitchFamily="34" charset="-122"/>
                <a:cs typeface="Courier New" pitchFamily="34" charset="-120"/>
              </a:rPr>
              <a:t>"""Standalone MCP server for the Repo &amp; PR Review Agent project.</a:t>
            </a:r>
            <a:endParaRPr lang="en-US" sz="619" dirty="0"/>
          </a:p>
        </p:txBody>
      </p:sp>
      <p:sp>
        <p:nvSpPr>
          <p:cNvPr id="18" name="Text 16"/>
          <p:cNvSpPr/>
          <p:nvPr/>
        </p:nvSpPr>
        <p:spPr>
          <a:xfrm>
            <a:off x="650081" y="2612938"/>
            <a:ext cx="2789634" cy="91440"/>
          </a:xfrm>
          <a:prstGeom prst="rect">
            <a:avLst/>
          </a:prstGeom>
          <a:noFill/>
          <a:ln/>
        </p:spPr>
        <p:txBody>
          <a:bodyPr wrap="none" lIns="0" tIns="0" rIns="0" bIns="0" rtlCol="0" anchor="t">
            <a:normAutofit/>
          </a:bodyPr>
          <a:lstStyle/>
          <a:p>
            <a:pPr algn="l" indent="0" marL="0">
              <a:lnSpc>
                <a:spcPts val="866"/>
              </a:lnSpc>
              <a:buNone/>
            </a:pPr>
            <a:r>
              <a:rPr lang="en-US" sz="619" i="1" dirty="0">
                <a:solidFill>
                  <a:srgbClr val="71717A"/>
                </a:solidFill>
                <a:latin typeface="Courier New" pitchFamily="34" charset="0"/>
                <a:ea typeface="Courier New" pitchFamily="34" charset="-122"/>
                <a:cs typeface="Courier New" pitchFamily="34" charset="-120"/>
              </a:rPr>
              <a:t>This is NOT built with claude_agent_sdk's @tool decorator -- that's the</a:t>
            </a:r>
            <a:endParaRPr lang="en-US" sz="619" dirty="0"/>
          </a:p>
        </p:txBody>
      </p:sp>
      <p:sp>
        <p:nvSpPr>
          <p:cNvPr id="19" name="Text 17"/>
          <p:cNvSpPr/>
          <p:nvPr/>
        </p:nvSpPr>
        <p:spPr>
          <a:xfrm>
            <a:off x="650081" y="2722885"/>
            <a:ext cx="2828925" cy="91440"/>
          </a:xfrm>
          <a:prstGeom prst="rect">
            <a:avLst/>
          </a:prstGeom>
          <a:noFill/>
          <a:ln/>
        </p:spPr>
        <p:txBody>
          <a:bodyPr wrap="none" lIns="0" tIns="0" rIns="0" bIns="0" rtlCol="0" anchor="t">
            <a:normAutofit/>
          </a:bodyPr>
          <a:lstStyle/>
          <a:p>
            <a:pPr algn="l" indent="0" marL="0">
              <a:lnSpc>
                <a:spcPts val="866"/>
              </a:lnSpc>
              <a:buNone/>
            </a:pPr>
            <a:r>
              <a:rPr lang="en-US" sz="619" i="1" dirty="0">
                <a:solidFill>
                  <a:srgbClr val="71717A"/>
                </a:solidFill>
                <a:latin typeface="Courier New" pitchFamily="34" charset="0"/>
                <a:ea typeface="Courier New" pitchFamily="34" charset="-122"/>
                <a:cs typeface="Courier New" pitchFamily="34" charset="-120"/>
              </a:rPr>
              <a:t>in-process pattern from Ep03/04 (see tools.py). This is a real, separate</a:t>
            </a:r>
            <a:endParaRPr lang="en-US" sz="619" dirty="0"/>
          </a:p>
        </p:txBody>
      </p:sp>
      <p:sp>
        <p:nvSpPr>
          <p:cNvPr id="20" name="Text 18"/>
          <p:cNvSpPr/>
          <p:nvPr/>
        </p:nvSpPr>
        <p:spPr>
          <a:xfrm>
            <a:off x="650081" y="2832832"/>
            <a:ext cx="2671763" cy="91440"/>
          </a:xfrm>
          <a:prstGeom prst="rect">
            <a:avLst/>
          </a:prstGeom>
          <a:noFill/>
          <a:ln/>
        </p:spPr>
        <p:txBody>
          <a:bodyPr wrap="none" lIns="0" tIns="0" rIns="0" bIns="0" rtlCol="0" anchor="t">
            <a:normAutofit/>
          </a:bodyPr>
          <a:lstStyle/>
          <a:p>
            <a:pPr algn="l" indent="0" marL="0">
              <a:lnSpc>
                <a:spcPts val="866"/>
              </a:lnSpc>
              <a:buNone/>
            </a:pPr>
            <a:r>
              <a:rPr lang="en-US" sz="619" i="1" dirty="0">
                <a:solidFill>
                  <a:srgbClr val="71717A"/>
                </a:solidFill>
                <a:latin typeface="Courier New" pitchFamily="34" charset="0"/>
                <a:ea typeface="Courier New" pitchFamily="34" charset="-122"/>
                <a:cs typeface="Courier New" pitchFamily="34" charset="-120"/>
              </a:rPr>
              <a:t>program that speaks MCP over stdio using the actual `mcp` Python SDK</a:t>
            </a:r>
            <a:endParaRPr lang="en-US" sz="619" dirty="0"/>
          </a:p>
        </p:txBody>
      </p:sp>
      <p:sp>
        <p:nvSpPr>
          <p:cNvPr id="21" name="Text 19"/>
          <p:cNvSpPr/>
          <p:nvPr/>
        </p:nvSpPr>
        <p:spPr>
          <a:xfrm>
            <a:off x="650081" y="2942779"/>
            <a:ext cx="2711053" cy="91440"/>
          </a:xfrm>
          <a:prstGeom prst="rect">
            <a:avLst/>
          </a:prstGeom>
          <a:noFill/>
          <a:ln/>
        </p:spPr>
        <p:txBody>
          <a:bodyPr wrap="none" lIns="0" tIns="0" rIns="0" bIns="0" rtlCol="0" anchor="t">
            <a:normAutofit/>
          </a:bodyPr>
          <a:lstStyle/>
          <a:p>
            <a:pPr algn="l" indent="0" marL="0">
              <a:lnSpc>
                <a:spcPts val="866"/>
              </a:lnSpc>
              <a:buNone/>
            </a:pPr>
            <a:r>
              <a:rPr lang="en-US" sz="619" i="1" dirty="0">
                <a:solidFill>
                  <a:srgbClr val="71717A"/>
                </a:solidFill>
                <a:latin typeface="Courier New" pitchFamily="34" charset="0"/>
                <a:ea typeface="Courier New" pitchFamily="34" charset="-122"/>
                <a:cs typeface="Courier New" pitchFamily="34" charset="-120"/>
              </a:rPr>
              <a:t>(FastMCP). It has no idea claude-agent-sdk exists. Any MCP client can</a:t>
            </a:r>
            <a:endParaRPr lang="en-US" sz="619" dirty="0"/>
          </a:p>
        </p:txBody>
      </p:sp>
      <p:sp>
        <p:nvSpPr>
          <p:cNvPr id="22" name="Text 20"/>
          <p:cNvSpPr/>
          <p:nvPr/>
        </p:nvSpPr>
        <p:spPr>
          <a:xfrm>
            <a:off x="650081" y="3052725"/>
            <a:ext cx="2671763" cy="91440"/>
          </a:xfrm>
          <a:prstGeom prst="rect">
            <a:avLst/>
          </a:prstGeom>
          <a:noFill/>
          <a:ln/>
        </p:spPr>
        <p:txBody>
          <a:bodyPr wrap="none" lIns="0" tIns="0" rIns="0" bIns="0" rtlCol="0" anchor="t">
            <a:normAutofit/>
          </a:bodyPr>
          <a:lstStyle/>
          <a:p>
            <a:pPr algn="l" indent="0" marL="0">
              <a:lnSpc>
                <a:spcPts val="866"/>
              </a:lnSpc>
              <a:buNone/>
            </a:pPr>
            <a:r>
              <a:rPr lang="en-US" sz="619" i="1" dirty="0">
                <a:solidFill>
                  <a:srgbClr val="71717A"/>
                </a:solidFill>
                <a:latin typeface="Courier New" pitchFamily="34" charset="0"/>
                <a:ea typeface="Courier New" pitchFamily="34" charset="-122"/>
                <a:cs typeface="Courier New" pitchFamily="34" charset="-120"/>
              </a:rPr>
              <a:t>talk to it -- Claude Code, Claude Desktop, Cursor, or this Agent SDK</a:t>
            </a:r>
            <a:endParaRPr lang="en-US" sz="619" dirty="0"/>
          </a:p>
        </p:txBody>
      </p:sp>
      <p:sp>
        <p:nvSpPr>
          <p:cNvPr id="23" name="Text 21"/>
          <p:cNvSpPr/>
          <p:nvPr/>
        </p:nvSpPr>
        <p:spPr>
          <a:xfrm>
            <a:off x="650081" y="3162672"/>
            <a:ext cx="1994392" cy="139654"/>
          </a:xfrm>
          <a:prstGeom prst="rect">
            <a:avLst/>
          </a:prstGeom>
          <a:noFill/>
          <a:ln/>
        </p:spPr>
        <p:txBody>
          <a:bodyPr wrap="none" lIns="0" tIns="0" rIns="0" bIns="0" rtlCol="0" anchor="t"/>
          <a:lstStyle/>
          <a:p>
            <a:pPr algn="l" indent="0" marL="0">
              <a:lnSpc>
                <a:spcPts val="866"/>
              </a:lnSpc>
              <a:buNone/>
            </a:pPr>
            <a:r>
              <a:rPr lang="en-US" sz="619" i="1" dirty="0">
                <a:solidFill>
                  <a:srgbClr val="71717A"/>
                </a:solidFill>
                <a:latin typeface="Courier New" pitchFamily="34" charset="0"/>
                <a:ea typeface="Courier New" pitchFamily="34" charset="-122"/>
                <a:cs typeface="Courier New" pitchFamily="34" charset="-120"/>
              </a:rPr>
              <a:t>app -- all the same way, all through .mcp.json.</a:t>
            </a:r>
            <a:endParaRPr lang="en-US" sz="619" dirty="0"/>
          </a:p>
        </p:txBody>
      </p:sp>
      <p:sp>
        <p:nvSpPr>
          <p:cNvPr id="24" name="Text 22"/>
          <p:cNvSpPr/>
          <p:nvPr/>
        </p:nvSpPr>
        <p:spPr>
          <a:xfrm>
            <a:off x="650081" y="3382566"/>
            <a:ext cx="1994392" cy="91440"/>
          </a:xfrm>
          <a:prstGeom prst="rect">
            <a:avLst/>
          </a:prstGeom>
          <a:noFill/>
          <a:ln/>
        </p:spPr>
        <p:txBody>
          <a:bodyPr wrap="none" lIns="0" tIns="0" rIns="0" bIns="0" rtlCol="0" anchor="t">
            <a:normAutofit/>
          </a:bodyPr>
          <a:lstStyle/>
          <a:p>
            <a:pPr algn="l" indent="0" marL="0">
              <a:lnSpc>
                <a:spcPts val="866"/>
              </a:lnSpc>
              <a:buNone/>
            </a:pPr>
            <a:r>
              <a:rPr lang="en-US" sz="619" i="1" dirty="0">
                <a:solidFill>
                  <a:srgbClr val="71717A"/>
                </a:solidFill>
                <a:latin typeface="Courier New" pitchFamily="34" charset="0"/>
                <a:ea typeface="Courier New" pitchFamily="34" charset="-122"/>
                <a:cs typeface="Courier New" pitchFamily="34" charset="-120"/>
              </a:rPr>
              <a:t>Run standalone (for testing outside any agent):</a:t>
            </a:r>
            <a:endParaRPr lang="en-US" sz="619" dirty="0"/>
          </a:p>
        </p:txBody>
      </p:sp>
      <p:sp>
        <p:nvSpPr>
          <p:cNvPr id="25" name="Text 23"/>
          <p:cNvSpPr/>
          <p:nvPr/>
        </p:nvSpPr>
        <p:spPr>
          <a:xfrm>
            <a:off x="650081" y="3492512"/>
            <a:ext cx="1315450" cy="91440"/>
          </a:xfrm>
          <a:prstGeom prst="rect">
            <a:avLst/>
          </a:prstGeom>
          <a:noFill/>
          <a:ln/>
        </p:spPr>
        <p:txBody>
          <a:bodyPr wrap="none" lIns="0" tIns="0" rIns="0" bIns="0" rtlCol="0" anchor="t">
            <a:normAutofit/>
          </a:bodyPr>
          <a:lstStyle/>
          <a:p>
            <a:pPr algn="l" indent="0" marL="0">
              <a:lnSpc>
                <a:spcPts val="866"/>
              </a:lnSpc>
              <a:buNone/>
            </a:pPr>
            <a:r>
              <a:rPr lang="en-US" sz="619" i="1" dirty="0">
                <a:solidFill>
                  <a:srgbClr val="71717A"/>
                </a:solidFill>
                <a:latin typeface="Courier New" pitchFamily="34" charset="0"/>
                <a:ea typeface="Courier New" pitchFamily="34" charset="-122"/>
                <a:cs typeface="Courier New" pitchFamily="34" charset="-120"/>
              </a:rPr>
              <a:t>python repo_facts_server.py</a:t>
            </a:r>
            <a:endParaRPr lang="en-US" sz="619" dirty="0"/>
          </a:p>
        </p:txBody>
      </p:sp>
      <p:sp>
        <p:nvSpPr>
          <p:cNvPr id="26" name="Text 24"/>
          <p:cNvSpPr/>
          <p:nvPr/>
        </p:nvSpPr>
        <p:spPr>
          <a:xfrm>
            <a:off x="650081" y="3602459"/>
            <a:ext cx="2828925" cy="91440"/>
          </a:xfrm>
          <a:prstGeom prst="rect">
            <a:avLst/>
          </a:prstGeom>
          <a:noFill/>
          <a:ln/>
        </p:spPr>
        <p:txBody>
          <a:bodyPr wrap="none" lIns="0" tIns="0" rIns="0" bIns="0" rtlCol="0" anchor="t">
            <a:normAutofit/>
          </a:bodyPr>
          <a:lstStyle/>
          <a:p>
            <a:pPr algn="l" indent="0" marL="0">
              <a:lnSpc>
                <a:spcPts val="866"/>
              </a:lnSpc>
              <a:buNone/>
            </a:pPr>
            <a:r>
              <a:rPr lang="en-US" sz="619" i="1" dirty="0">
                <a:solidFill>
                  <a:srgbClr val="71717A"/>
                </a:solidFill>
                <a:latin typeface="Courier New" pitchFamily="34" charset="0"/>
                <a:ea typeface="Courier New" pitchFamily="34" charset="-122"/>
                <a:cs typeface="Courier New" pitchFamily="34" charset="-120"/>
              </a:rPr>
              <a:t>It'll sit there speaking MCP over stdio -- that's expected, it's waiting</a:t>
            </a:r>
            <a:endParaRPr lang="en-US" sz="619" dirty="0"/>
          </a:p>
        </p:txBody>
      </p:sp>
      <p:sp>
        <p:nvSpPr>
          <p:cNvPr id="27" name="Text 25"/>
          <p:cNvSpPr/>
          <p:nvPr/>
        </p:nvSpPr>
        <p:spPr>
          <a:xfrm>
            <a:off x="650081" y="3712406"/>
            <a:ext cx="2828925" cy="91440"/>
          </a:xfrm>
          <a:prstGeom prst="rect">
            <a:avLst/>
          </a:prstGeom>
          <a:noFill/>
          <a:ln/>
        </p:spPr>
        <p:txBody>
          <a:bodyPr wrap="none" lIns="0" tIns="0" rIns="0" bIns="0" rtlCol="0" anchor="t">
            <a:normAutofit/>
          </a:bodyPr>
          <a:lstStyle/>
          <a:p>
            <a:pPr algn="l" indent="0" marL="0">
              <a:lnSpc>
                <a:spcPts val="866"/>
              </a:lnSpc>
              <a:buNone/>
            </a:pPr>
            <a:r>
              <a:rPr lang="en-US" sz="619" i="1" dirty="0">
                <a:solidFill>
                  <a:srgbClr val="71717A"/>
                </a:solidFill>
                <a:latin typeface="Courier New" pitchFamily="34" charset="0"/>
                <a:ea typeface="Courier New" pitchFamily="34" charset="-122"/>
                <a:cs typeface="Courier New" pitchFamily="34" charset="-120"/>
              </a:rPr>
              <a:t>for a client. Ctrl+C to stop. It's meant to be launched BY a client (see</a:t>
            </a:r>
            <a:endParaRPr lang="en-US" sz="619" dirty="0"/>
          </a:p>
        </p:txBody>
      </p:sp>
      <p:sp>
        <p:nvSpPr>
          <p:cNvPr id="28" name="Text 26"/>
          <p:cNvSpPr/>
          <p:nvPr/>
        </p:nvSpPr>
        <p:spPr>
          <a:xfrm>
            <a:off x="650081" y="3822353"/>
            <a:ext cx="1442752" cy="91440"/>
          </a:xfrm>
          <a:prstGeom prst="rect">
            <a:avLst/>
          </a:prstGeom>
          <a:noFill/>
          <a:ln/>
        </p:spPr>
        <p:txBody>
          <a:bodyPr wrap="none" lIns="0" tIns="0" rIns="0" bIns="0" rtlCol="0" anchor="t">
            <a:normAutofit/>
          </a:bodyPr>
          <a:lstStyle/>
          <a:p>
            <a:pPr algn="l" indent="0" marL="0">
              <a:lnSpc>
                <a:spcPts val="866"/>
              </a:lnSpc>
              <a:buNone/>
            </a:pPr>
            <a:r>
              <a:rPr lang="en-US" sz="619" i="1" dirty="0">
                <a:solidFill>
                  <a:srgbClr val="71717A"/>
                </a:solidFill>
                <a:latin typeface="Courier New" pitchFamily="34" charset="0"/>
                <a:ea typeface="Courier New" pitchFamily="34" charset="-122"/>
                <a:cs typeface="Courier New" pitchFamily="34" charset="-120"/>
              </a:rPr>
              <a:t>.mcp.json), not run interactively.</a:t>
            </a:r>
            <a:endParaRPr lang="en-US" sz="619" dirty="0"/>
          </a:p>
        </p:txBody>
      </p:sp>
      <p:sp>
        <p:nvSpPr>
          <p:cNvPr id="29" name="Text 27"/>
          <p:cNvSpPr/>
          <p:nvPr/>
        </p:nvSpPr>
        <p:spPr>
          <a:xfrm>
            <a:off x="645674" y="3932300"/>
            <a:ext cx="197409" cy="139654"/>
          </a:xfrm>
          <a:prstGeom prst="rect">
            <a:avLst/>
          </a:prstGeom>
          <a:noFill/>
          <a:ln/>
        </p:spPr>
        <p:txBody>
          <a:bodyPr wrap="none" lIns="0" tIns="0" rIns="0" bIns="0" rtlCol="0" anchor="t"/>
          <a:lstStyle/>
          <a:p>
            <a:pPr algn="l" indent="0" marL="0">
              <a:lnSpc>
                <a:spcPts val="866"/>
              </a:lnSpc>
              <a:buNone/>
            </a:pPr>
            <a:r>
              <a:rPr lang="en-US" sz="800" i="1" dirty="0">
                <a:solidFill>
                  <a:srgbClr val="71717A"/>
                </a:solidFill>
                <a:latin typeface="Courier New" pitchFamily="34" charset="0"/>
                <a:ea typeface="Courier New" pitchFamily="34" charset="-122"/>
                <a:cs typeface="Courier New" pitchFamily="34" charset="-120"/>
              </a:rPr>
              <a:t>"""</a:t>
            </a:r>
            <a:endParaRPr lang="en-US" sz="800" dirty="0"/>
          </a:p>
        </p:txBody>
      </p:sp>
      <p:sp>
        <p:nvSpPr>
          <p:cNvPr id="30" name="Text 28"/>
          <p:cNvSpPr/>
          <p:nvPr/>
        </p:nvSpPr>
        <p:spPr>
          <a:xfrm>
            <a:off x="650081" y="4152193"/>
            <a:ext cx="337114" cy="91440"/>
          </a:xfrm>
          <a:prstGeom prst="rect">
            <a:avLst/>
          </a:prstGeom>
          <a:noFill/>
          <a:ln/>
        </p:spPr>
        <p:txBody>
          <a:bodyPr wrap="none" lIns="0" tIns="0" rIns="0" bIns="0" rtlCol="0" anchor="t">
            <a:normAutofit/>
          </a:bodyPr>
          <a:lstStyle/>
          <a:p>
            <a:pPr algn="l" indent="0" marL="0">
              <a:lnSpc>
                <a:spcPts val="866"/>
              </a:lnSpc>
              <a:buNone/>
            </a:pPr>
            <a:r>
              <a:rPr lang="en-US" sz="619" dirty="0">
                <a:solidFill>
                  <a:srgbClr val="FF7A1A"/>
                </a:solidFill>
                <a:latin typeface="Courier New" pitchFamily="34" charset="0"/>
                <a:ea typeface="Courier New" pitchFamily="34" charset="-122"/>
                <a:cs typeface="Courier New" pitchFamily="34" charset="-120"/>
              </a:rPr>
              <a:t>import</a:t>
            </a:r>
            <a:endParaRPr lang="en-US" sz="619" dirty="0"/>
          </a:p>
        </p:txBody>
      </p:sp>
      <p:sp>
        <p:nvSpPr>
          <p:cNvPr id="31" name="Text 29"/>
          <p:cNvSpPr/>
          <p:nvPr/>
        </p:nvSpPr>
        <p:spPr>
          <a:xfrm>
            <a:off x="633348" y="4262140"/>
            <a:ext cx="284927" cy="139654"/>
          </a:xfrm>
          <a:prstGeom prst="rect">
            <a:avLst/>
          </a:prstGeom>
          <a:noFill/>
          <a:ln/>
        </p:spPr>
        <p:txBody>
          <a:bodyPr wrap="none" lIns="0" tIns="0" rIns="0" bIns="0" rtlCol="0" anchor="t"/>
          <a:lstStyle/>
          <a:p>
            <a:pPr algn="l" indent="0" marL="0">
              <a:lnSpc>
                <a:spcPts val="866"/>
              </a:lnSpc>
              <a:buNone/>
            </a:pPr>
            <a:r>
              <a:rPr lang="en-US" sz="800" dirty="0">
                <a:solidFill>
                  <a:srgbClr val="FF7A1A"/>
                </a:solidFill>
                <a:latin typeface="Courier New" pitchFamily="34" charset="0"/>
                <a:ea typeface="Courier New" pitchFamily="34" charset="-122"/>
                <a:cs typeface="Courier New" pitchFamily="34" charset="-120"/>
              </a:rPr>
              <a:t>from</a:t>
            </a:r>
            <a:endParaRPr lang="en-US" sz="800" dirty="0"/>
          </a:p>
        </p:txBody>
      </p:sp>
      <p:sp>
        <p:nvSpPr>
          <p:cNvPr id="32" name="Text 30"/>
          <p:cNvSpPr/>
          <p:nvPr/>
        </p:nvSpPr>
        <p:spPr>
          <a:xfrm>
            <a:off x="1160859" y="4262140"/>
            <a:ext cx="337114" cy="139654"/>
          </a:xfrm>
          <a:prstGeom prst="rect">
            <a:avLst/>
          </a:prstGeom>
          <a:noFill/>
          <a:ln/>
        </p:spPr>
        <p:txBody>
          <a:bodyPr wrap="none" lIns="0" tIns="0" rIns="0" bIns="0" rtlCol="0" anchor="t"/>
          <a:lstStyle/>
          <a:p>
            <a:pPr algn="l" indent="0" marL="0">
              <a:lnSpc>
                <a:spcPts val="866"/>
              </a:lnSpc>
              <a:buNone/>
            </a:pPr>
            <a:r>
              <a:rPr lang="en-US" sz="619" dirty="0">
                <a:solidFill>
                  <a:srgbClr val="FF7A1A"/>
                </a:solidFill>
                <a:latin typeface="Courier New" pitchFamily="34" charset="0"/>
                <a:ea typeface="Courier New" pitchFamily="34" charset="-122"/>
                <a:cs typeface="Courier New" pitchFamily="34" charset="-120"/>
              </a:rPr>
              <a:t>import</a:t>
            </a:r>
            <a:endParaRPr lang="en-US" sz="619" dirty="0"/>
          </a:p>
        </p:txBody>
      </p:sp>
      <p:sp>
        <p:nvSpPr>
          <p:cNvPr id="33" name="Text 31"/>
          <p:cNvSpPr/>
          <p:nvPr/>
        </p:nvSpPr>
        <p:spPr>
          <a:xfrm>
            <a:off x="633348" y="4482033"/>
            <a:ext cx="284927" cy="139654"/>
          </a:xfrm>
          <a:prstGeom prst="rect">
            <a:avLst/>
          </a:prstGeom>
          <a:noFill/>
          <a:ln/>
        </p:spPr>
        <p:txBody>
          <a:bodyPr wrap="none" lIns="0" tIns="0" rIns="0" bIns="0" rtlCol="0" anchor="t"/>
          <a:lstStyle/>
          <a:p>
            <a:pPr algn="l" indent="0" marL="0">
              <a:lnSpc>
                <a:spcPts val="866"/>
              </a:lnSpc>
              <a:buNone/>
            </a:pPr>
            <a:r>
              <a:rPr lang="en-US" sz="800" dirty="0">
                <a:solidFill>
                  <a:srgbClr val="FF7A1A"/>
                </a:solidFill>
                <a:latin typeface="Courier New" pitchFamily="34" charset="0"/>
                <a:ea typeface="Courier New" pitchFamily="34" charset="-122"/>
                <a:cs typeface="Courier New" pitchFamily="34" charset="-120"/>
              </a:rPr>
              <a:t>from</a:t>
            </a:r>
            <a:endParaRPr lang="en-US" sz="800" dirty="0"/>
          </a:p>
        </p:txBody>
      </p:sp>
      <p:sp>
        <p:nvSpPr>
          <p:cNvPr id="34" name="Text 32"/>
          <p:cNvSpPr/>
          <p:nvPr/>
        </p:nvSpPr>
        <p:spPr>
          <a:xfrm>
            <a:off x="1593056" y="4482033"/>
            <a:ext cx="337114" cy="139654"/>
          </a:xfrm>
          <a:prstGeom prst="rect">
            <a:avLst/>
          </a:prstGeom>
          <a:noFill/>
          <a:ln/>
        </p:spPr>
        <p:txBody>
          <a:bodyPr wrap="none" lIns="0" tIns="0" rIns="0" bIns="0" rtlCol="0" anchor="t"/>
          <a:lstStyle/>
          <a:p>
            <a:pPr algn="l" indent="0" marL="0">
              <a:lnSpc>
                <a:spcPts val="866"/>
              </a:lnSpc>
              <a:buNone/>
            </a:pPr>
            <a:r>
              <a:rPr lang="en-US" sz="619" dirty="0">
                <a:solidFill>
                  <a:srgbClr val="FF7A1A"/>
                </a:solidFill>
                <a:latin typeface="Courier New" pitchFamily="34" charset="0"/>
                <a:ea typeface="Courier New" pitchFamily="34" charset="-122"/>
                <a:cs typeface="Courier New" pitchFamily="34" charset="-120"/>
              </a:rPr>
              <a:t>import</a:t>
            </a:r>
            <a:endParaRPr lang="en-US" sz="619" dirty="0"/>
          </a:p>
        </p:txBody>
      </p:sp>
      <p:sp>
        <p:nvSpPr>
          <p:cNvPr id="35" name="Text 33"/>
          <p:cNvSpPr/>
          <p:nvPr/>
        </p:nvSpPr>
        <p:spPr>
          <a:xfrm>
            <a:off x="881417" y="4701927"/>
            <a:ext cx="402116" cy="91440"/>
          </a:xfrm>
          <a:prstGeom prst="rect">
            <a:avLst/>
          </a:prstGeom>
          <a:noFill/>
          <a:ln/>
        </p:spPr>
        <p:txBody>
          <a:bodyPr wrap="none" lIns="0" tIns="0" rIns="0" bIns="0" rtlCol="0" anchor="t"/>
          <a:lstStyle/>
          <a:p>
            <a:pPr algn="l" indent="0" marL="0">
              <a:lnSpc>
                <a:spcPts val="866"/>
              </a:lnSpc>
              <a:buNone/>
            </a:pPr>
            <a:r>
              <a:rPr lang="en-US" sz="619" dirty="0">
                <a:solidFill>
                  <a:srgbClr val="FFD29E"/>
                </a:solidFill>
                <a:latin typeface="Courier New" pitchFamily="34" charset="0"/>
                <a:ea typeface="Courier New" pitchFamily="34" charset="-122"/>
                <a:cs typeface="Courier New" pitchFamily="34" charset="-120"/>
              </a:rPr>
              <a:t>FastMCP</a:t>
            </a:r>
            <a:endParaRPr lang="en-US" sz="619" dirty="0"/>
          </a:p>
        </p:txBody>
      </p:sp>
      <p:sp>
        <p:nvSpPr>
          <p:cNvPr id="36" name="Text 34"/>
          <p:cNvSpPr/>
          <p:nvPr/>
        </p:nvSpPr>
        <p:spPr>
          <a:xfrm>
            <a:off x="1200150" y="4701927"/>
            <a:ext cx="589359" cy="91440"/>
          </a:xfrm>
          <a:prstGeom prst="rect">
            <a:avLst/>
          </a:prstGeom>
          <a:noFill/>
          <a:ln/>
        </p:spPr>
        <p:txBody>
          <a:bodyPr wrap="none" lIns="0" tIns="0" rIns="0" bIns="0" rtlCol="0" anchor="t"/>
          <a:lstStyle/>
          <a:p>
            <a:pPr algn="l" indent="0" marL="0">
              <a:lnSpc>
                <a:spcPts val="866"/>
              </a:lnSpc>
              <a:buNone/>
            </a:pPr>
            <a:r>
              <a:rPr lang="en-US" sz="619" dirty="0">
                <a:solidFill>
                  <a:srgbClr val="B6E3A1"/>
                </a:solidFill>
                <a:latin typeface="Courier New" pitchFamily="34" charset="0"/>
                <a:ea typeface="Courier New" pitchFamily="34" charset="-122"/>
                <a:cs typeface="Courier New" pitchFamily="34" charset="-120"/>
              </a:rPr>
              <a:t>"repo_facts"</a:t>
            </a:r>
            <a:endParaRPr lang="en-US" sz="619" dirty="0"/>
          </a:p>
        </p:txBody>
      </p:sp>
      <p:sp>
        <p:nvSpPr>
          <p:cNvPr id="37" name="Text 35"/>
          <p:cNvSpPr/>
          <p:nvPr/>
        </p:nvSpPr>
        <p:spPr>
          <a:xfrm>
            <a:off x="4752054" y="2393045"/>
            <a:ext cx="284927" cy="91440"/>
          </a:xfrm>
          <a:prstGeom prst="rect">
            <a:avLst/>
          </a:prstGeom>
          <a:noFill/>
          <a:ln/>
        </p:spPr>
        <p:txBody>
          <a:bodyPr wrap="none" lIns="0" tIns="0" rIns="0" bIns="0" rtlCol="0" anchor="t">
            <a:normAutofit/>
          </a:bodyPr>
          <a:lstStyle/>
          <a:p>
            <a:pPr algn="l" indent="0" marL="0">
              <a:lnSpc>
                <a:spcPts val="866"/>
              </a:lnSpc>
              <a:buNone/>
            </a:pPr>
            <a:r>
              <a:rPr lang="en-US" sz="800" dirty="0">
                <a:solidFill>
                  <a:srgbClr val="FFD29E"/>
                </a:solidFill>
                <a:latin typeface="Courier New" pitchFamily="34" charset="0"/>
                <a:ea typeface="Courier New" pitchFamily="34" charset="-122"/>
                <a:cs typeface="Courier New" pitchFamily="34" charset="-120"/>
              </a:rPr>
              <a:t>tool</a:t>
            </a:r>
            <a:endParaRPr lang="en-US" sz="800" dirty="0"/>
          </a:p>
        </p:txBody>
      </p:sp>
      <p:sp>
        <p:nvSpPr>
          <p:cNvPr id="38" name="Text 36"/>
          <p:cNvSpPr/>
          <p:nvPr/>
        </p:nvSpPr>
        <p:spPr>
          <a:xfrm>
            <a:off x="4555340" y="2502991"/>
            <a:ext cx="222585" cy="139654"/>
          </a:xfrm>
          <a:prstGeom prst="rect">
            <a:avLst/>
          </a:prstGeom>
          <a:noFill/>
          <a:ln/>
        </p:spPr>
        <p:txBody>
          <a:bodyPr wrap="none" lIns="0" tIns="0" rIns="0" bIns="0" rtlCol="0" anchor="t"/>
          <a:lstStyle/>
          <a:p>
            <a:pPr algn="l" indent="0" marL="0">
              <a:lnSpc>
                <a:spcPts val="866"/>
              </a:lnSpc>
              <a:buNone/>
            </a:pPr>
            <a:r>
              <a:rPr lang="en-US" sz="800" dirty="0">
                <a:solidFill>
                  <a:srgbClr val="FF7A1A"/>
                </a:solidFill>
                <a:latin typeface="Courier New" pitchFamily="34" charset="0"/>
                <a:ea typeface="Courier New" pitchFamily="34" charset="-122"/>
                <a:cs typeface="Courier New" pitchFamily="34" charset="-120"/>
              </a:rPr>
              <a:t>def</a:t>
            </a:r>
            <a:endParaRPr lang="en-US" sz="800" dirty="0"/>
          </a:p>
        </p:txBody>
      </p:sp>
      <p:sp>
        <p:nvSpPr>
          <p:cNvPr id="39" name="Text 37"/>
          <p:cNvSpPr/>
          <p:nvPr/>
        </p:nvSpPr>
        <p:spPr>
          <a:xfrm>
            <a:off x="4723918" y="2502991"/>
            <a:ext cx="551405" cy="139654"/>
          </a:xfrm>
          <a:prstGeom prst="rect">
            <a:avLst/>
          </a:prstGeom>
          <a:noFill/>
          <a:ln/>
        </p:spPr>
        <p:txBody>
          <a:bodyPr wrap="none" lIns="0" tIns="0" rIns="0" bIns="0" rtlCol="0" anchor="t"/>
          <a:lstStyle/>
          <a:p>
            <a:pPr algn="l" indent="0" marL="0">
              <a:lnSpc>
                <a:spcPts val="866"/>
              </a:lnSpc>
              <a:buNone/>
            </a:pPr>
            <a:r>
              <a:rPr lang="en-US" sz="619" dirty="0">
                <a:solidFill>
                  <a:srgbClr val="FFD29E"/>
                </a:solidFill>
                <a:latin typeface="Courier New" pitchFamily="34" charset="0"/>
                <a:ea typeface="Courier New" pitchFamily="34" charset="-122"/>
                <a:cs typeface="Courier New" pitchFamily="34" charset="-120"/>
              </a:rPr>
              <a:t>count_todos</a:t>
            </a:r>
            <a:endParaRPr lang="en-US" sz="619" dirty="0"/>
          </a:p>
        </p:txBody>
      </p:sp>
      <p:sp>
        <p:nvSpPr>
          <p:cNvPr id="40" name="Text 38"/>
          <p:cNvSpPr/>
          <p:nvPr/>
        </p:nvSpPr>
        <p:spPr>
          <a:xfrm>
            <a:off x="5864519" y="2502991"/>
            <a:ext cx="197409" cy="91440"/>
          </a:xfrm>
          <a:prstGeom prst="rect">
            <a:avLst/>
          </a:prstGeom>
          <a:noFill/>
          <a:ln/>
        </p:spPr>
        <p:txBody>
          <a:bodyPr wrap="none" lIns="0" tIns="0" rIns="0" bIns="0" rtlCol="0" anchor="t">
            <a:normAutofit/>
          </a:bodyPr>
          <a:lstStyle/>
          <a:p>
            <a:pPr algn="l" indent="0" marL="0">
              <a:lnSpc>
                <a:spcPts val="866"/>
              </a:lnSpc>
              <a:buNone/>
            </a:pPr>
            <a:r>
              <a:rPr lang="en-US" sz="800" dirty="0">
                <a:solidFill>
                  <a:srgbClr val="B6E3A1"/>
                </a:solidFill>
                <a:latin typeface="Courier New" pitchFamily="34" charset="0"/>
                <a:ea typeface="Courier New" pitchFamily="34" charset="-122"/>
                <a:cs typeface="Courier New" pitchFamily="34" charset="-120"/>
              </a:rPr>
              <a:t>"."</a:t>
            </a:r>
            <a:endParaRPr lang="en-US" sz="800" dirty="0"/>
          </a:p>
        </p:txBody>
      </p:sp>
      <p:sp>
        <p:nvSpPr>
          <p:cNvPr id="41" name="Text 39"/>
          <p:cNvSpPr/>
          <p:nvPr/>
        </p:nvSpPr>
        <p:spPr>
          <a:xfrm>
            <a:off x="4572335" y="2612938"/>
            <a:ext cx="2514600" cy="91440"/>
          </a:xfrm>
          <a:prstGeom prst="rect">
            <a:avLst/>
          </a:prstGeom>
          <a:noFill/>
          <a:ln/>
        </p:spPr>
        <p:txBody>
          <a:bodyPr wrap="none" lIns="0" tIns="0" rIns="0" bIns="0" rtlCol="0" anchor="t">
            <a:normAutofit/>
          </a:bodyPr>
          <a:lstStyle/>
          <a:p>
            <a:pPr algn="l" indent="0" marL="0">
              <a:lnSpc>
                <a:spcPts val="866"/>
              </a:lnSpc>
              <a:buNone/>
            </a:pPr>
            <a:r>
              <a:rPr lang="en-US" sz="619" i="1" dirty="0">
                <a:solidFill>
                  <a:srgbClr val="71717A"/>
                </a:solidFill>
                <a:latin typeface="Courier New" pitchFamily="34" charset="0"/>
                <a:ea typeface="Courier New" pitchFamily="34" charset="-122"/>
                <a:cs typeface="Courier New" pitchFamily="34" charset="-120"/>
              </a:rPr>
              <a:t>"""Count TODO and FIXME comments across every .py file under</a:t>
            </a:r>
            <a:endParaRPr lang="en-US" sz="619" dirty="0"/>
          </a:p>
        </p:txBody>
      </p:sp>
      <p:sp>
        <p:nvSpPr>
          <p:cNvPr id="42" name="Text 40"/>
          <p:cNvSpPr/>
          <p:nvPr/>
        </p:nvSpPr>
        <p:spPr>
          <a:xfrm>
            <a:off x="4572335" y="2722885"/>
            <a:ext cx="810959" cy="139654"/>
          </a:xfrm>
          <a:prstGeom prst="rect">
            <a:avLst/>
          </a:prstGeom>
          <a:noFill/>
          <a:ln/>
        </p:spPr>
        <p:txBody>
          <a:bodyPr wrap="none" lIns="0" tIns="0" rIns="0" bIns="0" rtlCol="0" anchor="t"/>
          <a:lstStyle/>
          <a:p>
            <a:pPr algn="l" indent="0" marL="0">
              <a:lnSpc>
                <a:spcPts val="866"/>
              </a:lnSpc>
              <a:buNone/>
            </a:pPr>
            <a:r>
              <a:rPr lang="en-US" sz="800" i="1" dirty="0">
                <a:solidFill>
                  <a:srgbClr val="71717A"/>
                </a:solidFill>
                <a:latin typeface="Courier New" pitchFamily="34" charset="0"/>
                <a:ea typeface="Courier New" pitchFamily="34" charset="-122"/>
                <a:cs typeface="Courier New" pitchFamily="34" charset="-120"/>
              </a:rPr>
              <a:t>`directory`.</a:t>
            </a:r>
            <a:endParaRPr lang="en-US" sz="800" dirty="0"/>
          </a:p>
        </p:txBody>
      </p:sp>
      <p:sp>
        <p:nvSpPr>
          <p:cNvPr id="43" name="Text 41"/>
          <p:cNvSpPr/>
          <p:nvPr/>
        </p:nvSpPr>
        <p:spPr>
          <a:xfrm>
            <a:off x="4572335" y="2942779"/>
            <a:ext cx="2671763" cy="91440"/>
          </a:xfrm>
          <a:prstGeom prst="rect">
            <a:avLst/>
          </a:prstGeom>
          <a:noFill/>
          <a:ln/>
        </p:spPr>
        <p:txBody>
          <a:bodyPr wrap="none" lIns="0" tIns="0" rIns="0" bIns="0" rtlCol="0" anchor="t">
            <a:normAutofit/>
          </a:bodyPr>
          <a:lstStyle/>
          <a:p>
            <a:pPr algn="l" indent="0" marL="0">
              <a:lnSpc>
                <a:spcPts val="866"/>
              </a:lnSpc>
              <a:buNone/>
            </a:pPr>
            <a:r>
              <a:rPr lang="en-US" sz="619" i="1" dirty="0">
                <a:solidFill>
                  <a:srgbClr val="71717A"/>
                </a:solidFill>
                <a:latin typeface="Courier New" pitchFamily="34" charset="0"/>
                <a:ea typeface="Courier New" pitchFamily="34" charset="-122"/>
                <a:cs typeface="Courier New" pitchFamily="34" charset="-120"/>
              </a:rPr>
              <a:t>Returns a plain-text report: how many were found, and each one's</a:t>
            </a:r>
            <a:endParaRPr lang="en-US" sz="619" dirty="0"/>
          </a:p>
        </p:txBody>
      </p:sp>
      <p:sp>
        <p:nvSpPr>
          <p:cNvPr id="44" name="Text 42"/>
          <p:cNvSpPr/>
          <p:nvPr/>
        </p:nvSpPr>
        <p:spPr>
          <a:xfrm>
            <a:off x="4572335" y="3052725"/>
            <a:ext cx="2750344" cy="91440"/>
          </a:xfrm>
          <a:prstGeom prst="rect">
            <a:avLst/>
          </a:prstGeom>
          <a:noFill/>
          <a:ln/>
        </p:spPr>
        <p:txBody>
          <a:bodyPr wrap="none" lIns="0" tIns="0" rIns="0" bIns="0" rtlCol="0" anchor="t">
            <a:normAutofit/>
          </a:bodyPr>
          <a:lstStyle/>
          <a:p>
            <a:pPr algn="l" indent="0" marL="0">
              <a:lnSpc>
                <a:spcPts val="866"/>
              </a:lnSpc>
              <a:buNone/>
            </a:pPr>
            <a:r>
              <a:rPr lang="en-US" sz="619" i="1" dirty="0">
                <a:solidFill>
                  <a:srgbClr val="71717A"/>
                </a:solidFill>
                <a:latin typeface="Courier New" pitchFamily="34" charset="0"/>
                <a:ea typeface="Courier New" pitchFamily="34" charset="-122"/>
                <a:cs typeface="Courier New" pitchFamily="34" charset="-120"/>
              </a:rPr>
              <a:t>file, line number, and the line itself, so the caller doesn't have</a:t>
            </a:r>
            <a:endParaRPr lang="en-US" sz="619" dirty="0"/>
          </a:p>
        </p:txBody>
      </p:sp>
      <p:sp>
        <p:nvSpPr>
          <p:cNvPr id="45" name="Text 43"/>
          <p:cNvSpPr/>
          <p:nvPr/>
        </p:nvSpPr>
        <p:spPr>
          <a:xfrm>
            <a:off x="4572335" y="3162672"/>
            <a:ext cx="1527620" cy="91440"/>
          </a:xfrm>
          <a:prstGeom prst="rect">
            <a:avLst/>
          </a:prstGeom>
          <a:noFill/>
          <a:ln/>
        </p:spPr>
        <p:txBody>
          <a:bodyPr wrap="none" lIns="0" tIns="0" rIns="0" bIns="0" rtlCol="0" anchor="t">
            <a:normAutofit/>
          </a:bodyPr>
          <a:lstStyle/>
          <a:p>
            <a:pPr algn="l" indent="0" marL="0">
              <a:lnSpc>
                <a:spcPts val="866"/>
              </a:lnSpc>
              <a:buNone/>
            </a:pPr>
            <a:r>
              <a:rPr lang="en-US" sz="619" i="1" dirty="0">
                <a:solidFill>
                  <a:srgbClr val="71717A"/>
                </a:solidFill>
                <a:latin typeface="Courier New" pitchFamily="34" charset="0"/>
                <a:ea typeface="Courier New" pitchFamily="34" charset="-122"/>
                <a:cs typeface="Courier New" pitchFamily="34" charset="-120"/>
              </a:rPr>
              <a:t>to go grepping for them by hand.</a:t>
            </a:r>
            <a:endParaRPr lang="en-US" sz="619" dirty="0"/>
          </a:p>
        </p:txBody>
      </p:sp>
      <p:sp>
        <p:nvSpPr>
          <p:cNvPr id="46" name="Text 44"/>
          <p:cNvSpPr/>
          <p:nvPr/>
        </p:nvSpPr>
        <p:spPr>
          <a:xfrm>
            <a:off x="4572335" y="3272619"/>
            <a:ext cx="440055" cy="139654"/>
          </a:xfrm>
          <a:prstGeom prst="rect">
            <a:avLst/>
          </a:prstGeom>
          <a:noFill/>
          <a:ln/>
        </p:spPr>
        <p:txBody>
          <a:bodyPr wrap="none" lIns="0" tIns="0" rIns="0" bIns="0" rtlCol="0" anchor="t"/>
          <a:lstStyle/>
          <a:p>
            <a:pPr algn="l" indent="0" marL="0">
              <a:lnSpc>
                <a:spcPts val="866"/>
              </a:lnSpc>
              <a:buNone/>
            </a:pPr>
            <a:r>
              <a:rPr lang="en-US" sz="800" i="1" dirty="0">
                <a:solidFill>
                  <a:srgbClr val="71717A"/>
                </a:solidFill>
                <a:latin typeface="Courier New" pitchFamily="34" charset="0"/>
                <a:ea typeface="Courier New" pitchFamily="34" charset="-122"/>
                <a:cs typeface="Courier New" pitchFamily="34" charset="-120"/>
              </a:rPr>
              <a:t>"""</a:t>
            </a:r>
            <a:endParaRPr lang="en-US" sz="800" dirty="0"/>
          </a:p>
        </p:txBody>
      </p:sp>
      <p:sp>
        <p:nvSpPr>
          <p:cNvPr id="47" name="Text 45"/>
          <p:cNvSpPr/>
          <p:nvPr/>
        </p:nvSpPr>
        <p:spPr>
          <a:xfrm>
            <a:off x="4712502" y="3492512"/>
            <a:ext cx="222585" cy="139654"/>
          </a:xfrm>
          <a:prstGeom prst="rect">
            <a:avLst/>
          </a:prstGeom>
          <a:noFill/>
          <a:ln/>
        </p:spPr>
        <p:txBody>
          <a:bodyPr wrap="none" lIns="0" tIns="0" rIns="0" bIns="0" rtlCol="0" anchor="t"/>
          <a:lstStyle/>
          <a:p>
            <a:pPr algn="l" indent="0" marL="0">
              <a:lnSpc>
                <a:spcPts val="866"/>
              </a:lnSpc>
              <a:buNone/>
            </a:pPr>
            <a:r>
              <a:rPr lang="en-US" sz="800" dirty="0">
                <a:solidFill>
                  <a:srgbClr val="FF7A1A"/>
                </a:solidFill>
                <a:latin typeface="Courier New" pitchFamily="34" charset="0"/>
                <a:ea typeface="Courier New" pitchFamily="34" charset="-122"/>
                <a:cs typeface="Courier New" pitchFamily="34" charset="-120"/>
              </a:rPr>
              <a:t>for</a:t>
            </a:r>
            <a:endParaRPr lang="en-US" sz="800" dirty="0"/>
          </a:p>
        </p:txBody>
      </p:sp>
      <p:sp>
        <p:nvSpPr>
          <p:cNvPr id="48" name="Text 46"/>
          <p:cNvSpPr/>
          <p:nvPr/>
        </p:nvSpPr>
        <p:spPr>
          <a:xfrm>
            <a:off x="5065856" y="3492512"/>
            <a:ext cx="160244" cy="139654"/>
          </a:xfrm>
          <a:prstGeom prst="rect">
            <a:avLst/>
          </a:prstGeom>
          <a:noFill/>
          <a:ln/>
        </p:spPr>
        <p:txBody>
          <a:bodyPr wrap="none" lIns="0" tIns="0" rIns="0" bIns="0" rtlCol="0" anchor="t"/>
          <a:lstStyle/>
          <a:p>
            <a:pPr algn="l" indent="0" marL="0">
              <a:lnSpc>
                <a:spcPts val="866"/>
              </a:lnSpc>
              <a:buNone/>
            </a:pPr>
            <a:r>
              <a:rPr lang="en-US" sz="800" dirty="0">
                <a:solidFill>
                  <a:srgbClr val="FF7A1A"/>
                </a:solidFill>
                <a:latin typeface="Courier New" pitchFamily="34" charset="0"/>
                <a:ea typeface="Courier New" pitchFamily="34" charset="-122"/>
                <a:cs typeface="Courier New" pitchFamily="34" charset="-120"/>
              </a:rPr>
              <a:t>in</a:t>
            </a:r>
            <a:endParaRPr lang="en-US" sz="800" dirty="0"/>
          </a:p>
        </p:txBody>
      </p:sp>
      <p:sp>
        <p:nvSpPr>
          <p:cNvPr id="49" name="Text 47"/>
          <p:cNvSpPr/>
          <p:nvPr/>
        </p:nvSpPr>
        <p:spPr>
          <a:xfrm>
            <a:off x="5200985" y="3492512"/>
            <a:ext cx="337114" cy="139654"/>
          </a:xfrm>
          <a:prstGeom prst="rect">
            <a:avLst/>
          </a:prstGeom>
          <a:noFill/>
          <a:ln/>
        </p:spPr>
        <p:txBody>
          <a:bodyPr wrap="none" lIns="0" tIns="0" rIns="0" bIns="0" rtlCol="0" anchor="t"/>
          <a:lstStyle/>
          <a:p>
            <a:pPr algn="l" indent="0" marL="0">
              <a:lnSpc>
                <a:spcPts val="866"/>
              </a:lnSpc>
              <a:buNone/>
            </a:pPr>
            <a:r>
              <a:rPr lang="en-US" sz="619" dirty="0">
                <a:solidFill>
                  <a:srgbClr val="FFD29E"/>
                </a:solidFill>
                <a:latin typeface="Courier New" pitchFamily="34" charset="0"/>
                <a:ea typeface="Courier New" pitchFamily="34" charset="-122"/>
                <a:cs typeface="Courier New" pitchFamily="34" charset="-120"/>
              </a:rPr>
              <a:t>sorted</a:t>
            </a:r>
            <a:endParaRPr lang="en-US" sz="619" dirty="0"/>
          </a:p>
        </p:txBody>
      </p:sp>
      <p:sp>
        <p:nvSpPr>
          <p:cNvPr id="50" name="Text 48"/>
          <p:cNvSpPr/>
          <p:nvPr/>
        </p:nvSpPr>
        <p:spPr>
          <a:xfrm>
            <a:off x="5453291" y="3492512"/>
            <a:ext cx="296916" cy="139654"/>
          </a:xfrm>
          <a:prstGeom prst="rect">
            <a:avLst/>
          </a:prstGeom>
          <a:noFill/>
          <a:ln/>
        </p:spPr>
        <p:txBody>
          <a:bodyPr wrap="none" lIns="0" tIns="0" rIns="0" bIns="0" rtlCol="0" anchor="t"/>
          <a:lstStyle/>
          <a:p>
            <a:pPr algn="l" indent="0" marL="0">
              <a:lnSpc>
                <a:spcPts val="866"/>
              </a:lnSpc>
              <a:buNone/>
            </a:pPr>
            <a:r>
              <a:rPr lang="en-US" sz="800" dirty="0">
                <a:solidFill>
                  <a:srgbClr val="FFD29E"/>
                </a:solidFill>
                <a:latin typeface="Courier New" pitchFamily="34" charset="0"/>
                <a:ea typeface="Courier New" pitchFamily="34" charset="-122"/>
                <a:cs typeface="Courier New" pitchFamily="34" charset="-120"/>
              </a:rPr>
              <a:t>Path</a:t>
            </a:r>
            <a:endParaRPr lang="en-US" sz="800" dirty="0"/>
          </a:p>
        </p:txBody>
      </p:sp>
      <p:sp>
        <p:nvSpPr>
          <p:cNvPr id="51" name="Text 49"/>
          <p:cNvSpPr/>
          <p:nvPr/>
        </p:nvSpPr>
        <p:spPr>
          <a:xfrm>
            <a:off x="6088197" y="3492512"/>
            <a:ext cx="347269" cy="139654"/>
          </a:xfrm>
          <a:prstGeom prst="rect">
            <a:avLst/>
          </a:prstGeom>
          <a:noFill/>
          <a:ln/>
        </p:spPr>
        <p:txBody>
          <a:bodyPr wrap="none" lIns="0" tIns="0" rIns="0" bIns="0" rtlCol="0" anchor="t"/>
          <a:lstStyle/>
          <a:p>
            <a:pPr algn="l" indent="0" marL="0">
              <a:lnSpc>
                <a:spcPts val="866"/>
              </a:lnSpc>
              <a:buNone/>
            </a:pPr>
            <a:r>
              <a:rPr lang="en-US" sz="800" dirty="0">
                <a:solidFill>
                  <a:srgbClr val="FFD29E"/>
                </a:solidFill>
                <a:latin typeface="Courier New" pitchFamily="34" charset="0"/>
                <a:ea typeface="Courier New" pitchFamily="34" charset="-122"/>
                <a:cs typeface="Courier New" pitchFamily="34" charset="-120"/>
              </a:rPr>
              <a:t>rglob</a:t>
            </a:r>
            <a:endParaRPr lang="en-US" sz="800" dirty="0"/>
          </a:p>
        </p:txBody>
      </p:sp>
      <p:sp>
        <p:nvSpPr>
          <p:cNvPr id="52" name="Text 50"/>
          <p:cNvSpPr/>
          <p:nvPr/>
        </p:nvSpPr>
        <p:spPr>
          <a:xfrm>
            <a:off x="6320949" y="3492512"/>
            <a:ext cx="376042" cy="91440"/>
          </a:xfrm>
          <a:prstGeom prst="rect">
            <a:avLst/>
          </a:prstGeom>
          <a:noFill/>
          <a:ln/>
        </p:spPr>
        <p:txBody>
          <a:bodyPr wrap="none" lIns="0" tIns="0" rIns="0" bIns="0" rtlCol="0" anchor="t">
            <a:normAutofit/>
          </a:bodyPr>
          <a:lstStyle/>
          <a:p>
            <a:pPr algn="l" indent="0" marL="0">
              <a:lnSpc>
                <a:spcPts val="866"/>
              </a:lnSpc>
              <a:buNone/>
            </a:pPr>
            <a:r>
              <a:rPr lang="en-US" sz="800" dirty="0">
                <a:solidFill>
                  <a:srgbClr val="B6E3A1"/>
                </a:solidFill>
                <a:latin typeface="Courier New" pitchFamily="34" charset="0"/>
                <a:ea typeface="Courier New" pitchFamily="34" charset="-122"/>
                <a:cs typeface="Courier New" pitchFamily="34" charset="-120"/>
              </a:rPr>
              <a:t>"*.py"</a:t>
            </a:r>
            <a:endParaRPr lang="en-US" sz="800" dirty="0"/>
          </a:p>
        </p:txBody>
      </p:sp>
      <p:sp>
        <p:nvSpPr>
          <p:cNvPr id="53" name="Text 51"/>
          <p:cNvSpPr/>
          <p:nvPr/>
        </p:nvSpPr>
        <p:spPr>
          <a:xfrm>
            <a:off x="4869665" y="3602459"/>
            <a:ext cx="222585" cy="139654"/>
          </a:xfrm>
          <a:prstGeom prst="rect">
            <a:avLst/>
          </a:prstGeom>
          <a:noFill/>
          <a:ln/>
        </p:spPr>
        <p:txBody>
          <a:bodyPr wrap="none" lIns="0" tIns="0" rIns="0" bIns="0" rtlCol="0" anchor="t"/>
          <a:lstStyle/>
          <a:p>
            <a:pPr algn="l" indent="0" marL="0">
              <a:lnSpc>
                <a:spcPts val="866"/>
              </a:lnSpc>
              <a:buNone/>
            </a:pPr>
            <a:r>
              <a:rPr lang="en-US" sz="800" dirty="0">
                <a:solidFill>
                  <a:srgbClr val="FF7A1A"/>
                </a:solidFill>
                <a:latin typeface="Courier New" pitchFamily="34" charset="0"/>
                <a:ea typeface="Courier New" pitchFamily="34" charset="-122"/>
                <a:cs typeface="Courier New" pitchFamily="34" charset="-120"/>
              </a:rPr>
              <a:t>for</a:t>
            </a:r>
            <a:endParaRPr lang="en-US" sz="800" dirty="0"/>
          </a:p>
        </p:txBody>
      </p:sp>
      <p:sp>
        <p:nvSpPr>
          <p:cNvPr id="54" name="Text 52"/>
          <p:cNvSpPr/>
          <p:nvPr/>
        </p:nvSpPr>
        <p:spPr>
          <a:xfrm>
            <a:off x="5537344" y="3602459"/>
            <a:ext cx="160244" cy="139654"/>
          </a:xfrm>
          <a:prstGeom prst="rect">
            <a:avLst/>
          </a:prstGeom>
          <a:noFill/>
          <a:ln/>
        </p:spPr>
        <p:txBody>
          <a:bodyPr wrap="none" lIns="0" tIns="0" rIns="0" bIns="0" rtlCol="0" anchor="t"/>
          <a:lstStyle/>
          <a:p>
            <a:pPr algn="l" indent="0" marL="0">
              <a:lnSpc>
                <a:spcPts val="866"/>
              </a:lnSpc>
              <a:buNone/>
            </a:pPr>
            <a:r>
              <a:rPr lang="en-US" sz="800" dirty="0">
                <a:solidFill>
                  <a:srgbClr val="FF7A1A"/>
                </a:solidFill>
                <a:latin typeface="Courier New" pitchFamily="34" charset="0"/>
                <a:ea typeface="Courier New" pitchFamily="34" charset="-122"/>
                <a:cs typeface="Courier New" pitchFamily="34" charset="-120"/>
              </a:rPr>
              <a:t>in</a:t>
            </a:r>
            <a:endParaRPr lang="en-US" sz="800" dirty="0"/>
          </a:p>
        </p:txBody>
      </p:sp>
      <p:sp>
        <p:nvSpPr>
          <p:cNvPr id="55" name="Text 53"/>
          <p:cNvSpPr/>
          <p:nvPr/>
        </p:nvSpPr>
        <p:spPr>
          <a:xfrm>
            <a:off x="5672472" y="3602459"/>
            <a:ext cx="505670" cy="91440"/>
          </a:xfrm>
          <a:prstGeom prst="rect">
            <a:avLst/>
          </a:prstGeom>
          <a:noFill/>
          <a:ln/>
        </p:spPr>
        <p:txBody>
          <a:bodyPr wrap="none" lIns="0" tIns="0" rIns="0" bIns="0" rtlCol="0" anchor="t">
            <a:normAutofit/>
          </a:bodyPr>
          <a:lstStyle/>
          <a:p>
            <a:pPr algn="l" indent="0" marL="0">
              <a:lnSpc>
                <a:spcPts val="866"/>
              </a:lnSpc>
              <a:buNone/>
            </a:pPr>
            <a:r>
              <a:rPr lang="en-US" sz="619" dirty="0">
                <a:solidFill>
                  <a:srgbClr val="FFD29E"/>
                </a:solidFill>
                <a:latin typeface="Courier New" pitchFamily="34" charset="0"/>
                <a:ea typeface="Courier New" pitchFamily="34" charset="-122"/>
                <a:cs typeface="Courier New" pitchFamily="34" charset="-120"/>
              </a:rPr>
              <a:t>enumerate</a:t>
            </a:r>
            <a:endParaRPr lang="en-US" sz="619" dirty="0"/>
          </a:p>
        </p:txBody>
      </p:sp>
      <p:sp>
        <p:nvSpPr>
          <p:cNvPr id="56" name="Text 54"/>
          <p:cNvSpPr/>
          <p:nvPr/>
        </p:nvSpPr>
        <p:spPr>
          <a:xfrm>
            <a:off x="5240275" y="3712406"/>
            <a:ext cx="505670" cy="139654"/>
          </a:xfrm>
          <a:prstGeom prst="rect">
            <a:avLst/>
          </a:prstGeom>
          <a:noFill/>
          <a:ln/>
        </p:spPr>
        <p:txBody>
          <a:bodyPr wrap="none" lIns="0" tIns="0" rIns="0" bIns="0" rtlCol="0" anchor="t"/>
          <a:lstStyle/>
          <a:p>
            <a:pPr algn="l" indent="0" marL="0">
              <a:lnSpc>
                <a:spcPts val="866"/>
              </a:lnSpc>
              <a:buNone/>
            </a:pPr>
            <a:r>
              <a:rPr lang="en-US" sz="619" dirty="0">
                <a:solidFill>
                  <a:srgbClr val="FFD29E"/>
                </a:solidFill>
                <a:latin typeface="Courier New" pitchFamily="34" charset="0"/>
                <a:ea typeface="Courier New" pitchFamily="34" charset="-122"/>
                <a:cs typeface="Courier New" pitchFamily="34" charset="-120"/>
              </a:rPr>
              <a:t>read_text</a:t>
            </a:r>
            <a:endParaRPr lang="en-US" sz="619" dirty="0"/>
          </a:p>
        </p:txBody>
      </p:sp>
      <p:sp>
        <p:nvSpPr>
          <p:cNvPr id="57" name="Text 55"/>
          <p:cNvSpPr/>
          <p:nvPr/>
        </p:nvSpPr>
        <p:spPr>
          <a:xfrm>
            <a:off x="5908216" y="3712406"/>
            <a:ext cx="449485" cy="139654"/>
          </a:xfrm>
          <a:prstGeom prst="rect">
            <a:avLst/>
          </a:prstGeom>
          <a:noFill/>
          <a:ln/>
        </p:spPr>
        <p:txBody>
          <a:bodyPr wrap="none" lIns="0" tIns="0" rIns="0" bIns="0" rtlCol="0" anchor="t"/>
          <a:lstStyle/>
          <a:p>
            <a:pPr algn="l" indent="0" marL="0">
              <a:lnSpc>
                <a:spcPts val="866"/>
              </a:lnSpc>
              <a:buNone/>
            </a:pPr>
            <a:r>
              <a:rPr lang="en-US" sz="619" dirty="0">
                <a:solidFill>
                  <a:srgbClr val="B6E3A1"/>
                </a:solidFill>
                <a:latin typeface="Courier New" pitchFamily="34" charset="0"/>
                <a:ea typeface="Courier New" pitchFamily="34" charset="-122"/>
                <a:cs typeface="Courier New" pitchFamily="34" charset="-120"/>
              </a:rPr>
              <a:t>"ignore"</a:t>
            </a:r>
            <a:endParaRPr lang="en-US" sz="619" dirty="0"/>
          </a:p>
        </p:txBody>
      </p:sp>
      <p:sp>
        <p:nvSpPr>
          <p:cNvPr id="58" name="Text 56"/>
          <p:cNvSpPr/>
          <p:nvPr/>
        </p:nvSpPr>
        <p:spPr>
          <a:xfrm>
            <a:off x="6291850" y="3712406"/>
            <a:ext cx="509678" cy="139654"/>
          </a:xfrm>
          <a:prstGeom prst="rect">
            <a:avLst/>
          </a:prstGeom>
          <a:noFill/>
          <a:ln/>
        </p:spPr>
        <p:txBody>
          <a:bodyPr wrap="none" lIns="0" tIns="0" rIns="0" bIns="0" rtlCol="0" anchor="t"/>
          <a:lstStyle/>
          <a:p>
            <a:pPr algn="l" indent="0" marL="0">
              <a:lnSpc>
                <a:spcPts val="866"/>
              </a:lnSpc>
              <a:buNone/>
            </a:pPr>
            <a:r>
              <a:rPr lang="en-US" sz="619" dirty="0">
                <a:solidFill>
                  <a:srgbClr val="FFD29E"/>
                </a:solidFill>
                <a:latin typeface="Courier New" pitchFamily="34" charset="0"/>
                <a:ea typeface="Courier New" pitchFamily="34" charset="-122"/>
                <a:cs typeface="Courier New" pitchFamily="34" charset="-120"/>
              </a:rPr>
              <a:t>splitlines</a:t>
            </a:r>
            <a:endParaRPr lang="en-US" sz="619" dirty="0"/>
          </a:p>
        </p:txBody>
      </p:sp>
      <p:sp>
        <p:nvSpPr>
          <p:cNvPr id="59" name="Text 57"/>
          <p:cNvSpPr/>
          <p:nvPr/>
        </p:nvSpPr>
        <p:spPr>
          <a:xfrm>
            <a:off x="7086935" y="3712406"/>
            <a:ext cx="91440" cy="139654"/>
          </a:xfrm>
          <a:prstGeom prst="rect">
            <a:avLst/>
          </a:prstGeom>
          <a:noFill/>
          <a:ln/>
        </p:spPr>
        <p:txBody>
          <a:bodyPr wrap="none" lIns="0" tIns="0" rIns="0" bIns="0" rtlCol="0" anchor="t"/>
          <a:lstStyle/>
          <a:p>
            <a:pPr algn="l" indent="0" marL="0">
              <a:lnSpc>
                <a:spcPts val="866"/>
              </a:lnSpc>
              <a:buNone/>
            </a:pPr>
            <a:r>
              <a:rPr lang="en-US" sz="800" dirty="0">
                <a:solidFill>
                  <a:srgbClr val="FF9D5C"/>
                </a:solidFill>
                <a:latin typeface="Liberation Sans Narrow" pitchFamily="34" charset="0"/>
                <a:ea typeface="Liberation Sans Narrow" pitchFamily="34" charset="-122"/>
                <a:cs typeface="Liberation Sans Narrow" pitchFamily="34" charset="-120"/>
              </a:rPr>
              <a:t>1</a:t>
            </a:r>
            <a:endParaRPr lang="en-US" sz="800" dirty="0"/>
          </a:p>
        </p:txBody>
      </p:sp>
      <p:sp>
        <p:nvSpPr>
          <p:cNvPr id="60" name="Text 58"/>
          <p:cNvSpPr/>
          <p:nvPr/>
        </p:nvSpPr>
        <p:spPr>
          <a:xfrm>
            <a:off x="5026566" y="3932300"/>
            <a:ext cx="160244" cy="139654"/>
          </a:xfrm>
          <a:prstGeom prst="rect">
            <a:avLst/>
          </a:prstGeom>
          <a:noFill/>
          <a:ln/>
        </p:spPr>
        <p:txBody>
          <a:bodyPr wrap="none" lIns="0" tIns="0" rIns="0" bIns="0" rtlCol="0" anchor="t"/>
          <a:lstStyle/>
          <a:p>
            <a:pPr algn="l" indent="0" marL="0">
              <a:lnSpc>
                <a:spcPts val="866"/>
              </a:lnSpc>
              <a:buNone/>
            </a:pPr>
            <a:r>
              <a:rPr lang="en-US" sz="800" dirty="0">
                <a:solidFill>
                  <a:srgbClr val="FF7A1A"/>
                </a:solidFill>
                <a:latin typeface="Courier New" pitchFamily="34" charset="0"/>
                <a:ea typeface="Courier New" pitchFamily="34" charset="-122"/>
                <a:cs typeface="Courier New" pitchFamily="34" charset="-120"/>
              </a:rPr>
              <a:t>if</a:t>
            </a:r>
            <a:endParaRPr lang="en-US" sz="800" dirty="0"/>
          </a:p>
        </p:txBody>
      </p:sp>
      <p:sp>
        <p:nvSpPr>
          <p:cNvPr id="61" name="Text 59"/>
          <p:cNvSpPr/>
          <p:nvPr/>
        </p:nvSpPr>
        <p:spPr>
          <a:xfrm>
            <a:off x="5279566" y="3932300"/>
            <a:ext cx="337114" cy="139654"/>
          </a:xfrm>
          <a:prstGeom prst="rect">
            <a:avLst/>
          </a:prstGeom>
          <a:noFill/>
          <a:ln/>
        </p:spPr>
        <p:txBody>
          <a:bodyPr wrap="none" lIns="0" tIns="0" rIns="0" bIns="0" rtlCol="0" anchor="t"/>
          <a:lstStyle/>
          <a:p>
            <a:pPr algn="l" indent="0" marL="0">
              <a:lnSpc>
                <a:spcPts val="866"/>
              </a:lnSpc>
              <a:buNone/>
            </a:pPr>
            <a:r>
              <a:rPr lang="en-US" sz="619" dirty="0">
                <a:solidFill>
                  <a:srgbClr val="FFD29E"/>
                </a:solidFill>
                <a:latin typeface="Courier New" pitchFamily="34" charset="0"/>
                <a:ea typeface="Courier New" pitchFamily="34" charset="-122"/>
                <a:cs typeface="Courier New" pitchFamily="34" charset="-120"/>
              </a:rPr>
              <a:t>search</a:t>
            </a:r>
            <a:endParaRPr lang="en-US" sz="619" dirty="0"/>
          </a:p>
        </p:txBody>
      </p:sp>
      <p:sp>
        <p:nvSpPr>
          <p:cNvPr id="62" name="Text 60"/>
          <p:cNvSpPr/>
          <p:nvPr/>
        </p:nvSpPr>
        <p:spPr>
          <a:xfrm>
            <a:off x="5593891" y="3932300"/>
            <a:ext cx="982266" cy="91440"/>
          </a:xfrm>
          <a:prstGeom prst="rect">
            <a:avLst/>
          </a:prstGeom>
          <a:noFill/>
          <a:ln/>
        </p:spPr>
        <p:txBody>
          <a:bodyPr wrap="none" lIns="0" tIns="0" rIns="0" bIns="0" rtlCol="0" anchor="t">
            <a:normAutofit/>
          </a:bodyPr>
          <a:lstStyle/>
          <a:p>
            <a:pPr algn="l" indent="0" marL="0">
              <a:lnSpc>
                <a:spcPts val="866"/>
              </a:lnSpc>
              <a:buNone/>
            </a:pPr>
            <a:r>
              <a:rPr lang="en-US" sz="619" dirty="0">
                <a:solidFill>
                  <a:srgbClr val="B6E3A1"/>
                </a:solidFill>
                <a:latin typeface="Courier New" pitchFamily="34" charset="0"/>
                <a:ea typeface="Courier New" pitchFamily="34" charset="-122"/>
                <a:cs typeface="Courier New" pitchFamily="34" charset="-120"/>
              </a:rPr>
              <a:t>"#\s*(TODO|FIXME)\b"</a:t>
            </a:r>
            <a:endParaRPr lang="en-US" sz="619" dirty="0"/>
          </a:p>
        </p:txBody>
      </p:sp>
      <p:sp>
        <p:nvSpPr>
          <p:cNvPr id="63" name="Text 61"/>
          <p:cNvSpPr/>
          <p:nvPr/>
        </p:nvSpPr>
        <p:spPr>
          <a:xfrm>
            <a:off x="5397438" y="4042246"/>
            <a:ext cx="337114" cy="139654"/>
          </a:xfrm>
          <a:prstGeom prst="rect">
            <a:avLst/>
          </a:prstGeom>
          <a:noFill/>
          <a:ln/>
        </p:spPr>
        <p:txBody>
          <a:bodyPr wrap="none" lIns="0" tIns="0" rIns="0" bIns="0" rtlCol="0" anchor="t"/>
          <a:lstStyle/>
          <a:p>
            <a:pPr algn="l" indent="0" marL="0">
              <a:lnSpc>
                <a:spcPts val="866"/>
              </a:lnSpc>
              <a:buNone/>
            </a:pPr>
            <a:r>
              <a:rPr lang="en-US" sz="619" dirty="0">
                <a:solidFill>
                  <a:srgbClr val="FFD29E"/>
                </a:solidFill>
                <a:latin typeface="Courier New" pitchFamily="34" charset="0"/>
                <a:ea typeface="Courier New" pitchFamily="34" charset="-122"/>
                <a:cs typeface="Courier New" pitchFamily="34" charset="-120"/>
              </a:rPr>
              <a:t>append</a:t>
            </a:r>
            <a:endParaRPr lang="en-US" sz="619" dirty="0"/>
          </a:p>
        </p:txBody>
      </p:sp>
      <p:sp>
        <p:nvSpPr>
          <p:cNvPr id="64" name="Text 62"/>
          <p:cNvSpPr/>
          <p:nvPr/>
        </p:nvSpPr>
        <p:spPr>
          <a:xfrm>
            <a:off x="5711763" y="4042246"/>
            <a:ext cx="1400318" cy="91440"/>
          </a:xfrm>
          <a:prstGeom prst="rect">
            <a:avLst/>
          </a:prstGeom>
          <a:noFill/>
          <a:ln/>
        </p:spPr>
        <p:txBody>
          <a:bodyPr wrap="none" lIns="0" tIns="0" rIns="0" bIns="0" rtlCol="0" anchor="t">
            <a:normAutofit/>
          </a:bodyPr>
          <a:lstStyle/>
          <a:p>
            <a:pPr algn="l" indent="0" marL="0">
              <a:lnSpc>
                <a:spcPts val="866"/>
              </a:lnSpc>
              <a:buNone/>
            </a:pPr>
            <a:r>
              <a:rPr lang="en-US" sz="619" dirty="0">
                <a:solidFill>
                  <a:srgbClr val="B6E3A1"/>
                </a:solidFill>
                <a:latin typeface="Courier New" pitchFamily="34" charset="0"/>
                <a:ea typeface="Courier New" pitchFamily="34" charset="-122"/>
                <a:cs typeface="Courier New" pitchFamily="34" charset="-120"/>
              </a:rPr>
              <a:t>"{path}:{lineno}  {line.strip()}"</a:t>
            </a:r>
            <a:endParaRPr lang="en-US" sz="619" dirty="0"/>
          </a:p>
        </p:txBody>
      </p:sp>
      <p:sp>
        <p:nvSpPr>
          <p:cNvPr id="65" name="Text 63"/>
          <p:cNvSpPr/>
          <p:nvPr/>
        </p:nvSpPr>
        <p:spPr>
          <a:xfrm>
            <a:off x="4712241" y="4152193"/>
            <a:ext cx="160244" cy="139654"/>
          </a:xfrm>
          <a:prstGeom prst="rect">
            <a:avLst/>
          </a:prstGeom>
          <a:noFill/>
          <a:ln/>
        </p:spPr>
        <p:txBody>
          <a:bodyPr wrap="none" lIns="0" tIns="0" rIns="0" bIns="0" rtlCol="0" anchor="t"/>
          <a:lstStyle/>
          <a:p>
            <a:pPr algn="l" indent="0" marL="0">
              <a:lnSpc>
                <a:spcPts val="866"/>
              </a:lnSpc>
              <a:buNone/>
            </a:pPr>
            <a:r>
              <a:rPr lang="en-US" sz="800" dirty="0">
                <a:solidFill>
                  <a:srgbClr val="FF7A1A"/>
                </a:solidFill>
                <a:latin typeface="Courier New" pitchFamily="34" charset="0"/>
                <a:ea typeface="Courier New" pitchFamily="34" charset="-122"/>
                <a:cs typeface="Courier New" pitchFamily="34" charset="-120"/>
              </a:rPr>
              <a:t>if</a:t>
            </a:r>
            <a:endParaRPr lang="en-US" sz="800" dirty="0"/>
          </a:p>
        </p:txBody>
      </p:sp>
      <p:sp>
        <p:nvSpPr>
          <p:cNvPr id="66" name="Text 64"/>
          <p:cNvSpPr/>
          <p:nvPr/>
        </p:nvSpPr>
        <p:spPr>
          <a:xfrm>
            <a:off x="4830374" y="4152193"/>
            <a:ext cx="222585" cy="91440"/>
          </a:xfrm>
          <a:prstGeom prst="rect">
            <a:avLst/>
          </a:prstGeom>
          <a:noFill/>
          <a:ln/>
        </p:spPr>
        <p:txBody>
          <a:bodyPr wrap="none" lIns="0" tIns="0" rIns="0" bIns="0" rtlCol="0" anchor="t">
            <a:normAutofit/>
          </a:bodyPr>
          <a:lstStyle/>
          <a:p>
            <a:pPr algn="l" indent="0" marL="0">
              <a:lnSpc>
                <a:spcPts val="866"/>
              </a:lnSpc>
              <a:buNone/>
            </a:pPr>
            <a:r>
              <a:rPr lang="en-US" sz="800" dirty="0">
                <a:solidFill>
                  <a:srgbClr val="FF7A1A"/>
                </a:solidFill>
                <a:latin typeface="Courier New" pitchFamily="34" charset="0"/>
                <a:ea typeface="Courier New" pitchFamily="34" charset="-122"/>
                <a:cs typeface="Courier New" pitchFamily="34" charset="-120"/>
              </a:rPr>
              <a:t>not</a:t>
            </a:r>
            <a:endParaRPr lang="en-US" sz="800" dirty="0"/>
          </a:p>
        </p:txBody>
      </p:sp>
      <p:sp>
        <p:nvSpPr>
          <p:cNvPr id="67" name="Text 65"/>
          <p:cNvSpPr/>
          <p:nvPr/>
        </p:nvSpPr>
        <p:spPr>
          <a:xfrm>
            <a:off x="4886660" y="4262140"/>
            <a:ext cx="337114" cy="139654"/>
          </a:xfrm>
          <a:prstGeom prst="rect">
            <a:avLst/>
          </a:prstGeom>
          <a:noFill/>
          <a:ln/>
        </p:spPr>
        <p:txBody>
          <a:bodyPr wrap="none" lIns="0" tIns="0" rIns="0" bIns="0" rtlCol="0" anchor="t"/>
          <a:lstStyle/>
          <a:p>
            <a:pPr algn="l" indent="0" marL="0">
              <a:lnSpc>
                <a:spcPts val="866"/>
              </a:lnSpc>
              <a:buNone/>
            </a:pPr>
            <a:r>
              <a:rPr lang="en-US" sz="619" dirty="0">
                <a:solidFill>
                  <a:srgbClr val="FF7A1A"/>
                </a:solidFill>
                <a:latin typeface="Courier New" pitchFamily="34" charset="0"/>
                <a:ea typeface="Courier New" pitchFamily="34" charset="-122"/>
                <a:cs typeface="Courier New" pitchFamily="34" charset="-120"/>
              </a:rPr>
              <a:t>return</a:t>
            </a:r>
            <a:endParaRPr lang="en-US" sz="619" dirty="0"/>
          </a:p>
        </p:txBody>
      </p:sp>
      <p:sp>
        <p:nvSpPr>
          <p:cNvPr id="68" name="Text 66"/>
          <p:cNvSpPr/>
          <p:nvPr/>
        </p:nvSpPr>
        <p:spPr>
          <a:xfrm>
            <a:off x="5161694" y="4262140"/>
            <a:ext cx="1442752" cy="91440"/>
          </a:xfrm>
          <a:prstGeom prst="rect">
            <a:avLst/>
          </a:prstGeom>
          <a:noFill/>
          <a:ln/>
        </p:spPr>
        <p:txBody>
          <a:bodyPr wrap="none" lIns="0" tIns="0" rIns="0" bIns="0" rtlCol="0" anchor="t">
            <a:normAutofit/>
          </a:bodyPr>
          <a:lstStyle/>
          <a:p>
            <a:pPr algn="l" indent="0" marL="0">
              <a:lnSpc>
                <a:spcPts val="866"/>
              </a:lnSpc>
              <a:buNone/>
            </a:pPr>
            <a:r>
              <a:rPr lang="en-US" sz="619" dirty="0">
                <a:solidFill>
                  <a:srgbClr val="B6E3A1"/>
                </a:solidFill>
                <a:latin typeface="Courier New" pitchFamily="34" charset="0"/>
                <a:ea typeface="Courier New" pitchFamily="34" charset="-122"/>
                <a:cs typeface="Courier New" pitchFamily="34" charset="-120"/>
              </a:rPr>
              <a:t>"No TODO or FIXME comments found."</a:t>
            </a:r>
            <a:endParaRPr lang="en-US" sz="619" dirty="0"/>
          </a:p>
        </p:txBody>
      </p:sp>
      <p:sp>
        <p:nvSpPr>
          <p:cNvPr id="69" name="Text 67"/>
          <p:cNvSpPr/>
          <p:nvPr/>
        </p:nvSpPr>
        <p:spPr>
          <a:xfrm>
            <a:off x="4729497" y="4372087"/>
            <a:ext cx="337114" cy="139654"/>
          </a:xfrm>
          <a:prstGeom prst="rect">
            <a:avLst/>
          </a:prstGeom>
          <a:noFill/>
          <a:ln/>
        </p:spPr>
        <p:txBody>
          <a:bodyPr wrap="none" lIns="0" tIns="0" rIns="0" bIns="0" rtlCol="0" anchor="t"/>
          <a:lstStyle/>
          <a:p>
            <a:pPr algn="l" indent="0" marL="0">
              <a:lnSpc>
                <a:spcPts val="866"/>
              </a:lnSpc>
              <a:buNone/>
            </a:pPr>
            <a:r>
              <a:rPr lang="en-US" sz="619" dirty="0">
                <a:solidFill>
                  <a:srgbClr val="FF7A1A"/>
                </a:solidFill>
                <a:latin typeface="Courier New" pitchFamily="34" charset="0"/>
                <a:ea typeface="Courier New" pitchFamily="34" charset="-122"/>
                <a:cs typeface="Courier New" pitchFamily="34" charset="-120"/>
              </a:rPr>
              <a:t>return</a:t>
            </a:r>
            <a:endParaRPr lang="en-US" sz="619" dirty="0"/>
          </a:p>
        </p:txBody>
      </p:sp>
      <p:sp>
        <p:nvSpPr>
          <p:cNvPr id="70" name="Text 68"/>
          <p:cNvSpPr/>
          <p:nvPr/>
        </p:nvSpPr>
        <p:spPr>
          <a:xfrm>
            <a:off x="5043822" y="4372087"/>
            <a:ext cx="1080492" cy="139654"/>
          </a:xfrm>
          <a:prstGeom prst="rect">
            <a:avLst/>
          </a:prstGeom>
          <a:noFill/>
          <a:ln/>
        </p:spPr>
        <p:txBody>
          <a:bodyPr wrap="none" lIns="0" tIns="0" rIns="0" bIns="0" rtlCol="0" anchor="t"/>
          <a:lstStyle/>
          <a:p>
            <a:pPr algn="l" indent="0" marL="0">
              <a:lnSpc>
                <a:spcPts val="866"/>
              </a:lnSpc>
              <a:buNone/>
            </a:pPr>
            <a:r>
              <a:rPr lang="en-US" sz="619" dirty="0">
                <a:solidFill>
                  <a:srgbClr val="B6E3A1"/>
                </a:solidFill>
                <a:latin typeface="Courier New" pitchFamily="34" charset="0"/>
                <a:ea typeface="Courier New" pitchFamily="34" charset="-122"/>
                <a:cs typeface="Courier New" pitchFamily="34" charset="-120"/>
              </a:rPr>
              <a:t>"{len(hits)} found:\n"</a:t>
            </a:r>
            <a:endParaRPr lang="en-US" sz="619" dirty="0"/>
          </a:p>
        </p:txBody>
      </p:sp>
      <p:sp>
        <p:nvSpPr>
          <p:cNvPr id="71" name="Text 69"/>
          <p:cNvSpPr/>
          <p:nvPr/>
        </p:nvSpPr>
        <p:spPr>
          <a:xfrm>
            <a:off x="6021943" y="4372087"/>
            <a:ext cx="259751" cy="139654"/>
          </a:xfrm>
          <a:prstGeom prst="rect">
            <a:avLst/>
          </a:prstGeom>
          <a:noFill/>
          <a:ln/>
        </p:spPr>
        <p:txBody>
          <a:bodyPr wrap="none" lIns="0" tIns="0" rIns="0" bIns="0" rtlCol="0" anchor="t"/>
          <a:lstStyle/>
          <a:p>
            <a:pPr algn="l" indent="0" marL="0">
              <a:lnSpc>
                <a:spcPts val="866"/>
              </a:lnSpc>
              <a:buNone/>
            </a:pPr>
            <a:r>
              <a:rPr lang="en-US" sz="800" dirty="0">
                <a:solidFill>
                  <a:srgbClr val="B6E3A1"/>
                </a:solidFill>
                <a:latin typeface="Courier New" pitchFamily="34" charset="0"/>
                <a:ea typeface="Courier New" pitchFamily="34" charset="-122"/>
                <a:cs typeface="Courier New" pitchFamily="34" charset="-120"/>
              </a:rPr>
              <a:t>"\n"</a:t>
            </a:r>
            <a:endParaRPr lang="en-US" sz="800" dirty="0"/>
          </a:p>
        </p:txBody>
      </p:sp>
      <p:sp>
        <p:nvSpPr>
          <p:cNvPr id="72" name="Text 70"/>
          <p:cNvSpPr/>
          <p:nvPr/>
        </p:nvSpPr>
        <p:spPr>
          <a:xfrm>
            <a:off x="6205808" y="4372087"/>
            <a:ext cx="284927" cy="139654"/>
          </a:xfrm>
          <a:prstGeom prst="rect">
            <a:avLst/>
          </a:prstGeom>
          <a:noFill/>
          <a:ln/>
        </p:spPr>
        <p:txBody>
          <a:bodyPr wrap="none" lIns="0" tIns="0" rIns="0" bIns="0" rtlCol="0" anchor="t"/>
          <a:lstStyle/>
          <a:p>
            <a:pPr algn="l" indent="0" marL="0">
              <a:lnSpc>
                <a:spcPts val="866"/>
              </a:lnSpc>
              <a:buNone/>
            </a:pPr>
            <a:r>
              <a:rPr lang="en-US" sz="800" dirty="0">
                <a:solidFill>
                  <a:srgbClr val="FFD29E"/>
                </a:solidFill>
                <a:latin typeface="Courier New" pitchFamily="34" charset="0"/>
                <a:ea typeface="Courier New" pitchFamily="34" charset="-122"/>
                <a:cs typeface="Courier New" pitchFamily="34" charset="-120"/>
              </a:rPr>
              <a:t>join</a:t>
            </a:r>
            <a:endParaRPr lang="en-US" sz="800" dirty="0"/>
          </a:p>
        </p:txBody>
      </p:sp>
      <p:sp>
        <p:nvSpPr>
          <p:cNvPr id="73" name="Text 71"/>
          <p:cNvSpPr/>
          <p:nvPr/>
        </p:nvSpPr>
        <p:spPr>
          <a:xfrm>
            <a:off x="4555078" y="4701927"/>
            <a:ext cx="160244" cy="91440"/>
          </a:xfrm>
          <a:prstGeom prst="rect">
            <a:avLst/>
          </a:prstGeom>
          <a:noFill/>
          <a:ln/>
        </p:spPr>
        <p:txBody>
          <a:bodyPr wrap="none" lIns="0" tIns="0" rIns="0" bIns="0" rtlCol="0" anchor="t"/>
          <a:lstStyle/>
          <a:p>
            <a:pPr algn="l" indent="0" marL="0">
              <a:lnSpc>
                <a:spcPts val="866"/>
              </a:lnSpc>
              <a:buNone/>
            </a:pPr>
            <a:r>
              <a:rPr lang="en-US" sz="800" dirty="0">
                <a:solidFill>
                  <a:srgbClr val="FF7A1A"/>
                </a:solidFill>
                <a:latin typeface="Courier New" pitchFamily="34" charset="0"/>
                <a:ea typeface="Courier New" pitchFamily="34" charset="-122"/>
                <a:cs typeface="Courier New" pitchFamily="34" charset="-120"/>
              </a:rPr>
              <a:t>if</a:t>
            </a:r>
            <a:endParaRPr lang="en-US" sz="800" dirty="0"/>
          </a:p>
        </p:txBody>
      </p:sp>
      <p:sp>
        <p:nvSpPr>
          <p:cNvPr id="74" name="Text 72"/>
          <p:cNvSpPr/>
          <p:nvPr/>
        </p:nvSpPr>
        <p:spPr>
          <a:xfrm>
            <a:off x="5161694" y="4701927"/>
            <a:ext cx="491133" cy="91440"/>
          </a:xfrm>
          <a:prstGeom prst="rect">
            <a:avLst/>
          </a:prstGeom>
          <a:noFill/>
          <a:ln/>
        </p:spPr>
        <p:txBody>
          <a:bodyPr wrap="none" lIns="0" tIns="0" rIns="0" bIns="0" rtlCol="0" anchor="t"/>
          <a:lstStyle/>
          <a:p>
            <a:pPr algn="l" indent="0" marL="0">
              <a:lnSpc>
                <a:spcPts val="866"/>
              </a:lnSpc>
              <a:buNone/>
            </a:pPr>
            <a:r>
              <a:rPr lang="en-US" sz="619" dirty="0">
                <a:solidFill>
                  <a:srgbClr val="B6E3A1"/>
                </a:solidFill>
                <a:latin typeface="Courier New" pitchFamily="34" charset="0"/>
                <a:ea typeface="Courier New" pitchFamily="34" charset="-122"/>
                <a:cs typeface="Courier New" pitchFamily="34" charset="-120"/>
              </a:rPr>
              <a:t>"__main__"</a:t>
            </a:r>
            <a:endParaRPr lang="en-US" sz="619" dirty="0"/>
          </a:p>
        </p:txBody>
      </p:sp>
      <p:sp>
        <p:nvSpPr>
          <p:cNvPr id="75" name="Text 73"/>
          <p:cNvSpPr/>
          <p:nvPr/>
        </p:nvSpPr>
        <p:spPr>
          <a:xfrm>
            <a:off x="4869665" y="4811874"/>
            <a:ext cx="222585" cy="91440"/>
          </a:xfrm>
          <a:prstGeom prst="rect">
            <a:avLst/>
          </a:prstGeom>
          <a:noFill/>
          <a:ln/>
        </p:spPr>
        <p:txBody>
          <a:bodyPr wrap="none" lIns="0" tIns="0" rIns="0" bIns="0" rtlCol="0" anchor="t"/>
          <a:lstStyle/>
          <a:p>
            <a:pPr algn="l" indent="0" marL="0">
              <a:lnSpc>
                <a:spcPts val="866"/>
              </a:lnSpc>
              <a:buNone/>
            </a:pPr>
            <a:r>
              <a:rPr lang="en-US" sz="800" dirty="0">
                <a:solidFill>
                  <a:srgbClr val="FFD29E"/>
                </a:solidFill>
                <a:latin typeface="Courier New" pitchFamily="34" charset="0"/>
                <a:ea typeface="Courier New" pitchFamily="34" charset="-122"/>
                <a:cs typeface="Courier New" pitchFamily="34" charset="-120"/>
              </a:rPr>
              <a:t>run</a:t>
            </a:r>
            <a:endParaRPr lang="en-US" sz="800" dirty="0"/>
          </a:p>
        </p:txBody>
      </p:sp>
      <p:sp>
        <p:nvSpPr>
          <p:cNvPr id="76" name="Text 74"/>
          <p:cNvSpPr/>
          <p:nvPr/>
        </p:nvSpPr>
        <p:spPr>
          <a:xfrm>
            <a:off x="5161694" y="4811874"/>
            <a:ext cx="2278856" cy="91440"/>
          </a:xfrm>
          <a:prstGeom prst="rect">
            <a:avLst/>
          </a:prstGeom>
          <a:noFill/>
          <a:ln/>
        </p:spPr>
        <p:txBody>
          <a:bodyPr wrap="none" lIns="0" tIns="0" rIns="0" bIns="0" rtlCol="0" anchor="t"/>
          <a:lstStyle/>
          <a:p>
            <a:pPr algn="l" indent="0" marL="0">
              <a:lnSpc>
                <a:spcPts val="866"/>
              </a:lnSpc>
              <a:buNone/>
            </a:pPr>
            <a:r>
              <a:rPr lang="en-US" sz="619" i="1" dirty="0">
                <a:solidFill>
                  <a:srgbClr val="71717A"/>
                </a:solidFill>
                <a:latin typeface="Courier New" pitchFamily="34" charset="0"/>
                <a:ea typeface="Courier New" pitchFamily="34" charset="-122"/>
                <a:cs typeface="Courier New" pitchFamily="34" charset="-120"/>
              </a:rPr>
              <a:t># stdio by default -- matches "type": "stdio" in .mcp.json</a:t>
            </a:r>
            <a:endParaRPr lang="en-US" sz="619" dirty="0"/>
          </a:p>
        </p:txBody>
      </p:sp>
      <p:sp>
        <p:nvSpPr>
          <p:cNvPr id="77" name="Text 75"/>
          <p:cNvSpPr/>
          <p:nvPr/>
        </p:nvSpPr>
        <p:spPr>
          <a:xfrm>
            <a:off x="514350" y="4868466"/>
            <a:ext cx="5995057"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EP09 · MCP IN THE REAL WORLD</a:t>
            </a:r>
            <a:endParaRPr lang="en-US" sz="800" dirty="0"/>
          </a:p>
        </p:txBody>
      </p:sp>
      <p:sp>
        <p:nvSpPr>
          <p:cNvPr id="78" name="Text 76"/>
          <p:cNvSpPr/>
          <p:nvPr/>
        </p:nvSpPr>
        <p:spPr>
          <a:xfrm>
            <a:off x="6523695" y="4868466"/>
            <a:ext cx="2440190" cy="164592"/>
          </a:xfrm>
          <a:prstGeom prst="rect">
            <a:avLst/>
          </a:prstGeom>
          <a:noFill/>
          <a:ln/>
        </p:spPr>
        <p:txBody>
          <a:bodyPr wrap="squar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FINAL FILE 3 / 3 · </a:t>
            </a:r>
            <a:pPr algn="l" indent="0" marL="0">
              <a:lnSpc>
                <a:spcPts val="928"/>
              </a:lnSpc>
              <a:buNone/>
            </a:pPr>
            <a:r>
              <a:rPr lang="en-US" sz="800" spc="99" kern="0" dirty="0">
                <a:solidFill>
                  <a:srgbClr val="FF7A1A"/>
                </a:solidFill>
                <a:latin typeface="Courier New" pitchFamily="34" charset="0"/>
                <a:ea typeface="Courier New" pitchFamily="34" charset="-122"/>
                <a:cs typeface="Courier New" pitchFamily="34" charset="-120"/>
              </a:rPr>
              <a:t>repo_facts_server.py</a:t>
            </a:r>
            <a:endParaRPr lang="en-US" sz="800" dirty="0"/>
          </a:p>
        </p:txBody>
      </p:sp>
      <p:sp>
        <p:nvSpPr>
          <p:cNvPr id="79" name="Text 77"/>
          <p:cNvSpPr/>
          <p:nvPr/>
        </p:nvSpPr>
        <p:spPr>
          <a:xfrm>
            <a:off x="2524646" y="2214451"/>
            <a:ext cx="1711933" cy="101798"/>
          </a:xfrm>
          <a:prstGeom prst="rect">
            <a:avLst/>
          </a:prstGeom>
          <a:solidFill>
            <a:srgbClr val="0B0B0D"/>
          </a:solidFill>
          <a:ln/>
        </p:spPr>
        <p:txBody>
          <a:bodyPr wrap="square" rtlCol="0" anchor="ctr"/>
          <a:lstStyle/>
          <a:p>
            <a:pPr indent="0" marL="0">
              <a:buNone/>
            </a:pPr>
            <a:endParaRPr lang="en-US" dirty="0"/>
          </a:p>
        </p:txBody>
      </p:sp>
      <p:sp>
        <p:nvSpPr>
          <p:cNvPr id="80" name="Text 78"/>
          <p:cNvSpPr/>
          <p:nvPr/>
        </p:nvSpPr>
        <p:spPr>
          <a:xfrm>
            <a:off x="2524646" y="2214451"/>
            <a:ext cx="1711933" cy="164592"/>
          </a:xfrm>
          <a:prstGeom prst="rect">
            <a:avLst/>
          </a:prstGeom>
          <a:noFill/>
          <a:ln/>
        </p:spPr>
        <p:txBody>
          <a:bodyPr wrap="square" lIns="57150" tIns="0" rIns="57150" bIns="0" rtlCol="0" anchor="t"/>
          <a:lstStyle/>
          <a:p>
            <a:pPr algn="l" indent="0" marL="0">
              <a:lnSpc>
                <a:spcPts val="802"/>
              </a:lnSpc>
              <a:buNone/>
            </a:pPr>
            <a:r>
              <a:rPr lang="en-US" sz="600" spc="107" kern="0" dirty="0">
                <a:solidFill>
                  <a:srgbClr val="71717A"/>
                </a:solidFill>
                <a:latin typeface="Liberation Sans Narrow" pitchFamily="34" charset="0"/>
                <a:ea typeface="Liberation Sans Narrow" pitchFamily="34" charset="-122"/>
                <a:cs typeface="Liberation Sans Narrow" pitchFamily="34" charset="-120"/>
              </a:rPr>
              <a:t>COL 1 · </a:t>
            </a:r>
            <a:pPr algn="l" indent="0" marL="0">
              <a:lnSpc>
                <a:spcPts val="802"/>
              </a:lnSpc>
              <a:buNone/>
            </a:pPr>
            <a:r>
              <a:rPr lang="en-US" sz="600" spc="107" kern="0" dirty="0">
                <a:solidFill>
                  <a:srgbClr val="FF7A1A"/>
                </a:solidFill>
                <a:latin typeface="Courier New" pitchFamily="34" charset="0"/>
                <a:ea typeface="Courier New" pitchFamily="34" charset="-122"/>
                <a:cs typeface="Courier New" pitchFamily="34" charset="-120"/>
              </a:rPr>
              <a:t>MODULE DOCSTRING + IMPORTS</a:t>
            </a:r>
            <a:endParaRPr lang="en-US" sz="600" dirty="0"/>
          </a:p>
        </p:txBody>
      </p:sp>
      <p:sp>
        <p:nvSpPr>
          <p:cNvPr id="81" name="Text 79"/>
          <p:cNvSpPr/>
          <p:nvPr/>
        </p:nvSpPr>
        <p:spPr>
          <a:xfrm>
            <a:off x="6371109" y="2214451"/>
            <a:ext cx="2186992" cy="101798"/>
          </a:xfrm>
          <a:prstGeom prst="rect">
            <a:avLst/>
          </a:prstGeom>
          <a:solidFill>
            <a:srgbClr val="0B0B0D"/>
          </a:solidFill>
          <a:ln/>
        </p:spPr>
        <p:txBody>
          <a:bodyPr wrap="square" rtlCol="0" anchor="ctr"/>
          <a:lstStyle/>
          <a:p>
            <a:pPr indent="0" marL="0">
              <a:buNone/>
            </a:pPr>
            <a:endParaRPr lang="en-US" dirty="0"/>
          </a:p>
        </p:txBody>
      </p:sp>
      <p:sp>
        <p:nvSpPr>
          <p:cNvPr id="82" name="Text 80"/>
          <p:cNvSpPr/>
          <p:nvPr/>
        </p:nvSpPr>
        <p:spPr>
          <a:xfrm>
            <a:off x="6371109" y="2214451"/>
            <a:ext cx="2186992" cy="164592"/>
          </a:xfrm>
          <a:prstGeom prst="rect">
            <a:avLst/>
          </a:prstGeom>
          <a:noFill/>
          <a:ln/>
        </p:spPr>
        <p:txBody>
          <a:bodyPr wrap="square" lIns="57150" tIns="0" rIns="57150" bIns="0" rtlCol="0" anchor="t"/>
          <a:lstStyle/>
          <a:p>
            <a:pPr algn="l" indent="0" marL="0">
              <a:lnSpc>
                <a:spcPts val="802"/>
              </a:lnSpc>
              <a:buNone/>
            </a:pPr>
            <a:r>
              <a:rPr lang="en-US" sz="600" spc="107" kern="0" dirty="0">
                <a:solidFill>
                  <a:srgbClr val="71717A"/>
                </a:solidFill>
                <a:latin typeface="Liberation Sans Narrow" pitchFamily="34" charset="0"/>
                <a:ea typeface="Liberation Sans Narrow" pitchFamily="34" charset="-122"/>
                <a:cs typeface="Liberation Sans Narrow" pitchFamily="34" charset="-120"/>
              </a:rPr>
              <a:t>COL 2 · </a:t>
            </a:r>
            <a:pPr algn="l" indent="0" marL="0">
              <a:lnSpc>
                <a:spcPts val="802"/>
              </a:lnSpc>
              <a:buNone/>
            </a:pPr>
            <a:r>
              <a:rPr lang="en-US" sz="600" spc="107" kern="0" dirty="0">
                <a:solidFill>
                  <a:srgbClr val="FF7A1A"/>
                </a:solidFill>
                <a:latin typeface="Courier New" pitchFamily="34" charset="0"/>
                <a:ea typeface="Courier New" pitchFamily="34" charset="-122"/>
                <a:cs typeface="Courier New" pitchFamily="34" charset="-120"/>
              </a:rPr>
              <a:t>@MCP.TOOL() + COUNT_TODOS + __MAIN__</a:t>
            </a:r>
            <a:endParaRPr lang="en-US" sz="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257175" y="200025"/>
            <a:ext cx="2232705"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71717A"/>
                </a:solidFill>
                <a:latin typeface="Liberation Sans Narrow" pitchFamily="34" charset="0"/>
                <a:ea typeface="Liberation Sans Narrow" pitchFamily="34" charset="-122"/>
                <a:cs typeface="Liberation Sans Narrow" pitchFamily="34" charset="-120"/>
              </a:rPr>
              <a:t>EP09 </a:t>
            </a:r>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a:t>
            </a:r>
            <a:pPr algn="l" indent="0" marL="0">
              <a:lnSpc>
                <a:spcPts val="928"/>
              </a:lnSpc>
              <a:buNone/>
            </a:pPr>
            <a:r>
              <a:rPr lang="en-US" sz="800" spc="173" kern="0" dirty="0">
                <a:solidFill>
                  <a:srgbClr val="71717A"/>
                </a:solidFill>
                <a:latin typeface="Courier New" pitchFamily="34" charset="0"/>
                <a:ea typeface="Courier New" pitchFamily="34" charset="-122"/>
                <a:cs typeface="Courier New" pitchFamily="34" charset="-120"/>
              </a:rPr>
              <a:t> MCP IN THE REAL WORLD</a:t>
            </a:r>
            <a:endParaRPr lang="en-US" sz="800" dirty="0"/>
          </a:p>
        </p:txBody>
      </p:sp>
      <p:sp>
        <p:nvSpPr>
          <p:cNvPr id="3" name="Text 1"/>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29 / 30</a:t>
            </a:r>
            <a:endParaRPr lang="en-US" sz="800" dirty="0"/>
          </a:p>
        </p:txBody>
      </p:sp>
      <p:sp>
        <p:nvSpPr>
          <p:cNvPr id="4" name="Text 2"/>
          <p:cNvSpPr/>
          <p:nvPr/>
        </p:nvSpPr>
        <p:spPr>
          <a:xfrm>
            <a:off x="4999025" y="3500438"/>
            <a:ext cx="4144975" cy="1643063"/>
          </a:xfrm>
          <a:prstGeom prst="rect">
            <a:avLst/>
          </a:prstGeom>
          <a:noFill/>
          <a:ln/>
        </p:spPr>
        <p:txBody>
          <a:bodyPr wrap="square" lIns="0" tIns="0" rIns="0" bIns="0" rtlCol="0" anchor="t"/>
          <a:lstStyle/>
          <a:p>
            <a:pPr algn="l" indent="0" marL="0">
              <a:lnSpc>
                <a:spcPts val="18000"/>
              </a:lnSpc>
              <a:buNone/>
            </a:pPr>
            <a:r>
              <a:rPr lang="en-US" sz="18000" b="1" dirty="0">
                <a:solidFill>
                  <a:srgbClr val="FF7A1A">
                    <a:alpha val="4000"/>
                  </a:srgbClr>
                </a:solidFill>
                <a:latin typeface="Liberation Sans Narrow" pitchFamily="34" charset="0"/>
                <a:ea typeface="Liberation Sans Narrow" pitchFamily="34" charset="-122"/>
                <a:cs typeface="Liberation Sans Narrow" pitchFamily="34" charset="-120"/>
              </a:rPr>
              <a:t>29</a:t>
            </a:r>
            <a:endParaRPr lang="en-US" sz="18000" dirty="0"/>
          </a:p>
        </p:txBody>
      </p:sp>
      <p:sp>
        <p:nvSpPr>
          <p:cNvPr id="5" name="Text 3"/>
          <p:cNvSpPr/>
          <p:nvPr/>
        </p:nvSpPr>
        <p:spPr>
          <a:xfrm>
            <a:off x="514350" y="571500"/>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RECAP</a:t>
            </a:r>
            <a:endParaRPr lang="en-US" sz="800" dirty="0"/>
          </a:p>
        </p:txBody>
      </p:sp>
      <p:sp>
        <p:nvSpPr>
          <p:cNvPr id="6" name="Text 4"/>
          <p:cNvSpPr/>
          <p:nvPr/>
        </p:nvSpPr>
        <p:spPr>
          <a:xfrm>
            <a:off x="514350" y="789384"/>
            <a:ext cx="8629650" cy="373346"/>
          </a:xfrm>
          <a:prstGeom prst="rect">
            <a:avLst/>
          </a:prstGeom>
          <a:noFill/>
          <a:ln/>
        </p:spPr>
        <p:txBody>
          <a:bodyPr wrap="none" lIns="0" tIns="0" rIns="0" bIns="0" rtlCol="0" anchor="t"/>
          <a:lstStyle/>
          <a:p>
            <a:pPr algn="l" indent="0" marL="0">
              <a:lnSpc>
                <a:spcPts val="2723"/>
              </a:lnSpc>
              <a:buNone/>
            </a:pPr>
            <a:r>
              <a:rPr lang="en-US" sz="2475" b="1" spc="-49" kern="0" dirty="0">
                <a:solidFill>
                  <a:srgbClr val="F4F4F5"/>
                </a:solidFill>
                <a:latin typeface="Carlito" pitchFamily="34" charset="0"/>
                <a:ea typeface="Carlito" pitchFamily="34" charset="-122"/>
                <a:cs typeface="Carlito" pitchFamily="34" charset="-120"/>
              </a:rPr>
              <a:t>Key </a:t>
            </a:r>
            <a:pPr algn="l" indent="0" marL="0">
              <a:lnSpc>
                <a:spcPts val="2723"/>
              </a:lnSpc>
              <a:buNone/>
            </a:pPr>
            <a:r>
              <a:rPr lang="en-US" sz="2475" b="1" spc="-49" kern="0" dirty="0">
                <a:solidFill>
                  <a:srgbClr val="FF7A1A"/>
                </a:solidFill>
                <a:latin typeface="Carlito" pitchFamily="34" charset="0"/>
                <a:ea typeface="Carlito" pitchFamily="34" charset="-122"/>
                <a:cs typeface="Carlito" pitchFamily="34" charset="-120"/>
              </a:rPr>
              <a:t>Takeaways</a:t>
            </a:r>
            <a:endParaRPr lang="en-US" sz="2475" dirty="0"/>
          </a:p>
        </p:txBody>
      </p:sp>
      <p:sp>
        <p:nvSpPr>
          <p:cNvPr id="7" name="Shape 5"/>
          <p:cNvSpPr/>
          <p:nvPr/>
        </p:nvSpPr>
        <p:spPr>
          <a:xfrm>
            <a:off x="514350" y="1317241"/>
            <a:ext cx="400050" cy="0"/>
          </a:xfrm>
          <a:prstGeom prst="line">
            <a:avLst/>
          </a:prstGeom>
          <a:noFill/>
          <a:ln w="7144">
            <a:solidFill>
              <a:srgbClr val="F4F4F5"/>
            </a:solidFill>
            <a:prstDash val="solid"/>
          </a:ln>
        </p:spPr>
      </p:sp>
      <p:sp>
        <p:nvSpPr>
          <p:cNvPr id="8" name="Text 6"/>
          <p:cNvSpPr/>
          <p:nvPr/>
        </p:nvSpPr>
        <p:spPr>
          <a:xfrm>
            <a:off x="514350" y="1527981"/>
            <a:ext cx="8115300" cy="614363"/>
          </a:xfrm>
          <a:prstGeom prst="roundRect">
            <a:avLst>
              <a:gd name="adj" fmla="val 15504"/>
            </a:avLst>
          </a:prstGeom>
          <a:solidFill>
            <a:srgbClr val="15151A"/>
          </a:solidFill>
          <a:ln/>
        </p:spPr>
        <p:txBody>
          <a:bodyPr wrap="square" rtlCol="0" anchor="ctr"/>
          <a:lstStyle/>
          <a:p>
            <a:pPr indent="0" marL="0">
              <a:buNone/>
            </a:pPr>
            <a:endParaRPr lang="en-US" dirty="0"/>
          </a:p>
        </p:txBody>
      </p:sp>
      <p:sp>
        <p:nvSpPr>
          <p:cNvPr id="9" name="Shape 7"/>
          <p:cNvSpPr/>
          <p:nvPr/>
        </p:nvSpPr>
        <p:spPr>
          <a:xfrm>
            <a:off x="514350" y="1531553"/>
            <a:ext cx="8115300" cy="0"/>
          </a:xfrm>
          <a:prstGeom prst="line">
            <a:avLst/>
          </a:prstGeom>
          <a:noFill/>
          <a:ln w="7144">
            <a:solidFill>
              <a:srgbClr val="2A2A33"/>
            </a:solidFill>
            <a:prstDash val="solid"/>
          </a:ln>
        </p:spPr>
      </p:sp>
      <p:sp>
        <p:nvSpPr>
          <p:cNvPr id="10" name="Shape 8"/>
          <p:cNvSpPr/>
          <p:nvPr/>
        </p:nvSpPr>
        <p:spPr>
          <a:xfrm>
            <a:off x="8626078" y="1527981"/>
            <a:ext cx="0" cy="614363"/>
          </a:xfrm>
          <a:prstGeom prst="line">
            <a:avLst/>
          </a:prstGeom>
          <a:noFill/>
          <a:ln w="7144">
            <a:solidFill>
              <a:srgbClr val="2A2A33"/>
            </a:solidFill>
            <a:prstDash val="solid"/>
          </a:ln>
        </p:spPr>
      </p:sp>
      <p:sp>
        <p:nvSpPr>
          <p:cNvPr id="11" name="Shape 9"/>
          <p:cNvSpPr/>
          <p:nvPr/>
        </p:nvSpPr>
        <p:spPr>
          <a:xfrm>
            <a:off x="514350" y="2138772"/>
            <a:ext cx="8115300" cy="0"/>
          </a:xfrm>
          <a:prstGeom prst="line">
            <a:avLst/>
          </a:prstGeom>
          <a:noFill/>
          <a:ln w="7144">
            <a:solidFill>
              <a:srgbClr val="2A2A33"/>
            </a:solidFill>
            <a:prstDash val="solid"/>
          </a:ln>
        </p:spPr>
      </p:sp>
      <p:sp>
        <p:nvSpPr>
          <p:cNvPr id="12" name="Shape 10"/>
          <p:cNvSpPr/>
          <p:nvPr/>
        </p:nvSpPr>
        <p:spPr>
          <a:xfrm>
            <a:off x="525066" y="1527981"/>
            <a:ext cx="0" cy="614363"/>
          </a:xfrm>
          <a:prstGeom prst="line">
            <a:avLst/>
          </a:prstGeom>
          <a:noFill/>
          <a:ln w="21431">
            <a:solidFill>
              <a:srgbClr val="FF7A1A"/>
            </a:solidFill>
            <a:prstDash val="solid"/>
          </a:ln>
        </p:spPr>
      </p:sp>
      <p:sp>
        <p:nvSpPr>
          <p:cNvPr id="13" name="Text 11"/>
          <p:cNvSpPr/>
          <p:nvPr/>
        </p:nvSpPr>
        <p:spPr>
          <a:xfrm>
            <a:off x="650081" y="1635137"/>
            <a:ext cx="628650" cy="400050"/>
          </a:xfrm>
          <a:prstGeom prst="rect">
            <a:avLst/>
          </a:prstGeom>
          <a:noFill/>
          <a:ln/>
        </p:spPr>
        <p:txBody>
          <a:bodyPr wrap="none" lIns="0" tIns="0" rIns="0" bIns="0" rtlCol="0" anchor="t"/>
          <a:lstStyle/>
          <a:p>
            <a:pPr algn="r" indent="0" marL="0">
              <a:lnSpc>
                <a:spcPts val="3150"/>
              </a:lnSpc>
              <a:buNone/>
            </a:pPr>
            <a:r>
              <a:rPr lang="en-US" sz="3150" b="1" spc="-126" kern="0" dirty="0">
                <a:solidFill>
                  <a:srgbClr val="FF7A1A"/>
                </a:solidFill>
                <a:latin typeface="Liberation Sans Narrow" pitchFamily="34" charset="0"/>
                <a:ea typeface="Liberation Sans Narrow" pitchFamily="34" charset="-122"/>
                <a:cs typeface="Liberation Sans Narrow" pitchFamily="34" charset="-120"/>
              </a:rPr>
              <a:t>1</a:t>
            </a:r>
            <a:endParaRPr lang="en-US" sz="3150" dirty="0"/>
          </a:p>
        </p:txBody>
      </p:sp>
      <p:sp>
        <p:nvSpPr>
          <p:cNvPr id="14" name="Text 12"/>
          <p:cNvSpPr/>
          <p:nvPr/>
        </p:nvSpPr>
        <p:spPr>
          <a:xfrm>
            <a:off x="3317825" y="1752340"/>
            <a:ext cx="362880" cy="157163"/>
          </a:xfrm>
          <a:prstGeom prst="roundRect">
            <a:avLst>
              <a:gd name="adj" fmla="val 24242"/>
            </a:avLst>
          </a:prstGeom>
          <a:solidFill>
            <a:srgbClr val="1D1D24"/>
          </a:solidFill>
          <a:ln/>
        </p:spPr>
        <p:txBody>
          <a:bodyPr wrap="square" rtlCol="0" anchor="ctr"/>
          <a:lstStyle/>
          <a:p>
            <a:pPr indent="0" marL="0">
              <a:buNone/>
            </a:pPr>
            <a:endParaRPr lang="en-US" dirty="0"/>
          </a:p>
        </p:txBody>
      </p:sp>
      <p:sp>
        <p:nvSpPr>
          <p:cNvPr id="15" name="Text 13"/>
          <p:cNvSpPr/>
          <p:nvPr/>
        </p:nvSpPr>
        <p:spPr>
          <a:xfrm>
            <a:off x="3749241" y="1752340"/>
            <a:ext cx="310307" cy="157163"/>
          </a:xfrm>
          <a:prstGeom prst="roundRect">
            <a:avLst>
              <a:gd name="adj" fmla="val 24242"/>
            </a:avLst>
          </a:prstGeom>
          <a:solidFill>
            <a:srgbClr val="1D1D24"/>
          </a:solidFill>
          <a:ln/>
        </p:spPr>
        <p:txBody>
          <a:bodyPr wrap="square" rtlCol="0" anchor="ctr"/>
          <a:lstStyle/>
          <a:p>
            <a:pPr indent="0" marL="0">
              <a:buNone/>
            </a:pPr>
            <a:endParaRPr lang="en-US" dirty="0"/>
          </a:p>
        </p:txBody>
      </p:sp>
      <p:sp>
        <p:nvSpPr>
          <p:cNvPr id="16" name="Text 14"/>
          <p:cNvSpPr/>
          <p:nvPr/>
        </p:nvSpPr>
        <p:spPr>
          <a:xfrm>
            <a:off x="4128083" y="1752340"/>
            <a:ext cx="257733" cy="157163"/>
          </a:xfrm>
          <a:prstGeom prst="roundRect">
            <a:avLst>
              <a:gd name="adj" fmla="val 24242"/>
            </a:avLst>
          </a:prstGeom>
          <a:solidFill>
            <a:srgbClr val="1D1D24"/>
          </a:solidFill>
          <a:ln/>
        </p:spPr>
        <p:txBody>
          <a:bodyPr wrap="square" rtlCol="0" anchor="ctr"/>
          <a:lstStyle/>
          <a:p>
            <a:pPr indent="0" marL="0">
              <a:buNone/>
            </a:pPr>
            <a:endParaRPr lang="en-US" dirty="0"/>
          </a:p>
        </p:txBody>
      </p:sp>
      <p:sp>
        <p:nvSpPr>
          <p:cNvPr id="17" name="Text 15"/>
          <p:cNvSpPr/>
          <p:nvPr/>
        </p:nvSpPr>
        <p:spPr>
          <a:xfrm>
            <a:off x="4454351" y="1752340"/>
            <a:ext cx="257733" cy="157163"/>
          </a:xfrm>
          <a:prstGeom prst="roundRect">
            <a:avLst>
              <a:gd name="adj" fmla="val 24242"/>
            </a:avLst>
          </a:prstGeom>
          <a:solidFill>
            <a:srgbClr val="1D1D24"/>
          </a:solidFill>
          <a:ln/>
        </p:spPr>
        <p:txBody>
          <a:bodyPr wrap="square" rtlCol="0" anchor="ctr"/>
          <a:lstStyle/>
          <a:p>
            <a:pPr indent="0" marL="0">
              <a:buNone/>
            </a:pPr>
            <a:endParaRPr lang="en-US" dirty="0"/>
          </a:p>
        </p:txBody>
      </p:sp>
      <p:sp>
        <p:nvSpPr>
          <p:cNvPr id="18" name="Text 16"/>
          <p:cNvSpPr/>
          <p:nvPr/>
        </p:nvSpPr>
        <p:spPr>
          <a:xfrm>
            <a:off x="1450181" y="1752340"/>
            <a:ext cx="7015163" cy="178897"/>
          </a:xfrm>
          <a:prstGeom prst="rect">
            <a:avLst/>
          </a:prstGeom>
          <a:noFill/>
          <a:ln/>
        </p:spPr>
        <p:txBody>
          <a:bodyPr wrap="square" lIns="0" tIns="0" rIns="0" bIns="0" rtlCol="0" anchor="t"/>
          <a:lstStyle/>
          <a:p>
            <a:pPr algn="l" indent="0" marL="0">
              <a:lnSpc>
                <a:spcPts val="1305"/>
              </a:lnSpc>
              <a:buNone/>
            </a:pPr>
            <a:r>
              <a:rPr lang="en-US" sz="900" dirty="0">
                <a:solidFill>
                  <a:srgbClr val="F4F4F5"/>
                </a:solidFill>
                <a:latin typeface="Carlito" pitchFamily="34" charset="0"/>
                <a:ea typeface="Carlito" pitchFamily="34" charset="-122"/>
                <a:cs typeface="Carlito" pitchFamily="34" charset="-120"/>
              </a:rPr>
              <a:t>MCP servers come in four shapes — </a:t>
            </a:r>
            <a:pPr algn="l" indent="0" marL="0">
              <a:lnSpc>
                <a:spcPts val="1305"/>
              </a:lnSpc>
              <a:buNone/>
            </a:pPr>
            <a:r>
              <a:rPr lang="en-US" sz="828" dirty="0">
                <a:solidFill>
                  <a:srgbClr val="FF7A1A"/>
                </a:solidFill>
                <a:highlight>
                  <a:srgbClr val="1D1D24"/>
                </a:highlight>
                <a:latin typeface="Courier New" pitchFamily="34" charset="0"/>
                <a:ea typeface="Courier New" pitchFamily="34" charset="-122"/>
                <a:cs typeface="Courier New" pitchFamily="34" charset="-120"/>
              </a:rPr>
              <a:t>stdio</a:t>
            </a:r>
            <a:pPr algn="l" indent="0" marL="0">
              <a:lnSpc>
                <a:spcPts val="1305"/>
              </a:lnSpc>
              <a:buNone/>
            </a:pPr>
            <a:r>
              <a:rPr lang="en-US" sz="900" dirty="0">
                <a:solidFill>
                  <a:srgbClr val="F4F4F5"/>
                </a:solidFill>
                <a:latin typeface="Carlito" pitchFamily="34" charset="0"/>
                <a:ea typeface="Carlito" pitchFamily="34" charset="-122"/>
                <a:cs typeface="Carlito" pitchFamily="34" charset="-120"/>
              </a:rPr>
              <a:t>, </a:t>
            </a:r>
            <a:pPr algn="l" indent="0" marL="0">
              <a:lnSpc>
                <a:spcPts val="1305"/>
              </a:lnSpc>
              <a:buNone/>
            </a:pPr>
            <a:r>
              <a:rPr lang="en-US" sz="828" dirty="0">
                <a:solidFill>
                  <a:srgbClr val="FF7A1A"/>
                </a:solidFill>
                <a:highlight>
                  <a:srgbClr val="1D1D24"/>
                </a:highlight>
                <a:latin typeface="Courier New" pitchFamily="34" charset="0"/>
                <a:ea typeface="Courier New" pitchFamily="34" charset="-122"/>
                <a:cs typeface="Courier New" pitchFamily="34" charset="-120"/>
              </a:rPr>
              <a:t>http</a:t>
            </a:r>
            <a:pPr algn="l" indent="0" marL="0">
              <a:lnSpc>
                <a:spcPts val="1305"/>
              </a:lnSpc>
              <a:buNone/>
            </a:pPr>
            <a:r>
              <a:rPr lang="en-US" sz="900" dirty="0">
                <a:solidFill>
                  <a:srgbClr val="F4F4F5"/>
                </a:solidFill>
                <a:latin typeface="Carlito" pitchFamily="34" charset="0"/>
                <a:ea typeface="Carlito" pitchFamily="34" charset="-122"/>
                <a:cs typeface="Carlito" pitchFamily="34" charset="-120"/>
              </a:rPr>
              <a:t>, </a:t>
            </a:r>
            <a:pPr algn="l" indent="0" marL="0">
              <a:lnSpc>
                <a:spcPts val="1305"/>
              </a:lnSpc>
              <a:buNone/>
            </a:pPr>
            <a:r>
              <a:rPr lang="en-US" sz="828" dirty="0">
                <a:solidFill>
                  <a:srgbClr val="FF7A1A"/>
                </a:solidFill>
                <a:highlight>
                  <a:srgbClr val="1D1D24"/>
                </a:highlight>
                <a:latin typeface="Courier New" pitchFamily="34" charset="0"/>
                <a:ea typeface="Courier New" pitchFamily="34" charset="-122"/>
                <a:cs typeface="Courier New" pitchFamily="34" charset="-120"/>
              </a:rPr>
              <a:t>sse</a:t>
            </a:r>
            <a:pPr algn="l" indent="0" marL="0">
              <a:lnSpc>
                <a:spcPts val="1305"/>
              </a:lnSpc>
              <a:buNone/>
            </a:pPr>
            <a:r>
              <a:rPr lang="en-US" sz="900" dirty="0">
                <a:solidFill>
                  <a:srgbClr val="F4F4F5"/>
                </a:solidFill>
                <a:latin typeface="Carlito" pitchFamily="34" charset="0"/>
                <a:ea typeface="Carlito" pitchFamily="34" charset="-122"/>
                <a:cs typeface="Carlito" pitchFamily="34" charset="-120"/>
              </a:rPr>
              <a:t>, </a:t>
            </a:r>
            <a:pPr algn="l" indent="0" marL="0">
              <a:lnSpc>
                <a:spcPts val="1305"/>
              </a:lnSpc>
              <a:buNone/>
            </a:pPr>
            <a:r>
              <a:rPr lang="en-US" sz="828" dirty="0">
                <a:solidFill>
                  <a:srgbClr val="FF7A1A"/>
                </a:solidFill>
                <a:highlight>
                  <a:srgbClr val="1D1D24"/>
                </a:highlight>
                <a:latin typeface="Courier New" pitchFamily="34" charset="0"/>
                <a:ea typeface="Courier New" pitchFamily="34" charset="-122"/>
                <a:cs typeface="Courier New" pitchFamily="34" charset="-120"/>
              </a:rPr>
              <a:t>sdk</a:t>
            </a:r>
            <a:endParaRPr lang="en-US" sz="900" dirty="0"/>
          </a:p>
        </p:txBody>
      </p:sp>
      <p:sp>
        <p:nvSpPr>
          <p:cNvPr id="19" name="Text 17"/>
          <p:cNvSpPr/>
          <p:nvPr/>
        </p:nvSpPr>
        <p:spPr>
          <a:xfrm>
            <a:off x="514350" y="2242356"/>
            <a:ext cx="8115300" cy="614363"/>
          </a:xfrm>
          <a:prstGeom prst="roundRect">
            <a:avLst>
              <a:gd name="adj" fmla="val 15504"/>
            </a:avLst>
          </a:prstGeom>
          <a:solidFill>
            <a:srgbClr val="15151A"/>
          </a:solidFill>
          <a:ln/>
        </p:spPr>
        <p:txBody>
          <a:bodyPr wrap="square" rtlCol="0" anchor="ctr"/>
          <a:lstStyle/>
          <a:p>
            <a:pPr indent="0" marL="0">
              <a:buNone/>
            </a:pPr>
            <a:endParaRPr lang="en-US" dirty="0"/>
          </a:p>
        </p:txBody>
      </p:sp>
      <p:sp>
        <p:nvSpPr>
          <p:cNvPr id="20" name="Shape 18"/>
          <p:cNvSpPr/>
          <p:nvPr/>
        </p:nvSpPr>
        <p:spPr>
          <a:xfrm>
            <a:off x="514350" y="2245928"/>
            <a:ext cx="8115300" cy="0"/>
          </a:xfrm>
          <a:prstGeom prst="line">
            <a:avLst/>
          </a:prstGeom>
          <a:noFill/>
          <a:ln w="7144">
            <a:solidFill>
              <a:srgbClr val="2A2A33"/>
            </a:solidFill>
            <a:prstDash val="solid"/>
          </a:ln>
        </p:spPr>
      </p:sp>
      <p:sp>
        <p:nvSpPr>
          <p:cNvPr id="21" name="Shape 19"/>
          <p:cNvSpPr/>
          <p:nvPr/>
        </p:nvSpPr>
        <p:spPr>
          <a:xfrm>
            <a:off x="8626078" y="2242356"/>
            <a:ext cx="0" cy="614363"/>
          </a:xfrm>
          <a:prstGeom prst="line">
            <a:avLst/>
          </a:prstGeom>
          <a:noFill/>
          <a:ln w="7144">
            <a:solidFill>
              <a:srgbClr val="2A2A33"/>
            </a:solidFill>
            <a:prstDash val="solid"/>
          </a:ln>
        </p:spPr>
      </p:sp>
      <p:sp>
        <p:nvSpPr>
          <p:cNvPr id="22" name="Shape 20"/>
          <p:cNvSpPr/>
          <p:nvPr/>
        </p:nvSpPr>
        <p:spPr>
          <a:xfrm>
            <a:off x="514350" y="2853147"/>
            <a:ext cx="8115300" cy="0"/>
          </a:xfrm>
          <a:prstGeom prst="line">
            <a:avLst/>
          </a:prstGeom>
          <a:noFill/>
          <a:ln w="7144">
            <a:solidFill>
              <a:srgbClr val="2A2A33"/>
            </a:solidFill>
            <a:prstDash val="solid"/>
          </a:ln>
        </p:spPr>
      </p:sp>
      <p:sp>
        <p:nvSpPr>
          <p:cNvPr id="23" name="Shape 21"/>
          <p:cNvSpPr/>
          <p:nvPr/>
        </p:nvSpPr>
        <p:spPr>
          <a:xfrm>
            <a:off x="525066" y="2242356"/>
            <a:ext cx="0" cy="614363"/>
          </a:xfrm>
          <a:prstGeom prst="line">
            <a:avLst/>
          </a:prstGeom>
          <a:noFill/>
          <a:ln w="21431">
            <a:solidFill>
              <a:srgbClr val="FF7A1A"/>
            </a:solidFill>
            <a:prstDash val="solid"/>
          </a:ln>
        </p:spPr>
      </p:sp>
      <p:sp>
        <p:nvSpPr>
          <p:cNvPr id="24" name="Text 22"/>
          <p:cNvSpPr/>
          <p:nvPr/>
        </p:nvSpPr>
        <p:spPr>
          <a:xfrm>
            <a:off x="650081" y="2349512"/>
            <a:ext cx="628650" cy="400050"/>
          </a:xfrm>
          <a:prstGeom prst="rect">
            <a:avLst/>
          </a:prstGeom>
          <a:noFill/>
          <a:ln/>
        </p:spPr>
        <p:txBody>
          <a:bodyPr wrap="none" lIns="0" tIns="0" rIns="0" bIns="0" rtlCol="0" anchor="t"/>
          <a:lstStyle/>
          <a:p>
            <a:pPr algn="r" indent="0" marL="0">
              <a:lnSpc>
                <a:spcPts val="3150"/>
              </a:lnSpc>
              <a:buNone/>
            </a:pPr>
            <a:r>
              <a:rPr lang="en-US" sz="3150" b="1" spc="-126" kern="0" dirty="0">
                <a:solidFill>
                  <a:srgbClr val="FF7A1A"/>
                </a:solidFill>
                <a:latin typeface="Liberation Sans Narrow" pitchFamily="34" charset="0"/>
                <a:ea typeface="Liberation Sans Narrow" pitchFamily="34" charset="-122"/>
                <a:cs typeface="Liberation Sans Narrow" pitchFamily="34" charset="-120"/>
              </a:rPr>
              <a:t>2</a:t>
            </a:r>
            <a:endParaRPr lang="en-US" sz="3150" dirty="0"/>
          </a:p>
        </p:txBody>
      </p:sp>
      <p:sp>
        <p:nvSpPr>
          <p:cNvPr id="25" name="Text 23"/>
          <p:cNvSpPr/>
          <p:nvPr/>
        </p:nvSpPr>
        <p:spPr>
          <a:xfrm>
            <a:off x="1450181" y="2466715"/>
            <a:ext cx="7015163" cy="178897"/>
          </a:xfrm>
          <a:prstGeom prst="rect">
            <a:avLst/>
          </a:prstGeom>
          <a:noFill/>
          <a:ln/>
        </p:spPr>
        <p:txBody>
          <a:bodyPr wrap="square" lIns="0" tIns="0" rIns="0" bIns="0" rtlCol="0" anchor="t"/>
          <a:lstStyle/>
          <a:p>
            <a:pPr algn="l" indent="0" marL="0">
              <a:lnSpc>
                <a:spcPts val="1305"/>
              </a:lnSpc>
              <a:buNone/>
            </a:pPr>
            <a:r>
              <a:rPr lang="en-US" sz="900" dirty="0">
                <a:solidFill>
                  <a:srgbClr val="F4F4F5"/>
                </a:solidFill>
                <a:latin typeface="Carlito" pitchFamily="34" charset="0"/>
                <a:ea typeface="Carlito" pitchFamily="34" charset="-122"/>
                <a:cs typeface="Carlito" pitchFamily="34" charset="-120"/>
              </a:rPr>
              <a:t>Connecting to someone else's server is </a:t>
            </a:r>
            <a:pPr algn="l" indent="0" marL="0">
              <a:lnSpc>
                <a:spcPts val="1305"/>
              </a:lnSpc>
              <a:buNone/>
            </a:pPr>
            <a:r>
              <a:rPr lang="en-US" sz="900" dirty="0">
                <a:solidFill>
                  <a:srgbClr val="FF7A1A"/>
                </a:solidFill>
                <a:latin typeface="Carlito" pitchFamily="34" charset="0"/>
                <a:ea typeface="Carlito" pitchFamily="34" charset="-122"/>
                <a:cs typeface="Carlito" pitchFamily="34" charset="-120"/>
              </a:rPr>
              <a:t>config</a:t>
            </a:r>
            <a:pPr algn="l" indent="0" marL="0">
              <a:lnSpc>
                <a:spcPts val="1305"/>
              </a:lnSpc>
              <a:buNone/>
            </a:pPr>
            <a:r>
              <a:rPr lang="en-US" sz="900" dirty="0">
                <a:solidFill>
                  <a:srgbClr val="F4F4F5"/>
                </a:solidFill>
                <a:latin typeface="Carlito" pitchFamily="34" charset="0"/>
                <a:ea typeface="Carlito" pitchFamily="34" charset="-122"/>
                <a:cs typeface="Carlito" pitchFamily="34" charset="-120"/>
              </a:rPr>
              <a:t>, not code</a:t>
            </a:r>
            <a:endParaRPr lang="en-US" sz="900" dirty="0"/>
          </a:p>
        </p:txBody>
      </p:sp>
      <p:sp>
        <p:nvSpPr>
          <p:cNvPr id="26" name="Text 24"/>
          <p:cNvSpPr/>
          <p:nvPr/>
        </p:nvSpPr>
        <p:spPr>
          <a:xfrm>
            <a:off x="514350" y="2956731"/>
            <a:ext cx="8115300" cy="614363"/>
          </a:xfrm>
          <a:prstGeom prst="roundRect">
            <a:avLst>
              <a:gd name="adj" fmla="val 15504"/>
            </a:avLst>
          </a:prstGeom>
          <a:solidFill>
            <a:srgbClr val="15151A"/>
          </a:solidFill>
          <a:ln/>
        </p:spPr>
        <p:txBody>
          <a:bodyPr wrap="square" rtlCol="0" anchor="ctr"/>
          <a:lstStyle/>
          <a:p>
            <a:pPr indent="0" marL="0">
              <a:buNone/>
            </a:pPr>
            <a:endParaRPr lang="en-US" dirty="0"/>
          </a:p>
        </p:txBody>
      </p:sp>
      <p:sp>
        <p:nvSpPr>
          <p:cNvPr id="27" name="Shape 25"/>
          <p:cNvSpPr/>
          <p:nvPr/>
        </p:nvSpPr>
        <p:spPr>
          <a:xfrm>
            <a:off x="514350" y="2960303"/>
            <a:ext cx="8115300" cy="0"/>
          </a:xfrm>
          <a:prstGeom prst="line">
            <a:avLst/>
          </a:prstGeom>
          <a:noFill/>
          <a:ln w="7144">
            <a:solidFill>
              <a:srgbClr val="2A2A33"/>
            </a:solidFill>
            <a:prstDash val="solid"/>
          </a:ln>
        </p:spPr>
      </p:sp>
      <p:sp>
        <p:nvSpPr>
          <p:cNvPr id="28" name="Shape 26"/>
          <p:cNvSpPr/>
          <p:nvPr/>
        </p:nvSpPr>
        <p:spPr>
          <a:xfrm>
            <a:off x="8626078" y="2956731"/>
            <a:ext cx="0" cy="614363"/>
          </a:xfrm>
          <a:prstGeom prst="line">
            <a:avLst/>
          </a:prstGeom>
          <a:noFill/>
          <a:ln w="7144">
            <a:solidFill>
              <a:srgbClr val="2A2A33"/>
            </a:solidFill>
            <a:prstDash val="solid"/>
          </a:ln>
        </p:spPr>
      </p:sp>
      <p:sp>
        <p:nvSpPr>
          <p:cNvPr id="29" name="Shape 27"/>
          <p:cNvSpPr/>
          <p:nvPr/>
        </p:nvSpPr>
        <p:spPr>
          <a:xfrm>
            <a:off x="514350" y="3567522"/>
            <a:ext cx="8115300" cy="0"/>
          </a:xfrm>
          <a:prstGeom prst="line">
            <a:avLst/>
          </a:prstGeom>
          <a:noFill/>
          <a:ln w="7144">
            <a:solidFill>
              <a:srgbClr val="2A2A33"/>
            </a:solidFill>
            <a:prstDash val="solid"/>
          </a:ln>
        </p:spPr>
      </p:sp>
      <p:sp>
        <p:nvSpPr>
          <p:cNvPr id="30" name="Shape 28"/>
          <p:cNvSpPr/>
          <p:nvPr/>
        </p:nvSpPr>
        <p:spPr>
          <a:xfrm>
            <a:off x="525066" y="2956731"/>
            <a:ext cx="0" cy="614363"/>
          </a:xfrm>
          <a:prstGeom prst="line">
            <a:avLst/>
          </a:prstGeom>
          <a:noFill/>
          <a:ln w="21431">
            <a:solidFill>
              <a:srgbClr val="FF7A1A"/>
            </a:solidFill>
            <a:prstDash val="solid"/>
          </a:ln>
        </p:spPr>
      </p:sp>
      <p:sp>
        <p:nvSpPr>
          <p:cNvPr id="31" name="Text 29"/>
          <p:cNvSpPr/>
          <p:nvPr/>
        </p:nvSpPr>
        <p:spPr>
          <a:xfrm>
            <a:off x="650081" y="3063887"/>
            <a:ext cx="628650" cy="400050"/>
          </a:xfrm>
          <a:prstGeom prst="rect">
            <a:avLst/>
          </a:prstGeom>
          <a:noFill/>
          <a:ln/>
        </p:spPr>
        <p:txBody>
          <a:bodyPr wrap="none" lIns="0" tIns="0" rIns="0" bIns="0" rtlCol="0" anchor="t"/>
          <a:lstStyle/>
          <a:p>
            <a:pPr algn="r" indent="0" marL="0">
              <a:lnSpc>
                <a:spcPts val="3150"/>
              </a:lnSpc>
              <a:buNone/>
            </a:pPr>
            <a:r>
              <a:rPr lang="en-US" sz="3150" b="1" spc="-126" kern="0" dirty="0">
                <a:solidFill>
                  <a:srgbClr val="FF7A1A"/>
                </a:solidFill>
                <a:latin typeface="Liberation Sans Narrow" pitchFamily="34" charset="0"/>
                <a:ea typeface="Liberation Sans Narrow" pitchFamily="34" charset="-122"/>
                <a:cs typeface="Liberation Sans Narrow" pitchFamily="34" charset="-120"/>
              </a:rPr>
              <a:t>3</a:t>
            </a:r>
            <a:endParaRPr lang="en-US" sz="3150" dirty="0"/>
          </a:p>
        </p:txBody>
      </p:sp>
      <p:sp>
        <p:nvSpPr>
          <p:cNvPr id="32" name="Text 30"/>
          <p:cNvSpPr/>
          <p:nvPr/>
        </p:nvSpPr>
        <p:spPr>
          <a:xfrm>
            <a:off x="1450181" y="3181090"/>
            <a:ext cx="415454" cy="157163"/>
          </a:xfrm>
          <a:prstGeom prst="roundRect">
            <a:avLst>
              <a:gd name="adj" fmla="val 24242"/>
            </a:avLst>
          </a:prstGeom>
          <a:solidFill>
            <a:srgbClr val="1D1D24"/>
          </a:solidFill>
          <a:ln/>
        </p:spPr>
        <p:txBody>
          <a:bodyPr wrap="square" rtlCol="0" anchor="ctr"/>
          <a:lstStyle/>
          <a:p>
            <a:pPr indent="0" marL="0">
              <a:buNone/>
            </a:pPr>
            <a:endParaRPr lang="en-US" dirty="0"/>
          </a:p>
        </p:txBody>
      </p:sp>
      <p:sp>
        <p:nvSpPr>
          <p:cNvPr id="33" name="Text 31"/>
          <p:cNvSpPr/>
          <p:nvPr/>
        </p:nvSpPr>
        <p:spPr>
          <a:xfrm>
            <a:off x="1450181" y="3181090"/>
            <a:ext cx="7015163" cy="178897"/>
          </a:xfrm>
          <a:prstGeom prst="rect">
            <a:avLst/>
          </a:prstGeom>
          <a:noFill/>
          <a:ln/>
        </p:spPr>
        <p:txBody>
          <a:bodyPr wrap="square" lIns="0" tIns="0" rIns="0" bIns="0" rtlCol="0" anchor="t"/>
          <a:lstStyle/>
          <a:p>
            <a:pPr algn="l" indent="0" marL="0">
              <a:lnSpc>
                <a:spcPts val="1305"/>
              </a:lnSpc>
              <a:buNone/>
            </a:pPr>
            <a:r>
              <a:rPr lang="en-US" sz="828" dirty="0">
                <a:solidFill>
                  <a:srgbClr val="FF7A1A"/>
                </a:solidFill>
                <a:highlight>
                  <a:srgbClr val="1D1D24"/>
                </a:highlight>
                <a:latin typeface="Courier New" pitchFamily="34" charset="0"/>
                <a:ea typeface="Courier New" pitchFamily="34" charset="-122"/>
                <a:cs typeface="Courier New" pitchFamily="34" charset="-120"/>
              </a:rPr>
              <a:t>${VAR}</a:t>
            </a:r>
            <a:pPr algn="l" indent="0" marL="0">
              <a:lnSpc>
                <a:spcPts val="1305"/>
              </a:lnSpc>
              <a:buNone/>
            </a:pPr>
            <a:r>
              <a:rPr lang="en-US" sz="900" dirty="0">
                <a:solidFill>
                  <a:srgbClr val="F4F4F5"/>
                </a:solidFill>
                <a:latin typeface="Carlito" pitchFamily="34" charset="0"/>
                <a:ea typeface="Carlito" pitchFamily="34" charset="-122"/>
                <a:cs typeface="Carlito" pitchFamily="34" charset="-120"/>
              </a:rPr>
              <a:t> expansion keeps secrets out of git — but verify it reaches HTTP headers</a:t>
            </a:r>
            <a:endParaRPr lang="en-US" sz="900" dirty="0"/>
          </a:p>
        </p:txBody>
      </p:sp>
      <p:sp>
        <p:nvSpPr>
          <p:cNvPr id="34" name="Text 32"/>
          <p:cNvSpPr/>
          <p:nvPr/>
        </p:nvSpPr>
        <p:spPr>
          <a:xfrm>
            <a:off x="514350" y="3671106"/>
            <a:ext cx="8115300" cy="614363"/>
          </a:xfrm>
          <a:prstGeom prst="roundRect">
            <a:avLst>
              <a:gd name="adj" fmla="val 15504"/>
            </a:avLst>
          </a:prstGeom>
          <a:solidFill>
            <a:srgbClr val="15151A"/>
          </a:solidFill>
          <a:ln/>
        </p:spPr>
        <p:txBody>
          <a:bodyPr wrap="square" rtlCol="0" anchor="ctr"/>
          <a:lstStyle/>
          <a:p>
            <a:pPr indent="0" marL="0">
              <a:buNone/>
            </a:pPr>
            <a:endParaRPr lang="en-US" dirty="0"/>
          </a:p>
        </p:txBody>
      </p:sp>
      <p:sp>
        <p:nvSpPr>
          <p:cNvPr id="35" name="Shape 33"/>
          <p:cNvSpPr/>
          <p:nvPr/>
        </p:nvSpPr>
        <p:spPr>
          <a:xfrm>
            <a:off x="514350" y="3674678"/>
            <a:ext cx="8115300" cy="0"/>
          </a:xfrm>
          <a:prstGeom prst="line">
            <a:avLst/>
          </a:prstGeom>
          <a:noFill/>
          <a:ln w="7144">
            <a:solidFill>
              <a:srgbClr val="2A2A33"/>
            </a:solidFill>
            <a:prstDash val="solid"/>
          </a:ln>
        </p:spPr>
      </p:sp>
      <p:sp>
        <p:nvSpPr>
          <p:cNvPr id="36" name="Shape 34"/>
          <p:cNvSpPr/>
          <p:nvPr/>
        </p:nvSpPr>
        <p:spPr>
          <a:xfrm>
            <a:off x="8626078" y="3671106"/>
            <a:ext cx="0" cy="614363"/>
          </a:xfrm>
          <a:prstGeom prst="line">
            <a:avLst/>
          </a:prstGeom>
          <a:noFill/>
          <a:ln w="7144">
            <a:solidFill>
              <a:srgbClr val="2A2A33"/>
            </a:solidFill>
            <a:prstDash val="solid"/>
          </a:ln>
        </p:spPr>
      </p:sp>
      <p:sp>
        <p:nvSpPr>
          <p:cNvPr id="37" name="Shape 35"/>
          <p:cNvSpPr/>
          <p:nvPr/>
        </p:nvSpPr>
        <p:spPr>
          <a:xfrm>
            <a:off x="514350" y="4281897"/>
            <a:ext cx="8115300" cy="0"/>
          </a:xfrm>
          <a:prstGeom prst="line">
            <a:avLst/>
          </a:prstGeom>
          <a:noFill/>
          <a:ln w="7144">
            <a:solidFill>
              <a:srgbClr val="2A2A33"/>
            </a:solidFill>
            <a:prstDash val="solid"/>
          </a:ln>
        </p:spPr>
      </p:sp>
      <p:sp>
        <p:nvSpPr>
          <p:cNvPr id="38" name="Shape 36"/>
          <p:cNvSpPr/>
          <p:nvPr/>
        </p:nvSpPr>
        <p:spPr>
          <a:xfrm>
            <a:off x="525066" y="3671106"/>
            <a:ext cx="0" cy="614363"/>
          </a:xfrm>
          <a:prstGeom prst="line">
            <a:avLst/>
          </a:prstGeom>
          <a:noFill/>
          <a:ln w="21431">
            <a:solidFill>
              <a:srgbClr val="FF7A1A"/>
            </a:solidFill>
            <a:prstDash val="solid"/>
          </a:ln>
        </p:spPr>
      </p:sp>
      <p:sp>
        <p:nvSpPr>
          <p:cNvPr id="39" name="Text 37"/>
          <p:cNvSpPr/>
          <p:nvPr/>
        </p:nvSpPr>
        <p:spPr>
          <a:xfrm>
            <a:off x="650081" y="3778262"/>
            <a:ext cx="628650" cy="400050"/>
          </a:xfrm>
          <a:prstGeom prst="rect">
            <a:avLst/>
          </a:prstGeom>
          <a:noFill/>
          <a:ln/>
        </p:spPr>
        <p:txBody>
          <a:bodyPr wrap="none" lIns="0" tIns="0" rIns="0" bIns="0" rtlCol="0" anchor="t"/>
          <a:lstStyle/>
          <a:p>
            <a:pPr algn="r" indent="0" marL="0">
              <a:lnSpc>
                <a:spcPts val="3150"/>
              </a:lnSpc>
              <a:buNone/>
            </a:pPr>
            <a:r>
              <a:rPr lang="en-US" sz="3150" b="1" spc="-126" kern="0" dirty="0">
                <a:solidFill>
                  <a:srgbClr val="FF7A1A"/>
                </a:solidFill>
                <a:latin typeface="Liberation Sans Narrow" pitchFamily="34" charset="0"/>
                <a:ea typeface="Liberation Sans Narrow" pitchFamily="34" charset="-122"/>
                <a:cs typeface="Liberation Sans Narrow" pitchFamily="34" charset="-120"/>
              </a:rPr>
              <a:t>4</a:t>
            </a:r>
            <a:endParaRPr lang="en-US" sz="3150" dirty="0"/>
          </a:p>
        </p:txBody>
      </p:sp>
      <p:sp>
        <p:nvSpPr>
          <p:cNvPr id="40" name="Text 38"/>
          <p:cNvSpPr/>
          <p:nvPr/>
        </p:nvSpPr>
        <p:spPr>
          <a:xfrm>
            <a:off x="4257787" y="3895465"/>
            <a:ext cx="468027" cy="157163"/>
          </a:xfrm>
          <a:prstGeom prst="roundRect">
            <a:avLst>
              <a:gd name="adj" fmla="val 24242"/>
            </a:avLst>
          </a:prstGeom>
          <a:solidFill>
            <a:srgbClr val="1D1D24"/>
          </a:solidFill>
          <a:ln/>
        </p:spPr>
        <p:txBody>
          <a:bodyPr wrap="square" rtlCol="0" anchor="ctr"/>
          <a:lstStyle/>
          <a:p>
            <a:pPr indent="0" marL="0">
              <a:buNone/>
            </a:pPr>
            <a:endParaRPr lang="en-US" dirty="0"/>
          </a:p>
        </p:txBody>
      </p:sp>
      <p:sp>
        <p:nvSpPr>
          <p:cNvPr id="41" name="Text 39"/>
          <p:cNvSpPr/>
          <p:nvPr/>
        </p:nvSpPr>
        <p:spPr>
          <a:xfrm>
            <a:off x="1450181" y="3895465"/>
            <a:ext cx="7015163" cy="178897"/>
          </a:xfrm>
          <a:prstGeom prst="rect">
            <a:avLst/>
          </a:prstGeom>
          <a:noFill/>
          <a:ln/>
        </p:spPr>
        <p:txBody>
          <a:bodyPr wrap="square" lIns="0" tIns="0" rIns="0" bIns="0" rtlCol="0" anchor="t"/>
          <a:lstStyle/>
          <a:p>
            <a:pPr algn="l" indent="0" marL="0">
              <a:lnSpc>
                <a:spcPts val="1305"/>
              </a:lnSpc>
              <a:buNone/>
            </a:pPr>
            <a:r>
              <a:rPr lang="en-US" sz="900" dirty="0">
                <a:solidFill>
                  <a:srgbClr val="F4F4F5"/>
                </a:solidFill>
                <a:latin typeface="Carlito" pitchFamily="34" charset="0"/>
                <a:ea typeface="Carlito" pitchFamily="34" charset="-122"/>
                <a:cs typeface="Carlito" pitchFamily="34" charset="-120"/>
              </a:rPr>
              <a:t>Your own external server = a real, separate program via </a:t>
            </a:r>
            <a:pPr algn="l" indent="0" marL="0">
              <a:lnSpc>
                <a:spcPts val="1305"/>
              </a:lnSpc>
              <a:buNone/>
            </a:pPr>
            <a:r>
              <a:rPr lang="en-US" sz="828" dirty="0">
                <a:solidFill>
                  <a:srgbClr val="FF7A1A"/>
                </a:solidFill>
                <a:highlight>
                  <a:srgbClr val="1D1D24"/>
                </a:highlight>
                <a:latin typeface="Courier New" pitchFamily="34" charset="0"/>
                <a:ea typeface="Courier New" pitchFamily="34" charset="-122"/>
                <a:cs typeface="Courier New" pitchFamily="34" charset="-120"/>
              </a:rPr>
              <a:t>FastMCP</a:t>
            </a:r>
            <a:pPr algn="l" indent="0" marL="0">
              <a:lnSpc>
                <a:spcPts val="1305"/>
              </a:lnSpc>
              <a:buNone/>
            </a:pPr>
            <a:r>
              <a:rPr lang="en-US" sz="900" dirty="0">
                <a:solidFill>
                  <a:srgbClr val="F4F4F5"/>
                </a:solidFill>
                <a:latin typeface="Carlito" pitchFamily="34" charset="0"/>
                <a:ea typeface="Carlito" pitchFamily="34" charset="-122"/>
                <a:cs typeface="Carlito" pitchFamily="34" charset="-120"/>
              </a:rPr>
              <a:t> — </a:t>
            </a:r>
            <a:pPr algn="l" indent="0" marL="0">
              <a:lnSpc>
                <a:spcPts val="1305"/>
              </a:lnSpc>
              <a:buNone/>
            </a:pPr>
            <a:r>
              <a:rPr lang="en-US" sz="900" dirty="0">
                <a:solidFill>
                  <a:srgbClr val="FF7A1A"/>
                </a:solidFill>
                <a:latin typeface="Carlito" pitchFamily="34" charset="0"/>
                <a:ea typeface="Carlito" pitchFamily="34" charset="-122"/>
                <a:cs typeface="Carlito" pitchFamily="34" charset="-120"/>
              </a:rPr>
              <a:t>portable</a:t>
            </a:r>
            <a:endParaRPr lang="en-US" sz="900" dirty="0"/>
          </a:p>
        </p:txBody>
      </p:sp>
      <p:sp>
        <p:nvSpPr>
          <p:cNvPr id="42" name="Text 40"/>
          <p:cNvSpPr/>
          <p:nvPr/>
        </p:nvSpPr>
        <p:spPr>
          <a:xfrm>
            <a:off x="514350" y="4385481"/>
            <a:ext cx="8115300" cy="614363"/>
          </a:xfrm>
          <a:prstGeom prst="roundRect">
            <a:avLst>
              <a:gd name="adj" fmla="val 15504"/>
            </a:avLst>
          </a:prstGeom>
          <a:solidFill>
            <a:srgbClr val="15151A"/>
          </a:solidFill>
          <a:ln/>
        </p:spPr>
        <p:txBody>
          <a:bodyPr wrap="square" rtlCol="0" anchor="ctr"/>
          <a:lstStyle/>
          <a:p>
            <a:pPr indent="0" marL="0">
              <a:buNone/>
            </a:pPr>
            <a:endParaRPr lang="en-US" dirty="0"/>
          </a:p>
        </p:txBody>
      </p:sp>
      <p:sp>
        <p:nvSpPr>
          <p:cNvPr id="43" name="Shape 41"/>
          <p:cNvSpPr/>
          <p:nvPr/>
        </p:nvSpPr>
        <p:spPr>
          <a:xfrm>
            <a:off x="514350" y="4389053"/>
            <a:ext cx="8115300" cy="0"/>
          </a:xfrm>
          <a:prstGeom prst="line">
            <a:avLst/>
          </a:prstGeom>
          <a:noFill/>
          <a:ln w="7144">
            <a:solidFill>
              <a:srgbClr val="2A2A33"/>
            </a:solidFill>
            <a:prstDash val="solid"/>
          </a:ln>
        </p:spPr>
      </p:sp>
      <p:sp>
        <p:nvSpPr>
          <p:cNvPr id="44" name="Shape 42"/>
          <p:cNvSpPr/>
          <p:nvPr/>
        </p:nvSpPr>
        <p:spPr>
          <a:xfrm>
            <a:off x="8626078" y="4385481"/>
            <a:ext cx="0" cy="614363"/>
          </a:xfrm>
          <a:prstGeom prst="line">
            <a:avLst/>
          </a:prstGeom>
          <a:noFill/>
          <a:ln w="7144">
            <a:solidFill>
              <a:srgbClr val="2A2A33"/>
            </a:solidFill>
            <a:prstDash val="solid"/>
          </a:ln>
        </p:spPr>
      </p:sp>
      <p:sp>
        <p:nvSpPr>
          <p:cNvPr id="45" name="Shape 43"/>
          <p:cNvSpPr/>
          <p:nvPr/>
        </p:nvSpPr>
        <p:spPr>
          <a:xfrm>
            <a:off x="514350" y="4996272"/>
            <a:ext cx="8115300" cy="0"/>
          </a:xfrm>
          <a:prstGeom prst="line">
            <a:avLst/>
          </a:prstGeom>
          <a:noFill/>
          <a:ln w="7144">
            <a:solidFill>
              <a:srgbClr val="2A2A33"/>
            </a:solidFill>
            <a:prstDash val="solid"/>
          </a:ln>
        </p:spPr>
      </p:sp>
      <p:sp>
        <p:nvSpPr>
          <p:cNvPr id="46" name="Shape 44"/>
          <p:cNvSpPr/>
          <p:nvPr/>
        </p:nvSpPr>
        <p:spPr>
          <a:xfrm>
            <a:off x="525066" y="4385481"/>
            <a:ext cx="0" cy="614363"/>
          </a:xfrm>
          <a:prstGeom prst="line">
            <a:avLst/>
          </a:prstGeom>
          <a:noFill/>
          <a:ln w="21431">
            <a:solidFill>
              <a:srgbClr val="FF7A1A"/>
            </a:solidFill>
            <a:prstDash val="solid"/>
          </a:ln>
        </p:spPr>
      </p:sp>
      <p:sp>
        <p:nvSpPr>
          <p:cNvPr id="47" name="Text 45"/>
          <p:cNvSpPr/>
          <p:nvPr/>
        </p:nvSpPr>
        <p:spPr>
          <a:xfrm>
            <a:off x="650081" y="4492637"/>
            <a:ext cx="628650" cy="400050"/>
          </a:xfrm>
          <a:prstGeom prst="rect">
            <a:avLst/>
          </a:prstGeom>
          <a:noFill/>
          <a:ln/>
        </p:spPr>
        <p:txBody>
          <a:bodyPr wrap="none" lIns="0" tIns="0" rIns="0" bIns="0" rtlCol="0" anchor="t"/>
          <a:lstStyle/>
          <a:p>
            <a:pPr algn="r" indent="0" marL="0">
              <a:lnSpc>
                <a:spcPts val="3150"/>
              </a:lnSpc>
              <a:buNone/>
            </a:pPr>
            <a:r>
              <a:rPr lang="en-US" sz="3150" b="1" spc="-126" kern="0" dirty="0">
                <a:solidFill>
                  <a:srgbClr val="FF7A1A"/>
                </a:solidFill>
                <a:latin typeface="Liberation Sans Narrow" pitchFamily="34" charset="0"/>
                <a:ea typeface="Liberation Sans Narrow" pitchFamily="34" charset="-122"/>
                <a:cs typeface="Liberation Sans Narrow" pitchFamily="34" charset="-120"/>
              </a:rPr>
              <a:t>5</a:t>
            </a:r>
            <a:endParaRPr lang="en-US" sz="3150" dirty="0"/>
          </a:p>
        </p:txBody>
      </p:sp>
      <p:sp>
        <p:nvSpPr>
          <p:cNvPr id="48" name="Text 46"/>
          <p:cNvSpPr/>
          <p:nvPr/>
        </p:nvSpPr>
        <p:spPr>
          <a:xfrm>
            <a:off x="4320183" y="4609840"/>
            <a:ext cx="573174" cy="157163"/>
          </a:xfrm>
          <a:prstGeom prst="roundRect">
            <a:avLst>
              <a:gd name="adj" fmla="val 24242"/>
            </a:avLst>
          </a:prstGeom>
          <a:solidFill>
            <a:srgbClr val="1D1D24"/>
          </a:solidFill>
          <a:ln/>
        </p:spPr>
        <p:txBody>
          <a:bodyPr wrap="square" rtlCol="0" anchor="ctr"/>
          <a:lstStyle/>
          <a:p>
            <a:pPr indent="0" marL="0">
              <a:buNone/>
            </a:pPr>
            <a:endParaRPr lang="en-US" dirty="0"/>
          </a:p>
        </p:txBody>
      </p:sp>
      <p:sp>
        <p:nvSpPr>
          <p:cNvPr id="49" name="Text 47"/>
          <p:cNvSpPr/>
          <p:nvPr/>
        </p:nvSpPr>
        <p:spPr>
          <a:xfrm>
            <a:off x="1450181" y="4609840"/>
            <a:ext cx="7015163" cy="178897"/>
          </a:xfrm>
          <a:prstGeom prst="rect">
            <a:avLst/>
          </a:prstGeom>
          <a:noFill/>
          <a:ln/>
        </p:spPr>
        <p:txBody>
          <a:bodyPr wrap="square" lIns="0" tIns="0" rIns="0" bIns="0" rtlCol="0" anchor="t"/>
          <a:lstStyle/>
          <a:p>
            <a:pPr algn="l" indent="0" marL="0">
              <a:lnSpc>
                <a:spcPts val="1305"/>
              </a:lnSpc>
              <a:buNone/>
            </a:pPr>
            <a:r>
              <a:rPr lang="en-US" sz="900" dirty="0">
                <a:solidFill>
                  <a:srgbClr val="F4F4F5"/>
                </a:solidFill>
                <a:latin typeface="Carlito" pitchFamily="34" charset="0"/>
                <a:ea typeface="Carlito" pitchFamily="34" charset="-122"/>
                <a:cs typeface="Carlito" pitchFamily="34" charset="-120"/>
              </a:rPr>
              <a:t>The rule: live Python object → </a:t>
            </a:r>
            <a:pPr algn="l" indent="0" marL="0">
              <a:lnSpc>
                <a:spcPts val="1305"/>
              </a:lnSpc>
              <a:buNone/>
            </a:pPr>
            <a:r>
              <a:rPr lang="en-US" sz="900" dirty="0">
                <a:solidFill>
                  <a:srgbClr val="FF7A1A"/>
                </a:solidFill>
                <a:latin typeface="Carlito" pitchFamily="34" charset="0"/>
                <a:ea typeface="Carlito" pitchFamily="34" charset="-122"/>
                <a:cs typeface="Carlito" pitchFamily="34" charset="-120"/>
              </a:rPr>
              <a:t>code</a:t>
            </a:r>
            <a:pPr algn="l" indent="0" marL="0">
              <a:lnSpc>
                <a:spcPts val="1305"/>
              </a:lnSpc>
              <a:buNone/>
            </a:pPr>
            <a:r>
              <a:rPr lang="en-US" sz="900" dirty="0">
                <a:solidFill>
                  <a:srgbClr val="F4F4F5"/>
                </a:solidFill>
                <a:latin typeface="Carlito" pitchFamily="34" charset="0"/>
                <a:ea typeface="Carlito" pitchFamily="34" charset="-122"/>
                <a:cs typeface="Carlito" pitchFamily="34" charset="-120"/>
              </a:rPr>
              <a:t>. URL or command → </a:t>
            </a:r>
            <a:pPr algn="l" indent="0" marL="0">
              <a:lnSpc>
                <a:spcPts val="1305"/>
              </a:lnSpc>
              <a:buNone/>
            </a:pPr>
            <a:r>
              <a:rPr lang="en-US" sz="828" dirty="0">
                <a:solidFill>
                  <a:srgbClr val="FF7A1A"/>
                </a:solidFill>
                <a:highlight>
                  <a:srgbClr val="1D1D24"/>
                </a:highlight>
                <a:latin typeface="Courier New" pitchFamily="34" charset="0"/>
                <a:ea typeface="Courier New" pitchFamily="34" charset="-122"/>
                <a:cs typeface="Courier New" pitchFamily="34" charset="-120"/>
              </a:rPr>
              <a:t>.mcp.json</a:t>
            </a:r>
            <a:endParaRPr lang="en-US" sz="900" dirty="0"/>
          </a:p>
        </p:txBody>
      </p:sp>
      <p:sp>
        <p:nvSpPr>
          <p:cNvPr id="50" name="Text 48"/>
          <p:cNvSpPr/>
          <p:nvPr/>
        </p:nvSpPr>
        <p:spPr>
          <a:xfrm>
            <a:off x="514350" y="4868466"/>
            <a:ext cx="6098753"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71717A"/>
                </a:solidFill>
                <a:latin typeface="Liberation Sans Narrow" pitchFamily="34" charset="0"/>
                <a:ea typeface="Liberation Sans Narrow" pitchFamily="34" charset="-122"/>
                <a:cs typeface="Liberation Sans Narrow" pitchFamily="34" charset="-120"/>
              </a:rPr>
              <a:t>EP09 · MCP IN THE REAL WORLD</a:t>
            </a:r>
            <a:endParaRPr lang="en-US" sz="800" dirty="0"/>
          </a:p>
        </p:txBody>
      </p:sp>
      <p:sp>
        <p:nvSpPr>
          <p:cNvPr id="51" name="Text 49"/>
          <p:cNvSpPr/>
          <p:nvPr/>
        </p:nvSpPr>
        <p:spPr>
          <a:xfrm>
            <a:off x="6627391" y="4868466"/>
            <a:ext cx="2303311" cy="164592"/>
          </a:xfrm>
          <a:prstGeom prst="rect">
            <a:avLst/>
          </a:prstGeom>
          <a:noFill/>
          <a:ln/>
        </p:spPr>
        <p:txBody>
          <a:bodyPr wrap="square" lIns="0" tIns="0" rIns="0" bIns="0" rtlCol="0" anchor="t"/>
          <a:lstStyle/>
          <a:p>
            <a:pPr algn="l" indent="0" marL="0">
              <a:lnSpc>
                <a:spcPts val="928"/>
              </a:lnSpc>
              <a:buNone/>
            </a:pPr>
            <a:r>
              <a:rPr lang="en-US" sz="619" spc="99" kern="0" dirty="0">
                <a:solidFill>
                  <a:srgbClr val="71717A"/>
                </a:solidFill>
                <a:latin typeface="Courier New" pitchFamily="34" charset="0"/>
                <a:ea typeface="Courier New" pitchFamily="34" charset="-122"/>
                <a:cs typeface="Courier New" pitchFamily="34" charset="-120"/>
              </a:rPr>
              <a:t>RECAP · </a:t>
            </a:r>
            <a:pPr algn="l" indent="0" marL="0">
              <a:lnSpc>
                <a:spcPts val="928"/>
              </a:lnSpc>
              <a:buNone/>
            </a:pPr>
            <a:r>
              <a:rPr lang="en-US" sz="619" spc="99" kern="0" dirty="0">
                <a:solidFill>
                  <a:srgbClr val="FF7A1A"/>
                </a:solidFill>
                <a:latin typeface="Courier New" pitchFamily="34" charset="0"/>
                <a:ea typeface="Courier New" pitchFamily="34" charset="-122"/>
                <a:cs typeface="Courier New" pitchFamily="34" charset="-120"/>
              </a:rPr>
              <a:t>FIVE THINGS TO WALK AWAY WITH</a:t>
            </a:r>
            <a:endParaRPr lang="en-US" sz="619"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257175" y="200025"/>
            <a:ext cx="2232705"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71717A"/>
                </a:solidFill>
                <a:latin typeface="Liberation Sans Narrow" pitchFamily="34" charset="0"/>
                <a:ea typeface="Liberation Sans Narrow" pitchFamily="34" charset="-122"/>
                <a:cs typeface="Liberation Sans Narrow" pitchFamily="34" charset="-120"/>
              </a:rPr>
              <a:t>EP09 </a:t>
            </a:r>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a:t>
            </a:r>
            <a:pPr algn="l" indent="0" marL="0">
              <a:lnSpc>
                <a:spcPts val="928"/>
              </a:lnSpc>
              <a:buNone/>
            </a:pPr>
            <a:r>
              <a:rPr lang="en-US" sz="800" spc="173" kern="0" dirty="0">
                <a:solidFill>
                  <a:srgbClr val="71717A"/>
                </a:solidFill>
                <a:latin typeface="Courier New" pitchFamily="34" charset="0"/>
                <a:ea typeface="Courier New" pitchFamily="34" charset="-122"/>
                <a:cs typeface="Courier New" pitchFamily="34" charset="-120"/>
              </a:rPr>
              <a:t> MCP IN THE REAL WORLD</a:t>
            </a:r>
            <a:endParaRPr lang="en-US" sz="800" dirty="0"/>
          </a:p>
        </p:txBody>
      </p:sp>
      <p:sp>
        <p:nvSpPr>
          <p:cNvPr id="3" name="Text 1"/>
          <p:cNvSpPr/>
          <p:nvPr/>
        </p:nvSpPr>
        <p:spPr>
          <a:xfrm>
            <a:off x="8512671" y="200025"/>
            <a:ext cx="5609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30 / 30</a:t>
            </a:r>
            <a:endParaRPr lang="en-US" sz="800" dirty="0"/>
          </a:p>
        </p:txBody>
      </p:sp>
      <p:sp>
        <p:nvSpPr>
          <p:cNvPr id="4" name="Text 2"/>
          <p:cNvSpPr/>
          <p:nvPr/>
        </p:nvSpPr>
        <p:spPr>
          <a:xfrm>
            <a:off x="4480903" y="3286125"/>
            <a:ext cx="4663097" cy="1857375"/>
          </a:xfrm>
          <a:prstGeom prst="rect">
            <a:avLst/>
          </a:prstGeom>
          <a:noFill/>
          <a:ln/>
        </p:spPr>
        <p:txBody>
          <a:bodyPr wrap="square" lIns="0" tIns="0" rIns="0" bIns="0" rtlCol="0" anchor="t"/>
          <a:lstStyle/>
          <a:p>
            <a:pPr algn="l" indent="0" marL="0">
              <a:lnSpc>
                <a:spcPts val="20250"/>
              </a:lnSpc>
              <a:buNone/>
            </a:pPr>
            <a:r>
              <a:rPr lang="en-US" sz="20250" b="1" dirty="0">
                <a:solidFill>
                  <a:srgbClr val="FF7A1A">
                    <a:alpha val="5000"/>
                  </a:srgbClr>
                </a:solidFill>
                <a:latin typeface="Liberation Sans Narrow" pitchFamily="34" charset="0"/>
                <a:ea typeface="Liberation Sans Narrow" pitchFamily="34" charset="-122"/>
                <a:cs typeface="Liberation Sans Narrow" pitchFamily="34" charset="-120"/>
              </a:rPr>
              <a:t>30</a:t>
            </a:r>
            <a:endParaRPr lang="en-US" sz="20250" dirty="0"/>
          </a:p>
        </p:txBody>
      </p:sp>
      <p:sp>
        <p:nvSpPr>
          <p:cNvPr id="5" name="Text 3"/>
          <p:cNvSpPr/>
          <p:nvPr/>
        </p:nvSpPr>
        <p:spPr>
          <a:xfrm>
            <a:off x="514350" y="571500"/>
            <a:ext cx="8629650" cy="164592"/>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NEXT UP</a:t>
            </a:r>
            <a:endParaRPr lang="en-US" sz="800" dirty="0"/>
          </a:p>
        </p:txBody>
      </p:sp>
      <p:sp>
        <p:nvSpPr>
          <p:cNvPr id="6" name="Text 4"/>
          <p:cNvSpPr/>
          <p:nvPr/>
        </p:nvSpPr>
        <p:spPr>
          <a:xfrm>
            <a:off x="514350" y="789384"/>
            <a:ext cx="8629650" cy="438809"/>
          </a:xfrm>
          <a:prstGeom prst="rect">
            <a:avLst/>
          </a:prstGeom>
          <a:noFill/>
          <a:ln/>
        </p:spPr>
        <p:txBody>
          <a:bodyPr wrap="none" lIns="0" tIns="0" rIns="0" bIns="0" rtlCol="0" anchor="t">
            <a:normAutofit/>
          </a:bodyPr>
          <a:lstStyle/>
          <a:p>
            <a:pPr algn="l" indent="0" marL="0">
              <a:lnSpc>
                <a:spcPts val="3672"/>
              </a:lnSpc>
              <a:buNone/>
            </a:pPr>
            <a:r>
              <a:rPr lang="en-US" sz="3600" b="1" spc="-90" kern="0" dirty="0">
                <a:solidFill>
                  <a:srgbClr val="F4F4F5"/>
                </a:solidFill>
                <a:latin typeface="Carlito" pitchFamily="34" charset="0"/>
                <a:ea typeface="Carlito" pitchFamily="34" charset="-122"/>
                <a:cs typeface="Carlito" pitchFamily="34" charset="-120"/>
              </a:rPr>
              <a:t>CTA — </a:t>
            </a:r>
            <a:pPr algn="l" indent="0" marL="0">
              <a:lnSpc>
                <a:spcPts val="3672"/>
              </a:lnSpc>
              <a:buNone/>
            </a:pPr>
            <a:r>
              <a:rPr lang="en-US" sz="3600" b="1" spc="-90" kern="0" dirty="0">
                <a:solidFill>
                  <a:srgbClr val="FF7A1A"/>
                </a:solidFill>
                <a:latin typeface="Carlito" pitchFamily="34" charset="0"/>
                <a:ea typeface="Carlito" pitchFamily="34" charset="-122"/>
                <a:cs typeface="Carlito" pitchFamily="34" charset="-120"/>
              </a:rPr>
              <a:t>Next Up</a:t>
            </a:r>
            <a:endParaRPr lang="en-US" sz="3600" dirty="0"/>
          </a:p>
        </p:txBody>
      </p:sp>
      <p:sp>
        <p:nvSpPr>
          <p:cNvPr id="7" name="Text 5"/>
          <p:cNvSpPr/>
          <p:nvPr/>
        </p:nvSpPr>
        <p:spPr>
          <a:xfrm>
            <a:off x="514350" y="2702905"/>
            <a:ext cx="4050506" cy="955070"/>
          </a:xfrm>
          <a:prstGeom prst="rect">
            <a:avLst/>
          </a:prstGeom>
          <a:noFill/>
          <a:ln/>
        </p:spPr>
        <p:txBody>
          <a:bodyPr wrap="square" lIns="0" tIns="0" rIns="0" bIns="0" rtlCol="0" anchor="t"/>
          <a:lstStyle/>
          <a:p>
            <a:pPr algn="l" indent="0" marL="0">
              <a:lnSpc>
                <a:spcPts val="1482"/>
              </a:lnSpc>
              <a:spcAft>
                <a:spcPts val="900"/>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900"/>
              </a:spcAft>
              <a:buNone/>
            </a:pPr>
            <a:r>
              <a:rPr lang="en-US" sz="956" dirty="0">
                <a:solidFill>
                  <a:srgbClr val="F4F4F5"/>
                </a:solidFill>
                <a:latin typeface="Carlito" pitchFamily="34" charset="0"/>
                <a:ea typeface="Carlito" pitchFamily="34" charset="-122"/>
                <a:cs typeface="Carlito" pitchFamily="34" charset="-120"/>
              </a:rPr>
              <a:t>Repo: </a:t>
            </a:r>
            <a:pPr algn="l" indent="0" marL="0">
              <a:lnSpc>
                <a:spcPts val="1482"/>
              </a:lnSpc>
              <a:spcAft>
                <a:spcPts val="900"/>
              </a:spcAft>
              <a:buNone/>
            </a:pPr>
            <a:r>
              <a:rPr lang="en-US" sz="880" dirty="0">
                <a:solidFill>
                  <a:srgbClr val="FF7A1A"/>
                </a:solidFill>
                <a:highlight>
                  <a:srgbClr val="1D1D24"/>
                </a:highlight>
                <a:latin typeface="Courier New" pitchFamily="34" charset="0"/>
                <a:ea typeface="Courier New" pitchFamily="34" charset="-122"/>
                <a:cs typeface="Courier New" pitchFamily="34" charset="-120"/>
              </a:rPr>
              <a:t>claude-api-masterclass</a:t>
            </a:r>
            <a:pPr algn="l" indent="0" marL="0">
              <a:lnSpc>
                <a:spcPts val="1482"/>
              </a:lnSpc>
              <a:spcAft>
                <a:spcPts val="900"/>
              </a:spcAft>
              <a:buNone/>
            </a:pPr>
            <a:r>
              <a:rPr lang="en-US" sz="956" dirty="0">
                <a:solidFill>
                  <a:srgbClr val="F4F4F5"/>
                </a:solidFill>
                <a:latin typeface="Carlito" pitchFamily="34" charset="0"/>
                <a:ea typeface="Carlito" pitchFamily="34" charset="-122"/>
                <a:cs typeface="Carlito" pitchFamily="34" charset="-120"/>
              </a:rPr>
              <a:t>, folder </a:t>
            </a:r>
            <a:pPr algn="l" indent="0" marL="0">
              <a:lnSpc>
                <a:spcPts val="1482"/>
              </a:lnSpc>
              <a:spcAft>
                <a:spcPts val="900"/>
              </a:spcAft>
              <a:buNone/>
            </a:pPr>
            <a:r>
              <a:rPr lang="en-US" sz="880" dirty="0">
                <a:solidFill>
                  <a:srgbClr val="FF7A1A"/>
                </a:solidFill>
                <a:highlight>
                  <a:srgbClr val="1D1D24"/>
                </a:highlight>
                <a:latin typeface="Liberation Sans Narrow" pitchFamily="34" charset="0"/>
                <a:ea typeface="Liberation Sans Narrow" pitchFamily="34" charset="-122"/>
                <a:cs typeface="Liberation Sans Narrow" pitchFamily="34" charset="-120"/>
              </a:rPr>
              <a:t>ep09/</a:t>
            </a:r>
            <a:endParaRPr lang="en-US" sz="956" dirty="0"/>
          </a:p>
          <a:p>
            <a:pPr algn="l" indent="0" marL="0">
              <a:lnSpc>
                <a:spcPts val="1482"/>
              </a:lnSpc>
              <a:spcAft>
                <a:spcPts val="900"/>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900"/>
              </a:spcAft>
              <a:buNone/>
            </a:pPr>
            <a:r>
              <a:rPr lang="en-US" sz="956" dirty="0">
                <a:solidFill>
                  <a:srgbClr val="F4F4F5"/>
                </a:solidFill>
                <a:latin typeface="Carlito" pitchFamily="34" charset="0"/>
                <a:ea typeface="Carlito" pitchFamily="34" charset="-122"/>
                <a:cs typeface="Carlito" pitchFamily="34" charset="-120"/>
              </a:rPr>
              <a:t>Like if the gotcha helped, subscribe for the rest of the build-along</a:t>
            </a:r>
            <a:endParaRPr lang="en-US" sz="956" dirty="0"/>
          </a:p>
          <a:p>
            <a:pPr algn="l" indent="0" marL="0">
              <a:lnSpc>
                <a:spcPts val="1482"/>
              </a:lnSpc>
              <a:spcAft>
                <a:spcPts val="900"/>
              </a:spcAft>
              <a:buNone/>
            </a:pPr>
            <a:r>
              <a:rPr lang="en-US" sz="600" dirty="0">
                <a:solidFill>
                  <a:srgbClr val="F4F4F5"/>
                </a:solidFill>
                <a:latin typeface="Carlito" pitchFamily="34" charset="0"/>
                <a:ea typeface="Carlito" pitchFamily="34" charset="-122"/>
                <a:cs typeface="Carlito" pitchFamily="34" charset="-120"/>
              </a:rPr>
              <a:t>●  </a:t>
            </a:r>
            <a:pPr algn="l" indent="0" marL="0">
              <a:lnSpc>
                <a:spcPts val="1482"/>
              </a:lnSpc>
              <a:spcAft>
                <a:spcPts val="900"/>
              </a:spcAft>
              <a:buNone/>
            </a:pPr>
            <a:r>
              <a:rPr lang="en-US" sz="956" dirty="0">
                <a:solidFill>
                  <a:srgbClr val="F4F4F5"/>
                </a:solidFill>
                <a:latin typeface="Carlito" pitchFamily="34" charset="0"/>
                <a:ea typeface="Carlito" pitchFamily="34" charset="-122"/>
                <a:cs typeface="Carlito" pitchFamily="34" charset="-120"/>
              </a:rPr>
              <a:t>Next: Episode 10 — Choosing Your Model (Opus vs. Sonnet vs. Haiku)</a:t>
            </a:r>
            <a:endParaRPr lang="en-US" sz="956" dirty="0"/>
          </a:p>
        </p:txBody>
      </p:sp>
      <p:sp>
        <p:nvSpPr>
          <p:cNvPr id="8" name="Text 6"/>
          <p:cNvSpPr/>
          <p:nvPr/>
        </p:nvSpPr>
        <p:spPr>
          <a:xfrm>
            <a:off x="4968478" y="2100932"/>
            <a:ext cx="3657600" cy="1797100"/>
          </a:xfrm>
          <a:prstGeom prst="roundRect">
            <a:avLst>
              <a:gd name="adj" fmla="val 7420"/>
            </a:avLst>
          </a:prstGeom>
          <a:solidFill>
            <a:srgbClr val="15151A"/>
          </a:solidFill>
          <a:ln w="7144">
            <a:solidFill>
              <a:srgbClr val="2A2A33"/>
            </a:solidFill>
            <a:prstDash val="solid"/>
          </a:ln>
        </p:spPr>
        <p:txBody>
          <a:bodyPr wrap="square" rtlCol="0" anchor="ctr"/>
          <a:lstStyle/>
          <a:p>
            <a:pPr indent="0" marL="0">
              <a:buNone/>
            </a:pPr>
            <a:endParaRPr lang="en-US" dirty="0"/>
          </a:p>
        </p:txBody>
      </p:sp>
      <p:sp>
        <p:nvSpPr>
          <p:cNvPr id="9" name="Text 7"/>
          <p:cNvSpPr/>
          <p:nvPr/>
        </p:nvSpPr>
        <p:spPr>
          <a:xfrm>
            <a:off x="5200650" y="2318817"/>
            <a:ext cx="373819" cy="160734"/>
          </a:xfrm>
          <a:prstGeom prst="roundRect">
            <a:avLst>
              <a:gd name="adj" fmla="val 23704"/>
            </a:avLst>
          </a:prstGeom>
          <a:solidFill>
            <a:srgbClr val="FF7A1A">
              <a:alpha val="12000"/>
            </a:srgbClr>
          </a:solidFill>
          <a:ln/>
        </p:spPr>
        <p:txBody>
          <a:bodyPr wrap="square" rtlCol="0" anchor="ctr"/>
          <a:lstStyle/>
          <a:p>
            <a:pPr indent="0" marL="0">
              <a:buNone/>
            </a:pPr>
            <a:endParaRPr lang="en-US" dirty="0"/>
          </a:p>
        </p:txBody>
      </p:sp>
      <p:sp>
        <p:nvSpPr>
          <p:cNvPr id="10" name="Text 8"/>
          <p:cNvSpPr/>
          <p:nvPr/>
        </p:nvSpPr>
        <p:spPr>
          <a:xfrm>
            <a:off x="5200650" y="2318817"/>
            <a:ext cx="3193256" cy="224444"/>
          </a:xfrm>
          <a:prstGeom prst="rect">
            <a:avLst/>
          </a:prstGeom>
          <a:noFill/>
          <a:ln/>
        </p:spPr>
        <p:txBody>
          <a:bodyPr wrap="none" lIns="0" tIns="0" rIns="0" bIns="0" rtlCol="0" anchor="t"/>
          <a:lstStyle/>
          <a:p>
            <a:pPr algn="l" indent="0" marL="0">
              <a:lnSpc>
                <a:spcPts val="928"/>
              </a:lnSpc>
              <a:buNone/>
            </a:pPr>
            <a:r>
              <a:rPr lang="en-US" sz="800" spc="173" kern="0" dirty="0">
                <a:solidFill>
                  <a:srgbClr val="FF7A1A"/>
                </a:solidFill>
                <a:highlight>
                  <a:srgbClr val="FF7A1A"/>
                </a:highlight>
                <a:latin typeface="Liberation Sans Narrow" pitchFamily="34" charset="0"/>
                <a:ea typeface="Liberation Sans Narrow" pitchFamily="34" charset="-122"/>
                <a:cs typeface="Liberation Sans Narrow" pitchFamily="34" charset="-120"/>
              </a:rPr>
              <a:t>EP10</a:t>
            </a:r>
            <a:pPr algn="l" indent="0" marL="0">
              <a:lnSpc>
                <a:spcPts val="928"/>
              </a:lnSpc>
              <a:buNone/>
            </a:pPr>
            <a:r>
              <a:rPr lang="en-US" sz="800" spc="173" kern="0" dirty="0">
                <a:solidFill>
                  <a:srgbClr val="FF7A1A"/>
                </a:solidFill>
                <a:latin typeface="Courier New" pitchFamily="34" charset="0"/>
                <a:ea typeface="Courier New" pitchFamily="34" charset="-122"/>
                <a:cs typeface="Courier New" pitchFamily="34" charset="-120"/>
              </a:rPr>
              <a:t> COMING NEXT</a:t>
            </a:r>
            <a:endParaRPr lang="en-US" sz="800" dirty="0"/>
          </a:p>
        </p:txBody>
      </p:sp>
      <p:sp>
        <p:nvSpPr>
          <p:cNvPr id="11" name="Text 9"/>
          <p:cNvSpPr/>
          <p:nvPr/>
        </p:nvSpPr>
        <p:spPr>
          <a:xfrm>
            <a:off x="5200650" y="2579563"/>
            <a:ext cx="3193256" cy="638678"/>
          </a:xfrm>
          <a:prstGeom prst="rect">
            <a:avLst/>
          </a:prstGeom>
          <a:noFill/>
          <a:ln/>
        </p:spPr>
        <p:txBody>
          <a:bodyPr wrap="square" lIns="0" tIns="0" rIns="0" bIns="0" rtlCol="0" anchor="t"/>
          <a:lstStyle/>
          <a:p>
            <a:pPr algn="l" indent="0" marL="0">
              <a:lnSpc>
                <a:spcPts val="2329"/>
              </a:lnSpc>
              <a:buNone/>
            </a:pPr>
            <a:r>
              <a:rPr lang="en-US" sz="2025" b="1" spc="-40" kern="0" dirty="0">
                <a:solidFill>
                  <a:srgbClr val="F4F4F5"/>
                </a:solidFill>
                <a:latin typeface="Carlito" pitchFamily="34" charset="0"/>
                <a:ea typeface="Carlito" pitchFamily="34" charset="-122"/>
                <a:cs typeface="Carlito" pitchFamily="34" charset="-120"/>
              </a:rPr>
              <a:t>Choosing Your </a:t>
            </a:r>
            <a:pPr algn="l" indent="0" marL="0">
              <a:lnSpc>
                <a:spcPts val="2329"/>
              </a:lnSpc>
              <a:buNone/>
            </a:pPr>
            <a:r>
              <a:rPr lang="en-US" sz="2025" b="1" spc="-40" kern="0" dirty="0">
                <a:solidFill>
                  <a:srgbClr val="FF7A1A"/>
                </a:solidFill>
                <a:latin typeface="Carlito" pitchFamily="34" charset="0"/>
                <a:ea typeface="Carlito" pitchFamily="34" charset="-122"/>
                <a:cs typeface="Carlito" pitchFamily="34" charset="-120"/>
              </a:rPr>
              <a:t>Model</a:t>
            </a:r>
            <a:endParaRPr lang="en-US" sz="2025" dirty="0"/>
          </a:p>
          <a:p>
            <a:pPr algn="l" indent="0" marL="0">
              <a:lnSpc>
                <a:spcPts val="2329"/>
              </a:lnSpc>
              <a:buNone/>
            </a:pPr>
            <a:r>
              <a:rPr lang="en-US" sz="2025" b="1" spc="-40" kern="0" dirty="0">
                <a:solidFill>
                  <a:srgbClr val="F4F4F5"/>
                </a:solidFill>
                <a:latin typeface="Carlito" pitchFamily="34" charset="0"/>
                <a:ea typeface="Carlito" pitchFamily="34" charset="-122"/>
                <a:cs typeface="Carlito" pitchFamily="34" charset="-120"/>
              </a:rPr>
              <a:t>Opus · Sonnet · Haiku</a:t>
            </a:r>
            <a:endParaRPr lang="en-US" sz="2025" dirty="0"/>
          </a:p>
        </p:txBody>
      </p:sp>
      <p:sp>
        <p:nvSpPr>
          <p:cNvPr id="12" name="Shape 10"/>
          <p:cNvSpPr/>
          <p:nvPr/>
        </p:nvSpPr>
        <p:spPr>
          <a:xfrm>
            <a:off x="5200650" y="3288804"/>
            <a:ext cx="3193256" cy="0"/>
          </a:xfrm>
          <a:prstGeom prst="line">
            <a:avLst/>
          </a:prstGeom>
          <a:noFill/>
          <a:ln w="7144">
            <a:solidFill>
              <a:srgbClr val="2A2A33"/>
            </a:solidFill>
            <a:prstDash val="dash"/>
          </a:ln>
        </p:spPr>
      </p:sp>
      <p:sp>
        <p:nvSpPr>
          <p:cNvPr id="13" name="Text 11"/>
          <p:cNvSpPr/>
          <p:nvPr/>
        </p:nvSpPr>
        <p:spPr>
          <a:xfrm>
            <a:off x="5200650" y="3285232"/>
            <a:ext cx="3193256" cy="394915"/>
          </a:xfrm>
          <a:prstGeom prst="rect">
            <a:avLst/>
          </a:prstGeom>
          <a:noFill/>
          <a:ln/>
        </p:spPr>
        <p:txBody>
          <a:bodyPr wrap="square" lIns="0" tIns="100013" rIns="0" bIns="0" rtlCol="0" anchor="t"/>
          <a:lstStyle/>
          <a:p>
            <a:pPr algn="l" indent="0" marL="0">
              <a:lnSpc>
                <a:spcPts val="1133"/>
              </a:lnSpc>
              <a:buNone/>
            </a:pPr>
            <a:r>
              <a:rPr lang="en-US" sz="800" dirty="0">
                <a:solidFill>
                  <a:srgbClr val="A1A1AA"/>
                </a:solidFill>
                <a:latin typeface="Courier New" pitchFamily="34" charset="0"/>
                <a:ea typeface="Courier New" pitchFamily="34" charset="-122"/>
                <a:cs typeface="Courier New" pitchFamily="34" charset="-120"/>
              </a:rPr>
              <a:t>Model Selection and Optimization — </a:t>
            </a:r>
            <a:pPr algn="l" indent="0" marL="0">
              <a:lnSpc>
                <a:spcPts val="1133"/>
              </a:lnSpc>
              <a:buNone/>
            </a:pPr>
            <a:r>
              <a:rPr lang="en-US" sz="800" dirty="0">
                <a:solidFill>
                  <a:srgbClr val="FF7A1A"/>
                </a:solidFill>
                <a:latin typeface="Liberation Sans Narrow" pitchFamily="34" charset="0"/>
                <a:ea typeface="Liberation Sans Narrow" pitchFamily="34" charset="-122"/>
                <a:cs typeface="Liberation Sans Narrow" pitchFamily="34" charset="-120"/>
              </a:rPr>
              <a:t>~17%</a:t>
            </a:r>
            <a:pPr algn="l" indent="0" marL="0">
              <a:lnSpc>
                <a:spcPts val="1133"/>
              </a:lnSpc>
              <a:buNone/>
            </a:pPr>
            <a:r>
              <a:rPr lang="en-US" sz="800" dirty="0">
                <a:solidFill>
                  <a:srgbClr val="A1A1AA"/>
                </a:solidFill>
                <a:latin typeface="Courier New" pitchFamily="34" charset="0"/>
                <a:ea typeface="Courier New" pitchFamily="34" charset="-122"/>
                <a:cs typeface="Courier New" pitchFamily="34" charset="-120"/>
              </a:rPr>
              <a:t> of the exam blueprint.</a:t>
            </a:r>
            <a:endParaRPr lang="en-US" sz="800" dirty="0"/>
          </a:p>
          <a:p>
            <a:pPr algn="l" indent="0" marL="0">
              <a:lnSpc>
                <a:spcPts val="1133"/>
              </a:lnSpc>
              <a:buNone/>
            </a:pPr>
            <a:r>
              <a:rPr lang="en-US" sz="800" dirty="0">
                <a:solidFill>
                  <a:srgbClr val="A1A1AA"/>
                </a:solidFill>
                <a:latin typeface="Courier New" pitchFamily="34" charset="0"/>
                <a:ea typeface="Courier New" pitchFamily="34" charset="-122"/>
                <a:cs typeface="Courier New" pitchFamily="34" charset="-120"/>
              </a:rPr>
              <a:t>Thinking modes, effort levels, same agent, new decision.</a:t>
            </a:r>
            <a:endParaRPr lang="en-US" sz="800" dirty="0"/>
          </a:p>
        </p:txBody>
      </p:sp>
      <p:sp>
        <p:nvSpPr>
          <p:cNvPr id="14" name="Text 12"/>
          <p:cNvSpPr/>
          <p:nvPr/>
        </p:nvSpPr>
        <p:spPr>
          <a:xfrm>
            <a:off x="7137149" y="3037210"/>
            <a:ext cx="1813427" cy="642938"/>
          </a:xfrm>
          <a:prstGeom prst="rect">
            <a:avLst/>
          </a:prstGeom>
          <a:noFill/>
          <a:ln/>
        </p:spPr>
        <p:txBody>
          <a:bodyPr wrap="square" lIns="0" tIns="0" rIns="0" bIns="0" rtlCol="0" anchor="t"/>
          <a:lstStyle/>
          <a:p>
            <a:pPr algn="l" indent="0" marL="0">
              <a:lnSpc>
                <a:spcPts val="7875"/>
              </a:lnSpc>
              <a:buNone/>
            </a:pPr>
            <a:r>
              <a:rPr lang="en-US" sz="7875" b="1" dirty="0">
                <a:solidFill>
                  <a:srgbClr val="FF7A1A">
                    <a:alpha val="4000"/>
                  </a:srgbClr>
                </a:solidFill>
                <a:latin typeface="Liberation Sans Narrow" pitchFamily="34" charset="0"/>
                <a:ea typeface="Liberation Sans Narrow" pitchFamily="34" charset="-122"/>
                <a:cs typeface="Liberation Sans Narrow" pitchFamily="34" charset="-120"/>
              </a:rPr>
              <a:t>10</a:t>
            </a:r>
            <a:endParaRPr lang="en-US" sz="7875" dirty="0"/>
          </a:p>
        </p:txBody>
      </p:sp>
      <p:sp>
        <p:nvSpPr>
          <p:cNvPr id="15" name="Text 13"/>
          <p:cNvSpPr/>
          <p:nvPr/>
        </p:nvSpPr>
        <p:spPr>
          <a:xfrm>
            <a:off x="2343708" y="4854178"/>
            <a:ext cx="282959" cy="150019"/>
          </a:xfrm>
          <a:prstGeom prst="roundRect">
            <a:avLst>
              <a:gd name="adj" fmla="val 25397"/>
            </a:avLst>
          </a:prstGeom>
          <a:solidFill>
            <a:srgbClr val="1D1D24"/>
          </a:solidFill>
          <a:ln/>
        </p:spPr>
        <p:txBody>
          <a:bodyPr wrap="square" rtlCol="0" anchor="ctr"/>
          <a:lstStyle/>
          <a:p>
            <a:pPr indent="0" marL="0">
              <a:buNone/>
            </a:pPr>
            <a:endParaRPr lang="en-US" dirty="0"/>
          </a:p>
        </p:txBody>
      </p:sp>
      <p:sp>
        <p:nvSpPr>
          <p:cNvPr id="16" name="Text 14"/>
          <p:cNvSpPr/>
          <p:nvPr/>
        </p:nvSpPr>
        <p:spPr>
          <a:xfrm>
            <a:off x="514350" y="4868466"/>
            <a:ext cx="7200900" cy="164592"/>
          </a:xfrm>
          <a:prstGeom prst="rect">
            <a:avLst/>
          </a:prstGeom>
          <a:noFill/>
          <a:ln/>
        </p:spPr>
        <p:txBody>
          <a:bodyPr wrap="square" lIns="0" tIns="0" rIns="0" bIns="0" rtlCol="0" anchor="t"/>
          <a:lstStyle/>
          <a:p>
            <a:pPr algn="l" indent="0" marL="0">
              <a:lnSpc>
                <a:spcPts val="928"/>
              </a:lnSpc>
              <a:buNone/>
            </a:pPr>
            <a:r>
              <a:rPr lang="en-US" sz="800" spc="111" kern="0" dirty="0">
                <a:solidFill>
                  <a:srgbClr val="71717A"/>
                </a:solidFill>
                <a:latin typeface="Liberation Sans Narrow" pitchFamily="34" charset="0"/>
                <a:ea typeface="Liberation Sans Narrow" pitchFamily="34" charset="-122"/>
                <a:cs typeface="Liberation Sans Narrow" pitchFamily="34" charset="-120"/>
              </a:rPr>
              <a:t>EP09 · MCP IN THE REAL WORLD · </a:t>
            </a:r>
            <a:pPr algn="l" indent="0" marL="0">
              <a:lnSpc>
                <a:spcPts val="928"/>
              </a:lnSpc>
              <a:buNone/>
            </a:pPr>
            <a:r>
              <a:rPr lang="en-US" sz="800" spc="124" kern="0" dirty="0">
                <a:solidFill>
                  <a:srgbClr val="71717A"/>
                </a:solidFill>
                <a:highlight>
                  <a:srgbClr val="1D1D24"/>
                </a:highlight>
                <a:latin typeface="Courier New" pitchFamily="34" charset="0"/>
                <a:ea typeface="Courier New" pitchFamily="34" charset="-122"/>
                <a:cs typeface="Courier New" pitchFamily="34" charset="-120"/>
              </a:rPr>
              <a:t>END</a:t>
            </a:r>
            <a:endParaRPr lang="en-US" sz="800" dirty="0"/>
          </a:p>
        </p:txBody>
      </p:sp>
      <p:sp>
        <p:nvSpPr>
          <p:cNvPr id="17" name="Text 15"/>
          <p:cNvSpPr/>
          <p:nvPr/>
        </p:nvSpPr>
        <p:spPr>
          <a:xfrm>
            <a:off x="7729538" y="4854178"/>
            <a:ext cx="900113" cy="150019"/>
          </a:xfrm>
          <a:prstGeom prst="roundRect">
            <a:avLst>
              <a:gd name="adj" fmla="val 25397"/>
            </a:avLst>
          </a:prstGeom>
          <a:solidFill>
            <a:srgbClr val="FF7A1A">
              <a:alpha val="10000"/>
            </a:srgbClr>
          </a:solidFill>
          <a:ln/>
        </p:spPr>
        <p:txBody>
          <a:bodyPr wrap="square" rtlCol="0" anchor="ctr"/>
          <a:lstStyle/>
          <a:p>
            <a:pPr indent="0" marL="0">
              <a:buNone/>
            </a:pPr>
            <a:endParaRPr lang="en-US" dirty="0"/>
          </a:p>
        </p:txBody>
      </p:sp>
      <p:sp>
        <p:nvSpPr>
          <p:cNvPr id="18" name="Text 16"/>
          <p:cNvSpPr/>
          <p:nvPr/>
        </p:nvSpPr>
        <p:spPr>
          <a:xfrm>
            <a:off x="7729538" y="4868466"/>
            <a:ext cx="1180244" cy="164592"/>
          </a:xfrm>
          <a:prstGeom prst="rect">
            <a:avLst/>
          </a:prstGeom>
          <a:noFill/>
          <a:ln/>
        </p:spPr>
        <p:txBody>
          <a:bodyPr wrap="none" lIns="0" tIns="0" rIns="0" bIns="0" rtlCol="0" anchor="t"/>
          <a:lstStyle/>
          <a:p>
            <a:pPr algn="l" indent="0" marL="0">
              <a:lnSpc>
                <a:spcPts val="928"/>
              </a:lnSpc>
              <a:buNone/>
            </a:pPr>
            <a:r>
              <a:rPr lang="en-US" sz="800" spc="124" kern="0" dirty="0">
                <a:solidFill>
                  <a:srgbClr val="FF7A1A"/>
                </a:solidFill>
                <a:highlight>
                  <a:srgbClr val="FF7A1A"/>
                </a:highlight>
                <a:latin typeface="Liberation Sans Narrow" pitchFamily="34" charset="0"/>
                <a:ea typeface="Liberation Sans Narrow" pitchFamily="34" charset="-122"/>
                <a:cs typeface="Liberation Sans Narrow" pitchFamily="34" charset="-120"/>
              </a:rPr>
              <a:t>SEE YOU IN EP10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2026-08-06T12:22:52Z</dcterms:created>
  <dcterms:modified xsi:type="dcterms:W3CDTF">2026-08-06T12:22:52Z</dcterms:modified>
</cp:coreProperties>
</file>